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2" r:id="rId1"/>
  </p:sldMasterIdLst>
  <p:notesMasterIdLst>
    <p:notesMasterId r:id="rId40"/>
  </p:notesMasterIdLst>
  <p:handoutMasterIdLst>
    <p:handoutMasterId r:id="rId41"/>
  </p:handoutMasterIdLst>
  <p:sldIdLst>
    <p:sldId id="460" r:id="rId2"/>
    <p:sldId id="524" r:id="rId3"/>
    <p:sldId id="413" r:id="rId4"/>
    <p:sldId id="416" r:id="rId5"/>
    <p:sldId id="417" r:id="rId6"/>
    <p:sldId id="420" r:id="rId7"/>
    <p:sldId id="421" r:id="rId8"/>
    <p:sldId id="422" r:id="rId9"/>
    <p:sldId id="423" r:id="rId10"/>
    <p:sldId id="505" r:id="rId11"/>
    <p:sldId id="425" r:id="rId12"/>
    <p:sldId id="427" r:id="rId13"/>
    <p:sldId id="528" r:id="rId14"/>
    <p:sldId id="428" r:id="rId15"/>
    <p:sldId id="429" r:id="rId16"/>
    <p:sldId id="430" r:id="rId17"/>
    <p:sldId id="431" r:id="rId18"/>
    <p:sldId id="432" r:id="rId19"/>
    <p:sldId id="434" r:id="rId20"/>
    <p:sldId id="436" r:id="rId21"/>
    <p:sldId id="437" r:id="rId22"/>
    <p:sldId id="485" r:id="rId23"/>
    <p:sldId id="522" r:id="rId24"/>
    <p:sldId id="441" r:id="rId25"/>
    <p:sldId id="442" r:id="rId26"/>
    <p:sldId id="443" r:id="rId27"/>
    <p:sldId id="444" r:id="rId28"/>
    <p:sldId id="446" r:id="rId29"/>
    <p:sldId id="447" r:id="rId30"/>
    <p:sldId id="489" r:id="rId31"/>
    <p:sldId id="511" r:id="rId32"/>
    <p:sldId id="523" r:id="rId33"/>
    <p:sldId id="450" r:id="rId34"/>
    <p:sldId id="451" r:id="rId35"/>
    <p:sldId id="452" r:id="rId36"/>
    <p:sldId id="453" r:id="rId37"/>
    <p:sldId id="487" r:id="rId38"/>
    <p:sldId id="512" r:id="rId39"/>
  </p:sldIdLst>
  <p:sldSz cx="9144000" cy="6858000" type="screen4x3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>
          <p15:clr>
            <a:srgbClr val="A4A3A4"/>
          </p15:clr>
        </p15:guide>
        <p15:guide id="2" pos="4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A68F"/>
    <a:srgbClr val="E4E3A9"/>
    <a:srgbClr val="701A5C"/>
    <a:srgbClr val="CC99FF"/>
    <a:srgbClr val="CCECFF"/>
    <a:srgbClr val="CCCCFF"/>
    <a:srgbClr val="9999FF"/>
    <a:srgbClr val="FBD589"/>
    <a:srgbClr val="FAB252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39" autoAdjust="0"/>
    <p:restoredTop sz="83119" autoAdjust="0"/>
  </p:normalViewPr>
  <p:slideViewPr>
    <p:cSldViewPr snapToGrid="0">
      <p:cViewPr varScale="1">
        <p:scale>
          <a:sx n="112" d="100"/>
          <a:sy n="112" d="100"/>
        </p:scale>
        <p:origin x="1608" y="184"/>
      </p:cViewPr>
      <p:guideLst>
        <p:guide orient="horz" pos="1584"/>
        <p:guide pos="4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-3510" y="-96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500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419" tIns="0" rIns="19419" bIns="0" numCol="1" anchor="t" anchorCtr="0" compatLnSpc="1">
            <a:prstTxWarp prst="textNoShape">
              <a:avLst/>
            </a:prstTxWarp>
          </a:bodyPr>
          <a:lstStyle>
            <a:lvl1pPr defTabSz="950873">
              <a:defRPr sz="900" i="1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BUS 105: Production and Operations Management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52901" y="0"/>
            <a:ext cx="317500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419" tIns="0" rIns="19419" bIns="0" numCol="1" anchor="t" anchorCtr="0" compatLnSpc="1">
            <a:prstTxWarp prst="textNoShape">
              <a:avLst/>
            </a:prstTxWarp>
          </a:bodyPr>
          <a:lstStyle>
            <a:lvl1pPr algn="r" defTabSz="950873">
              <a:defRPr sz="9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34478"/>
            <a:ext cx="317500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419" tIns="0" rIns="19419" bIns="0" numCol="1" anchor="b" anchorCtr="0" compatLnSpc="1">
            <a:prstTxWarp prst="textNoShape">
              <a:avLst/>
            </a:prstTxWarp>
          </a:bodyPr>
          <a:lstStyle>
            <a:lvl1pPr defTabSz="950873">
              <a:defRPr sz="900" i="1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© Mohsen ElHafsi 2014</a:t>
            </a:r>
          </a:p>
        </p:txBody>
      </p:sp>
    </p:spTree>
    <p:extLst>
      <p:ext uri="{BB962C8B-B14F-4D97-AF65-F5344CB8AC3E}">
        <p14:creationId xmlns:p14="http://schemas.microsoft.com/office/powerpoint/2010/main" val="4187893796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6825" y="727075"/>
            <a:ext cx="4781550" cy="358616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6" y="4560891"/>
            <a:ext cx="5365750" cy="43195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3337" tIns="45850" rIns="93337" bIns="458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8928904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just" defTabSz="933450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just" defTabSz="933450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just" defTabSz="933450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just" defTabSz="933450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just" defTabSz="933450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5238" y="723900"/>
            <a:ext cx="4784725" cy="3589338"/>
          </a:xfrm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6313" y="4560891"/>
            <a:ext cx="5362576" cy="4319587"/>
          </a:xfrm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5907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3" y="8831265"/>
            <a:ext cx="2971800" cy="465137"/>
          </a:xfrm>
          <a:prstGeom prst="rect">
            <a:avLst/>
          </a:prstGeom>
          <a:noFill/>
        </p:spPr>
        <p:txBody>
          <a:bodyPr lIns="89226" tIns="44613" rIns="89226" bIns="44613"/>
          <a:lstStyle/>
          <a:p>
            <a:fld id="{0F700C03-4A09-49DD-8175-1501DAFAE12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l" defTabSz="892261" eaLnBrk="1" hangingPunct="1">
              <a:defRPr/>
            </a:pPr>
            <a:r>
              <a:rPr lang="en-US" dirty="0"/>
              <a:t>All operations involve some sort of processes, whether it’s a production process to manufacture tangible goods, or it’s a service process to provide intangible service. One you have process, you’ll face variations. 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489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3" y="8831265"/>
            <a:ext cx="2971800" cy="465137"/>
          </a:xfrm>
          <a:prstGeom prst="rect">
            <a:avLst/>
          </a:prstGeom>
          <a:noFill/>
        </p:spPr>
        <p:txBody>
          <a:bodyPr lIns="89226" tIns="44613" rIns="89226" bIns="44613"/>
          <a:lstStyle/>
          <a:p>
            <a:fld id="{F7C3C854-D3D4-43BC-81F4-F6A32027AA1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297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3" y="8831265"/>
            <a:ext cx="2971800" cy="465137"/>
          </a:xfrm>
          <a:prstGeom prst="rect">
            <a:avLst/>
          </a:prstGeom>
          <a:noFill/>
        </p:spPr>
        <p:txBody>
          <a:bodyPr lIns="89226" tIns="44613" rIns="89226" bIns="44613"/>
          <a:lstStyle/>
          <a:p>
            <a:fld id="{FCC514E5-7BAA-43FB-B56E-B561E31C015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/>
              <a:t>What is significant change and what is not – this all seems too subjective. Yes, indeed so far we haven’t been able to what is an atypical change in a process, that’s where we need statistical techniques – next, I’m going to introduce a method that will allow  us to objectively decide what is an atypical change, in other words, allow us to tell the difference between acceptable and inacceptable variation. </a:t>
            </a:r>
          </a:p>
        </p:txBody>
      </p:sp>
    </p:spTree>
    <p:extLst>
      <p:ext uri="{BB962C8B-B14F-4D97-AF65-F5344CB8AC3E}">
        <p14:creationId xmlns:p14="http://schemas.microsoft.com/office/powerpoint/2010/main" val="33476312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6203" y="8831265"/>
            <a:ext cx="2971800" cy="465137"/>
          </a:xfrm>
          <a:prstGeom prst="rect">
            <a:avLst/>
          </a:prstGeom>
        </p:spPr>
        <p:txBody>
          <a:bodyPr lIns="89226" tIns="44613" rIns="89226" bIns="44613"/>
          <a:lstStyle/>
          <a:p>
            <a:fld id="{AD07491F-E102-47BD-8E75-D6A89C6255C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2708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3" y="8831265"/>
            <a:ext cx="2971800" cy="465137"/>
          </a:xfrm>
          <a:prstGeom prst="rect">
            <a:avLst/>
          </a:prstGeom>
          <a:noFill/>
        </p:spPr>
        <p:txBody>
          <a:bodyPr lIns="89226" tIns="44613" rIns="89226" bIns="44613"/>
          <a:lstStyle/>
          <a:p>
            <a:fld id="{32894665-7853-4985-A2C3-C926409C6F5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/>
              <a:t>Vertically list all samples</a:t>
            </a:r>
          </a:p>
          <a:p>
            <a:pPr eaLnBrk="1" hangingPunct="1"/>
            <a:r>
              <a:rPr lang="en-US" dirty="0"/>
              <a:t>Horizontally list all measurement in a particular sample. </a:t>
            </a:r>
          </a:p>
          <a:p>
            <a:pPr eaLnBrk="1" hangingPunct="1"/>
            <a:r>
              <a:rPr lang="en-US" dirty="0"/>
              <a:t>Tabulate the means for each sample </a:t>
            </a:r>
          </a:p>
          <a:p>
            <a:pPr eaLnBrk="1" hangingPunct="1"/>
            <a:r>
              <a:rPr lang="en-US" dirty="0"/>
              <a:t>Tabulate the ranges for each sample</a:t>
            </a:r>
          </a:p>
        </p:txBody>
      </p:sp>
    </p:spTree>
    <p:extLst>
      <p:ext uri="{BB962C8B-B14F-4D97-AF65-F5344CB8AC3E}">
        <p14:creationId xmlns:p14="http://schemas.microsoft.com/office/powerpoint/2010/main" val="28828916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3" y="8831265"/>
            <a:ext cx="2971800" cy="465137"/>
          </a:xfrm>
          <a:prstGeom prst="rect">
            <a:avLst/>
          </a:prstGeom>
          <a:noFill/>
        </p:spPr>
        <p:txBody>
          <a:bodyPr lIns="89226" tIns="44613" rIns="89226" bIns="44613"/>
          <a:lstStyle/>
          <a:p>
            <a:fld id="{96B35F4D-C87B-44B9-B1AD-05A480510735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/>
              <a:t>This is a scatter plot</a:t>
            </a:r>
          </a:p>
        </p:txBody>
      </p:sp>
    </p:spTree>
    <p:extLst>
      <p:ext uri="{BB962C8B-B14F-4D97-AF65-F5344CB8AC3E}">
        <p14:creationId xmlns:p14="http://schemas.microsoft.com/office/powerpoint/2010/main" val="642401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3" y="8831265"/>
            <a:ext cx="2971800" cy="465137"/>
          </a:xfrm>
          <a:prstGeom prst="rect">
            <a:avLst/>
          </a:prstGeom>
          <a:noFill/>
        </p:spPr>
        <p:txBody>
          <a:bodyPr lIns="89226" tIns="44613" rIns="89226" bIns="44613"/>
          <a:lstStyle/>
          <a:p>
            <a:fld id="{BA287209-E85A-403F-B52C-6A6092628BA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86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3" y="8831265"/>
            <a:ext cx="2971800" cy="465137"/>
          </a:xfrm>
          <a:prstGeom prst="rect">
            <a:avLst/>
          </a:prstGeom>
          <a:noFill/>
        </p:spPr>
        <p:txBody>
          <a:bodyPr lIns="89226" tIns="44613" rIns="89226" bIns="44613"/>
          <a:lstStyle/>
          <a:p>
            <a:fld id="{C5E656EE-92AB-4D9C-B7AF-C359C01DA98C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Central limit theorem: sample average is normally distributed around the true average or population average and the variability depends on sample size.</a:t>
            </a:r>
          </a:p>
        </p:txBody>
      </p:sp>
    </p:spTree>
    <p:extLst>
      <p:ext uri="{BB962C8B-B14F-4D97-AF65-F5344CB8AC3E}">
        <p14:creationId xmlns:p14="http://schemas.microsoft.com/office/powerpoint/2010/main" val="17231520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3" y="8831265"/>
            <a:ext cx="2971800" cy="465137"/>
          </a:xfrm>
          <a:prstGeom prst="rect">
            <a:avLst/>
          </a:prstGeom>
          <a:noFill/>
        </p:spPr>
        <p:txBody>
          <a:bodyPr lIns="89226" tIns="44613" rIns="89226" bIns="44613"/>
          <a:lstStyle/>
          <a:p>
            <a:fld id="{496DFA93-FD35-4215-B521-09C25C17F234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/>
              <a:t>Type I </a:t>
            </a:r>
            <a:r>
              <a:rPr lang="en-US" dirty="0" err="1"/>
              <a:t>vs</a:t>
            </a:r>
            <a:r>
              <a:rPr lang="en-US" dirty="0"/>
              <a:t> Type II error: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When limits are too narrow, you may have false alarms too often, i.e., making too many type I errors.</a:t>
            </a:r>
          </a:p>
          <a:p>
            <a:pPr eaLnBrk="1" hangingPunct="1"/>
            <a:r>
              <a:rPr lang="en-US" dirty="0"/>
              <a:t>When limits are too wide, you may have overlooked problems, making type II errors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Link to appraisal costs vs. external failure costs. </a:t>
            </a:r>
          </a:p>
        </p:txBody>
      </p:sp>
    </p:spTree>
    <p:extLst>
      <p:ext uri="{BB962C8B-B14F-4D97-AF65-F5344CB8AC3E}">
        <p14:creationId xmlns:p14="http://schemas.microsoft.com/office/powerpoint/2010/main" val="5403795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3" y="8831265"/>
            <a:ext cx="2971800" cy="465137"/>
          </a:xfrm>
          <a:prstGeom prst="rect">
            <a:avLst/>
          </a:prstGeom>
          <a:noFill/>
        </p:spPr>
        <p:txBody>
          <a:bodyPr lIns="89226" tIns="44613" rIns="89226" bIns="44613"/>
          <a:lstStyle/>
          <a:p>
            <a:fld id="{93F3A072-BF95-49A0-BAC4-7E2C687160FE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/>
              <a:t>Three Sigma quality level translates to a process yield of 99.73% yield. </a:t>
            </a:r>
          </a:p>
        </p:txBody>
      </p:sp>
    </p:spTree>
    <p:extLst>
      <p:ext uri="{BB962C8B-B14F-4D97-AF65-F5344CB8AC3E}">
        <p14:creationId xmlns:p14="http://schemas.microsoft.com/office/powerpoint/2010/main" val="35514356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3" y="8831265"/>
            <a:ext cx="2971800" cy="465137"/>
          </a:xfrm>
          <a:prstGeom prst="rect">
            <a:avLst/>
          </a:prstGeom>
          <a:noFill/>
        </p:spPr>
        <p:txBody>
          <a:bodyPr lIns="89226" tIns="44613" rIns="89226" bIns="44613"/>
          <a:lstStyle/>
          <a:p>
            <a:fld id="{33B572A0-F28D-4A68-8BF9-9A6E13288D1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2540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3" y="8831265"/>
            <a:ext cx="2971800" cy="465137"/>
          </a:xfrm>
          <a:prstGeom prst="rect">
            <a:avLst/>
          </a:prstGeom>
          <a:noFill/>
        </p:spPr>
        <p:txBody>
          <a:bodyPr lIns="89226" tIns="44613" rIns="89226" bIns="44613"/>
          <a:lstStyle/>
          <a:p>
            <a:fld id="{358253BF-559B-486D-8C0C-06CF26405D84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6362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3" y="8831265"/>
            <a:ext cx="2971800" cy="465137"/>
          </a:xfrm>
          <a:prstGeom prst="rect">
            <a:avLst/>
          </a:prstGeom>
          <a:noFill/>
        </p:spPr>
        <p:txBody>
          <a:bodyPr lIns="89226" tIns="44613" rIns="89226" bIns="44613"/>
          <a:lstStyle/>
          <a:p>
            <a:fld id="{00174AE3-74AE-46A2-94E9-D00AE002729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9275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3" y="8831265"/>
            <a:ext cx="2971800" cy="465137"/>
          </a:xfrm>
          <a:prstGeom prst="rect">
            <a:avLst/>
          </a:prstGeom>
          <a:noFill/>
        </p:spPr>
        <p:txBody>
          <a:bodyPr lIns="89226" tIns="44613" rIns="89226" bIns="44613"/>
          <a:lstStyle/>
          <a:p>
            <a:fld id="{638C75DC-08D6-434A-9439-17EC42039B02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6649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3" y="8831265"/>
            <a:ext cx="2971800" cy="465137"/>
          </a:xfrm>
          <a:prstGeom prst="rect">
            <a:avLst/>
          </a:prstGeom>
          <a:noFill/>
        </p:spPr>
        <p:txBody>
          <a:bodyPr lIns="89226" tIns="44613" rIns="89226" bIns="44613"/>
          <a:lstStyle/>
          <a:p>
            <a:fld id="{EAD60A86-E50A-44DE-9FB7-3D51E5E085C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1146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3" y="8831265"/>
            <a:ext cx="2971800" cy="465137"/>
          </a:xfrm>
          <a:prstGeom prst="rect">
            <a:avLst/>
          </a:prstGeom>
          <a:noFill/>
        </p:spPr>
        <p:txBody>
          <a:bodyPr lIns="89226" tIns="44613" rIns="89226" bIns="44613"/>
          <a:lstStyle/>
          <a:p>
            <a:fld id="{B935AA20-D0A3-4187-AB12-847C027E2CC2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6379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3" y="8831265"/>
            <a:ext cx="2971800" cy="465137"/>
          </a:xfrm>
          <a:prstGeom prst="rect">
            <a:avLst/>
          </a:prstGeom>
          <a:noFill/>
        </p:spPr>
        <p:txBody>
          <a:bodyPr lIns="89226" tIns="44613" rIns="89226" bIns="44613"/>
          <a:lstStyle/>
          <a:p>
            <a:fld id="{B0D3684B-D429-430B-B310-8CD74F1427A6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7486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3" y="8831265"/>
            <a:ext cx="2971800" cy="465137"/>
          </a:xfrm>
          <a:prstGeom prst="rect">
            <a:avLst/>
          </a:prstGeom>
          <a:noFill/>
        </p:spPr>
        <p:txBody>
          <a:bodyPr lIns="89226" tIns="44613" rIns="89226" bIns="44613"/>
          <a:lstStyle/>
          <a:p>
            <a:fld id="{39D64E09-4CC8-48EB-A66F-6458C4A3B43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/>
              <a:t>Talk</a:t>
            </a:r>
            <a:r>
              <a:rPr lang="en-US" baseline="0" dirty="0"/>
              <a:t> about how to draw UCL and LCL, center line using excel.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9843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86203" y="8831265"/>
            <a:ext cx="2971800" cy="465137"/>
          </a:xfrm>
          <a:prstGeom prst="rect">
            <a:avLst/>
          </a:prstGeom>
          <a:noFill/>
        </p:spPr>
        <p:txBody>
          <a:bodyPr lIns="89226" tIns="44613" rIns="89226" bIns="44613"/>
          <a:lstStyle/>
          <a:p>
            <a:fld id="{E9A86B32-7D68-42BC-BAAE-ADD7858CA958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1329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022938" y="9722537"/>
            <a:ext cx="3076364" cy="512079"/>
          </a:xfrm>
          <a:prstGeom prst="rect">
            <a:avLst/>
          </a:prstGeom>
          <a:noFill/>
        </p:spPr>
        <p:txBody>
          <a:bodyPr lIns="89226" tIns="44613" rIns="89226" bIns="44613"/>
          <a:lstStyle/>
          <a:p>
            <a:fld id="{81ACD254-F3E1-4E3C-9A76-956D6FADEA1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Similarly, we have UCL and LCLs</a:t>
            </a:r>
          </a:p>
        </p:txBody>
      </p:sp>
    </p:spTree>
    <p:extLst>
      <p:ext uri="{BB962C8B-B14F-4D97-AF65-F5344CB8AC3E}">
        <p14:creationId xmlns:p14="http://schemas.microsoft.com/office/powerpoint/2010/main" val="31353210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4022938" y="9722537"/>
            <a:ext cx="3076364" cy="512079"/>
          </a:xfrm>
          <a:prstGeom prst="rect">
            <a:avLst/>
          </a:prstGeom>
        </p:spPr>
        <p:txBody>
          <a:bodyPr lIns="89226" tIns="44613" rIns="89226" bIns="44613"/>
          <a:lstStyle/>
          <a:p>
            <a:fld id="{E11C31FB-2AE8-482B-8F17-F02192072AEC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7575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- it's good. it shows the variability has decreased</a:t>
            </a:r>
          </a:p>
        </p:txBody>
      </p:sp>
    </p:spTree>
    <p:extLst>
      <p:ext uri="{BB962C8B-B14F-4D97-AF65-F5344CB8AC3E}">
        <p14:creationId xmlns:p14="http://schemas.microsoft.com/office/powerpoint/2010/main" val="1292918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022938" y="9722537"/>
            <a:ext cx="3076364" cy="512079"/>
          </a:xfrm>
          <a:prstGeom prst="rect">
            <a:avLst/>
          </a:prstGeom>
          <a:noFill/>
        </p:spPr>
        <p:txBody>
          <a:bodyPr lIns="89226" tIns="44613" rIns="89226" bIns="44613"/>
          <a:lstStyle/>
          <a:p>
            <a:fld id="{C2457DEC-B0DC-4E6B-9409-4EAA28B1E72A}" type="slidenum">
              <a:rPr lang="en-US"/>
              <a:pPr/>
              <a:t>33</a:t>
            </a:fld>
            <a:endParaRPr 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900" dirty="0"/>
              <a:t>Numerator: voice of the customer</a:t>
            </a:r>
          </a:p>
          <a:p>
            <a:pPr eaLnBrk="1" hangingPunct="1">
              <a:lnSpc>
                <a:spcPct val="80000"/>
              </a:lnSpc>
            </a:pPr>
            <a:r>
              <a:rPr lang="en-US" sz="900" dirty="0"/>
              <a:t>Denominator: voice of the process</a:t>
            </a:r>
          </a:p>
          <a:p>
            <a:pPr eaLnBrk="1" hangingPunct="1">
              <a:lnSpc>
                <a:spcPct val="80000"/>
              </a:lnSpc>
            </a:pPr>
            <a:r>
              <a:rPr lang="en-US" sz="900" dirty="0"/>
              <a:t>Don’t confuse USL/LSL with UCL/LCL</a:t>
            </a:r>
          </a:p>
          <a:p>
            <a:pPr eaLnBrk="1" hangingPunct="1">
              <a:lnSpc>
                <a:spcPct val="80000"/>
              </a:lnSpc>
            </a:pPr>
            <a:r>
              <a:rPr lang="en-US" sz="900" dirty="0" err="1"/>
              <a:t>Cp</a:t>
            </a:r>
            <a:r>
              <a:rPr lang="en-US" sz="900" dirty="0"/>
              <a:t> increases -&gt; lower defective rate</a:t>
            </a:r>
          </a:p>
          <a:p>
            <a:pPr eaLnBrk="1" hangingPunct="1">
              <a:lnSpc>
                <a:spcPct val="80000"/>
              </a:lnSpc>
            </a:pPr>
            <a:r>
              <a:rPr lang="en-US" sz="900" dirty="0" err="1"/>
              <a:t>Cp</a:t>
            </a:r>
            <a:r>
              <a:rPr lang="en-US" sz="900" dirty="0"/>
              <a:t> = 1 -&gt; 0.27% = 0.0027 = 2700 per 1,000,000</a:t>
            </a:r>
          </a:p>
        </p:txBody>
      </p:sp>
    </p:spTree>
    <p:extLst>
      <p:ext uri="{BB962C8B-B14F-4D97-AF65-F5344CB8AC3E}">
        <p14:creationId xmlns:p14="http://schemas.microsoft.com/office/powerpoint/2010/main" val="40564490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022938" y="9722537"/>
            <a:ext cx="3076364" cy="512079"/>
          </a:xfrm>
          <a:prstGeom prst="rect">
            <a:avLst/>
          </a:prstGeom>
          <a:noFill/>
        </p:spPr>
        <p:txBody>
          <a:bodyPr lIns="89226" tIns="44613" rIns="89226" bIns="44613"/>
          <a:lstStyle/>
          <a:p>
            <a:fld id="{F4CE9BAF-39FE-41BB-83FA-E3FFE7B44DDE}" type="slidenum">
              <a:rPr lang="en-US"/>
              <a:pPr/>
              <a:t>36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3037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145282" y="9120814"/>
            <a:ext cx="3169920" cy="480388"/>
          </a:xfrm>
          <a:prstGeom prst="rect">
            <a:avLst/>
          </a:prstGeom>
          <a:noFill/>
        </p:spPr>
        <p:txBody>
          <a:bodyPr/>
          <a:lstStyle/>
          <a:p>
            <a:fld id="{45C24D75-DC76-4219-B30D-A3AA88BF9CC0}" type="slidenum">
              <a:rPr lang="en-US"/>
              <a:pPr/>
              <a:t>37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93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228600" y="2889250"/>
            <a:ext cx="8610600" cy="201613"/>
            <a:chOff x="144" y="1680"/>
            <a:chExt cx="5424" cy="144"/>
          </a:xfrm>
        </p:grpSpPr>
        <p:sp>
          <p:nvSpPr>
            <p:cNvPr id="5" name="Rectangle 8"/>
            <p:cNvSpPr>
              <a:spLocks noChangeArrowheads="1"/>
            </p:cNvSpPr>
            <p:nvPr userDrawn="1"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" name="Rectangle 9"/>
            <p:cNvSpPr>
              <a:spLocks noChangeArrowheads="1"/>
            </p:cNvSpPr>
            <p:nvPr userDrawn="1"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Rectangle 10"/>
            <p:cNvSpPr>
              <a:spLocks noChangeArrowheads="1"/>
            </p:cNvSpPr>
            <p:nvPr userDrawn="1"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43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5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BUS 105: Production and Operations Management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B11FFBB-7817-4E68-8D53-009C236A69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BUS 105: Production and Operations Management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72D208-4CEA-4F7A-A040-78BC92DFF7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BUS 105: Production and Operations Management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FC7E86-8A13-4339-9F06-D22C4C67BB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BUS 105: Production and Operations Management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B59711-CAB8-4180-BFA8-8A463B21A9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BUS 105: Production and Operations Management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1953AD-926E-4725-9F73-59851D3AE2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BUS 105: Production and Operations Management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B32468-5FEF-4648-8173-0B44E9EC41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BUS 105: Production and Operations Management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41466D-3E16-462A-AE53-6C50AA368B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BUS 105: Production and Operations Management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18077-3EA1-43C1-8002-A5197820AE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BUS 105: Production and Operations Management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306430-A761-497C-BA59-1C159BC064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BUS 105: Production and Operations Management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455BA5-04DF-4160-A29E-07E875B8FC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BUS 105: Production and Operations Management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8B0FC2-0CD1-49DC-BCE7-CD93D11481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BUS 105: Production and Operations Management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1830B0-F9AB-4ADE-AB6A-B183312C9B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BUS 105: Production and Operations Management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469A51-9369-4A0E-B7F0-5BC93FCBC3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85800" y="1143000"/>
            <a:ext cx="7772400" cy="4953000"/>
          </a:xfrm>
        </p:spPr>
        <p:txBody>
          <a:bodyPr/>
          <a:lstStyle/>
          <a:p>
            <a:pPr lvl="0"/>
            <a:r>
              <a:rPr lang="en-US" noProof="0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450199528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chartAndTx">
  <p:cSld name="Title, Ch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753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75388"/>
            <a:ext cx="2971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BUS 105: Production and Operations Management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75388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 130 Spring 2006</a:t>
            </a:r>
          </a:p>
        </p:txBody>
      </p:sp>
    </p:spTree>
    <p:extLst>
      <p:ext uri="{BB962C8B-B14F-4D97-AF65-F5344CB8AC3E}">
        <p14:creationId xmlns:p14="http://schemas.microsoft.com/office/powerpoint/2010/main" val="3052659231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971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BUS 105: Production and Operations Management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 130 Spring 2006</a:t>
            </a:r>
          </a:p>
        </p:txBody>
      </p:sp>
    </p:spTree>
    <p:extLst>
      <p:ext uri="{BB962C8B-B14F-4D97-AF65-F5344CB8AC3E}">
        <p14:creationId xmlns:p14="http://schemas.microsoft.com/office/powerpoint/2010/main" val="387467822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2340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118100" y="66675"/>
            <a:ext cx="3952875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 smtClean="0"/>
            </a:lvl1pPr>
          </a:lstStyle>
          <a:p>
            <a:pPr>
              <a:defRPr/>
            </a:pPr>
            <a:r>
              <a:rPr lang="en-US"/>
              <a:t>BUS 105: Production and Operations Management</a:t>
            </a:r>
          </a:p>
        </p:txBody>
      </p:sp>
      <p:sp>
        <p:nvSpPr>
          <p:cNvPr id="14234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19913" y="6413500"/>
            <a:ext cx="213360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989CF994-BF25-4773-85C3-2C7EB14576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2342" name="Rectangle 6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>
              <a:latin typeface="Times New Roman" pitchFamily="18" charset="0"/>
            </a:endParaRPr>
          </a:p>
        </p:txBody>
      </p:sp>
      <p:sp>
        <p:nvSpPr>
          <p:cNvPr id="142343" name="Line 7"/>
          <p:cNvSpPr>
            <a:spLocks noChangeShapeType="1"/>
          </p:cNvSpPr>
          <p:nvPr/>
        </p:nvSpPr>
        <p:spPr bwMode="auto">
          <a:xfrm>
            <a:off x="457200" y="144780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344" name="Rectangle 8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>
              <a:latin typeface="Times New Roman" pitchFamily="18" charset="0"/>
            </a:endParaRPr>
          </a:p>
        </p:txBody>
      </p:sp>
      <p:sp>
        <p:nvSpPr>
          <p:cNvPr id="142345" name="Rectangle 9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80" r:id="rId14"/>
    <p:sldLayoutId id="2147483681" r:id="rId15"/>
    <p:sldLayoutId id="2147483682" r:id="rId16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p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p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9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7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0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1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3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5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3.e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2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26.wmf"/><Relationship Id="rId4" Type="http://schemas.openxmlformats.org/officeDocument/2006/relationships/image" Target="../media/image24.emf"/><Relationship Id="rId9" Type="http://schemas.openxmlformats.org/officeDocument/2006/relationships/oleObject" Target="../embeddings/oleObject23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e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8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emf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35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30.bin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39.w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e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38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34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oleObject" Target="../embeddings/oleObject36.bin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6.png"/><Relationship Id="rId4" Type="http://schemas.openxmlformats.org/officeDocument/2006/relationships/image" Target="../media/image40.wmf"/><Relationship Id="rId9" Type="http://schemas.openxmlformats.org/officeDocument/2006/relationships/image" Target="../media/image5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MGT 207</a:t>
            </a:r>
          </a:p>
        </p:txBody>
      </p:sp>
      <p:graphicFrame>
        <p:nvGraphicFramePr>
          <p:cNvPr id="1026" name="Object 3"/>
          <p:cNvGraphicFramePr>
            <a:graphicFrameLocks noChangeAspect="1"/>
          </p:cNvGraphicFramePr>
          <p:nvPr/>
        </p:nvGraphicFramePr>
        <p:xfrm>
          <a:off x="257175" y="3363913"/>
          <a:ext cx="3070225" cy="305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720800" imgH="1712520" progId="">
                  <p:embed/>
                </p:oleObj>
              </mc:Choice>
              <mc:Fallback>
                <p:oleObj name="Clip" r:id="rId3" imgW="1720800" imgH="171252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" y="3363913"/>
                        <a:ext cx="3070225" cy="3055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1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608388" y="3436938"/>
            <a:ext cx="5146675" cy="2209800"/>
          </a:xfrm>
        </p:spPr>
        <p:txBody>
          <a:bodyPr/>
          <a:lstStyle/>
          <a:p>
            <a:pPr eaLnBrk="1" hangingPunct="1">
              <a:defRPr/>
            </a:pPr>
            <a:endParaRPr lang="en-US" sz="3600" dirty="0">
              <a:solidFill>
                <a:srgbClr val="00969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defRPr/>
            </a:pPr>
            <a:r>
              <a:rPr lang="en-US" sz="3600" dirty="0">
                <a:solidFill>
                  <a:srgbClr val="00969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Quality Management and </a:t>
            </a:r>
            <a:r>
              <a:rPr lang="en-US" sz="3600">
                <a:solidFill>
                  <a:srgbClr val="00969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Statistical Process Control</a:t>
            </a:r>
            <a:endParaRPr lang="en-US" sz="3600" dirty="0">
              <a:solidFill>
                <a:srgbClr val="00969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5687853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32546-2876-4147-BDB4-6E7E2E158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Natural Manufacturing Variations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5A4E40-ADB5-419C-A545-B60E87535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85" y="1710553"/>
            <a:ext cx="7428029" cy="4869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958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88084" y="1386290"/>
            <a:ext cx="9383120" cy="762000"/>
          </a:xfrm>
        </p:spPr>
        <p:txBody>
          <a:bodyPr/>
          <a:lstStyle/>
          <a:p>
            <a:pPr eaLnBrk="1" hangingPunct="1"/>
            <a:r>
              <a:rPr lang="en-US" sz="4000" dirty="0">
                <a:cs typeface="Arial" charset="0"/>
              </a:rPr>
              <a:t>All Processes Have Some Variation…</a:t>
            </a:r>
            <a:br>
              <a:rPr lang="en-US" sz="4000" dirty="0">
                <a:cs typeface="Arial" charset="0"/>
              </a:rPr>
            </a:br>
            <a:r>
              <a:rPr lang="en-US" sz="4000" dirty="0">
                <a:cs typeface="Arial" charset="0"/>
              </a:rPr>
              <a:t>But There Is Typical Variation and Atypical Variation</a:t>
            </a:r>
          </a:p>
        </p:txBody>
      </p:sp>
      <p:sp>
        <p:nvSpPr>
          <p:cNvPr id="29699" name="Line 3"/>
          <p:cNvSpPr>
            <a:spLocks noChangeShapeType="1"/>
          </p:cNvSpPr>
          <p:nvPr/>
        </p:nvSpPr>
        <p:spPr bwMode="auto">
          <a:xfrm>
            <a:off x="1717344" y="3151590"/>
            <a:ext cx="0" cy="2895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0" name="Line 4"/>
          <p:cNvSpPr>
            <a:spLocks noChangeShapeType="1"/>
          </p:cNvSpPr>
          <p:nvPr/>
        </p:nvSpPr>
        <p:spPr bwMode="auto">
          <a:xfrm>
            <a:off x="1717344" y="6047190"/>
            <a:ext cx="6324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650544" y="3030940"/>
            <a:ext cx="1143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/>
              <a:t>Time</a:t>
            </a:r>
          </a:p>
        </p:txBody>
      </p:sp>
      <p:sp>
        <p:nvSpPr>
          <p:cNvPr id="29702" name="Oval 6"/>
          <p:cNvSpPr>
            <a:spLocks noChangeArrowheads="1"/>
          </p:cNvSpPr>
          <p:nvPr/>
        </p:nvSpPr>
        <p:spPr bwMode="auto">
          <a:xfrm>
            <a:off x="1679244" y="421839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03" name="Oval 7"/>
          <p:cNvSpPr>
            <a:spLocks noChangeArrowheads="1"/>
          </p:cNvSpPr>
          <p:nvPr/>
        </p:nvSpPr>
        <p:spPr bwMode="auto">
          <a:xfrm>
            <a:off x="2060244" y="452319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04" name="Oval 8"/>
          <p:cNvSpPr>
            <a:spLocks noChangeArrowheads="1"/>
          </p:cNvSpPr>
          <p:nvPr/>
        </p:nvSpPr>
        <p:spPr bwMode="auto">
          <a:xfrm>
            <a:off x="2441244" y="437079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05" name="Oval 9"/>
          <p:cNvSpPr>
            <a:spLocks noChangeArrowheads="1"/>
          </p:cNvSpPr>
          <p:nvPr/>
        </p:nvSpPr>
        <p:spPr bwMode="auto">
          <a:xfrm>
            <a:off x="2822244" y="467559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06" name="Oval 10"/>
          <p:cNvSpPr>
            <a:spLocks noChangeArrowheads="1"/>
          </p:cNvSpPr>
          <p:nvPr/>
        </p:nvSpPr>
        <p:spPr bwMode="auto">
          <a:xfrm>
            <a:off x="3203244" y="459939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07" name="Oval 11"/>
          <p:cNvSpPr>
            <a:spLocks noChangeArrowheads="1"/>
          </p:cNvSpPr>
          <p:nvPr/>
        </p:nvSpPr>
        <p:spPr bwMode="auto">
          <a:xfrm>
            <a:off x="3584244" y="421839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08" name="Oval 12"/>
          <p:cNvSpPr>
            <a:spLocks noChangeArrowheads="1"/>
          </p:cNvSpPr>
          <p:nvPr/>
        </p:nvSpPr>
        <p:spPr bwMode="auto">
          <a:xfrm>
            <a:off x="3965244" y="467559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09" name="Oval 13"/>
          <p:cNvSpPr>
            <a:spLocks noChangeArrowheads="1"/>
          </p:cNvSpPr>
          <p:nvPr/>
        </p:nvSpPr>
        <p:spPr bwMode="auto">
          <a:xfrm>
            <a:off x="4346244" y="437079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10" name="Oval 14"/>
          <p:cNvSpPr>
            <a:spLocks noChangeArrowheads="1"/>
          </p:cNvSpPr>
          <p:nvPr/>
        </p:nvSpPr>
        <p:spPr bwMode="auto">
          <a:xfrm>
            <a:off x="4727244" y="429459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11" name="Oval 15"/>
          <p:cNvSpPr>
            <a:spLocks noChangeArrowheads="1"/>
          </p:cNvSpPr>
          <p:nvPr/>
        </p:nvSpPr>
        <p:spPr bwMode="auto">
          <a:xfrm>
            <a:off x="5108244" y="467559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12" name="Oval 16"/>
          <p:cNvSpPr>
            <a:spLocks noChangeArrowheads="1"/>
          </p:cNvSpPr>
          <p:nvPr/>
        </p:nvSpPr>
        <p:spPr bwMode="auto">
          <a:xfrm>
            <a:off x="5489244" y="444699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13" name="Oval 17"/>
          <p:cNvSpPr>
            <a:spLocks noChangeArrowheads="1"/>
          </p:cNvSpPr>
          <p:nvPr/>
        </p:nvSpPr>
        <p:spPr bwMode="auto">
          <a:xfrm>
            <a:off x="5870244" y="459939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14" name="Text Box 18"/>
          <p:cNvSpPr txBox="1">
            <a:spLocks noChangeArrowheads="1"/>
          </p:cNvSpPr>
          <p:nvPr/>
        </p:nvSpPr>
        <p:spPr bwMode="auto">
          <a:xfrm>
            <a:off x="3317544" y="6199590"/>
            <a:ext cx="2971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/>
              <a:t>Application number</a:t>
            </a:r>
          </a:p>
        </p:txBody>
      </p:sp>
      <p:sp>
        <p:nvSpPr>
          <p:cNvPr id="29715" name="Rectangle 19"/>
          <p:cNvSpPr>
            <a:spLocks noChangeArrowheads="1"/>
          </p:cNvSpPr>
          <p:nvPr/>
        </p:nvSpPr>
        <p:spPr bwMode="auto">
          <a:xfrm>
            <a:off x="421944" y="2802340"/>
            <a:ext cx="8382000" cy="381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16" name="Rectangle 20"/>
          <p:cNvSpPr>
            <a:spLocks noChangeArrowheads="1"/>
          </p:cNvSpPr>
          <p:nvPr/>
        </p:nvSpPr>
        <p:spPr bwMode="auto">
          <a:xfrm>
            <a:off x="421944" y="2268940"/>
            <a:ext cx="8382000" cy="5334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For example, the time taken to rate an insurance policy …  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What would you think if the time to rate a particular policy took 40 minutes  </a:t>
            </a:r>
          </a:p>
        </p:txBody>
      </p:sp>
      <p:sp>
        <p:nvSpPr>
          <p:cNvPr id="29717" name="Line 21"/>
          <p:cNvSpPr>
            <a:spLocks noChangeShapeType="1"/>
          </p:cNvSpPr>
          <p:nvPr/>
        </p:nvSpPr>
        <p:spPr bwMode="auto">
          <a:xfrm>
            <a:off x="1717344" y="4478740"/>
            <a:ext cx="66294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18" name="Text Box 22"/>
          <p:cNvSpPr txBox="1">
            <a:spLocks noChangeArrowheads="1"/>
          </p:cNvSpPr>
          <p:nvPr/>
        </p:nvSpPr>
        <p:spPr bwMode="auto">
          <a:xfrm>
            <a:off x="650544" y="4326340"/>
            <a:ext cx="1143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/>
              <a:t>20 min</a:t>
            </a:r>
          </a:p>
        </p:txBody>
      </p:sp>
      <p:sp>
        <p:nvSpPr>
          <p:cNvPr id="29719" name="Oval 23"/>
          <p:cNvSpPr>
            <a:spLocks noChangeArrowheads="1"/>
          </p:cNvSpPr>
          <p:nvPr/>
        </p:nvSpPr>
        <p:spPr bwMode="auto">
          <a:xfrm>
            <a:off x="6213144" y="325954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70702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" y="457200"/>
            <a:ext cx="8953500" cy="914400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Process is In-Control if Measurements Fall Within the Typical Range </a:t>
            </a:r>
          </a:p>
        </p:txBody>
      </p:sp>
      <p:sp>
        <p:nvSpPr>
          <p:cNvPr id="32771" name="Line 3"/>
          <p:cNvSpPr>
            <a:spLocks noChangeShapeType="1"/>
          </p:cNvSpPr>
          <p:nvPr/>
        </p:nvSpPr>
        <p:spPr bwMode="auto">
          <a:xfrm>
            <a:off x="1676400" y="2254250"/>
            <a:ext cx="0" cy="2895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2772" name="Line 4"/>
          <p:cNvSpPr>
            <a:spLocks noChangeShapeType="1"/>
          </p:cNvSpPr>
          <p:nvPr/>
        </p:nvSpPr>
        <p:spPr bwMode="auto">
          <a:xfrm>
            <a:off x="1676400" y="5149850"/>
            <a:ext cx="6324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609600" y="2133600"/>
            <a:ext cx="1143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/>
              <a:t>Time</a:t>
            </a:r>
          </a:p>
        </p:txBody>
      </p:sp>
      <p:sp>
        <p:nvSpPr>
          <p:cNvPr id="32774" name="Oval 6"/>
          <p:cNvSpPr>
            <a:spLocks noChangeArrowheads="1"/>
          </p:cNvSpPr>
          <p:nvPr/>
        </p:nvSpPr>
        <p:spPr bwMode="auto">
          <a:xfrm>
            <a:off x="1638300" y="332105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75" name="Oval 7"/>
          <p:cNvSpPr>
            <a:spLocks noChangeArrowheads="1"/>
          </p:cNvSpPr>
          <p:nvPr/>
        </p:nvSpPr>
        <p:spPr bwMode="auto">
          <a:xfrm>
            <a:off x="2019300" y="362585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76" name="Oval 8"/>
          <p:cNvSpPr>
            <a:spLocks noChangeArrowheads="1"/>
          </p:cNvSpPr>
          <p:nvPr/>
        </p:nvSpPr>
        <p:spPr bwMode="auto">
          <a:xfrm>
            <a:off x="2400300" y="347345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77" name="Oval 9"/>
          <p:cNvSpPr>
            <a:spLocks noChangeArrowheads="1"/>
          </p:cNvSpPr>
          <p:nvPr/>
        </p:nvSpPr>
        <p:spPr bwMode="auto">
          <a:xfrm>
            <a:off x="2781300" y="377825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78" name="Oval 10"/>
          <p:cNvSpPr>
            <a:spLocks noChangeArrowheads="1"/>
          </p:cNvSpPr>
          <p:nvPr/>
        </p:nvSpPr>
        <p:spPr bwMode="auto">
          <a:xfrm>
            <a:off x="3162300" y="370205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79" name="Oval 11"/>
          <p:cNvSpPr>
            <a:spLocks noChangeArrowheads="1"/>
          </p:cNvSpPr>
          <p:nvPr/>
        </p:nvSpPr>
        <p:spPr bwMode="auto">
          <a:xfrm>
            <a:off x="3543300" y="332105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80" name="Oval 12"/>
          <p:cNvSpPr>
            <a:spLocks noChangeArrowheads="1"/>
          </p:cNvSpPr>
          <p:nvPr/>
        </p:nvSpPr>
        <p:spPr bwMode="auto">
          <a:xfrm>
            <a:off x="3924300" y="377825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81" name="Oval 13"/>
          <p:cNvSpPr>
            <a:spLocks noChangeArrowheads="1"/>
          </p:cNvSpPr>
          <p:nvPr/>
        </p:nvSpPr>
        <p:spPr bwMode="auto">
          <a:xfrm>
            <a:off x="4305300" y="347345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82" name="Oval 14"/>
          <p:cNvSpPr>
            <a:spLocks noChangeArrowheads="1"/>
          </p:cNvSpPr>
          <p:nvPr/>
        </p:nvSpPr>
        <p:spPr bwMode="auto">
          <a:xfrm>
            <a:off x="4686300" y="339725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83" name="Oval 15"/>
          <p:cNvSpPr>
            <a:spLocks noChangeArrowheads="1"/>
          </p:cNvSpPr>
          <p:nvPr/>
        </p:nvSpPr>
        <p:spPr bwMode="auto">
          <a:xfrm>
            <a:off x="5067300" y="377825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84" name="Oval 16"/>
          <p:cNvSpPr>
            <a:spLocks noChangeArrowheads="1"/>
          </p:cNvSpPr>
          <p:nvPr/>
        </p:nvSpPr>
        <p:spPr bwMode="auto">
          <a:xfrm>
            <a:off x="5448300" y="354965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85" name="Oval 17"/>
          <p:cNvSpPr>
            <a:spLocks noChangeArrowheads="1"/>
          </p:cNvSpPr>
          <p:nvPr/>
        </p:nvSpPr>
        <p:spPr bwMode="auto">
          <a:xfrm>
            <a:off x="5829300" y="370205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86" name="Text Box 18"/>
          <p:cNvSpPr txBox="1">
            <a:spLocks noChangeArrowheads="1"/>
          </p:cNvSpPr>
          <p:nvPr/>
        </p:nvSpPr>
        <p:spPr bwMode="auto">
          <a:xfrm>
            <a:off x="3276600" y="5302250"/>
            <a:ext cx="2971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/>
              <a:t>Application number</a:t>
            </a:r>
          </a:p>
        </p:txBody>
      </p:sp>
      <p:sp>
        <p:nvSpPr>
          <p:cNvPr id="32787" name="Rectangle 19"/>
          <p:cNvSpPr>
            <a:spLocks noChangeArrowheads="1"/>
          </p:cNvSpPr>
          <p:nvPr/>
        </p:nvSpPr>
        <p:spPr bwMode="auto">
          <a:xfrm>
            <a:off x="381000" y="1905000"/>
            <a:ext cx="8382000" cy="381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88" name="Rectangle 20"/>
          <p:cNvSpPr>
            <a:spLocks noChangeArrowheads="1"/>
          </p:cNvSpPr>
          <p:nvPr/>
        </p:nvSpPr>
        <p:spPr bwMode="auto">
          <a:xfrm>
            <a:off x="381000" y="1371600"/>
            <a:ext cx="8382000" cy="5334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600" b="1"/>
              <a:t>This process is staying in control</a:t>
            </a:r>
          </a:p>
        </p:txBody>
      </p:sp>
      <p:sp>
        <p:nvSpPr>
          <p:cNvPr id="32789" name="Line 21"/>
          <p:cNvSpPr>
            <a:spLocks noChangeShapeType="1"/>
          </p:cNvSpPr>
          <p:nvPr/>
        </p:nvSpPr>
        <p:spPr bwMode="auto">
          <a:xfrm>
            <a:off x="1676400" y="3581400"/>
            <a:ext cx="66294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2790" name="Text Box 22"/>
          <p:cNvSpPr txBox="1">
            <a:spLocks noChangeArrowheads="1"/>
          </p:cNvSpPr>
          <p:nvPr/>
        </p:nvSpPr>
        <p:spPr bwMode="auto">
          <a:xfrm>
            <a:off x="609600" y="3429000"/>
            <a:ext cx="1143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/>
              <a:t>20 min</a:t>
            </a:r>
          </a:p>
        </p:txBody>
      </p:sp>
      <p:sp>
        <p:nvSpPr>
          <p:cNvPr id="32791" name="Oval 23"/>
          <p:cNvSpPr>
            <a:spLocks noChangeArrowheads="1"/>
          </p:cNvSpPr>
          <p:nvPr/>
        </p:nvSpPr>
        <p:spPr bwMode="auto">
          <a:xfrm>
            <a:off x="6591300" y="3581400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92" name="Oval 24"/>
          <p:cNvSpPr>
            <a:spLocks noChangeArrowheads="1"/>
          </p:cNvSpPr>
          <p:nvPr/>
        </p:nvSpPr>
        <p:spPr bwMode="auto">
          <a:xfrm>
            <a:off x="6972300" y="3810000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93" name="Oval 25"/>
          <p:cNvSpPr>
            <a:spLocks noChangeArrowheads="1"/>
          </p:cNvSpPr>
          <p:nvPr/>
        </p:nvSpPr>
        <p:spPr bwMode="auto">
          <a:xfrm>
            <a:off x="7353300" y="3505200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94" name="Oval 26"/>
          <p:cNvSpPr>
            <a:spLocks noChangeArrowheads="1"/>
          </p:cNvSpPr>
          <p:nvPr/>
        </p:nvSpPr>
        <p:spPr bwMode="auto">
          <a:xfrm>
            <a:off x="6248400" y="3352800"/>
            <a:ext cx="152400" cy="152400"/>
          </a:xfrm>
          <a:prstGeom prst="ellips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74491" name="Rectangle 27"/>
          <p:cNvSpPr>
            <a:spLocks noChangeArrowheads="1"/>
          </p:cNvSpPr>
          <p:nvPr/>
        </p:nvSpPr>
        <p:spPr bwMode="auto">
          <a:xfrm>
            <a:off x="1295400" y="5791200"/>
            <a:ext cx="7010400" cy="4572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 sz="1600" b="1"/>
              <a:t>In-control does not necessarily mean high quality, it just means the process is behaving as you expect it to behave</a:t>
            </a:r>
          </a:p>
        </p:txBody>
      </p:sp>
    </p:spTree>
    <p:extLst>
      <p:ext uri="{BB962C8B-B14F-4D97-AF65-F5344CB8AC3E}">
        <p14:creationId xmlns:p14="http://schemas.microsoft.com/office/powerpoint/2010/main" val="28539581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449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825500"/>
            <a:ext cx="8572500" cy="685800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A Change In Measurements Indicates Process May Be Out-of-Control</a:t>
            </a:r>
          </a:p>
        </p:txBody>
      </p:sp>
      <p:sp>
        <p:nvSpPr>
          <p:cNvPr id="33795" name="Line 3"/>
          <p:cNvSpPr>
            <a:spLocks noChangeShapeType="1"/>
          </p:cNvSpPr>
          <p:nvPr/>
        </p:nvSpPr>
        <p:spPr bwMode="auto">
          <a:xfrm>
            <a:off x="1676400" y="2711450"/>
            <a:ext cx="0" cy="2895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796" name="Line 4"/>
          <p:cNvSpPr>
            <a:spLocks noChangeShapeType="1"/>
          </p:cNvSpPr>
          <p:nvPr/>
        </p:nvSpPr>
        <p:spPr bwMode="auto">
          <a:xfrm>
            <a:off x="1676400" y="5607050"/>
            <a:ext cx="6324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609600" y="2590800"/>
            <a:ext cx="1143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/>
              <a:t>Time</a:t>
            </a:r>
          </a:p>
        </p:txBody>
      </p:sp>
      <p:sp>
        <p:nvSpPr>
          <p:cNvPr id="33798" name="Oval 6"/>
          <p:cNvSpPr>
            <a:spLocks noChangeArrowheads="1"/>
          </p:cNvSpPr>
          <p:nvPr/>
        </p:nvSpPr>
        <p:spPr bwMode="auto">
          <a:xfrm>
            <a:off x="1638300" y="377825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799" name="Oval 7"/>
          <p:cNvSpPr>
            <a:spLocks noChangeArrowheads="1"/>
          </p:cNvSpPr>
          <p:nvPr/>
        </p:nvSpPr>
        <p:spPr bwMode="auto">
          <a:xfrm>
            <a:off x="2019300" y="408305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0" name="Oval 8"/>
          <p:cNvSpPr>
            <a:spLocks noChangeArrowheads="1"/>
          </p:cNvSpPr>
          <p:nvPr/>
        </p:nvSpPr>
        <p:spPr bwMode="auto">
          <a:xfrm>
            <a:off x="2400300" y="393065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1" name="Oval 9"/>
          <p:cNvSpPr>
            <a:spLocks noChangeArrowheads="1"/>
          </p:cNvSpPr>
          <p:nvPr/>
        </p:nvSpPr>
        <p:spPr bwMode="auto">
          <a:xfrm>
            <a:off x="2781300" y="423545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2" name="Oval 10"/>
          <p:cNvSpPr>
            <a:spLocks noChangeArrowheads="1"/>
          </p:cNvSpPr>
          <p:nvPr/>
        </p:nvSpPr>
        <p:spPr bwMode="auto">
          <a:xfrm>
            <a:off x="3162300" y="415925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3" name="Oval 11"/>
          <p:cNvSpPr>
            <a:spLocks noChangeArrowheads="1"/>
          </p:cNvSpPr>
          <p:nvPr/>
        </p:nvSpPr>
        <p:spPr bwMode="auto">
          <a:xfrm>
            <a:off x="3543300" y="377825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4" name="Oval 12"/>
          <p:cNvSpPr>
            <a:spLocks noChangeArrowheads="1"/>
          </p:cNvSpPr>
          <p:nvPr/>
        </p:nvSpPr>
        <p:spPr bwMode="auto">
          <a:xfrm>
            <a:off x="3924300" y="423545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5" name="Oval 13"/>
          <p:cNvSpPr>
            <a:spLocks noChangeArrowheads="1"/>
          </p:cNvSpPr>
          <p:nvPr/>
        </p:nvSpPr>
        <p:spPr bwMode="auto">
          <a:xfrm>
            <a:off x="4305300" y="393065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6" name="Oval 14"/>
          <p:cNvSpPr>
            <a:spLocks noChangeArrowheads="1"/>
          </p:cNvSpPr>
          <p:nvPr/>
        </p:nvSpPr>
        <p:spPr bwMode="auto">
          <a:xfrm>
            <a:off x="4686300" y="385445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7" name="Oval 15"/>
          <p:cNvSpPr>
            <a:spLocks noChangeArrowheads="1"/>
          </p:cNvSpPr>
          <p:nvPr/>
        </p:nvSpPr>
        <p:spPr bwMode="auto">
          <a:xfrm>
            <a:off x="5067300" y="423545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8" name="Oval 16"/>
          <p:cNvSpPr>
            <a:spLocks noChangeArrowheads="1"/>
          </p:cNvSpPr>
          <p:nvPr/>
        </p:nvSpPr>
        <p:spPr bwMode="auto">
          <a:xfrm>
            <a:off x="5448300" y="400685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09" name="Oval 17"/>
          <p:cNvSpPr>
            <a:spLocks noChangeArrowheads="1"/>
          </p:cNvSpPr>
          <p:nvPr/>
        </p:nvSpPr>
        <p:spPr bwMode="auto">
          <a:xfrm>
            <a:off x="5829300" y="415925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10" name="Oval 18"/>
          <p:cNvSpPr>
            <a:spLocks noChangeArrowheads="1"/>
          </p:cNvSpPr>
          <p:nvPr/>
        </p:nvSpPr>
        <p:spPr bwMode="auto">
          <a:xfrm>
            <a:off x="6210300" y="4387850"/>
            <a:ext cx="152400" cy="1524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11" name="Oval 19"/>
          <p:cNvSpPr>
            <a:spLocks noChangeArrowheads="1"/>
          </p:cNvSpPr>
          <p:nvPr/>
        </p:nvSpPr>
        <p:spPr bwMode="auto">
          <a:xfrm>
            <a:off x="6608763" y="3046413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33812" name="Oval 20"/>
          <p:cNvSpPr>
            <a:spLocks noChangeArrowheads="1"/>
          </p:cNvSpPr>
          <p:nvPr/>
        </p:nvSpPr>
        <p:spPr bwMode="auto">
          <a:xfrm>
            <a:off x="6972300" y="32766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33813" name="Oval 21"/>
          <p:cNvSpPr>
            <a:spLocks noChangeArrowheads="1"/>
          </p:cNvSpPr>
          <p:nvPr/>
        </p:nvSpPr>
        <p:spPr bwMode="auto">
          <a:xfrm>
            <a:off x="7353300" y="29718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33814" name="Text Box 22"/>
          <p:cNvSpPr txBox="1">
            <a:spLocks noChangeArrowheads="1"/>
          </p:cNvSpPr>
          <p:nvPr/>
        </p:nvSpPr>
        <p:spPr bwMode="auto">
          <a:xfrm>
            <a:off x="3276600" y="5759450"/>
            <a:ext cx="2971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/>
              <a:t>Application number</a:t>
            </a:r>
          </a:p>
        </p:txBody>
      </p:sp>
      <p:sp>
        <p:nvSpPr>
          <p:cNvPr id="33815" name="Rectangle 23"/>
          <p:cNvSpPr>
            <a:spLocks noChangeArrowheads="1"/>
          </p:cNvSpPr>
          <p:nvPr/>
        </p:nvSpPr>
        <p:spPr bwMode="auto">
          <a:xfrm>
            <a:off x="381000" y="2362200"/>
            <a:ext cx="8382000" cy="381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816" name="Rectangle 24"/>
          <p:cNvSpPr>
            <a:spLocks noChangeArrowheads="1"/>
          </p:cNvSpPr>
          <p:nvPr/>
        </p:nvSpPr>
        <p:spPr bwMode="auto">
          <a:xfrm>
            <a:off x="381000" y="1828800"/>
            <a:ext cx="8382000" cy="5334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sz="1600" b="1"/>
              <a:t>A significant change indicates that the process is no longer behaving as you expect it to behave</a:t>
            </a:r>
          </a:p>
        </p:txBody>
      </p:sp>
      <p:sp>
        <p:nvSpPr>
          <p:cNvPr id="33817" name="Line 25"/>
          <p:cNvSpPr>
            <a:spLocks noChangeShapeType="1"/>
          </p:cNvSpPr>
          <p:nvPr/>
        </p:nvSpPr>
        <p:spPr bwMode="auto">
          <a:xfrm>
            <a:off x="1676400" y="4038600"/>
            <a:ext cx="66294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818" name="Text Box 26"/>
          <p:cNvSpPr txBox="1">
            <a:spLocks noChangeArrowheads="1"/>
          </p:cNvSpPr>
          <p:nvPr/>
        </p:nvSpPr>
        <p:spPr bwMode="auto">
          <a:xfrm>
            <a:off x="609600" y="3886200"/>
            <a:ext cx="1143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/>
              <a:t>20 min</a:t>
            </a:r>
          </a:p>
        </p:txBody>
      </p:sp>
      <p:sp>
        <p:nvSpPr>
          <p:cNvPr id="33819" name="Oval 27"/>
          <p:cNvSpPr>
            <a:spLocks noChangeArrowheads="1"/>
          </p:cNvSpPr>
          <p:nvPr/>
        </p:nvSpPr>
        <p:spPr bwMode="auto">
          <a:xfrm>
            <a:off x="6248400" y="28194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44179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向右箭號 29"/>
          <p:cNvSpPr/>
          <p:nvPr/>
        </p:nvSpPr>
        <p:spPr>
          <a:xfrm>
            <a:off x="101757" y="5001768"/>
            <a:ext cx="7696200" cy="1018032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Testing by Sampling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en-US" sz="2200" b="1" dirty="0"/>
              <a:t>Goal: to see if there is …</a:t>
            </a:r>
          </a:p>
          <a:p>
            <a:pPr lvl="1">
              <a:lnSpc>
                <a:spcPct val="120000"/>
              </a:lnSpc>
              <a:spcAft>
                <a:spcPts val="0"/>
              </a:spcAft>
            </a:pPr>
            <a:r>
              <a:rPr lang="en-US" sz="2200" dirty="0"/>
              <a:t>A shift in process mean</a:t>
            </a:r>
          </a:p>
          <a:p>
            <a:pPr lvl="1">
              <a:lnSpc>
                <a:spcPct val="120000"/>
              </a:lnSpc>
              <a:spcAft>
                <a:spcPts val="0"/>
              </a:spcAft>
            </a:pPr>
            <a:r>
              <a:rPr lang="en-US" sz="2200" dirty="0"/>
              <a:t>An increase in process variation</a:t>
            </a:r>
          </a:p>
          <a:p>
            <a:r>
              <a:rPr lang="en-US" dirty="0"/>
              <a:t>A sample is a set of measurements</a:t>
            </a:r>
          </a:p>
          <a:p>
            <a:r>
              <a:rPr lang="en-US" dirty="0"/>
              <a:t>For example</a:t>
            </a:r>
          </a:p>
          <a:p>
            <a:pPr lvl="1"/>
            <a:r>
              <a:rPr lang="en-US" dirty="0"/>
              <a:t>Sample frequency = every 5 products</a:t>
            </a:r>
          </a:p>
          <a:p>
            <a:pPr lvl="1"/>
            <a:r>
              <a:rPr lang="en-US" dirty="0"/>
              <a:t>Sample size n=4 </a:t>
            </a:r>
          </a:p>
        </p:txBody>
      </p:sp>
      <p:sp>
        <p:nvSpPr>
          <p:cNvPr id="5" name="橢圓 4"/>
          <p:cNvSpPr/>
          <p:nvPr/>
        </p:nvSpPr>
        <p:spPr>
          <a:xfrm>
            <a:off x="406557" y="54102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橢圓 5"/>
          <p:cNvSpPr/>
          <p:nvPr/>
        </p:nvSpPr>
        <p:spPr>
          <a:xfrm>
            <a:off x="1320957" y="5410200"/>
            <a:ext cx="228600" cy="228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橢圓 6"/>
          <p:cNvSpPr/>
          <p:nvPr/>
        </p:nvSpPr>
        <p:spPr>
          <a:xfrm>
            <a:off x="863757" y="54102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橢圓 7"/>
          <p:cNvSpPr/>
          <p:nvPr/>
        </p:nvSpPr>
        <p:spPr>
          <a:xfrm>
            <a:off x="1778157" y="5410200"/>
            <a:ext cx="228600" cy="228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橢圓 10"/>
          <p:cNvSpPr/>
          <p:nvPr/>
        </p:nvSpPr>
        <p:spPr>
          <a:xfrm>
            <a:off x="2235357" y="5410200"/>
            <a:ext cx="228600" cy="228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橢圓 11"/>
          <p:cNvSpPr/>
          <p:nvPr/>
        </p:nvSpPr>
        <p:spPr>
          <a:xfrm>
            <a:off x="3149757" y="54102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橢圓 12"/>
          <p:cNvSpPr/>
          <p:nvPr/>
        </p:nvSpPr>
        <p:spPr>
          <a:xfrm>
            <a:off x="2692557" y="5410200"/>
            <a:ext cx="228600" cy="228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橢圓 13"/>
          <p:cNvSpPr/>
          <p:nvPr/>
        </p:nvSpPr>
        <p:spPr>
          <a:xfrm>
            <a:off x="3606957" y="54102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橢圓 15"/>
          <p:cNvSpPr/>
          <p:nvPr/>
        </p:nvSpPr>
        <p:spPr>
          <a:xfrm>
            <a:off x="4064157" y="54102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橢圓 16"/>
          <p:cNvSpPr/>
          <p:nvPr/>
        </p:nvSpPr>
        <p:spPr>
          <a:xfrm>
            <a:off x="4978557" y="54102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橢圓 17"/>
          <p:cNvSpPr/>
          <p:nvPr/>
        </p:nvSpPr>
        <p:spPr>
          <a:xfrm>
            <a:off x="4521357" y="5410200"/>
            <a:ext cx="228600" cy="228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橢圓 20"/>
          <p:cNvSpPr/>
          <p:nvPr/>
        </p:nvSpPr>
        <p:spPr>
          <a:xfrm>
            <a:off x="5338326" y="5410200"/>
            <a:ext cx="228600" cy="228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橢圓 21"/>
          <p:cNvSpPr/>
          <p:nvPr/>
        </p:nvSpPr>
        <p:spPr>
          <a:xfrm>
            <a:off x="6252726" y="5410200"/>
            <a:ext cx="228600" cy="228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橢圓 22"/>
          <p:cNvSpPr/>
          <p:nvPr/>
        </p:nvSpPr>
        <p:spPr>
          <a:xfrm>
            <a:off x="5795526" y="5410200"/>
            <a:ext cx="228600" cy="228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橢圓 23"/>
          <p:cNvSpPr/>
          <p:nvPr/>
        </p:nvSpPr>
        <p:spPr>
          <a:xfrm>
            <a:off x="6709926" y="5410200"/>
            <a:ext cx="228600" cy="228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文字方塊 28"/>
          <p:cNvSpPr txBox="1"/>
          <p:nvPr/>
        </p:nvSpPr>
        <p:spPr>
          <a:xfrm>
            <a:off x="7790744" y="5326118"/>
            <a:ext cx="1353256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Inspection</a:t>
            </a:r>
          </a:p>
        </p:txBody>
      </p:sp>
      <p:sp>
        <p:nvSpPr>
          <p:cNvPr id="31" name="右大括弧 30"/>
          <p:cNvSpPr/>
          <p:nvPr/>
        </p:nvSpPr>
        <p:spPr>
          <a:xfrm rot="5400000">
            <a:off x="6121557" y="5281097"/>
            <a:ext cx="152400" cy="160020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右大括弧 33"/>
          <p:cNvSpPr/>
          <p:nvPr/>
        </p:nvSpPr>
        <p:spPr>
          <a:xfrm rot="5400000">
            <a:off x="2044857" y="5459968"/>
            <a:ext cx="152400" cy="160020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文字方塊 34"/>
          <p:cNvSpPr txBox="1"/>
          <p:nvPr/>
        </p:nvSpPr>
        <p:spPr>
          <a:xfrm>
            <a:off x="5664934" y="6497122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1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1625757" y="6488668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2</a:t>
            </a:r>
          </a:p>
        </p:txBody>
      </p:sp>
    </p:spTree>
    <p:extLst>
      <p:ext uri="{BB962C8B-B14F-4D97-AF65-F5344CB8AC3E}">
        <p14:creationId xmlns:p14="http://schemas.microsoft.com/office/powerpoint/2010/main" val="4177710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" grpId="0" animBg="1"/>
      <p:bldP spid="6" grpId="0" animBg="1"/>
      <p:bldP spid="7" grpId="0" animBg="1"/>
      <p:bldP spid="8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1" grpId="0" animBg="1"/>
      <p:bldP spid="22" grpId="0" animBg="1"/>
      <p:bldP spid="23" grpId="0" animBg="1"/>
      <p:bldP spid="24" grpId="0" animBg="1"/>
      <p:bldP spid="29" grpId="0" animBg="1"/>
      <p:bldP spid="31" grpId="0" animBg="1"/>
      <p:bldP spid="34" grpId="0" animBg="1"/>
      <p:bldP spid="35" grpId="0"/>
      <p:bldP spid="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83191" y="477672"/>
            <a:ext cx="8686800" cy="990600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Some Examples of Sample Data…  </a:t>
            </a:r>
          </a:p>
        </p:txBody>
      </p:sp>
      <p:graphicFrame>
        <p:nvGraphicFramePr>
          <p:cNvPr id="578563" name="Group 3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026828019"/>
              </p:ext>
            </p:extLst>
          </p:nvPr>
        </p:nvGraphicFramePr>
        <p:xfrm>
          <a:off x="228600" y="1806054"/>
          <a:ext cx="8686800" cy="4702176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737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Sample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(Inspection)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Measurement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Sample Mean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Range (max-min)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97.06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97.32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100.19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101.02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98.90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3.96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97.68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100.05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97.80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97.85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98.34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2.37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98.76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98.22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100.72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103.11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100.20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4.89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101.34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100.00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103.19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105.79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102.58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5.79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102.78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105.28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105.02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97.96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102.76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7.32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104.23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104.57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97.50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100.39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101.67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7.07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5773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" y="542925"/>
            <a:ext cx="8610600" cy="876300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Visualizing the Data Can Be Helpful</a:t>
            </a:r>
          </a:p>
        </p:txBody>
      </p:sp>
      <p:graphicFrame>
        <p:nvGraphicFramePr>
          <p:cNvPr id="1026" name="Object 3"/>
          <p:cNvGraphicFramePr>
            <a:graphicFrameLocks noGrp="1" noChangeAspect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2456471630"/>
              </p:ext>
            </p:extLst>
          </p:nvPr>
        </p:nvGraphicFramePr>
        <p:xfrm>
          <a:off x="1714500" y="2644254"/>
          <a:ext cx="6172200" cy="326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7772408" imgH="4114867" progId="MSGraph.Chart.8">
                  <p:embed followColorScheme="full"/>
                </p:oleObj>
              </mc:Choice>
              <mc:Fallback>
                <p:oleObj name="Chart" r:id="rId3" imgW="7772408" imgH="4114867" progId="MSGraph.Chart.8">
                  <p:embed followColorScheme="full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2644254"/>
                        <a:ext cx="6172200" cy="3267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495300" y="2491854"/>
            <a:ext cx="8382000" cy="381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495300" y="1958454"/>
            <a:ext cx="8382000" cy="5334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600" b="1"/>
              <a:t>A plot of sample means</a:t>
            </a:r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3543300" y="5844654"/>
            <a:ext cx="2743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/>
              <a:t>Sample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647700" y="2796654"/>
            <a:ext cx="11430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/>
              <a:t>Sample Mean</a:t>
            </a:r>
          </a:p>
        </p:txBody>
      </p:sp>
    </p:spTree>
    <p:extLst>
      <p:ext uri="{BB962C8B-B14F-4D97-AF65-F5344CB8AC3E}">
        <p14:creationId xmlns:p14="http://schemas.microsoft.com/office/powerpoint/2010/main" val="201985642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10600" cy="914400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Let’s Look at the Next Sample Mean</a:t>
            </a:r>
          </a:p>
        </p:txBody>
      </p:sp>
      <p:graphicFrame>
        <p:nvGraphicFramePr>
          <p:cNvPr id="2050" name="Object 3"/>
          <p:cNvGraphicFramePr>
            <a:graphicFrameLocks noGrp="1" noChangeAspect="1"/>
          </p:cNvGraphicFramePr>
          <p:nvPr>
            <p:ph type="chart" idx="1"/>
            <p:extLst>
              <p:ext uri="{D42A27DB-BD31-4B8C-83A1-F6EECF244321}">
                <p14:modId xmlns:p14="http://schemas.microsoft.com/office/powerpoint/2010/main" val="520044436"/>
              </p:ext>
            </p:extLst>
          </p:nvPr>
        </p:nvGraphicFramePr>
        <p:xfrm>
          <a:off x="1676400" y="2431576"/>
          <a:ext cx="6172200" cy="326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7772408" imgH="4114867" progId="MSGraph.Chart.8">
                  <p:embed followColorScheme="full"/>
                </p:oleObj>
              </mc:Choice>
              <mc:Fallback>
                <p:oleObj name="Chart" r:id="rId3" imgW="7772408" imgH="4114867" progId="MSGraph.Chart.8">
                  <p:embed followColorScheme="full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431576"/>
                        <a:ext cx="6172200" cy="3267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457200" y="2279176"/>
            <a:ext cx="8382000" cy="381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457200" y="1745776"/>
            <a:ext cx="8382000" cy="5334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600" b="1"/>
              <a:t>Say Sample 7 comes in with a mean of 85</a:t>
            </a:r>
          </a:p>
        </p:txBody>
      </p:sp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3505200" y="5631976"/>
            <a:ext cx="2743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/>
              <a:t>Sample</a:t>
            </a:r>
          </a:p>
        </p:txBody>
      </p:sp>
      <p:sp>
        <p:nvSpPr>
          <p:cNvPr id="2055" name="Text Box 7"/>
          <p:cNvSpPr txBox="1">
            <a:spLocks noChangeArrowheads="1"/>
          </p:cNvSpPr>
          <p:nvPr/>
        </p:nvSpPr>
        <p:spPr bwMode="auto">
          <a:xfrm>
            <a:off x="609600" y="2583976"/>
            <a:ext cx="11430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/>
              <a:t>Sample Mean</a:t>
            </a:r>
          </a:p>
        </p:txBody>
      </p:sp>
      <p:sp>
        <p:nvSpPr>
          <p:cNvPr id="580616" name="Rectangle 8"/>
          <p:cNvSpPr>
            <a:spLocks noChangeArrowheads="1"/>
          </p:cNvSpPr>
          <p:nvPr/>
        </p:nvSpPr>
        <p:spPr bwMode="auto">
          <a:xfrm>
            <a:off x="838200" y="6241576"/>
            <a:ext cx="7391400" cy="3810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sz="1600" b="1" dirty="0"/>
              <a:t>How might you decide if 85 is atypical for this process?</a:t>
            </a:r>
          </a:p>
        </p:txBody>
      </p:sp>
    </p:spTree>
    <p:extLst>
      <p:ext uri="{BB962C8B-B14F-4D97-AF65-F5344CB8AC3E}">
        <p14:creationId xmlns:p14="http://schemas.microsoft.com/office/powerpoint/2010/main" val="62655121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xfrm>
            <a:off x="379413" y="271463"/>
            <a:ext cx="8801100" cy="1143000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One Approach Is to Specify Limits on What Is Typical</a:t>
            </a:r>
          </a:p>
        </p:txBody>
      </p:sp>
      <p:graphicFrame>
        <p:nvGraphicFramePr>
          <p:cNvPr id="16" name="Object 3"/>
          <p:cNvGraphicFramePr>
            <a:graphicFrameLocks noGrp="1" noChangeAspect="1"/>
          </p:cNvGraphicFramePr>
          <p:nvPr>
            <p:ph type="chart" sz="half" idx="1"/>
          </p:nvPr>
        </p:nvGraphicFramePr>
        <p:xfrm>
          <a:off x="685800" y="2514600"/>
          <a:ext cx="3276600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3809945" imgH="4114867" progId="MSGraph.Chart.8">
                  <p:embed followColorScheme="full"/>
                </p:oleObj>
              </mc:Choice>
              <mc:Fallback>
                <p:oleObj name="Chart" r:id="rId3" imgW="3809945" imgH="4114867" progId="MSGraph.Chart.8">
                  <p:embed followColorScheme="full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514600"/>
                        <a:ext cx="3276600" cy="350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533400" y="2362200"/>
            <a:ext cx="3581400" cy="3657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533400" y="1828800"/>
            <a:ext cx="3581400" cy="5334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sz="1600" b="1"/>
              <a:t>Anything outside the limits is considered abnormal</a:t>
            </a:r>
          </a:p>
        </p:txBody>
      </p:sp>
      <p:sp>
        <p:nvSpPr>
          <p:cNvPr id="19" name="Line 6"/>
          <p:cNvSpPr>
            <a:spLocks noChangeShapeType="1"/>
          </p:cNvSpPr>
          <p:nvPr/>
        </p:nvSpPr>
        <p:spPr bwMode="auto">
          <a:xfrm>
            <a:off x="1143000" y="3714750"/>
            <a:ext cx="266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" name="Line 7"/>
          <p:cNvSpPr>
            <a:spLocks noChangeShapeType="1"/>
          </p:cNvSpPr>
          <p:nvPr/>
        </p:nvSpPr>
        <p:spPr bwMode="auto">
          <a:xfrm>
            <a:off x="1143000" y="4662488"/>
            <a:ext cx="266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1" name="Group 8"/>
          <p:cNvGrpSpPr>
            <a:grpSpLocks/>
          </p:cNvGrpSpPr>
          <p:nvPr/>
        </p:nvGrpSpPr>
        <p:grpSpPr bwMode="auto">
          <a:xfrm>
            <a:off x="4627563" y="1814513"/>
            <a:ext cx="3581400" cy="4191000"/>
            <a:chOff x="2915" y="1143"/>
            <a:chExt cx="2256" cy="2640"/>
          </a:xfrm>
        </p:grpSpPr>
        <p:graphicFrame>
          <p:nvGraphicFramePr>
            <p:cNvPr id="22" name="Object 9"/>
            <p:cNvGraphicFramePr>
              <a:graphicFrameLocks noChangeAspect="1"/>
            </p:cNvGraphicFramePr>
            <p:nvPr/>
          </p:nvGraphicFramePr>
          <p:xfrm>
            <a:off x="3011" y="1575"/>
            <a:ext cx="2064" cy="2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5" imgW="3809945" imgH="4114867" progId="MSGraph.Chart.8">
                    <p:embed followColorScheme="full"/>
                  </p:oleObj>
                </mc:Choice>
                <mc:Fallback>
                  <p:oleObj name="Chart" r:id="rId5" imgW="3809945" imgH="4114867" progId="MSGraph.Chart.8">
                    <p:embed followColorScheme="full"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1" y="1575"/>
                          <a:ext cx="2064" cy="2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Rectangle 10"/>
            <p:cNvSpPr>
              <a:spLocks noChangeArrowheads="1"/>
            </p:cNvSpPr>
            <p:nvPr/>
          </p:nvSpPr>
          <p:spPr bwMode="auto">
            <a:xfrm>
              <a:off x="2915" y="1479"/>
              <a:ext cx="2256" cy="23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Rectangle 11"/>
            <p:cNvSpPr>
              <a:spLocks noChangeArrowheads="1"/>
            </p:cNvSpPr>
            <p:nvPr/>
          </p:nvSpPr>
          <p:spPr bwMode="auto">
            <a:xfrm>
              <a:off x="2915" y="1143"/>
              <a:ext cx="2256" cy="336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r>
                <a:rPr lang="en-US" sz="1600" b="1"/>
                <a:t>Think of the Sample Means being Normally Distributed</a:t>
              </a:r>
            </a:p>
          </p:txBody>
        </p:sp>
        <p:sp>
          <p:nvSpPr>
            <p:cNvPr id="25" name="Line 12"/>
            <p:cNvSpPr>
              <a:spLocks noChangeShapeType="1"/>
            </p:cNvSpPr>
            <p:nvPr/>
          </p:nvSpPr>
          <p:spPr bwMode="auto">
            <a:xfrm flipV="1">
              <a:off x="4259" y="1719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13"/>
            <p:cNvSpPr>
              <a:spLocks noChangeShapeType="1"/>
            </p:cNvSpPr>
            <p:nvPr/>
          </p:nvSpPr>
          <p:spPr bwMode="auto">
            <a:xfrm flipV="1">
              <a:off x="3953" y="1728"/>
              <a:ext cx="0" cy="17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14"/>
            <p:cNvSpPr>
              <a:spLocks noChangeShapeType="1"/>
            </p:cNvSpPr>
            <p:nvPr/>
          </p:nvSpPr>
          <p:spPr bwMode="auto">
            <a:xfrm flipV="1">
              <a:off x="4544" y="1728"/>
              <a:ext cx="0" cy="17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106814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772400" cy="685800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But What Are the Right Limits ?</a:t>
            </a:r>
          </a:p>
        </p:txBody>
      </p:sp>
      <p:graphicFrame>
        <p:nvGraphicFramePr>
          <p:cNvPr id="4098" name="Object 3"/>
          <p:cNvGraphicFramePr>
            <a:graphicFrameLocks noGrp="1" noChangeAspect="1"/>
          </p:cNvGraphicFramePr>
          <p:nvPr>
            <p:ph type="chart" sz="half" idx="1"/>
            <p:extLst>
              <p:ext uri="{D42A27DB-BD31-4B8C-83A1-F6EECF244321}">
                <p14:modId xmlns:p14="http://schemas.microsoft.com/office/powerpoint/2010/main" val="4250334971"/>
              </p:ext>
            </p:extLst>
          </p:nvPr>
        </p:nvGraphicFramePr>
        <p:xfrm>
          <a:off x="685800" y="2362200"/>
          <a:ext cx="3276600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3809945" imgH="4114867" progId="MSGraph.Chart.8">
                  <p:embed followColorScheme="full"/>
                </p:oleObj>
              </mc:Choice>
              <mc:Fallback>
                <p:oleObj name="Chart" r:id="rId3" imgW="3809945" imgH="4114867" progId="MSGraph.Chart.8">
                  <p:embed followColorScheme="full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362200"/>
                        <a:ext cx="3276600" cy="350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2" name="Rectangle 4"/>
          <p:cNvSpPr>
            <a:spLocks noChangeArrowheads="1"/>
          </p:cNvSpPr>
          <p:nvPr/>
        </p:nvSpPr>
        <p:spPr bwMode="auto">
          <a:xfrm>
            <a:off x="533400" y="2209800"/>
            <a:ext cx="3581400" cy="3962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03" name="Rectangle 5"/>
          <p:cNvSpPr>
            <a:spLocks noChangeArrowheads="1"/>
          </p:cNvSpPr>
          <p:nvPr/>
        </p:nvSpPr>
        <p:spPr bwMode="auto">
          <a:xfrm>
            <a:off x="533400" y="1676400"/>
            <a:ext cx="3581400" cy="5334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Wide or Narrow?</a:t>
            </a:r>
          </a:p>
        </p:txBody>
      </p:sp>
      <p:sp>
        <p:nvSpPr>
          <p:cNvPr id="4104" name="Rectangle 6"/>
          <p:cNvSpPr>
            <a:spLocks noChangeArrowheads="1"/>
          </p:cNvSpPr>
          <p:nvPr/>
        </p:nvSpPr>
        <p:spPr bwMode="auto">
          <a:xfrm>
            <a:off x="4724400" y="1676400"/>
            <a:ext cx="3581400" cy="533400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Pros and Cons of Wide or Narrow</a:t>
            </a:r>
          </a:p>
        </p:txBody>
      </p:sp>
      <p:grpSp>
        <p:nvGrpSpPr>
          <p:cNvPr id="4105" name="Group 7"/>
          <p:cNvGrpSpPr>
            <a:grpSpLocks/>
          </p:cNvGrpSpPr>
          <p:nvPr/>
        </p:nvGrpSpPr>
        <p:grpSpPr bwMode="auto">
          <a:xfrm>
            <a:off x="4783138" y="4695825"/>
            <a:ext cx="1066800" cy="685800"/>
            <a:chOff x="4047" y="2495"/>
            <a:chExt cx="672" cy="432"/>
          </a:xfrm>
        </p:grpSpPr>
        <p:graphicFrame>
          <p:nvGraphicFramePr>
            <p:cNvPr id="4100" name="Object 8"/>
            <p:cNvGraphicFramePr>
              <a:graphicFrameLocks noChangeAspect="1"/>
            </p:cNvGraphicFramePr>
            <p:nvPr/>
          </p:nvGraphicFramePr>
          <p:xfrm>
            <a:off x="4047" y="2495"/>
            <a:ext cx="672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5" imgW="3809945" imgH="4114867" progId="MSGraph.Chart.8">
                    <p:embed followColorScheme="full"/>
                  </p:oleObj>
                </mc:Choice>
                <mc:Fallback>
                  <p:oleObj name="Chart" r:id="rId5" imgW="3809945" imgH="4114867" progId="MSGraph.Chart.8">
                    <p:embed followColorScheme="full"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7" y="2495"/>
                          <a:ext cx="672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28" name="Line 9"/>
            <p:cNvSpPr>
              <a:spLocks noChangeShapeType="1"/>
            </p:cNvSpPr>
            <p:nvPr/>
          </p:nvSpPr>
          <p:spPr bwMode="auto">
            <a:xfrm>
              <a:off x="4143" y="2579"/>
              <a:ext cx="537" cy="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29" name="Line 10"/>
            <p:cNvSpPr>
              <a:spLocks noChangeShapeType="1"/>
            </p:cNvSpPr>
            <p:nvPr/>
          </p:nvSpPr>
          <p:spPr bwMode="auto">
            <a:xfrm>
              <a:off x="4143" y="2822"/>
              <a:ext cx="54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106" name="Group 11"/>
          <p:cNvGrpSpPr>
            <a:grpSpLocks/>
          </p:cNvGrpSpPr>
          <p:nvPr/>
        </p:nvGrpSpPr>
        <p:grpSpPr bwMode="auto">
          <a:xfrm>
            <a:off x="4781550" y="2916238"/>
            <a:ext cx="1066800" cy="685800"/>
            <a:chOff x="4161" y="1534"/>
            <a:chExt cx="672" cy="432"/>
          </a:xfrm>
        </p:grpSpPr>
        <p:graphicFrame>
          <p:nvGraphicFramePr>
            <p:cNvPr id="4099" name="Object 12"/>
            <p:cNvGraphicFramePr>
              <a:graphicFrameLocks noChangeAspect="1"/>
            </p:cNvGraphicFramePr>
            <p:nvPr/>
          </p:nvGraphicFramePr>
          <p:xfrm>
            <a:off x="4161" y="1534"/>
            <a:ext cx="672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5" imgW="3809945" imgH="4114867" progId="MSGraph.Chart.8">
                    <p:embed followColorScheme="full"/>
                  </p:oleObj>
                </mc:Choice>
                <mc:Fallback>
                  <p:oleObj name="Chart" r:id="rId5" imgW="3809945" imgH="4114867" progId="MSGraph.Chart.8">
                    <p:embed followColorScheme="full"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1" y="1534"/>
                          <a:ext cx="672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26" name="Line 13"/>
            <p:cNvSpPr>
              <a:spLocks noChangeShapeType="1"/>
            </p:cNvSpPr>
            <p:nvPr/>
          </p:nvSpPr>
          <p:spPr bwMode="auto">
            <a:xfrm>
              <a:off x="4257" y="1699"/>
              <a:ext cx="537" cy="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27" name="Line 14"/>
            <p:cNvSpPr>
              <a:spLocks noChangeShapeType="1"/>
            </p:cNvSpPr>
            <p:nvPr/>
          </p:nvSpPr>
          <p:spPr bwMode="auto">
            <a:xfrm>
              <a:off x="4257" y="1780"/>
              <a:ext cx="54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107" name="Text Box 15"/>
          <p:cNvSpPr txBox="1">
            <a:spLocks noChangeArrowheads="1"/>
          </p:cNvSpPr>
          <p:nvPr/>
        </p:nvSpPr>
        <p:spPr bwMode="auto">
          <a:xfrm>
            <a:off x="4821238" y="2514600"/>
            <a:ext cx="990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Narrow</a:t>
            </a:r>
          </a:p>
        </p:txBody>
      </p:sp>
      <p:sp>
        <p:nvSpPr>
          <p:cNvPr id="4108" name="Text Box 16"/>
          <p:cNvSpPr txBox="1">
            <a:spLocks noChangeArrowheads="1"/>
          </p:cNvSpPr>
          <p:nvPr/>
        </p:nvSpPr>
        <p:spPr bwMode="auto">
          <a:xfrm>
            <a:off x="4906963" y="4343400"/>
            <a:ext cx="8191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Wide</a:t>
            </a:r>
          </a:p>
        </p:txBody>
      </p:sp>
      <p:sp>
        <p:nvSpPr>
          <p:cNvPr id="4109" name="Text Box 17"/>
          <p:cNvSpPr txBox="1">
            <a:spLocks noChangeArrowheads="1"/>
          </p:cNvSpPr>
          <p:nvPr/>
        </p:nvSpPr>
        <p:spPr bwMode="auto">
          <a:xfrm>
            <a:off x="6477000" y="2514600"/>
            <a:ext cx="990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Pro:</a:t>
            </a:r>
          </a:p>
        </p:txBody>
      </p:sp>
      <p:sp>
        <p:nvSpPr>
          <p:cNvPr id="4110" name="Text Box 18"/>
          <p:cNvSpPr txBox="1">
            <a:spLocks noChangeArrowheads="1"/>
          </p:cNvSpPr>
          <p:nvPr/>
        </p:nvSpPr>
        <p:spPr bwMode="auto">
          <a:xfrm>
            <a:off x="6477000" y="3276600"/>
            <a:ext cx="990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Con:</a:t>
            </a:r>
          </a:p>
        </p:txBody>
      </p:sp>
      <p:sp>
        <p:nvSpPr>
          <p:cNvPr id="582675" name="AutoShape 19"/>
          <p:cNvSpPr>
            <a:spLocks noChangeArrowheads="1"/>
          </p:cNvSpPr>
          <p:nvPr/>
        </p:nvSpPr>
        <p:spPr bwMode="auto">
          <a:xfrm>
            <a:off x="6019800" y="2895600"/>
            <a:ext cx="533400" cy="381000"/>
          </a:xfrm>
          <a:prstGeom prst="rightArrow">
            <a:avLst>
              <a:gd name="adj1" fmla="val 50000"/>
              <a:gd name="adj2" fmla="val 35000"/>
            </a:avLst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12" name="Text Box 20"/>
          <p:cNvSpPr txBox="1">
            <a:spLocks noChangeArrowheads="1"/>
          </p:cNvSpPr>
          <p:nvPr/>
        </p:nvSpPr>
        <p:spPr bwMode="auto">
          <a:xfrm>
            <a:off x="6477000" y="4419600"/>
            <a:ext cx="990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Pro:</a:t>
            </a:r>
          </a:p>
        </p:txBody>
      </p:sp>
      <p:sp>
        <p:nvSpPr>
          <p:cNvPr id="4113" name="Text Box 21"/>
          <p:cNvSpPr txBox="1">
            <a:spLocks noChangeArrowheads="1"/>
          </p:cNvSpPr>
          <p:nvPr/>
        </p:nvSpPr>
        <p:spPr bwMode="auto">
          <a:xfrm>
            <a:off x="6477000" y="5181600"/>
            <a:ext cx="990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Con:</a:t>
            </a:r>
          </a:p>
        </p:txBody>
      </p:sp>
      <p:sp>
        <p:nvSpPr>
          <p:cNvPr id="582678" name="AutoShape 22"/>
          <p:cNvSpPr>
            <a:spLocks noChangeArrowheads="1"/>
          </p:cNvSpPr>
          <p:nvPr/>
        </p:nvSpPr>
        <p:spPr bwMode="auto">
          <a:xfrm>
            <a:off x="6019800" y="4800600"/>
            <a:ext cx="533400" cy="381000"/>
          </a:xfrm>
          <a:prstGeom prst="rightArrow">
            <a:avLst>
              <a:gd name="adj1" fmla="val 50000"/>
              <a:gd name="adj2" fmla="val 35000"/>
            </a:avLst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15" name="Line 23"/>
          <p:cNvSpPr>
            <a:spLocks noChangeShapeType="1"/>
          </p:cNvSpPr>
          <p:nvPr/>
        </p:nvSpPr>
        <p:spPr bwMode="auto">
          <a:xfrm flipV="1">
            <a:off x="2667000" y="2590800"/>
            <a:ext cx="0" cy="28194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16" name="Line 24"/>
          <p:cNvSpPr>
            <a:spLocks noChangeShapeType="1"/>
          </p:cNvSpPr>
          <p:nvPr/>
        </p:nvSpPr>
        <p:spPr bwMode="auto">
          <a:xfrm flipV="1">
            <a:off x="1738313" y="2286000"/>
            <a:ext cx="14287" cy="3124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17" name="Line 25"/>
          <p:cNvSpPr>
            <a:spLocks noChangeShapeType="1"/>
          </p:cNvSpPr>
          <p:nvPr/>
        </p:nvSpPr>
        <p:spPr bwMode="auto">
          <a:xfrm flipH="1" flipV="1">
            <a:off x="3581400" y="2286000"/>
            <a:ext cx="0" cy="3124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18" name="Line 26"/>
          <p:cNvSpPr>
            <a:spLocks noChangeShapeType="1"/>
          </p:cNvSpPr>
          <p:nvPr/>
        </p:nvSpPr>
        <p:spPr bwMode="auto">
          <a:xfrm flipV="1">
            <a:off x="2438400" y="2590800"/>
            <a:ext cx="0" cy="342900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19" name="Line 27"/>
          <p:cNvSpPr>
            <a:spLocks noChangeShapeType="1"/>
          </p:cNvSpPr>
          <p:nvPr/>
        </p:nvSpPr>
        <p:spPr bwMode="auto">
          <a:xfrm flipH="1" flipV="1">
            <a:off x="2884488" y="2576513"/>
            <a:ext cx="11112" cy="3443287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20" name="Text Box 28"/>
          <p:cNvSpPr txBox="1">
            <a:spLocks noChangeArrowheads="1"/>
          </p:cNvSpPr>
          <p:nvPr/>
        </p:nvSpPr>
        <p:spPr bwMode="auto">
          <a:xfrm>
            <a:off x="2287588" y="2243138"/>
            <a:ext cx="8191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Wide ?</a:t>
            </a:r>
          </a:p>
        </p:txBody>
      </p:sp>
      <p:sp>
        <p:nvSpPr>
          <p:cNvPr id="4121" name="Line 29"/>
          <p:cNvSpPr>
            <a:spLocks noChangeShapeType="1"/>
          </p:cNvSpPr>
          <p:nvPr/>
        </p:nvSpPr>
        <p:spPr bwMode="auto">
          <a:xfrm>
            <a:off x="2973388" y="2381250"/>
            <a:ext cx="5318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22" name="Line 30"/>
          <p:cNvSpPr>
            <a:spLocks noChangeShapeType="1"/>
          </p:cNvSpPr>
          <p:nvPr/>
        </p:nvSpPr>
        <p:spPr bwMode="auto">
          <a:xfrm flipH="1">
            <a:off x="1785938" y="2381250"/>
            <a:ext cx="587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23" name="Text Box 31"/>
          <p:cNvSpPr txBox="1">
            <a:spLocks noChangeArrowheads="1"/>
          </p:cNvSpPr>
          <p:nvPr/>
        </p:nvSpPr>
        <p:spPr bwMode="auto">
          <a:xfrm>
            <a:off x="2971800" y="5867400"/>
            <a:ext cx="9144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 dirty="0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Narrow ?</a:t>
            </a:r>
          </a:p>
        </p:txBody>
      </p:sp>
      <p:sp>
        <p:nvSpPr>
          <p:cNvPr id="4124" name="Line 32"/>
          <p:cNvSpPr>
            <a:spLocks noChangeShapeType="1"/>
          </p:cNvSpPr>
          <p:nvPr/>
        </p:nvSpPr>
        <p:spPr bwMode="auto">
          <a:xfrm>
            <a:off x="2133600" y="5867400"/>
            <a:ext cx="304800" cy="0"/>
          </a:xfrm>
          <a:prstGeom prst="line">
            <a:avLst/>
          </a:prstGeom>
          <a:noFill/>
          <a:ln w="9525">
            <a:solidFill>
              <a:srgbClr val="9933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25" name="Line 33"/>
          <p:cNvSpPr>
            <a:spLocks noChangeShapeType="1"/>
          </p:cNvSpPr>
          <p:nvPr/>
        </p:nvSpPr>
        <p:spPr bwMode="auto">
          <a:xfrm flipH="1">
            <a:off x="2895600" y="5867400"/>
            <a:ext cx="304800" cy="0"/>
          </a:xfrm>
          <a:prstGeom prst="line">
            <a:avLst/>
          </a:prstGeom>
          <a:noFill/>
          <a:ln w="9525">
            <a:solidFill>
              <a:srgbClr val="9933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01469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723900" y="647701"/>
            <a:ext cx="7772400" cy="838200"/>
          </a:xfrm>
        </p:spPr>
        <p:txBody>
          <a:bodyPr/>
          <a:lstStyle/>
          <a:p>
            <a:pPr eaLnBrk="1" hangingPunct="1"/>
            <a:r>
              <a:rPr lang="en-US" sz="3600" dirty="0">
                <a:cs typeface="Arial" charset="0"/>
              </a:rPr>
              <a:t>Often the Limits Are Set As Mean +/- 3 Standard Deviation </a:t>
            </a:r>
          </a:p>
        </p:txBody>
      </p:sp>
      <p:graphicFrame>
        <p:nvGraphicFramePr>
          <p:cNvPr id="5122" name="Object 16"/>
          <p:cNvGraphicFramePr>
            <a:graphicFrameLocks noGrp="1" noChangeAspect="1"/>
          </p:cNvGraphicFramePr>
          <p:nvPr>
            <p:ph type="chart" sz="half" idx="1"/>
          </p:nvPr>
        </p:nvGraphicFramePr>
        <p:xfrm>
          <a:off x="2057400" y="2438400"/>
          <a:ext cx="3276600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3809945" imgH="4114867" progId="MSGraph.Chart.8">
                  <p:embed followColorScheme="full"/>
                </p:oleObj>
              </mc:Choice>
              <mc:Fallback>
                <p:oleObj name="Chart" r:id="rId3" imgW="3809945" imgH="4114867" progId="MSGraph.Chart.8">
                  <p:embed followColorScheme="full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438400"/>
                        <a:ext cx="3276600" cy="350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1981200" y="2286000"/>
            <a:ext cx="5257800" cy="3657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1981200" y="1752600"/>
            <a:ext cx="5257800" cy="5334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Anything outside the limits is considered atypical</a:t>
            </a:r>
          </a:p>
        </p:txBody>
      </p:sp>
      <p:sp>
        <p:nvSpPr>
          <p:cNvPr id="5126" name="Line 6"/>
          <p:cNvSpPr>
            <a:spLocks noChangeShapeType="1"/>
          </p:cNvSpPr>
          <p:nvPr/>
        </p:nvSpPr>
        <p:spPr bwMode="auto">
          <a:xfrm>
            <a:off x="2514600" y="3352800"/>
            <a:ext cx="266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7" name="Line 7"/>
          <p:cNvSpPr>
            <a:spLocks noChangeShapeType="1"/>
          </p:cNvSpPr>
          <p:nvPr/>
        </p:nvSpPr>
        <p:spPr bwMode="auto">
          <a:xfrm>
            <a:off x="2514600" y="4800600"/>
            <a:ext cx="266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2971800" y="3124200"/>
            <a:ext cx="21336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UCL: upper control limit</a:t>
            </a:r>
          </a:p>
        </p:txBody>
      </p:sp>
      <p:sp>
        <p:nvSpPr>
          <p:cNvPr id="5129" name="Line 9"/>
          <p:cNvSpPr>
            <a:spLocks noChangeShapeType="1"/>
          </p:cNvSpPr>
          <p:nvPr/>
        </p:nvSpPr>
        <p:spPr bwMode="auto">
          <a:xfrm>
            <a:off x="2514600" y="4114800"/>
            <a:ext cx="266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2971800" y="4800600"/>
            <a:ext cx="21336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LCL: lower control limit</a:t>
            </a:r>
          </a:p>
        </p:txBody>
      </p:sp>
      <p:sp>
        <p:nvSpPr>
          <p:cNvPr id="5131" name="Text Box 11"/>
          <p:cNvSpPr txBox="1">
            <a:spLocks noChangeArrowheads="1"/>
          </p:cNvSpPr>
          <p:nvPr/>
        </p:nvSpPr>
        <p:spPr bwMode="auto">
          <a:xfrm>
            <a:off x="5132696" y="3977481"/>
            <a:ext cx="18288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Center Line = Mean</a:t>
            </a:r>
          </a:p>
        </p:txBody>
      </p:sp>
      <p:sp>
        <p:nvSpPr>
          <p:cNvPr id="5132" name="Line 12"/>
          <p:cNvSpPr>
            <a:spLocks noChangeShapeType="1"/>
          </p:cNvSpPr>
          <p:nvPr/>
        </p:nvSpPr>
        <p:spPr bwMode="auto">
          <a:xfrm flipV="1">
            <a:off x="2667000" y="3352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133" name="Text Box 13"/>
          <p:cNvSpPr txBox="1">
            <a:spLocks noChangeArrowheads="1"/>
          </p:cNvSpPr>
          <p:nvPr/>
        </p:nvSpPr>
        <p:spPr bwMode="auto">
          <a:xfrm>
            <a:off x="2667000" y="3581400"/>
            <a:ext cx="1905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000" b="1"/>
              <a:t>3 x Standard deviation</a:t>
            </a:r>
          </a:p>
        </p:txBody>
      </p:sp>
      <p:sp>
        <p:nvSpPr>
          <p:cNvPr id="5134" name="Line 14"/>
          <p:cNvSpPr>
            <a:spLocks noChangeShapeType="1"/>
          </p:cNvSpPr>
          <p:nvPr/>
        </p:nvSpPr>
        <p:spPr bwMode="auto">
          <a:xfrm flipV="1">
            <a:off x="2667000" y="411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135" name="Text Box 15"/>
          <p:cNvSpPr txBox="1">
            <a:spLocks noChangeArrowheads="1"/>
          </p:cNvSpPr>
          <p:nvPr/>
        </p:nvSpPr>
        <p:spPr bwMode="auto">
          <a:xfrm>
            <a:off x="2667000" y="4343400"/>
            <a:ext cx="1905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000" b="1"/>
              <a:t>3 x Standard deviation</a:t>
            </a:r>
          </a:p>
        </p:txBody>
      </p:sp>
    </p:spTree>
    <p:extLst>
      <p:ext uri="{BB962C8B-B14F-4D97-AF65-F5344CB8AC3E}">
        <p14:creationId xmlns:p14="http://schemas.microsoft.com/office/powerpoint/2010/main" val="191692979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7A0C-5EA6-48AE-75BA-7E996F97C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Many Defects Per Million?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A1EE3C-36F1-5C6A-2A8B-3F2E01944146}"/>
              </a:ext>
            </a:extLst>
          </p:cNvPr>
          <p:cNvSpPr txBox="1"/>
          <p:nvPr/>
        </p:nvSpPr>
        <p:spPr>
          <a:xfrm>
            <a:off x="872837" y="2406884"/>
            <a:ext cx="7398326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sz="1800" b="1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Mathematical Representation:</a:t>
            </a:r>
            <a:endParaRPr lang="en-US" b="0" dirty="0">
              <a:effectLst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b="1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Calculate Z-Scores: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For +</a:t>
            </a:r>
            <a:r>
              <a:rPr lang="en-US" dirty="0">
                <a:solidFill>
                  <a:srgbClr val="1F1F1F"/>
                </a:solidFill>
                <a:latin typeface="Arial" panose="020B0604020202020204" pitchFamily="34" charset="0"/>
              </a:rPr>
              <a:t>3</a:t>
            </a:r>
            <a:r>
              <a:rPr lang="en-US" sz="1800" b="0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 Standard Deviations: =NORM.S.DIST(</a:t>
            </a:r>
            <a:r>
              <a:rPr lang="en-US" dirty="0">
                <a:solidFill>
                  <a:srgbClr val="1F1F1F"/>
                </a:solidFill>
                <a:latin typeface="Arial" panose="020B0604020202020204" pitchFamily="34" charset="0"/>
              </a:rPr>
              <a:t>3</a:t>
            </a:r>
            <a:r>
              <a:rPr lang="en-US" sz="1800" b="0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,TRUE)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For -</a:t>
            </a:r>
            <a:r>
              <a:rPr lang="en-US" dirty="0">
                <a:solidFill>
                  <a:srgbClr val="1F1F1F"/>
                </a:solidFill>
                <a:latin typeface="Arial" panose="020B0604020202020204" pitchFamily="34" charset="0"/>
              </a:rPr>
              <a:t>3</a:t>
            </a:r>
            <a:r>
              <a:rPr lang="en-US" sz="1800" b="0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 Standard Deviations: =NORM.S.DIST(-</a:t>
            </a:r>
            <a:r>
              <a:rPr lang="en-US" dirty="0">
                <a:solidFill>
                  <a:srgbClr val="1F1F1F"/>
                </a:solidFill>
                <a:latin typeface="Arial" panose="020B0604020202020204" pitchFamily="34" charset="0"/>
              </a:rPr>
              <a:t>3</a:t>
            </a:r>
            <a:r>
              <a:rPr lang="en-US" sz="1800" b="0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,TRUE)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 startAt="2"/>
            </a:pPr>
            <a:r>
              <a:rPr lang="en-US" sz="1800" b="1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Calculate Probabilities Outside Limits: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=1 - (Z-Score for +</a:t>
            </a:r>
            <a:r>
              <a:rPr lang="en-US" dirty="0">
                <a:solidFill>
                  <a:srgbClr val="1F1F1F"/>
                </a:solidFill>
                <a:latin typeface="Arial" panose="020B0604020202020204" pitchFamily="34" charset="0"/>
              </a:rPr>
              <a:t>3</a:t>
            </a:r>
            <a:r>
              <a:rPr lang="en-US" sz="1800" b="0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) + (Z-Score for -</a:t>
            </a:r>
            <a:r>
              <a:rPr lang="en-US" dirty="0">
                <a:solidFill>
                  <a:srgbClr val="1F1F1F"/>
                </a:solidFill>
                <a:latin typeface="Arial" panose="020B0604020202020204" pitchFamily="34" charset="0"/>
              </a:rPr>
              <a:t>3</a:t>
            </a:r>
            <a:r>
              <a:rPr lang="en-US" sz="1800" b="0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)=1-0.9986+0.001349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</a:pPr>
            <a:r>
              <a:rPr lang="en-US" sz="1800" b="1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Convert to the Number of Defects per Million Units Produced: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= 1E06*(1-0.9986+0.001349)=2,700.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3278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>
                <a:cs typeface="Arial" panose="020B0604020202020204" pitchFamily="34" charset="0"/>
              </a:rPr>
              <a:t>What mean and standard deviation should we use ?</a:t>
            </a:r>
          </a:p>
        </p:txBody>
      </p:sp>
      <p:graphicFrame>
        <p:nvGraphicFramePr>
          <p:cNvPr id="6146" name="Object 8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9049761"/>
              </p:ext>
            </p:extLst>
          </p:nvPr>
        </p:nvGraphicFramePr>
        <p:xfrm>
          <a:off x="5487988" y="2057400"/>
          <a:ext cx="2344737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20480" imgH="431640" progId="Equation.3">
                  <p:embed/>
                </p:oleObj>
              </mc:Choice>
              <mc:Fallback>
                <p:oleObj name="Equation" r:id="rId3" imgW="13204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7988" y="2057400"/>
                        <a:ext cx="2344737" cy="766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9" name="AutoShape 3"/>
          <p:cNvSpPr>
            <a:spLocks noChangeArrowheads="1"/>
          </p:cNvSpPr>
          <p:nvPr/>
        </p:nvSpPr>
        <p:spPr bwMode="auto">
          <a:xfrm>
            <a:off x="533400" y="1905000"/>
            <a:ext cx="1447800" cy="914400"/>
          </a:xfrm>
          <a:prstGeom prst="rightArrowCallout">
            <a:avLst>
              <a:gd name="adj1" fmla="val 25000"/>
              <a:gd name="adj2" fmla="val 25000"/>
              <a:gd name="adj3" fmla="val 26389"/>
              <a:gd name="adj4" fmla="val 6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Sample Means’ Mean</a:t>
            </a:r>
          </a:p>
        </p:txBody>
      </p:sp>
      <p:sp>
        <p:nvSpPr>
          <p:cNvPr id="6150" name="Text Box 5"/>
          <p:cNvSpPr txBox="1">
            <a:spLocks noChangeArrowheads="1"/>
          </p:cNvSpPr>
          <p:nvPr/>
        </p:nvSpPr>
        <p:spPr bwMode="auto">
          <a:xfrm>
            <a:off x="2286000" y="2209800"/>
            <a:ext cx="2895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The mean of the sample means</a:t>
            </a:r>
            <a:endParaRPr lang="en-US" sz="1400" b="1" dirty="0">
              <a:solidFill>
                <a:srgbClr val="9933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51" name="Text Box 9"/>
          <p:cNvSpPr txBox="1">
            <a:spLocks noChangeArrowheads="1"/>
          </p:cNvSpPr>
          <p:nvPr/>
        </p:nvSpPr>
        <p:spPr bwMode="auto">
          <a:xfrm>
            <a:off x="7086600" y="3276600"/>
            <a:ext cx="1447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mean for the i</a:t>
            </a:r>
            <a:r>
              <a:rPr lang="en-US" sz="1200" b="1" baseline="300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1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sample</a:t>
            </a:r>
          </a:p>
        </p:txBody>
      </p:sp>
      <p:sp>
        <p:nvSpPr>
          <p:cNvPr id="6152" name="Text Box 10"/>
          <p:cNvSpPr txBox="1">
            <a:spLocks noChangeArrowheads="1"/>
          </p:cNvSpPr>
          <p:nvPr/>
        </p:nvSpPr>
        <p:spPr bwMode="auto">
          <a:xfrm>
            <a:off x="5867400" y="3276600"/>
            <a:ext cx="114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 of samples</a:t>
            </a:r>
          </a:p>
        </p:txBody>
      </p:sp>
      <p:sp>
        <p:nvSpPr>
          <p:cNvPr id="6153" name="Line 11"/>
          <p:cNvSpPr>
            <a:spLocks noChangeShapeType="1"/>
          </p:cNvSpPr>
          <p:nvPr/>
        </p:nvSpPr>
        <p:spPr bwMode="auto">
          <a:xfrm flipV="1">
            <a:off x="6629400" y="2819400"/>
            <a:ext cx="228600" cy="457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54" name="Line 12"/>
          <p:cNvSpPr>
            <a:spLocks noChangeShapeType="1"/>
          </p:cNvSpPr>
          <p:nvPr/>
        </p:nvSpPr>
        <p:spPr bwMode="auto">
          <a:xfrm flipH="1" flipV="1">
            <a:off x="7696200" y="2667000"/>
            <a:ext cx="76200" cy="5334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533400" y="4033839"/>
            <a:ext cx="7772400" cy="1995488"/>
            <a:chOff x="336" y="2541"/>
            <a:chExt cx="4896" cy="1257"/>
          </a:xfrm>
        </p:grpSpPr>
        <p:sp>
          <p:nvSpPr>
            <p:cNvPr id="6156" name="AutoShape 4"/>
            <p:cNvSpPr>
              <a:spLocks noChangeArrowheads="1"/>
            </p:cNvSpPr>
            <p:nvPr/>
          </p:nvSpPr>
          <p:spPr bwMode="auto">
            <a:xfrm>
              <a:off x="336" y="2592"/>
              <a:ext cx="912" cy="576"/>
            </a:xfrm>
            <a:prstGeom prst="rightArrowCallout">
              <a:avLst>
                <a:gd name="adj1" fmla="val 25000"/>
                <a:gd name="adj2" fmla="val 25000"/>
                <a:gd name="adj3" fmla="val 26389"/>
                <a:gd name="adj4" fmla="val 66667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r>
                <a:rPr lang="en-US" sz="1200" b="1">
                  <a:latin typeface="Arial" panose="020B0604020202020204" pitchFamily="34" charset="0"/>
                  <a:cs typeface="Arial" panose="020B0604020202020204" pitchFamily="34" charset="0"/>
                </a:rPr>
                <a:t>Sample Means’ Standard Deviation</a:t>
              </a:r>
            </a:p>
          </p:txBody>
        </p:sp>
        <p:sp>
          <p:nvSpPr>
            <p:cNvPr id="6157" name="Text Box 6"/>
            <p:cNvSpPr txBox="1">
              <a:spLocks noChangeArrowheads="1"/>
            </p:cNvSpPr>
            <p:nvPr/>
          </p:nvSpPr>
          <p:spPr bwMode="auto">
            <a:xfrm>
              <a:off x="1440" y="2541"/>
              <a:ext cx="3792" cy="8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The standard deviation of the sample means</a:t>
              </a:r>
            </a:p>
            <a:p>
              <a:pPr marL="231775" lvl="1" indent="-117475" algn="l">
                <a:spcBef>
                  <a:spcPct val="50000"/>
                </a:spcBef>
                <a:buFontTx/>
                <a:buChar char="•"/>
              </a:pPr>
              <a:r>
                <a:rPr lang="en-US" sz="1400" b="1" dirty="0">
                  <a:solidFill>
                    <a:srgbClr val="9933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Can be estimated as the  standard deviation of an individual measurement (i.e. the process standard deviation) divided by square root of n, the sample size</a:t>
              </a:r>
            </a:p>
            <a:p>
              <a:pPr algn="l">
                <a:spcBef>
                  <a:spcPct val="50000"/>
                </a:spcBef>
              </a:pPr>
              <a:endParaRPr 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aphicFrame>
          <p:nvGraphicFramePr>
            <p:cNvPr id="6147" name="Object 7"/>
            <p:cNvGraphicFramePr>
              <a:graphicFrameLocks noChangeAspect="1"/>
            </p:cNvGraphicFramePr>
            <p:nvPr/>
          </p:nvGraphicFramePr>
          <p:xfrm>
            <a:off x="2168" y="3264"/>
            <a:ext cx="794" cy="5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622080" imgH="419040" progId="Equation.3">
                    <p:embed/>
                  </p:oleObj>
                </mc:Choice>
                <mc:Fallback>
                  <p:oleObj name="Equation" r:id="rId5" imgW="622080" imgH="419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8" y="3264"/>
                          <a:ext cx="794" cy="5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58" name="Text Box 13"/>
            <p:cNvSpPr txBox="1">
              <a:spLocks noChangeArrowheads="1"/>
            </p:cNvSpPr>
            <p:nvPr/>
          </p:nvSpPr>
          <p:spPr bwMode="auto">
            <a:xfrm>
              <a:off x="3264" y="3600"/>
              <a:ext cx="72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Sample size</a:t>
              </a:r>
            </a:p>
          </p:txBody>
        </p:sp>
        <p:sp>
          <p:nvSpPr>
            <p:cNvPr id="6159" name="Line 14"/>
            <p:cNvSpPr>
              <a:spLocks noChangeShapeType="1"/>
            </p:cNvSpPr>
            <p:nvPr/>
          </p:nvSpPr>
          <p:spPr bwMode="auto">
            <a:xfrm flipH="1">
              <a:off x="2928" y="3696"/>
              <a:ext cx="384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" name="Line 14"/>
          <p:cNvSpPr>
            <a:spLocks noChangeShapeType="1"/>
          </p:cNvSpPr>
          <p:nvPr/>
        </p:nvSpPr>
        <p:spPr bwMode="auto">
          <a:xfrm flipH="1">
            <a:off x="4687215" y="5387655"/>
            <a:ext cx="609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5340100" y="5234035"/>
            <a:ext cx="238111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standard deviation</a:t>
            </a:r>
          </a:p>
        </p:txBody>
      </p:sp>
    </p:spTree>
    <p:extLst>
      <p:ext uri="{BB962C8B-B14F-4D97-AF65-F5344CB8AC3E}">
        <p14:creationId xmlns:p14="http://schemas.microsoft.com/office/powerpoint/2010/main" val="9474489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Rectangle 4"/>
          <p:cNvSpPr>
            <a:spLocks noChangeArrowheads="1"/>
          </p:cNvSpPr>
          <p:nvPr/>
        </p:nvSpPr>
        <p:spPr bwMode="auto">
          <a:xfrm>
            <a:off x="272956" y="125845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3600" dirty="0">
                <a:solidFill>
                  <a:schemeClr val="tx2"/>
                </a:solidFill>
                <a:latin typeface="+mj-lt"/>
                <a:cs typeface="Arial" panose="020B0604020202020204" pitchFamily="34" charset="0"/>
              </a:rPr>
              <a:t>Calculating Process Standard Deviation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914400" y="2161635"/>
            <a:ext cx="7483475" cy="1524000"/>
            <a:chOff x="576" y="2592"/>
            <a:chExt cx="4714" cy="960"/>
          </a:xfrm>
        </p:grpSpPr>
        <p:sp>
          <p:nvSpPr>
            <p:cNvPr id="7180" name="AutoShape 3"/>
            <p:cNvSpPr>
              <a:spLocks noChangeArrowheads="1"/>
            </p:cNvSpPr>
            <p:nvPr/>
          </p:nvSpPr>
          <p:spPr bwMode="auto">
            <a:xfrm>
              <a:off x="576" y="2736"/>
              <a:ext cx="1104" cy="576"/>
            </a:xfrm>
            <a:prstGeom prst="rightArrowCallout">
              <a:avLst>
                <a:gd name="adj1" fmla="val 25000"/>
                <a:gd name="adj2" fmla="val 25000"/>
                <a:gd name="adj3" fmla="val 31944"/>
                <a:gd name="adj4" fmla="val 66667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Process Standard Deviation</a:t>
              </a:r>
            </a:p>
          </p:txBody>
        </p:sp>
        <p:graphicFrame>
          <p:nvGraphicFramePr>
            <p:cNvPr id="7171" name="Object 7"/>
            <p:cNvGraphicFramePr>
              <a:graphicFrameLocks noChangeAspect="1"/>
            </p:cNvGraphicFramePr>
            <p:nvPr/>
          </p:nvGraphicFramePr>
          <p:xfrm>
            <a:off x="1896" y="2703"/>
            <a:ext cx="615" cy="5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482400" imgH="457200" progId="Equation.3">
                    <p:embed/>
                  </p:oleObj>
                </mc:Choice>
                <mc:Fallback>
                  <p:oleObj name="Equation" r:id="rId3" imgW="48240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6" y="2703"/>
                          <a:ext cx="615" cy="5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1" name="Text Box 8"/>
            <p:cNvSpPr txBox="1">
              <a:spLocks noChangeArrowheads="1"/>
            </p:cNvSpPr>
            <p:nvPr/>
          </p:nvSpPr>
          <p:spPr bwMode="auto">
            <a:xfrm>
              <a:off x="2736" y="3264"/>
              <a:ext cx="115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b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 constant that can be found in tables</a:t>
              </a:r>
            </a:p>
          </p:txBody>
        </p:sp>
        <p:sp>
          <p:nvSpPr>
            <p:cNvPr id="7182" name="Text Box 9"/>
            <p:cNvSpPr txBox="1">
              <a:spLocks noChangeArrowheads="1"/>
            </p:cNvSpPr>
            <p:nvPr/>
          </p:nvSpPr>
          <p:spPr bwMode="auto">
            <a:xfrm>
              <a:off x="3360" y="2736"/>
              <a:ext cx="1104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b="1" dirty="0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average value (mean) of the sample ranges</a:t>
              </a:r>
            </a:p>
          </p:txBody>
        </p:sp>
        <p:sp>
          <p:nvSpPr>
            <p:cNvPr id="7183" name="Line 10"/>
            <p:cNvSpPr>
              <a:spLocks noChangeShapeType="1"/>
            </p:cNvSpPr>
            <p:nvPr/>
          </p:nvSpPr>
          <p:spPr bwMode="auto">
            <a:xfrm flipH="1" flipV="1">
              <a:off x="2544" y="2928"/>
              <a:ext cx="672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84" name="Line 11"/>
            <p:cNvSpPr>
              <a:spLocks noChangeShapeType="1"/>
            </p:cNvSpPr>
            <p:nvPr/>
          </p:nvSpPr>
          <p:spPr bwMode="auto">
            <a:xfrm flipH="1" flipV="1">
              <a:off x="2544" y="3216"/>
              <a:ext cx="672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aphicFrame>
          <p:nvGraphicFramePr>
            <p:cNvPr id="7172" name="Object 13"/>
            <p:cNvGraphicFramePr>
              <a:graphicFrameLocks noChangeAspect="1"/>
            </p:cNvGraphicFramePr>
            <p:nvPr/>
          </p:nvGraphicFramePr>
          <p:xfrm>
            <a:off x="4464" y="2592"/>
            <a:ext cx="826" cy="7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647640" imgH="609480" progId="Equation.3">
                    <p:embed/>
                  </p:oleObj>
                </mc:Choice>
                <mc:Fallback>
                  <p:oleObj name="Equation" r:id="rId5" imgW="647640" imgH="609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2592"/>
                          <a:ext cx="826" cy="77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763474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609600"/>
          </a:xfrm>
        </p:spPr>
        <p:txBody>
          <a:bodyPr/>
          <a:lstStyle/>
          <a:p>
            <a:pPr eaLnBrk="1" hangingPunct="1"/>
            <a:r>
              <a:rPr lang="en-US" dirty="0">
                <a:cs typeface="Arial" panose="020B0604020202020204" pitchFamily="34" charset="0"/>
              </a:rPr>
              <a:t>Bringing It All Together</a:t>
            </a:r>
          </a:p>
        </p:txBody>
      </p:sp>
      <p:graphicFrame>
        <p:nvGraphicFramePr>
          <p:cNvPr id="819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6299496"/>
              </p:ext>
            </p:extLst>
          </p:nvPr>
        </p:nvGraphicFramePr>
        <p:xfrm>
          <a:off x="3795713" y="1638300"/>
          <a:ext cx="5122862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27200" imgH="469800" progId="Equation.3">
                  <p:embed/>
                </p:oleObj>
              </mc:Choice>
              <mc:Fallback>
                <p:oleObj name="Equation" r:id="rId3" imgW="252720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5713" y="1638300"/>
                        <a:ext cx="5122862" cy="952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Text Box 15"/>
          <p:cNvSpPr txBox="1">
            <a:spLocks noChangeArrowheads="1"/>
          </p:cNvSpPr>
          <p:nvPr/>
        </p:nvSpPr>
        <p:spPr bwMode="auto">
          <a:xfrm>
            <a:off x="6400800" y="3048000"/>
            <a:ext cx="1524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constant that can be found in tables</a:t>
            </a:r>
          </a:p>
        </p:txBody>
      </p:sp>
      <p:sp>
        <p:nvSpPr>
          <p:cNvPr id="8199" name="Line 16"/>
          <p:cNvSpPr>
            <a:spLocks noChangeShapeType="1"/>
          </p:cNvSpPr>
          <p:nvPr/>
        </p:nvSpPr>
        <p:spPr bwMode="auto">
          <a:xfrm flipV="1">
            <a:off x="7543800" y="2362200"/>
            <a:ext cx="685800" cy="685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19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2137985"/>
              </p:ext>
            </p:extLst>
          </p:nvPr>
        </p:nvGraphicFramePr>
        <p:xfrm>
          <a:off x="3884613" y="4152900"/>
          <a:ext cx="5097462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14600" imgH="469800" progId="Equation.3">
                  <p:embed/>
                </p:oleObj>
              </mc:Choice>
              <mc:Fallback>
                <p:oleObj name="Equation" r:id="rId5" imgW="251460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4613" y="4152900"/>
                        <a:ext cx="5097462" cy="950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0" name="Line 18"/>
          <p:cNvSpPr>
            <a:spLocks noChangeShapeType="1"/>
          </p:cNvSpPr>
          <p:nvPr/>
        </p:nvSpPr>
        <p:spPr bwMode="auto">
          <a:xfrm>
            <a:off x="7315200" y="3657600"/>
            <a:ext cx="990600" cy="762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01" name="Text Box 19"/>
          <p:cNvSpPr txBox="1">
            <a:spLocks noChangeArrowheads="1"/>
          </p:cNvSpPr>
          <p:nvPr/>
        </p:nvSpPr>
        <p:spPr bwMode="auto">
          <a:xfrm>
            <a:off x="4800600" y="31242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of the sample means</a:t>
            </a:r>
          </a:p>
        </p:txBody>
      </p:sp>
      <p:sp>
        <p:nvSpPr>
          <p:cNvPr id="8202" name="Line 20"/>
          <p:cNvSpPr>
            <a:spLocks noChangeShapeType="1"/>
          </p:cNvSpPr>
          <p:nvPr/>
        </p:nvSpPr>
        <p:spPr bwMode="auto">
          <a:xfrm flipV="1">
            <a:off x="6019800" y="2286000"/>
            <a:ext cx="1676400" cy="838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03" name="Line 21"/>
          <p:cNvSpPr>
            <a:spLocks noChangeShapeType="1"/>
          </p:cNvSpPr>
          <p:nvPr/>
        </p:nvSpPr>
        <p:spPr bwMode="auto">
          <a:xfrm>
            <a:off x="5943600" y="3581400"/>
            <a:ext cx="1752600" cy="762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04" name="Text Box 22"/>
          <p:cNvSpPr txBox="1">
            <a:spLocks noChangeArrowheads="1"/>
          </p:cNvSpPr>
          <p:nvPr/>
        </p:nvSpPr>
        <p:spPr bwMode="auto">
          <a:xfrm>
            <a:off x="8153400" y="2895600"/>
            <a:ext cx="762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of the sample ranges</a:t>
            </a:r>
          </a:p>
        </p:txBody>
      </p:sp>
      <p:sp>
        <p:nvSpPr>
          <p:cNvPr id="8205" name="Line 23"/>
          <p:cNvSpPr>
            <a:spLocks noChangeShapeType="1"/>
          </p:cNvSpPr>
          <p:nvPr/>
        </p:nvSpPr>
        <p:spPr bwMode="auto">
          <a:xfrm flipH="1" flipV="1">
            <a:off x="8763000" y="2286000"/>
            <a:ext cx="76200" cy="5334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06" name="Line 24"/>
          <p:cNvSpPr>
            <a:spLocks noChangeShapeType="1"/>
          </p:cNvSpPr>
          <p:nvPr/>
        </p:nvSpPr>
        <p:spPr bwMode="auto">
          <a:xfrm flipH="1">
            <a:off x="8763000" y="3733800"/>
            <a:ext cx="0" cy="5334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6777" name="Rectangle 25"/>
          <p:cNvSpPr>
            <a:spLocks noChangeArrowheads="1"/>
          </p:cNvSpPr>
          <p:nvPr/>
        </p:nvSpPr>
        <p:spPr bwMode="auto">
          <a:xfrm>
            <a:off x="762000" y="5638800"/>
            <a:ext cx="7772400" cy="3810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Control Limits = Mean of Sample Means +/- Constant x Mean of Sample Ranges</a:t>
            </a:r>
          </a:p>
        </p:txBody>
      </p:sp>
      <p:graphicFrame>
        <p:nvGraphicFramePr>
          <p:cNvPr id="8196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9477532"/>
              </p:ext>
            </p:extLst>
          </p:nvPr>
        </p:nvGraphicFramePr>
        <p:xfrm>
          <a:off x="304800" y="1752600"/>
          <a:ext cx="3276600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7" imgW="3809945" imgH="4114867" progId="MSGraph.Chart.8">
                  <p:embed followColorScheme="full"/>
                </p:oleObj>
              </mc:Choice>
              <mc:Fallback>
                <p:oleObj name="Chart" r:id="rId7" imgW="3809945" imgH="4114867" progId="MSGraph.Chart.8">
                  <p:embed followColorScheme="full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752600"/>
                        <a:ext cx="3276600" cy="350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8" name="Line 4"/>
          <p:cNvSpPr>
            <a:spLocks noChangeShapeType="1"/>
          </p:cNvSpPr>
          <p:nvPr/>
        </p:nvSpPr>
        <p:spPr bwMode="auto">
          <a:xfrm>
            <a:off x="762000" y="2667000"/>
            <a:ext cx="266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09" name="Line 5"/>
          <p:cNvSpPr>
            <a:spLocks noChangeShapeType="1"/>
          </p:cNvSpPr>
          <p:nvPr/>
        </p:nvSpPr>
        <p:spPr bwMode="auto">
          <a:xfrm>
            <a:off x="762000" y="4114800"/>
            <a:ext cx="266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10" name="Text Box 6"/>
          <p:cNvSpPr txBox="1">
            <a:spLocks noChangeArrowheads="1"/>
          </p:cNvSpPr>
          <p:nvPr/>
        </p:nvSpPr>
        <p:spPr bwMode="auto">
          <a:xfrm>
            <a:off x="1219200" y="2430463"/>
            <a:ext cx="21336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UCL: upper control limit</a:t>
            </a:r>
          </a:p>
        </p:txBody>
      </p:sp>
      <p:sp>
        <p:nvSpPr>
          <p:cNvPr id="8211" name="Line 7"/>
          <p:cNvSpPr>
            <a:spLocks noChangeShapeType="1"/>
          </p:cNvSpPr>
          <p:nvPr/>
        </p:nvSpPr>
        <p:spPr bwMode="auto">
          <a:xfrm>
            <a:off x="762000" y="3429000"/>
            <a:ext cx="266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12" name="Text Box 8"/>
          <p:cNvSpPr txBox="1">
            <a:spLocks noChangeArrowheads="1"/>
          </p:cNvSpPr>
          <p:nvPr/>
        </p:nvSpPr>
        <p:spPr bwMode="auto">
          <a:xfrm>
            <a:off x="1219200" y="4114800"/>
            <a:ext cx="21336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LCL: lower control limit</a:t>
            </a:r>
          </a:p>
        </p:txBody>
      </p:sp>
      <p:sp>
        <p:nvSpPr>
          <p:cNvPr id="8213" name="Text Box 9"/>
          <p:cNvSpPr txBox="1">
            <a:spLocks noChangeArrowheads="1"/>
          </p:cNvSpPr>
          <p:nvPr/>
        </p:nvSpPr>
        <p:spPr bwMode="auto">
          <a:xfrm>
            <a:off x="3352800" y="3306763"/>
            <a:ext cx="6096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Mean</a:t>
            </a:r>
          </a:p>
        </p:txBody>
      </p:sp>
      <p:sp>
        <p:nvSpPr>
          <p:cNvPr id="8214" name="Line 10"/>
          <p:cNvSpPr>
            <a:spLocks noChangeShapeType="1"/>
          </p:cNvSpPr>
          <p:nvPr/>
        </p:nvSpPr>
        <p:spPr bwMode="auto">
          <a:xfrm flipV="1">
            <a:off x="914400" y="2667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15" name="Text Box 11"/>
          <p:cNvSpPr txBox="1">
            <a:spLocks noChangeArrowheads="1"/>
          </p:cNvSpPr>
          <p:nvPr/>
        </p:nvSpPr>
        <p:spPr bwMode="auto">
          <a:xfrm>
            <a:off x="914400" y="2895600"/>
            <a:ext cx="1905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000" b="1">
                <a:latin typeface="Arial" panose="020B0604020202020204" pitchFamily="34" charset="0"/>
                <a:cs typeface="Arial" panose="020B0604020202020204" pitchFamily="34" charset="0"/>
              </a:rPr>
              <a:t>3 x Standard deviation</a:t>
            </a:r>
          </a:p>
        </p:txBody>
      </p:sp>
      <p:sp>
        <p:nvSpPr>
          <p:cNvPr id="8216" name="Line 12"/>
          <p:cNvSpPr>
            <a:spLocks noChangeShapeType="1"/>
          </p:cNvSpPr>
          <p:nvPr/>
        </p:nvSpPr>
        <p:spPr bwMode="auto">
          <a:xfrm flipV="1">
            <a:off x="914400" y="3429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17" name="Text Box 13"/>
          <p:cNvSpPr txBox="1">
            <a:spLocks noChangeArrowheads="1"/>
          </p:cNvSpPr>
          <p:nvPr/>
        </p:nvSpPr>
        <p:spPr bwMode="auto">
          <a:xfrm>
            <a:off x="914400" y="3657600"/>
            <a:ext cx="1905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000" b="1">
                <a:latin typeface="Arial" panose="020B0604020202020204" pitchFamily="34" charset="0"/>
                <a:cs typeface="Arial" panose="020B0604020202020204" pitchFamily="34" charset="0"/>
              </a:rPr>
              <a:t>3 x Standard deviation</a:t>
            </a:r>
          </a:p>
        </p:txBody>
      </p:sp>
    </p:spTree>
    <p:extLst>
      <p:ext uri="{BB962C8B-B14F-4D97-AF65-F5344CB8AC3E}">
        <p14:creationId xmlns:p14="http://schemas.microsoft.com/office/powerpoint/2010/main" val="3451699746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cs typeface="Arial" panose="020B0604020202020204" pitchFamily="34" charset="0"/>
              </a:rPr>
              <a:t>Table for A</a:t>
            </a:r>
            <a:r>
              <a:rPr lang="en-US" baseline="-25000" dirty="0">
                <a:cs typeface="Arial" panose="020B0604020202020204" pitchFamily="34" charset="0"/>
              </a:rPr>
              <a:t>2</a:t>
            </a:r>
            <a:r>
              <a:rPr lang="en-US" dirty="0">
                <a:cs typeface="Arial" panose="020B0604020202020204" pitchFamily="34" charset="0"/>
              </a:rPr>
              <a:t> constants</a:t>
            </a:r>
          </a:p>
        </p:txBody>
      </p:sp>
      <p:graphicFrame>
        <p:nvGraphicFramePr>
          <p:cNvPr id="921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9231650"/>
              </p:ext>
            </p:extLst>
          </p:nvPr>
        </p:nvGraphicFramePr>
        <p:xfrm>
          <a:off x="3027363" y="1905000"/>
          <a:ext cx="2916237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451160" imgH="2497680" progId="Excel.Sheet.8">
                  <p:embed/>
                </p:oleObj>
              </mc:Choice>
              <mc:Fallback>
                <p:oleObj name="Worksheet" r:id="rId3" imgW="1451160" imgH="2497680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7363" y="1905000"/>
                        <a:ext cx="2916237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741363" y="2209800"/>
            <a:ext cx="1981200" cy="155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Sample size is the number of measurement in each sample and NOT the number of samples</a:t>
            </a:r>
          </a:p>
        </p:txBody>
      </p:sp>
    </p:spTree>
    <p:extLst>
      <p:ext uri="{BB962C8B-B14F-4D97-AF65-F5344CB8AC3E}">
        <p14:creationId xmlns:p14="http://schemas.microsoft.com/office/powerpoint/2010/main" val="760731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318448" y="374175"/>
            <a:ext cx="9030269" cy="1066800"/>
          </a:xfrm>
        </p:spPr>
        <p:txBody>
          <a:bodyPr/>
          <a:lstStyle/>
          <a:p>
            <a:pPr eaLnBrk="1" hangingPunct="1"/>
            <a:r>
              <a:rPr lang="en-US" dirty="0">
                <a:cs typeface="Arial" panose="020B0604020202020204" pitchFamily="34" charset="0"/>
              </a:rPr>
              <a:t>Calculate the Center Line, UCL and LCL for the following set of data</a:t>
            </a:r>
          </a:p>
        </p:txBody>
      </p:sp>
      <p:graphicFrame>
        <p:nvGraphicFramePr>
          <p:cNvPr id="588803" name="Group 3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583904383"/>
              </p:ext>
            </p:extLst>
          </p:nvPr>
        </p:nvGraphicFramePr>
        <p:xfrm>
          <a:off x="704565" y="1828277"/>
          <a:ext cx="7848600" cy="4702176"/>
        </p:xfrm>
        <a:graphic>
          <a:graphicData uri="http://schemas.openxmlformats.org/drawingml/2006/table">
            <a:tbl>
              <a:tblPr/>
              <a:tblGrid>
                <a:gridCol w="104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8737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Sample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Measurement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Range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49.59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53.94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47.11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60.58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43.48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50.94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17.10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60.41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48.90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29.19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58.87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39.80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47.44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31.22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65.89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56.96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44.15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60.76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50.39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55.63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21.74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48.48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51.02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57.36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45.54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63.11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53.10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17.56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49.10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40.69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42.10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29.26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46.40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41.51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19.84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42.76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35.11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47.66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46.78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44.93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3A21DE55-F580-44DC-B419-BF421A498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35" y="1593882"/>
            <a:ext cx="8429191" cy="508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166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838200"/>
          </a:xfrm>
        </p:spPr>
        <p:txBody>
          <a:bodyPr/>
          <a:lstStyle/>
          <a:p>
            <a:pPr eaLnBrk="1" hangingPunct="1"/>
            <a:r>
              <a:rPr lang="en-US" dirty="0">
                <a:cs typeface="Arial" panose="020B0604020202020204" pitchFamily="34" charset="0"/>
              </a:rPr>
              <a:t>Center Line, UCL and LCL</a:t>
            </a:r>
          </a:p>
        </p:txBody>
      </p:sp>
      <p:sp>
        <p:nvSpPr>
          <p:cNvPr id="39939" name="AutoShape 3"/>
          <p:cNvSpPr>
            <a:spLocks noChangeArrowheads="1"/>
          </p:cNvSpPr>
          <p:nvPr/>
        </p:nvSpPr>
        <p:spPr bwMode="auto">
          <a:xfrm>
            <a:off x="685800" y="3487170"/>
            <a:ext cx="1752600" cy="914400"/>
          </a:xfrm>
          <a:prstGeom prst="rightArrowCallout">
            <a:avLst>
              <a:gd name="adj1" fmla="val 25000"/>
              <a:gd name="adj2" fmla="val 25000"/>
              <a:gd name="adj3" fmla="val 31944"/>
              <a:gd name="adj4" fmla="val 6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UCL</a:t>
            </a:r>
          </a:p>
        </p:txBody>
      </p:sp>
      <p:sp>
        <p:nvSpPr>
          <p:cNvPr id="39940" name="AutoShape 4"/>
          <p:cNvSpPr>
            <a:spLocks noChangeArrowheads="1"/>
          </p:cNvSpPr>
          <p:nvPr/>
        </p:nvSpPr>
        <p:spPr bwMode="auto">
          <a:xfrm>
            <a:off x="685800" y="5315970"/>
            <a:ext cx="1752600" cy="914400"/>
          </a:xfrm>
          <a:prstGeom prst="rightArrowCallout">
            <a:avLst>
              <a:gd name="adj1" fmla="val 25000"/>
              <a:gd name="adj2" fmla="val 25000"/>
              <a:gd name="adj3" fmla="val 31944"/>
              <a:gd name="adj4" fmla="val 6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LCL</a:t>
            </a:r>
          </a:p>
        </p:txBody>
      </p:sp>
      <p:sp>
        <p:nvSpPr>
          <p:cNvPr id="39941" name="AutoShape 9"/>
          <p:cNvSpPr>
            <a:spLocks noChangeArrowheads="1"/>
          </p:cNvSpPr>
          <p:nvPr/>
        </p:nvSpPr>
        <p:spPr bwMode="auto">
          <a:xfrm>
            <a:off x="685800" y="1866332"/>
            <a:ext cx="1752600" cy="914400"/>
          </a:xfrm>
          <a:prstGeom prst="rightArrowCallout">
            <a:avLst>
              <a:gd name="adj1" fmla="val 25000"/>
              <a:gd name="adj2" fmla="val 25000"/>
              <a:gd name="adj3" fmla="val 31944"/>
              <a:gd name="adj4" fmla="val 6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Center Line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13562B-2241-4CA9-AFA4-529771FF1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82" y="1673778"/>
            <a:ext cx="7213493" cy="499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5560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699448" y="553871"/>
            <a:ext cx="7772400" cy="914400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Consider the Following Samples</a:t>
            </a:r>
            <a:br>
              <a:rPr lang="en-US" dirty="0">
                <a:cs typeface="Arial" charset="0"/>
              </a:rPr>
            </a:br>
            <a:r>
              <a:rPr lang="en-US" dirty="0">
                <a:cs typeface="Arial" charset="0"/>
              </a:rPr>
              <a:t>Is the Process In-Control?</a:t>
            </a:r>
          </a:p>
        </p:txBody>
      </p:sp>
      <p:graphicFrame>
        <p:nvGraphicFramePr>
          <p:cNvPr id="590851" name="Group 3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4178126177"/>
              </p:ext>
            </p:extLst>
          </p:nvPr>
        </p:nvGraphicFramePr>
        <p:xfrm>
          <a:off x="1080448" y="1468271"/>
          <a:ext cx="6877050" cy="4702176"/>
        </p:xfrm>
        <a:graphic>
          <a:graphicData uri="http://schemas.openxmlformats.org/drawingml/2006/table">
            <a:tbl>
              <a:tblPr/>
              <a:tblGrid>
                <a:gridCol w="104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8737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Sample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Measurement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36.62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50.01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44.39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35.84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50.41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43.45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42.91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34.72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54.82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51.67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56.01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48.03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57.50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49.69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69.49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43.18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51.50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54.27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58.36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53.28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55.59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59.06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41.70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53.60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30.22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16.00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51.87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44.67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94.27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47.40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28.45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76.67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66.05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29.04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40.63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90919" name="Rectangle 71"/>
          <p:cNvSpPr>
            <a:spLocks noChangeArrowheads="1"/>
          </p:cNvSpPr>
          <p:nvPr/>
        </p:nvSpPr>
        <p:spPr bwMode="auto">
          <a:xfrm>
            <a:off x="699448" y="6268871"/>
            <a:ext cx="7772400" cy="3810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All means fall within the control limits so the process mean has not shifted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8F40773-F40B-477E-8F9D-08CC6D080A53}"/>
              </a:ext>
            </a:extLst>
          </p:cNvPr>
          <p:cNvSpPr/>
          <p:nvPr/>
        </p:nvSpPr>
        <p:spPr bwMode="auto">
          <a:xfrm>
            <a:off x="1048870" y="1326776"/>
            <a:ext cx="1071283" cy="4908177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660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0919" grpId="0" animBg="1"/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52400"/>
            <a:ext cx="7772400" cy="838200"/>
          </a:xfrm>
        </p:spPr>
        <p:txBody>
          <a:bodyPr/>
          <a:lstStyle/>
          <a:p>
            <a:pPr eaLnBrk="1" hangingPunct="1"/>
            <a:r>
              <a:rPr lang="en-US" dirty="0">
                <a:cs typeface="Arial" panose="020B0604020202020204" pitchFamily="34" charset="0"/>
              </a:rPr>
              <a:t>Plotting the Sample Means</a:t>
            </a:r>
          </a:p>
        </p:txBody>
      </p:sp>
      <p:graphicFrame>
        <p:nvGraphicFramePr>
          <p:cNvPr id="1126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4439712"/>
              </p:ext>
            </p:extLst>
          </p:nvPr>
        </p:nvGraphicFramePr>
        <p:xfrm>
          <a:off x="1559257" y="2802340"/>
          <a:ext cx="6162675" cy="326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7772408" imgH="4114867" progId="MSGraph.Chart.8">
                  <p:embed followColorScheme="full"/>
                </p:oleObj>
              </mc:Choice>
              <mc:Fallback>
                <p:oleObj name="Chart" r:id="rId3" imgW="7772408" imgH="4114867" progId="MSGraph.Chart.8">
                  <p:embed followColorScheme="full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257" y="2802340"/>
                        <a:ext cx="6162675" cy="326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340057" y="2649940"/>
            <a:ext cx="8382000" cy="381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340057" y="2116540"/>
            <a:ext cx="8382000" cy="5334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50000"/>
              </a:spcBef>
            </a:pPr>
            <a:r>
              <a:rPr lang="en-US" sz="1800" b="1">
                <a:latin typeface="Arial" panose="020B0604020202020204" pitchFamily="34" charset="0"/>
                <a:cs typeface="Arial" panose="020B0604020202020204" pitchFamily="34" charset="0"/>
              </a:rPr>
              <a:t>Sample means all fall within control limits</a:t>
            </a: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3388057" y="6002740"/>
            <a:ext cx="2743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Sample</a:t>
            </a:r>
          </a:p>
        </p:txBody>
      </p:sp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492457" y="2954740"/>
            <a:ext cx="11430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Sample Mean</a:t>
            </a:r>
          </a:p>
        </p:txBody>
      </p:sp>
      <p:sp>
        <p:nvSpPr>
          <p:cNvPr id="11272" name="Text Box 9"/>
          <p:cNvSpPr txBox="1">
            <a:spLocks noChangeArrowheads="1"/>
          </p:cNvSpPr>
          <p:nvPr/>
        </p:nvSpPr>
        <p:spPr bwMode="auto">
          <a:xfrm>
            <a:off x="7642557" y="4213628"/>
            <a:ext cx="5381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LCL</a:t>
            </a:r>
          </a:p>
        </p:txBody>
      </p:sp>
      <p:sp>
        <p:nvSpPr>
          <p:cNvPr id="11273" name="Line 11"/>
          <p:cNvSpPr>
            <a:spLocks noChangeShapeType="1"/>
          </p:cNvSpPr>
          <p:nvPr/>
        </p:nvSpPr>
        <p:spPr bwMode="auto">
          <a:xfrm flipH="1">
            <a:off x="2016457" y="4366028"/>
            <a:ext cx="563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74" name="Line 12"/>
          <p:cNvSpPr>
            <a:spLocks noChangeShapeType="1"/>
          </p:cNvSpPr>
          <p:nvPr/>
        </p:nvSpPr>
        <p:spPr bwMode="auto">
          <a:xfrm flipH="1">
            <a:off x="2016457" y="3716740"/>
            <a:ext cx="563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75" name="Line 13"/>
          <p:cNvSpPr>
            <a:spLocks noChangeShapeType="1"/>
          </p:cNvSpPr>
          <p:nvPr/>
        </p:nvSpPr>
        <p:spPr bwMode="auto">
          <a:xfrm flipH="1">
            <a:off x="2016457" y="4021540"/>
            <a:ext cx="56388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76" name="Text Box 14"/>
          <p:cNvSpPr txBox="1">
            <a:spLocks noChangeArrowheads="1"/>
          </p:cNvSpPr>
          <p:nvPr/>
        </p:nvSpPr>
        <p:spPr bwMode="auto">
          <a:xfrm>
            <a:off x="7642557" y="3597678"/>
            <a:ext cx="5381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UCL</a:t>
            </a:r>
          </a:p>
        </p:txBody>
      </p:sp>
      <p:sp>
        <p:nvSpPr>
          <p:cNvPr id="11277" name="Text Box 15"/>
          <p:cNvSpPr txBox="1">
            <a:spLocks noChangeArrowheads="1"/>
          </p:cNvSpPr>
          <p:nvPr/>
        </p:nvSpPr>
        <p:spPr bwMode="auto">
          <a:xfrm>
            <a:off x="7609220" y="3867695"/>
            <a:ext cx="111283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Centerline</a:t>
            </a:r>
          </a:p>
        </p:txBody>
      </p:sp>
    </p:spTree>
    <p:extLst>
      <p:ext uri="{BB962C8B-B14F-4D97-AF65-F5344CB8AC3E}">
        <p14:creationId xmlns:p14="http://schemas.microsoft.com/office/powerpoint/2010/main" val="374042666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>
                <a:cs typeface="Arial" panose="020B0604020202020204" pitchFamily="34" charset="0"/>
              </a:rPr>
              <a:t>X-bar Charts Capture Shift in Means But Not Shift in Variability</a:t>
            </a:r>
          </a:p>
        </p:txBody>
      </p:sp>
      <p:graphicFrame>
        <p:nvGraphicFramePr>
          <p:cNvPr id="13314" name="Object 3"/>
          <p:cNvGraphicFramePr>
            <a:graphicFrameLocks noChangeAspect="1"/>
          </p:cNvGraphicFramePr>
          <p:nvPr/>
        </p:nvGraphicFramePr>
        <p:xfrm>
          <a:off x="838200" y="2286000"/>
          <a:ext cx="3276600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3809945" imgH="4114867" progId="MSGraph.Chart.8">
                  <p:embed followColorScheme="full"/>
                </p:oleObj>
              </mc:Choice>
              <mc:Fallback>
                <p:oleObj name="Chart" r:id="rId3" imgW="3809945" imgH="4114867" progId="MSGraph.Chart.8">
                  <p:embed followColorScheme="full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286000"/>
                        <a:ext cx="3276600" cy="350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Rectangle 4"/>
          <p:cNvSpPr>
            <a:spLocks noChangeArrowheads="1"/>
          </p:cNvSpPr>
          <p:nvPr/>
        </p:nvSpPr>
        <p:spPr bwMode="auto">
          <a:xfrm>
            <a:off x="685800" y="2133600"/>
            <a:ext cx="3581400" cy="3657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18" name="Rectangle 5"/>
          <p:cNvSpPr>
            <a:spLocks noChangeArrowheads="1"/>
          </p:cNvSpPr>
          <p:nvPr/>
        </p:nvSpPr>
        <p:spPr bwMode="auto">
          <a:xfrm>
            <a:off x="685800" y="1600200"/>
            <a:ext cx="3581400" cy="5334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X-bar would capture the following process shift</a:t>
            </a:r>
          </a:p>
        </p:txBody>
      </p:sp>
      <p:sp>
        <p:nvSpPr>
          <p:cNvPr id="13319" name="Line 6"/>
          <p:cNvSpPr>
            <a:spLocks noChangeShapeType="1"/>
          </p:cNvSpPr>
          <p:nvPr/>
        </p:nvSpPr>
        <p:spPr bwMode="auto">
          <a:xfrm flipV="1">
            <a:off x="2819400" y="2514600"/>
            <a:ext cx="0" cy="28194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20" name="Line 7"/>
          <p:cNvSpPr>
            <a:spLocks noChangeShapeType="1"/>
          </p:cNvSpPr>
          <p:nvPr/>
        </p:nvSpPr>
        <p:spPr bwMode="auto">
          <a:xfrm flipV="1">
            <a:off x="2057400" y="2528888"/>
            <a:ext cx="0" cy="281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21" name="Line 8"/>
          <p:cNvSpPr>
            <a:spLocks noChangeShapeType="1"/>
          </p:cNvSpPr>
          <p:nvPr/>
        </p:nvSpPr>
        <p:spPr bwMode="auto">
          <a:xfrm flipV="1">
            <a:off x="3124200" y="2528888"/>
            <a:ext cx="0" cy="281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22" name="Text Box 9"/>
          <p:cNvSpPr txBox="1">
            <a:spLocks noChangeArrowheads="1"/>
          </p:cNvSpPr>
          <p:nvPr/>
        </p:nvSpPr>
        <p:spPr bwMode="auto">
          <a:xfrm>
            <a:off x="1981200" y="2343150"/>
            <a:ext cx="990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b="1">
                <a:latin typeface="Arial" panose="020B0604020202020204" pitchFamily="34" charset="0"/>
                <a:cs typeface="Arial" panose="020B0604020202020204" pitchFamily="34" charset="0"/>
              </a:rPr>
              <a:t>Original process </a:t>
            </a:r>
          </a:p>
        </p:txBody>
      </p:sp>
      <p:sp>
        <p:nvSpPr>
          <p:cNvPr id="13323" name="Text Box 10"/>
          <p:cNvSpPr txBox="1">
            <a:spLocks noChangeArrowheads="1"/>
          </p:cNvSpPr>
          <p:nvPr/>
        </p:nvSpPr>
        <p:spPr bwMode="auto">
          <a:xfrm>
            <a:off x="3276600" y="2362200"/>
            <a:ext cx="9906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b="1">
                <a:latin typeface="Arial" panose="020B0604020202020204" pitchFamily="34" charset="0"/>
                <a:cs typeface="Arial" panose="020B0604020202020204" pitchFamily="34" charset="0"/>
              </a:rPr>
              <a:t>Process undergoes a shift in the mean</a:t>
            </a:r>
          </a:p>
        </p:txBody>
      </p:sp>
      <p:sp>
        <p:nvSpPr>
          <p:cNvPr id="13324" name="Text Box 11"/>
          <p:cNvSpPr txBox="1">
            <a:spLocks noChangeArrowheads="1"/>
          </p:cNvSpPr>
          <p:nvPr/>
        </p:nvSpPr>
        <p:spPr bwMode="auto">
          <a:xfrm>
            <a:off x="838200" y="5867400"/>
            <a:ext cx="3429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b="1">
                <a:latin typeface="Arial" panose="020B0604020202020204" pitchFamily="34" charset="0"/>
                <a:cs typeface="Arial" panose="020B0604020202020204" pitchFamily="34" charset="0"/>
              </a:rPr>
              <a:t>The shift would be noticed as the sample means would start to fall outside the control limits</a:t>
            </a:r>
          </a:p>
        </p:txBody>
      </p:sp>
      <p:sp>
        <p:nvSpPr>
          <p:cNvPr id="13325" name="Line 12"/>
          <p:cNvSpPr>
            <a:spLocks noChangeShapeType="1"/>
          </p:cNvSpPr>
          <p:nvPr/>
        </p:nvSpPr>
        <p:spPr bwMode="auto">
          <a:xfrm>
            <a:off x="2286000" y="27432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26" name="Line 13"/>
          <p:cNvSpPr>
            <a:spLocks noChangeShapeType="1"/>
          </p:cNvSpPr>
          <p:nvPr/>
        </p:nvSpPr>
        <p:spPr bwMode="auto">
          <a:xfrm flipH="1">
            <a:off x="3505200" y="30480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4648200" y="1600200"/>
            <a:ext cx="3581400" cy="4664075"/>
            <a:chOff x="2928" y="1008"/>
            <a:chExt cx="2256" cy="2938"/>
          </a:xfrm>
        </p:grpSpPr>
        <p:graphicFrame>
          <p:nvGraphicFramePr>
            <p:cNvPr id="13315" name="Object 14"/>
            <p:cNvGraphicFramePr>
              <a:graphicFrameLocks noChangeAspect="1"/>
            </p:cNvGraphicFramePr>
            <p:nvPr/>
          </p:nvGraphicFramePr>
          <p:xfrm>
            <a:off x="3024" y="1440"/>
            <a:ext cx="2064" cy="2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5" imgW="3809945" imgH="4114867" progId="MSGraph.Chart.8">
                    <p:embed followColorScheme="full"/>
                  </p:oleObj>
                </mc:Choice>
                <mc:Fallback>
                  <p:oleObj name="Chart" r:id="rId5" imgW="3809945" imgH="4114867" progId="MSGraph.Chart.8">
                    <p:embed followColorScheme="full"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1440"/>
                          <a:ext cx="2064" cy="2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8" name="Rectangle 15"/>
            <p:cNvSpPr>
              <a:spLocks noChangeArrowheads="1"/>
            </p:cNvSpPr>
            <p:nvPr/>
          </p:nvSpPr>
          <p:spPr bwMode="auto">
            <a:xfrm>
              <a:off x="2928" y="1344"/>
              <a:ext cx="2256" cy="23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29" name="Rectangle 16"/>
            <p:cNvSpPr>
              <a:spLocks noChangeArrowheads="1"/>
            </p:cNvSpPr>
            <p:nvPr/>
          </p:nvSpPr>
          <p:spPr bwMode="auto">
            <a:xfrm>
              <a:off x="2928" y="1008"/>
              <a:ext cx="2256" cy="336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r>
                <a:rPr lang="en-US" sz="1600" b="1" dirty="0"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X-bar would not capture the following process shift</a:t>
              </a:r>
            </a:p>
          </p:txBody>
        </p:sp>
        <p:sp>
          <p:nvSpPr>
            <p:cNvPr id="13330" name="Line 17"/>
            <p:cNvSpPr>
              <a:spLocks noChangeShapeType="1"/>
            </p:cNvSpPr>
            <p:nvPr/>
          </p:nvSpPr>
          <p:spPr bwMode="auto">
            <a:xfrm flipV="1">
              <a:off x="4272" y="158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31" name="Line 18"/>
            <p:cNvSpPr>
              <a:spLocks noChangeShapeType="1"/>
            </p:cNvSpPr>
            <p:nvPr/>
          </p:nvSpPr>
          <p:spPr bwMode="auto">
            <a:xfrm flipV="1">
              <a:off x="3792" y="1593"/>
              <a:ext cx="0" cy="17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32" name="Line 19"/>
            <p:cNvSpPr>
              <a:spLocks noChangeShapeType="1"/>
            </p:cNvSpPr>
            <p:nvPr/>
          </p:nvSpPr>
          <p:spPr bwMode="auto">
            <a:xfrm flipV="1">
              <a:off x="4464" y="1593"/>
              <a:ext cx="0" cy="17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33" name="Text Box 20"/>
            <p:cNvSpPr txBox="1">
              <a:spLocks noChangeArrowheads="1"/>
            </p:cNvSpPr>
            <p:nvPr/>
          </p:nvSpPr>
          <p:spPr bwMode="auto">
            <a:xfrm>
              <a:off x="3672" y="1478"/>
              <a:ext cx="62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000" b="1">
                  <a:latin typeface="Arial" panose="020B0604020202020204" pitchFamily="34" charset="0"/>
                  <a:cs typeface="Arial" panose="020B0604020202020204" pitchFamily="34" charset="0"/>
                </a:rPr>
                <a:t>Original process</a:t>
              </a:r>
            </a:p>
          </p:txBody>
        </p:sp>
        <p:sp>
          <p:nvSpPr>
            <p:cNvPr id="13334" name="Text Box 21"/>
            <p:cNvSpPr txBox="1">
              <a:spLocks noChangeArrowheads="1"/>
            </p:cNvSpPr>
            <p:nvPr/>
          </p:nvSpPr>
          <p:spPr bwMode="auto">
            <a:xfrm>
              <a:off x="4464" y="1968"/>
              <a:ext cx="528" cy="8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000" b="1">
                  <a:latin typeface="Arial" panose="020B0604020202020204" pitchFamily="34" charset="0"/>
                  <a:cs typeface="Arial" panose="020B0604020202020204" pitchFamily="34" charset="0"/>
                </a:rPr>
                <a:t>Process mean stays the same but process becomes more variable</a:t>
              </a:r>
            </a:p>
          </p:txBody>
        </p:sp>
        <p:sp>
          <p:nvSpPr>
            <p:cNvPr id="13335" name="Line 22"/>
            <p:cNvSpPr>
              <a:spLocks noChangeShapeType="1"/>
            </p:cNvSpPr>
            <p:nvPr/>
          </p:nvSpPr>
          <p:spPr bwMode="auto">
            <a:xfrm>
              <a:off x="3936" y="1728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36" name="Line 23"/>
            <p:cNvSpPr>
              <a:spLocks noChangeShapeType="1"/>
            </p:cNvSpPr>
            <p:nvPr/>
          </p:nvSpPr>
          <p:spPr bwMode="auto">
            <a:xfrm flipH="1">
              <a:off x="4368" y="2832"/>
              <a:ext cx="43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37" name="Text Box 24"/>
            <p:cNvSpPr txBox="1">
              <a:spLocks noChangeArrowheads="1"/>
            </p:cNvSpPr>
            <p:nvPr/>
          </p:nvSpPr>
          <p:spPr bwMode="auto">
            <a:xfrm>
              <a:off x="2928" y="3696"/>
              <a:ext cx="216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000" b="1">
                  <a:latin typeface="Arial" panose="020B0604020202020204" pitchFamily="34" charset="0"/>
                  <a:cs typeface="Arial" panose="020B0604020202020204" pitchFamily="34" charset="0"/>
                </a:rPr>
                <a:t>The shift would NOT be noticed as the sample means would still fall within the control limits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55571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698B3-0595-4FD7-B46C-02627FC40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 charts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0DF67-0B94-4A46-A8E4-5B847BCF2B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Measuring Shifts in Variability</a:t>
            </a:r>
          </a:p>
        </p:txBody>
      </p:sp>
    </p:spTree>
    <p:extLst>
      <p:ext uri="{BB962C8B-B14F-4D97-AF65-F5344CB8AC3E}">
        <p14:creationId xmlns:p14="http://schemas.microsoft.com/office/powerpoint/2010/main" val="3113384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>
                <a:cs typeface="Arial" panose="020B0604020202020204" pitchFamily="34" charset="0"/>
              </a:rPr>
              <a:t>Range Charts (R-Charts) Are Used to Capture Shifts in Variability </a:t>
            </a:r>
          </a:p>
        </p:txBody>
      </p:sp>
      <p:graphicFrame>
        <p:nvGraphicFramePr>
          <p:cNvPr id="14338" name="Object 3"/>
          <p:cNvGraphicFramePr>
            <a:graphicFrameLocks noGrp="1" noChangeAspect="1"/>
          </p:cNvGraphicFramePr>
          <p:nvPr>
            <p:ph type="chart" sz="half" idx="1"/>
            <p:extLst>
              <p:ext uri="{D42A27DB-BD31-4B8C-83A1-F6EECF244321}">
                <p14:modId xmlns:p14="http://schemas.microsoft.com/office/powerpoint/2010/main" val="1164236315"/>
              </p:ext>
            </p:extLst>
          </p:nvPr>
        </p:nvGraphicFramePr>
        <p:xfrm>
          <a:off x="685800" y="2362200"/>
          <a:ext cx="3276600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3809945" imgH="4114867" progId="MSGraph.Chart.8">
                  <p:embed followColorScheme="full"/>
                </p:oleObj>
              </mc:Choice>
              <mc:Fallback>
                <p:oleObj name="Chart" r:id="rId3" imgW="3809945" imgH="4114867" progId="MSGraph.Chart.8">
                  <p:embed followColorScheme="full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362200"/>
                        <a:ext cx="3276600" cy="350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3" name="Rectangle 4"/>
          <p:cNvSpPr>
            <a:spLocks noChangeArrowheads="1"/>
          </p:cNvSpPr>
          <p:nvPr/>
        </p:nvSpPr>
        <p:spPr bwMode="auto">
          <a:xfrm>
            <a:off x="533400" y="2209800"/>
            <a:ext cx="3810000" cy="3657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44" name="Rectangle 5"/>
          <p:cNvSpPr>
            <a:spLocks noChangeArrowheads="1"/>
          </p:cNvSpPr>
          <p:nvPr/>
        </p:nvSpPr>
        <p:spPr bwMode="auto">
          <a:xfrm>
            <a:off x="533400" y="1676400"/>
            <a:ext cx="3810000" cy="5334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Anything outside the limits is considered atypical</a:t>
            </a:r>
          </a:p>
        </p:txBody>
      </p:sp>
      <p:sp>
        <p:nvSpPr>
          <p:cNvPr id="14345" name="Line 6"/>
          <p:cNvSpPr>
            <a:spLocks noChangeShapeType="1"/>
          </p:cNvSpPr>
          <p:nvPr/>
        </p:nvSpPr>
        <p:spPr bwMode="auto">
          <a:xfrm>
            <a:off x="1143000" y="3962400"/>
            <a:ext cx="266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46" name="Line 7"/>
          <p:cNvSpPr>
            <a:spLocks noChangeShapeType="1"/>
          </p:cNvSpPr>
          <p:nvPr/>
        </p:nvSpPr>
        <p:spPr bwMode="auto">
          <a:xfrm>
            <a:off x="1143000" y="5410200"/>
            <a:ext cx="266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47" name="Text Box 9"/>
          <p:cNvSpPr txBox="1">
            <a:spLocks noChangeArrowheads="1"/>
          </p:cNvSpPr>
          <p:nvPr/>
        </p:nvSpPr>
        <p:spPr bwMode="auto">
          <a:xfrm>
            <a:off x="1066800" y="3657600"/>
            <a:ext cx="21336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UCL: upper control limit</a:t>
            </a:r>
          </a:p>
        </p:txBody>
      </p:sp>
      <p:sp>
        <p:nvSpPr>
          <p:cNvPr id="14348" name="Line 10"/>
          <p:cNvSpPr>
            <a:spLocks noChangeShapeType="1"/>
          </p:cNvSpPr>
          <p:nvPr/>
        </p:nvSpPr>
        <p:spPr bwMode="auto">
          <a:xfrm>
            <a:off x="1143000" y="4724400"/>
            <a:ext cx="266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49" name="Text Box 11"/>
          <p:cNvSpPr txBox="1">
            <a:spLocks noChangeArrowheads="1"/>
          </p:cNvSpPr>
          <p:nvPr/>
        </p:nvSpPr>
        <p:spPr bwMode="auto">
          <a:xfrm>
            <a:off x="1143000" y="5181600"/>
            <a:ext cx="21336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LCL: lower control limit</a:t>
            </a:r>
          </a:p>
        </p:txBody>
      </p:sp>
      <p:sp>
        <p:nvSpPr>
          <p:cNvPr id="14350" name="Text Box 12"/>
          <p:cNvSpPr txBox="1">
            <a:spLocks noChangeArrowheads="1"/>
          </p:cNvSpPr>
          <p:nvPr/>
        </p:nvSpPr>
        <p:spPr bwMode="auto">
          <a:xfrm>
            <a:off x="3733800" y="44958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Mean range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4648200" y="1676400"/>
            <a:ext cx="4267200" cy="4425950"/>
            <a:chOff x="2928" y="1056"/>
            <a:chExt cx="2688" cy="2788"/>
          </a:xfrm>
        </p:grpSpPr>
        <p:sp>
          <p:nvSpPr>
            <p:cNvPr id="14352" name="Rectangle 8"/>
            <p:cNvSpPr>
              <a:spLocks noChangeArrowheads="1"/>
            </p:cNvSpPr>
            <p:nvPr/>
          </p:nvSpPr>
          <p:spPr bwMode="auto">
            <a:xfrm>
              <a:off x="2976" y="1056"/>
              <a:ext cx="2256" cy="336"/>
            </a:xfrm>
            <a:prstGeom prst="rect">
              <a:avLst/>
            </a:prstGeom>
            <a:solidFill>
              <a:srgbClr val="CCECFF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r>
                <a:rPr lang="en-US" sz="1600" b="1">
                  <a:latin typeface="Arial" panose="020B0604020202020204" pitchFamily="34" charset="0"/>
                  <a:cs typeface="Arial" panose="020B0604020202020204" pitchFamily="34" charset="0"/>
                </a:rPr>
                <a:t>How Do We Set the Control Limits</a:t>
              </a:r>
            </a:p>
          </p:txBody>
        </p:sp>
        <p:sp>
          <p:nvSpPr>
            <p:cNvPr id="14353" name="AutoShape 13"/>
            <p:cNvSpPr>
              <a:spLocks noChangeArrowheads="1"/>
            </p:cNvSpPr>
            <p:nvPr/>
          </p:nvSpPr>
          <p:spPr bwMode="auto">
            <a:xfrm>
              <a:off x="3504" y="1642"/>
              <a:ext cx="1104" cy="624"/>
            </a:xfrm>
            <a:prstGeom prst="rightArrowCallout">
              <a:avLst>
                <a:gd name="adj1" fmla="val 25000"/>
                <a:gd name="adj2" fmla="val 25000"/>
                <a:gd name="adj3" fmla="val 29487"/>
                <a:gd name="adj4" fmla="val 66667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r>
                <a:rPr lang="en-US" sz="1600" b="1">
                  <a:latin typeface="Arial" panose="020B0604020202020204" pitchFamily="34" charset="0"/>
                  <a:cs typeface="Arial" panose="020B0604020202020204" pitchFamily="34" charset="0"/>
                </a:rPr>
                <a:t>Calculate the Mean Range</a:t>
              </a:r>
            </a:p>
          </p:txBody>
        </p:sp>
        <p:sp>
          <p:nvSpPr>
            <p:cNvPr id="593934" name="Oval 14"/>
            <p:cNvSpPr>
              <a:spLocks noChangeArrowheads="1"/>
            </p:cNvSpPr>
            <p:nvPr/>
          </p:nvSpPr>
          <p:spPr bwMode="auto">
            <a:xfrm>
              <a:off x="2928" y="1690"/>
              <a:ext cx="432" cy="384"/>
            </a:xfrm>
            <a:prstGeom prst="ellipse">
              <a:avLst/>
            </a:prstGeom>
            <a:solidFill>
              <a:srgbClr val="CCECFF"/>
            </a:soli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en-US" sz="1600" b="1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graphicFrame>
          <p:nvGraphicFramePr>
            <p:cNvPr id="14339" name="Object 15"/>
            <p:cNvGraphicFramePr>
              <a:graphicFrameLocks noChangeAspect="1"/>
            </p:cNvGraphicFramePr>
            <p:nvPr/>
          </p:nvGraphicFramePr>
          <p:xfrm>
            <a:off x="4694" y="1498"/>
            <a:ext cx="826" cy="7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647640" imgH="609480" progId="Equation.3">
                    <p:embed/>
                  </p:oleObj>
                </mc:Choice>
                <mc:Fallback>
                  <p:oleObj name="Equation" r:id="rId5" imgW="647640" imgH="609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4" y="1498"/>
                          <a:ext cx="826" cy="77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5" name="AutoShape 16"/>
            <p:cNvSpPr>
              <a:spLocks noChangeArrowheads="1"/>
            </p:cNvSpPr>
            <p:nvPr/>
          </p:nvSpPr>
          <p:spPr bwMode="auto">
            <a:xfrm>
              <a:off x="3504" y="2670"/>
              <a:ext cx="1104" cy="624"/>
            </a:xfrm>
            <a:prstGeom prst="rightArrowCallout">
              <a:avLst>
                <a:gd name="adj1" fmla="val 25000"/>
                <a:gd name="adj2" fmla="val 25000"/>
                <a:gd name="adj3" fmla="val 29487"/>
                <a:gd name="adj4" fmla="val 66667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r>
                <a:rPr lang="en-US" sz="1600" b="1">
                  <a:latin typeface="Arial" panose="020B0604020202020204" pitchFamily="34" charset="0"/>
                  <a:cs typeface="Arial" panose="020B0604020202020204" pitchFamily="34" charset="0"/>
                </a:rPr>
                <a:t>Calculate the Control Limits</a:t>
              </a:r>
            </a:p>
          </p:txBody>
        </p:sp>
        <p:sp>
          <p:nvSpPr>
            <p:cNvPr id="593937" name="Oval 17"/>
            <p:cNvSpPr>
              <a:spLocks noChangeArrowheads="1"/>
            </p:cNvSpPr>
            <p:nvPr/>
          </p:nvSpPr>
          <p:spPr bwMode="auto">
            <a:xfrm>
              <a:off x="2928" y="2718"/>
              <a:ext cx="432" cy="384"/>
            </a:xfrm>
            <a:prstGeom prst="ellipse">
              <a:avLst/>
            </a:prstGeom>
            <a:solidFill>
              <a:srgbClr val="CCECFF"/>
            </a:solidFill>
            <a:ln w="9525">
              <a:noFill/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r>
                <a:rPr lang="en-US" sz="1600" b="1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graphicFrame>
          <p:nvGraphicFramePr>
            <p:cNvPr id="14340" name="Object 18"/>
            <p:cNvGraphicFramePr>
              <a:graphicFrameLocks noChangeAspect="1"/>
            </p:cNvGraphicFramePr>
            <p:nvPr/>
          </p:nvGraphicFramePr>
          <p:xfrm>
            <a:off x="4645" y="2670"/>
            <a:ext cx="971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761760" imgH="241200" progId="Equation.3">
                    <p:embed/>
                  </p:oleObj>
                </mc:Choice>
                <mc:Fallback>
                  <p:oleObj name="Equation" r:id="rId7" imgW="76176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5" y="2670"/>
                          <a:ext cx="971" cy="3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1" name="Object 19"/>
            <p:cNvGraphicFramePr>
              <a:graphicFrameLocks noChangeAspect="1"/>
            </p:cNvGraphicFramePr>
            <p:nvPr/>
          </p:nvGraphicFramePr>
          <p:xfrm>
            <a:off x="4608" y="3046"/>
            <a:ext cx="954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749160" imgH="253800" progId="Equation.3">
                    <p:embed/>
                  </p:oleObj>
                </mc:Choice>
                <mc:Fallback>
                  <p:oleObj name="Equation" r:id="rId9" imgW="74916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3046"/>
                          <a:ext cx="954" cy="3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7" name="Text Box 20"/>
            <p:cNvSpPr txBox="1">
              <a:spLocks noChangeArrowheads="1"/>
            </p:cNvSpPr>
            <p:nvPr/>
          </p:nvSpPr>
          <p:spPr bwMode="auto">
            <a:xfrm>
              <a:off x="3552" y="3514"/>
              <a:ext cx="1728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400" b="1">
                  <a:latin typeface="Arial" panose="020B0604020202020204" pitchFamily="34" charset="0"/>
                  <a:cs typeface="Arial" panose="020B0604020202020204" pitchFamily="34" charset="0"/>
                </a:rPr>
                <a:t>D3 and D4 are constants that can be found in tables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11177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28600"/>
            <a:ext cx="7772400" cy="762000"/>
          </a:xfrm>
        </p:spPr>
        <p:txBody>
          <a:bodyPr/>
          <a:lstStyle/>
          <a:p>
            <a:pPr eaLnBrk="1" hangingPunct="1"/>
            <a:r>
              <a:rPr lang="en-US" dirty="0">
                <a:cs typeface="Arial" panose="020B0604020202020204" pitchFamily="34" charset="0"/>
              </a:rPr>
              <a:t>Table for D</a:t>
            </a:r>
            <a:r>
              <a:rPr lang="en-US" baseline="-25000" dirty="0">
                <a:cs typeface="Arial" panose="020B0604020202020204" pitchFamily="34" charset="0"/>
              </a:rPr>
              <a:t>3</a:t>
            </a:r>
            <a:r>
              <a:rPr lang="en-US" dirty="0">
                <a:cs typeface="Arial" panose="020B0604020202020204" pitchFamily="34" charset="0"/>
              </a:rPr>
              <a:t> and D</a:t>
            </a:r>
            <a:r>
              <a:rPr lang="en-US" baseline="-25000" dirty="0">
                <a:cs typeface="Arial" panose="020B0604020202020204" pitchFamily="34" charset="0"/>
              </a:rPr>
              <a:t>4</a:t>
            </a:r>
            <a:r>
              <a:rPr lang="en-US" dirty="0">
                <a:cs typeface="Arial" panose="020B0604020202020204" pitchFamily="34" charset="0"/>
              </a:rPr>
              <a:t> Constants</a:t>
            </a:r>
          </a:p>
        </p:txBody>
      </p:sp>
      <p:sp>
        <p:nvSpPr>
          <p:cNvPr id="15364" name="Text Box 3"/>
          <p:cNvSpPr txBox="1">
            <a:spLocks noChangeArrowheads="1"/>
          </p:cNvSpPr>
          <p:nvPr/>
        </p:nvSpPr>
        <p:spPr bwMode="auto">
          <a:xfrm>
            <a:off x="228600" y="1752600"/>
            <a:ext cx="1981200" cy="155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Sample size is the number of measurements in each sample and NOT the number of samples</a:t>
            </a:r>
          </a:p>
        </p:txBody>
      </p:sp>
      <p:graphicFrame>
        <p:nvGraphicFramePr>
          <p:cNvPr id="1536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4930991"/>
              </p:ext>
            </p:extLst>
          </p:nvPr>
        </p:nvGraphicFramePr>
        <p:xfrm>
          <a:off x="2819400" y="1600200"/>
          <a:ext cx="4419600" cy="424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171160" imgH="2497680" progId="Excel.Sheet.8">
                  <p:embed/>
                </p:oleObj>
              </mc:Choice>
              <mc:Fallback>
                <p:oleObj name="Worksheet" r:id="rId2" imgW="2171160" imgH="2497680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600200"/>
                        <a:ext cx="4419600" cy="424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08789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562969" y="597090"/>
            <a:ext cx="8581031" cy="800100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What are the R-Chart Control Limits for This Process?</a:t>
            </a:r>
          </a:p>
        </p:txBody>
      </p:sp>
      <p:graphicFrame>
        <p:nvGraphicFramePr>
          <p:cNvPr id="595971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842485"/>
              </p:ext>
            </p:extLst>
          </p:nvPr>
        </p:nvGraphicFramePr>
        <p:xfrm>
          <a:off x="609600" y="1470025"/>
          <a:ext cx="7848600" cy="4702176"/>
        </p:xfrm>
        <a:graphic>
          <a:graphicData uri="http://schemas.openxmlformats.org/drawingml/2006/table">
            <a:tbl>
              <a:tblPr/>
              <a:tblGrid>
                <a:gridCol w="104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8737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Sample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Measurement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49.59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53.94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47.11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60.58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43.48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50.94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17.10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60.41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48.90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29.19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58.87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39.80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47.44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31.22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65.89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56.96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44.15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60.76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50.39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55.63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21.74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48.48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51.02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57.36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45.54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63.11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53.10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17.56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49.10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40.69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42.10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29.26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46.40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41.51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19.84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42.76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35.11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47.66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46.78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44.93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43.45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12.55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2545780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4479" y="467519"/>
            <a:ext cx="9045055" cy="609600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Center Line, UCL and LCL Calculations</a:t>
            </a:r>
          </a:p>
        </p:txBody>
      </p:sp>
      <p:sp>
        <p:nvSpPr>
          <p:cNvPr id="43011" name="AutoShape 3"/>
          <p:cNvSpPr>
            <a:spLocks noChangeArrowheads="1"/>
          </p:cNvSpPr>
          <p:nvPr/>
        </p:nvSpPr>
        <p:spPr bwMode="auto">
          <a:xfrm>
            <a:off x="914400" y="3179763"/>
            <a:ext cx="1752600" cy="914400"/>
          </a:xfrm>
          <a:prstGeom prst="rightArrowCallout">
            <a:avLst>
              <a:gd name="adj1" fmla="val 25000"/>
              <a:gd name="adj2" fmla="val 25000"/>
              <a:gd name="adj3" fmla="val 31944"/>
              <a:gd name="adj4" fmla="val 6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UCL</a:t>
            </a:r>
          </a:p>
        </p:txBody>
      </p:sp>
      <p:sp>
        <p:nvSpPr>
          <p:cNvPr id="43012" name="AutoShape 4"/>
          <p:cNvSpPr>
            <a:spLocks noChangeArrowheads="1"/>
          </p:cNvSpPr>
          <p:nvPr/>
        </p:nvSpPr>
        <p:spPr bwMode="auto">
          <a:xfrm>
            <a:off x="914400" y="4495800"/>
            <a:ext cx="1752600" cy="914400"/>
          </a:xfrm>
          <a:prstGeom prst="rightArrowCallout">
            <a:avLst>
              <a:gd name="adj1" fmla="val 25000"/>
              <a:gd name="adj2" fmla="val 25000"/>
              <a:gd name="adj3" fmla="val 31944"/>
              <a:gd name="adj4" fmla="val 6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LCL</a:t>
            </a:r>
          </a:p>
        </p:txBody>
      </p:sp>
      <p:sp>
        <p:nvSpPr>
          <p:cNvPr id="43013" name="AutoShape 9"/>
          <p:cNvSpPr>
            <a:spLocks noChangeArrowheads="1"/>
          </p:cNvSpPr>
          <p:nvPr/>
        </p:nvSpPr>
        <p:spPr bwMode="auto">
          <a:xfrm>
            <a:off x="914400" y="1676400"/>
            <a:ext cx="1752600" cy="914400"/>
          </a:xfrm>
          <a:prstGeom prst="rightArrowCallout">
            <a:avLst>
              <a:gd name="adj1" fmla="val 25000"/>
              <a:gd name="adj2" fmla="val 25000"/>
              <a:gd name="adj3" fmla="val 31944"/>
              <a:gd name="adj4" fmla="val 6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Center 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0D9A6CB-4A5D-40F2-B67D-799906469671}"/>
                  </a:ext>
                </a:extLst>
              </p:cNvPr>
              <p:cNvSpPr txBox="1"/>
              <p:nvPr/>
            </p:nvSpPr>
            <p:spPr>
              <a:xfrm>
                <a:off x="3643266" y="1834076"/>
                <a:ext cx="3789820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17.10+31.22+…+12.55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0D9A6CB-4A5D-40F2-B67D-799906469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3266" y="1834076"/>
                <a:ext cx="3789820" cy="5259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12CD003-7843-46ED-9E5C-9B22D103344E}"/>
                  </a:ext>
                </a:extLst>
              </p:cNvPr>
              <p:cNvSpPr txBox="1"/>
              <p:nvPr/>
            </p:nvSpPr>
            <p:spPr>
              <a:xfrm>
                <a:off x="3954906" y="3531554"/>
                <a:ext cx="36097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𝑈𝐶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=2.11∗20=42.2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12CD003-7843-46ED-9E5C-9B22D1033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906" y="3531554"/>
                <a:ext cx="3609771" cy="276999"/>
              </a:xfrm>
              <a:prstGeom prst="rect">
                <a:avLst/>
              </a:prstGeom>
              <a:blipFill>
                <a:blip r:embed="rId3"/>
                <a:stretch>
                  <a:fillRect b="-1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1F4C6C9-4949-49B8-A1C5-AD87B0EB0FE5}"/>
                  </a:ext>
                </a:extLst>
              </p:cNvPr>
              <p:cNvSpPr txBox="1"/>
              <p:nvPr/>
            </p:nvSpPr>
            <p:spPr>
              <a:xfrm>
                <a:off x="4168907" y="4771017"/>
                <a:ext cx="31416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𝐿𝐶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=2.11∗0=0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1F4C6C9-4949-49B8-A1C5-AD87B0EB0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907" y="4771017"/>
                <a:ext cx="3141694" cy="276999"/>
              </a:xfrm>
              <a:prstGeom prst="rect">
                <a:avLst/>
              </a:prstGeom>
              <a:blipFill>
                <a:blip r:embed="rId4"/>
                <a:stretch>
                  <a:fillRect t="-2222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61761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576618" y="431042"/>
            <a:ext cx="8567382" cy="914400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Consider the Following Samples</a:t>
            </a:r>
            <a:br>
              <a:rPr lang="en-US" dirty="0">
                <a:cs typeface="Arial" charset="0"/>
              </a:rPr>
            </a:br>
            <a:r>
              <a:rPr lang="en-US" dirty="0">
                <a:cs typeface="Arial" charset="0"/>
              </a:rPr>
              <a:t>Is the Process In-Control?</a:t>
            </a:r>
          </a:p>
        </p:txBody>
      </p:sp>
      <p:graphicFrame>
        <p:nvGraphicFramePr>
          <p:cNvPr id="598019" name="Group 3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139426921"/>
              </p:ext>
            </p:extLst>
          </p:nvPr>
        </p:nvGraphicFramePr>
        <p:xfrm>
          <a:off x="576618" y="1754353"/>
          <a:ext cx="7848600" cy="4702176"/>
        </p:xfrm>
        <a:graphic>
          <a:graphicData uri="http://schemas.openxmlformats.org/drawingml/2006/table">
            <a:tbl>
              <a:tblPr/>
              <a:tblGrid>
                <a:gridCol w="104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8737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Sample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Measurement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Range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36.62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50.01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44.39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35.84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50.41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43.45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14.58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42.91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34.72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54.82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51.67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56.01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48.03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21.28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57.50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49.69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69.49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43.18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51.50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54.27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26.31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58.36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53.28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55.59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59.06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41.70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53.60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17.36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30.22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16.00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51.87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44.67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94.27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47.40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78.28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28.45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76.67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66.05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29.04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40.63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73.75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87101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>
          <a:xfrm>
            <a:off x="270112" y="560103"/>
            <a:ext cx="8908576" cy="838200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Out of Control? Need to Look at Both X-bar Chart and R Chart</a:t>
            </a:r>
          </a:p>
        </p:txBody>
      </p:sp>
      <p:graphicFrame>
        <p:nvGraphicFramePr>
          <p:cNvPr id="174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7046203"/>
              </p:ext>
            </p:extLst>
          </p:nvPr>
        </p:nvGraphicFramePr>
        <p:xfrm>
          <a:off x="4724400" y="2286000"/>
          <a:ext cx="3276600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3809945" imgH="4114867" progId="MSGraph.Chart.8">
                  <p:embed followColorScheme="full"/>
                </p:oleObj>
              </mc:Choice>
              <mc:Fallback>
                <p:oleObj name="Chart" r:id="rId3" imgW="3809945" imgH="4114867" progId="MSGraph.Chart.8">
                  <p:embed followColorScheme="full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286000"/>
                        <a:ext cx="3276600" cy="350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Rectangle 4"/>
          <p:cNvSpPr>
            <a:spLocks noChangeArrowheads="1"/>
          </p:cNvSpPr>
          <p:nvPr/>
        </p:nvSpPr>
        <p:spPr bwMode="auto">
          <a:xfrm>
            <a:off x="4648200" y="2057400"/>
            <a:ext cx="3810000" cy="3657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4" name="Rectangle 5"/>
          <p:cNvSpPr>
            <a:spLocks noChangeArrowheads="1"/>
          </p:cNvSpPr>
          <p:nvPr/>
        </p:nvSpPr>
        <p:spPr bwMode="auto">
          <a:xfrm>
            <a:off x="4648200" y="1524000"/>
            <a:ext cx="3810000" cy="5334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R Chart Shows the Process Has Gone Out of Control</a:t>
            </a:r>
          </a:p>
        </p:txBody>
      </p:sp>
      <p:sp>
        <p:nvSpPr>
          <p:cNvPr id="17415" name="Line 6"/>
          <p:cNvSpPr>
            <a:spLocks noChangeShapeType="1"/>
          </p:cNvSpPr>
          <p:nvPr/>
        </p:nvSpPr>
        <p:spPr bwMode="auto">
          <a:xfrm>
            <a:off x="5181600" y="3810000"/>
            <a:ext cx="266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6" name="Line 7"/>
          <p:cNvSpPr>
            <a:spLocks noChangeShapeType="1"/>
          </p:cNvSpPr>
          <p:nvPr/>
        </p:nvSpPr>
        <p:spPr bwMode="auto">
          <a:xfrm>
            <a:off x="5181600" y="5257800"/>
            <a:ext cx="266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7" name="Text Box 8"/>
          <p:cNvSpPr txBox="1">
            <a:spLocks noChangeArrowheads="1"/>
          </p:cNvSpPr>
          <p:nvPr/>
        </p:nvSpPr>
        <p:spPr bwMode="auto">
          <a:xfrm>
            <a:off x="5105400" y="3505200"/>
            <a:ext cx="27432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UCL: upper control limit=42.21</a:t>
            </a:r>
          </a:p>
        </p:txBody>
      </p:sp>
      <p:sp>
        <p:nvSpPr>
          <p:cNvPr id="17418" name="Line 9"/>
          <p:cNvSpPr>
            <a:spLocks noChangeShapeType="1"/>
          </p:cNvSpPr>
          <p:nvPr/>
        </p:nvSpPr>
        <p:spPr bwMode="auto">
          <a:xfrm>
            <a:off x="5181600" y="4572000"/>
            <a:ext cx="266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9" name="Text Box 10"/>
          <p:cNvSpPr txBox="1">
            <a:spLocks noChangeArrowheads="1"/>
          </p:cNvSpPr>
          <p:nvPr/>
        </p:nvSpPr>
        <p:spPr bwMode="auto">
          <a:xfrm>
            <a:off x="5181600" y="5029200"/>
            <a:ext cx="24384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LCL: lower control limit=0.00</a:t>
            </a:r>
          </a:p>
        </p:txBody>
      </p:sp>
      <p:sp>
        <p:nvSpPr>
          <p:cNvPr id="17420" name="Text Box 11"/>
          <p:cNvSpPr txBox="1">
            <a:spLocks noChangeArrowheads="1"/>
          </p:cNvSpPr>
          <p:nvPr/>
        </p:nvSpPr>
        <p:spPr bwMode="auto">
          <a:xfrm>
            <a:off x="7848600" y="4191000"/>
            <a:ext cx="685800" cy="731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Mean range</a:t>
            </a:r>
          </a:p>
          <a:p>
            <a:pPr>
              <a:spcBef>
                <a:spcPct val="50000"/>
              </a:spcBef>
            </a:pPr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=20.00</a:t>
            </a:r>
          </a:p>
        </p:txBody>
      </p:sp>
      <p:sp>
        <p:nvSpPr>
          <p:cNvPr id="17421" name="Rectangle 12"/>
          <p:cNvSpPr>
            <a:spLocks noChangeArrowheads="1"/>
          </p:cNvSpPr>
          <p:nvPr/>
        </p:nvSpPr>
        <p:spPr bwMode="auto">
          <a:xfrm>
            <a:off x="533400" y="2057400"/>
            <a:ext cx="3810000" cy="3657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22" name="Rectangle 13"/>
          <p:cNvSpPr>
            <a:spLocks noChangeArrowheads="1"/>
          </p:cNvSpPr>
          <p:nvPr/>
        </p:nvSpPr>
        <p:spPr bwMode="auto">
          <a:xfrm>
            <a:off x="533400" y="1524000"/>
            <a:ext cx="3810000" cy="5334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X-bar Chart Looks like Process Is in Control</a:t>
            </a:r>
          </a:p>
        </p:txBody>
      </p:sp>
      <p:graphicFrame>
        <p:nvGraphicFramePr>
          <p:cNvPr id="17411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7355869"/>
              </p:ext>
            </p:extLst>
          </p:nvPr>
        </p:nvGraphicFramePr>
        <p:xfrm>
          <a:off x="533400" y="2133600"/>
          <a:ext cx="3276600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5" imgW="3809955" imgH="4114800" progId="MSGraph.Chart.8">
                  <p:embed followColorScheme="full"/>
                </p:oleObj>
              </mc:Choice>
              <mc:Fallback>
                <p:oleObj name="Chart" r:id="rId5" imgW="3809955" imgH="4114800" progId="MSGraph.Chart.8">
                  <p:embed followColorScheme="full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133600"/>
                        <a:ext cx="3276600" cy="350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3" name="Line 15"/>
          <p:cNvSpPr>
            <a:spLocks noChangeShapeType="1"/>
          </p:cNvSpPr>
          <p:nvPr/>
        </p:nvSpPr>
        <p:spPr bwMode="auto">
          <a:xfrm>
            <a:off x="990600" y="3048000"/>
            <a:ext cx="266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24" name="Line 16"/>
          <p:cNvSpPr>
            <a:spLocks noChangeShapeType="1"/>
          </p:cNvSpPr>
          <p:nvPr/>
        </p:nvSpPr>
        <p:spPr bwMode="auto">
          <a:xfrm>
            <a:off x="990600" y="3810000"/>
            <a:ext cx="266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25" name="Text Box 17"/>
          <p:cNvSpPr txBox="1">
            <a:spLocks noChangeArrowheads="1"/>
          </p:cNvSpPr>
          <p:nvPr/>
        </p:nvSpPr>
        <p:spPr bwMode="auto">
          <a:xfrm>
            <a:off x="914400" y="2743200"/>
            <a:ext cx="28194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UCL: upper control limit=60.28</a:t>
            </a:r>
          </a:p>
        </p:txBody>
      </p:sp>
      <p:sp>
        <p:nvSpPr>
          <p:cNvPr id="17426" name="Line 18"/>
          <p:cNvSpPr>
            <a:spLocks noChangeShapeType="1"/>
          </p:cNvSpPr>
          <p:nvPr/>
        </p:nvSpPr>
        <p:spPr bwMode="auto">
          <a:xfrm>
            <a:off x="914400" y="3429000"/>
            <a:ext cx="266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27" name="Text Box 19"/>
          <p:cNvSpPr txBox="1">
            <a:spLocks noChangeArrowheads="1"/>
          </p:cNvSpPr>
          <p:nvPr/>
        </p:nvSpPr>
        <p:spPr bwMode="auto">
          <a:xfrm>
            <a:off x="990600" y="3810000"/>
            <a:ext cx="26670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LCL: lower control limit=37.08</a:t>
            </a:r>
          </a:p>
        </p:txBody>
      </p:sp>
      <p:sp>
        <p:nvSpPr>
          <p:cNvPr id="17428" name="Text Box 20"/>
          <p:cNvSpPr txBox="1">
            <a:spLocks noChangeArrowheads="1"/>
          </p:cNvSpPr>
          <p:nvPr/>
        </p:nvSpPr>
        <p:spPr bwMode="auto">
          <a:xfrm>
            <a:off x="3657600" y="3200400"/>
            <a:ext cx="7620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Mean</a:t>
            </a:r>
          </a:p>
          <a:p>
            <a:pPr>
              <a:spcBef>
                <a:spcPct val="50000"/>
              </a:spcBef>
            </a:pPr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=48.68</a:t>
            </a:r>
          </a:p>
        </p:txBody>
      </p:sp>
      <p:sp>
        <p:nvSpPr>
          <p:cNvPr id="21" name="Rectangle 12"/>
          <p:cNvSpPr>
            <a:spLocks noChangeArrowheads="1"/>
          </p:cNvSpPr>
          <p:nvPr/>
        </p:nvSpPr>
        <p:spPr bwMode="auto">
          <a:xfrm>
            <a:off x="1394441" y="5906069"/>
            <a:ext cx="6132513" cy="4572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anchor="ctr"/>
          <a:lstStyle/>
          <a:p>
            <a:pPr>
              <a:defRPr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Is it bad if a sample range falls below the LCL ?</a:t>
            </a:r>
          </a:p>
        </p:txBody>
      </p:sp>
    </p:spTree>
    <p:extLst>
      <p:ext uri="{BB962C8B-B14F-4D97-AF65-F5344CB8AC3E}">
        <p14:creationId xmlns:p14="http://schemas.microsoft.com/office/powerpoint/2010/main" val="1924067735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386861" y="757403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342900" lvl="1" indent="-342900">
              <a:buClr>
                <a:schemeClr val="bg2"/>
              </a:buClr>
              <a:buFont typeface="Wingdings" pitchFamily="2" charset="2"/>
              <a:buChar char="p"/>
            </a:pPr>
            <a:endParaRPr lang="en-US" sz="20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-342900">
              <a:buClr>
                <a:schemeClr val="bg2"/>
              </a:buClr>
              <a:buFont typeface="Wingdings" pitchFamily="2" charset="2"/>
              <a:buChar char="p"/>
            </a:pPr>
            <a:endParaRPr lang="en-US" sz="20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-342900">
              <a:buClr>
                <a:schemeClr val="bg2"/>
              </a:buClr>
              <a:buFont typeface="Wingdings" pitchFamily="2" charset="2"/>
              <a:buChar char="p"/>
            </a:pPr>
            <a:endParaRPr lang="en-US" sz="20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-342900">
              <a:buClr>
                <a:schemeClr val="bg2"/>
              </a:buClr>
              <a:buFont typeface="Wingdings" pitchFamily="2" charset="2"/>
              <a:buChar char="p"/>
            </a:pPr>
            <a:endParaRPr lang="en-US" sz="20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-342900">
              <a:buClr>
                <a:schemeClr val="bg2"/>
              </a:buClr>
              <a:buFont typeface="Wingdings" pitchFamily="2" charset="2"/>
              <a:buChar char="p"/>
            </a:pPr>
            <a:endParaRPr lang="en-US" sz="20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-342900">
              <a:buClr>
                <a:schemeClr val="bg2"/>
              </a:buClr>
              <a:buFont typeface="Wingdings" pitchFamily="2" charset="2"/>
              <a:buChar char="p"/>
            </a:pPr>
            <a:endParaRPr lang="en-US" sz="20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-342900">
              <a:buClr>
                <a:schemeClr val="bg2"/>
              </a:buClr>
              <a:buFont typeface="Wingdings" pitchFamily="2" charset="2"/>
              <a:buChar char="p"/>
            </a:pPr>
            <a:endParaRPr lang="en-US" sz="20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-342900">
              <a:buClr>
                <a:schemeClr val="bg2"/>
              </a:buClr>
              <a:buFont typeface="Wingdings" pitchFamily="2" charset="2"/>
              <a:buChar char="p"/>
            </a:pPr>
            <a:endParaRPr lang="en-US" sz="20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-342900">
              <a:buClr>
                <a:schemeClr val="bg2"/>
              </a:buClr>
              <a:buFont typeface="Wingdings" pitchFamily="2" charset="2"/>
              <a:buChar char="p"/>
            </a:pPr>
            <a:endParaRPr lang="en-US" sz="20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-342900">
              <a:buClr>
                <a:schemeClr val="bg2"/>
              </a:buClr>
              <a:buFont typeface="Wingdings" pitchFamily="2" charset="2"/>
              <a:buChar char="p"/>
            </a:pPr>
            <a:endParaRPr lang="en-US" sz="20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1" indent="-342900">
              <a:buClr>
                <a:schemeClr val="bg2"/>
              </a:buClr>
              <a:buFont typeface="Wingdings" pitchFamily="2" charset="2"/>
              <a:buChar char="p"/>
            </a:pPr>
            <a:r>
              <a:rPr 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Determine upper and lower limits for mean(X-bar) and range charts.</a:t>
            </a:r>
          </a:p>
          <a:p>
            <a:pPr marL="342900" lvl="1" indent="-342900">
              <a:buClr>
                <a:schemeClr val="bg2"/>
              </a:buClr>
              <a:buFont typeface="Wingdings" pitchFamily="2" charset="2"/>
              <a:buChar char="p"/>
            </a:pPr>
            <a:r>
              <a:rPr 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Is the process in control?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861" y="-382422"/>
            <a:ext cx="8229600" cy="1139825"/>
          </a:xfrm>
        </p:spPr>
        <p:txBody>
          <a:bodyPr/>
          <a:lstStyle/>
          <a:p>
            <a:r>
              <a:rPr lang="en-US" dirty="0"/>
              <a:t>In Class Exercise: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461444" y="629361"/>
            <a:ext cx="8080434" cy="3780337"/>
            <a:chOff x="536027" y="1417637"/>
            <a:chExt cx="8080434" cy="3780337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7753" y="1417637"/>
              <a:ext cx="7938708" cy="3780337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536027" y="2223110"/>
              <a:ext cx="171072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measurements</a:t>
              </a:r>
            </a:p>
          </p:txBody>
        </p: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2169" y="5268148"/>
            <a:ext cx="4274594" cy="115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2793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1B875-FE2A-4CB8-9481-073C80480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ADC859-965C-4CDA-82A3-D74AE777EE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acc>
                      <m:accPr>
                        <m:chr m:val="̿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3.06+3.15+…+3.09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=3.10 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0.42+0.5+…+0.45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=0.45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u="sng" dirty="0"/>
                  <a:t>X-Bar Chart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𝐿𝐶𝐿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𝑈𝐶𝐿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acc>
                      <m:accPr>
                        <m:chr m:val="̿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∓0.18∗0.45=(3.019, 3.181)</m:t>
                    </m:r>
                  </m:oMath>
                </a14:m>
                <a:endParaRPr lang="en-US" dirty="0"/>
              </a:p>
              <a:p>
                <a:r>
                  <a:rPr lang="en-US" u="sng" dirty="0"/>
                  <a:t>R-Chart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𝐿𝐶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𝑈𝐶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0.41,1.59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=(0.184,0.715)</m:t>
                    </m:r>
                  </m:oMath>
                </a14:m>
                <a:endParaRPr lang="en-US" dirty="0"/>
              </a:p>
              <a:p>
                <a:r>
                  <a:rPr lang="en-US" dirty="0">
                    <a:highlight>
                      <a:srgbClr val="FFFF00"/>
                    </a:highlight>
                  </a:rPr>
                  <a:t>Yes, the process is under control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ADC859-965C-4CDA-82A3-D74AE777EE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 t="-280" b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1765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7CE4C-3D67-4583-9FB1-4DEA3E67A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capability</a:t>
            </a:r>
          </a:p>
        </p:txBody>
      </p:sp>
    </p:spTree>
    <p:extLst>
      <p:ext uri="{BB962C8B-B14F-4D97-AF65-F5344CB8AC3E}">
        <p14:creationId xmlns:p14="http://schemas.microsoft.com/office/powerpoint/2010/main" val="4945889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839200" cy="720725"/>
          </a:xfrm>
        </p:spPr>
        <p:txBody>
          <a:bodyPr/>
          <a:lstStyle/>
          <a:p>
            <a:pPr eaLnBrk="1" hangingPunct="1"/>
            <a:r>
              <a:rPr lang="en-US" sz="3600" dirty="0">
                <a:cs typeface="Arial" charset="0"/>
              </a:rPr>
              <a:t>A Common Measure of Process Capability</a:t>
            </a:r>
          </a:p>
        </p:txBody>
      </p:sp>
      <p:sp>
        <p:nvSpPr>
          <p:cNvPr id="8199" name="Rectangle 3"/>
          <p:cNvSpPr>
            <a:spLocks noChangeArrowheads="1"/>
          </p:cNvSpPr>
          <p:nvPr/>
        </p:nvSpPr>
        <p:spPr bwMode="auto">
          <a:xfrm>
            <a:off x="515962" y="2359167"/>
            <a:ext cx="3581400" cy="411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00" name="Rectangle 4"/>
          <p:cNvSpPr>
            <a:spLocks noChangeArrowheads="1"/>
          </p:cNvSpPr>
          <p:nvPr/>
        </p:nvSpPr>
        <p:spPr bwMode="auto">
          <a:xfrm>
            <a:off x="515962" y="1825767"/>
            <a:ext cx="3581400" cy="5334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Equation</a:t>
            </a:r>
          </a:p>
        </p:txBody>
      </p:sp>
      <p:graphicFrame>
        <p:nvGraphicFramePr>
          <p:cNvPr id="819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5971017"/>
              </p:ext>
            </p:extLst>
          </p:nvPr>
        </p:nvGraphicFramePr>
        <p:xfrm>
          <a:off x="1201762" y="3512215"/>
          <a:ext cx="2135188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54080" imgH="393480" progId="Equation.3">
                  <p:embed/>
                </p:oleObj>
              </mc:Choice>
              <mc:Fallback>
                <p:oleObj name="Equation" r:id="rId3" imgW="10540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1762" y="3512215"/>
                        <a:ext cx="2135188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1" name="Text Box 6"/>
          <p:cNvSpPr txBox="1">
            <a:spLocks noChangeArrowheads="1"/>
          </p:cNvSpPr>
          <p:nvPr/>
        </p:nvSpPr>
        <p:spPr bwMode="auto">
          <a:xfrm>
            <a:off x="2878162" y="4340367"/>
            <a:ext cx="1066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standard deviation</a:t>
            </a:r>
          </a:p>
        </p:txBody>
      </p:sp>
      <p:sp>
        <p:nvSpPr>
          <p:cNvPr id="8202" name="Text Box 7"/>
          <p:cNvSpPr txBox="1">
            <a:spLocks noChangeArrowheads="1"/>
          </p:cNvSpPr>
          <p:nvPr/>
        </p:nvSpPr>
        <p:spPr bwMode="auto">
          <a:xfrm>
            <a:off x="668362" y="2435367"/>
            <a:ext cx="14478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upper specification limit</a:t>
            </a:r>
          </a:p>
        </p:txBody>
      </p:sp>
      <p:sp>
        <p:nvSpPr>
          <p:cNvPr id="8203" name="Text Box 8"/>
          <p:cNvSpPr txBox="1">
            <a:spLocks noChangeArrowheads="1"/>
          </p:cNvSpPr>
          <p:nvPr/>
        </p:nvSpPr>
        <p:spPr bwMode="auto">
          <a:xfrm>
            <a:off x="2725762" y="2359167"/>
            <a:ext cx="13716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lower specification limit</a:t>
            </a:r>
          </a:p>
        </p:txBody>
      </p:sp>
      <p:sp>
        <p:nvSpPr>
          <p:cNvPr id="8204" name="Line 9"/>
          <p:cNvSpPr>
            <a:spLocks noChangeShapeType="1"/>
          </p:cNvSpPr>
          <p:nvPr/>
        </p:nvSpPr>
        <p:spPr bwMode="auto">
          <a:xfrm>
            <a:off x="1658962" y="2968767"/>
            <a:ext cx="381000" cy="457200"/>
          </a:xfrm>
          <a:prstGeom prst="line">
            <a:avLst/>
          </a:prstGeom>
          <a:noFill/>
          <a:ln w="9525">
            <a:solidFill>
              <a:srgbClr val="9933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05" name="Line 10"/>
          <p:cNvSpPr>
            <a:spLocks noChangeShapeType="1"/>
          </p:cNvSpPr>
          <p:nvPr/>
        </p:nvSpPr>
        <p:spPr bwMode="auto">
          <a:xfrm flipH="1">
            <a:off x="3030562" y="3044967"/>
            <a:ext cx="304800" cy="457200"/>
          </a:xfrm>
          <a:prstGeom prst="line">
            <a:avLst/>
          </a:prstGeom>
          <a:noFill/>
          <a:ln w="9525">
            <a:solidFill>
              <a:srgbClr val="9933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06" name="Line 11"/>
          <p:cNvSpPr>
            <a:spLocks noChangeShapeType="1"/>
          </p:cNvSpPr>
          <p:nvPr/>
        </p:nvSpPr>
        <p:spPr bwMode="auto">
          <a:xfrm flipH="1" flipV="1">
            <a:off x="2725762" y="4340367"/>
            <a:ext cx="304800" cy="304800"/>
          </a:xfrm>
          <a:prstGeom prst="line">
            <a:avLst/>
          </a:prstGeom>
          <a:noFill/>
          <a:ln w="9525">
            <a:solidFill>
              <a:srgbClr val="9933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07" name="Text Box 12"/>
          <p:cNvSpPr txBox="1">
            <a:spLocks noChangeArrowheads="1"/>
          </p:cNvSpPr>
          <p:nvPr/>
        </p:nvSpPr>
        <p:spPr bwMode="auto">
          <a:xfrm>
            <a:off x="668362" y="5378592"/>
            <a:ext cx="33528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Cp &gt; 1 : Process capable</a:t>
            </a:r>
          </a:p>
          <a:p>
            <a:pPr algn="l">
              <a:spcBef>
                <a:spcPct val="50000"/>
              </a:spcBef>
            </a:pP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Cp &lt; 1 : Process not capable</a:t>
            </a:r>
          </a:p>
          <a:p>
            <a:pPr algn="l">
              <a:spcBef>
                <a:spcPct val="50000"/>
              </a:spcBef>
            </a:pP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Cp = 1 : Process borderline capable</a:t>
            </a:r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4732362" y="1825767"/>
            <a:ext cx="3657600" cy="4664075"/>
            <a:chOff x="3024" y="832"/>
            <a:chExt cx="2304" cy="2938"/>
          </a:xfrm>
        </p:grpSpPr>
        <p:graphicFrame>
          <p:nvGraphicFramePr>
            <p:cNvPr id="8195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94738836"/>
                </p:ext>
              </p:extLst>
            </p:nvPr>
          </p:nvGraphicFramePr>
          <p:xfrm>
            <a:off x="3168" y="1264"/>
            <a:ext cx="2064" cy="2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5" imgW="3809955" imgH="4114800" progId="MSGraph.Chart.8">
                    <p:embed followColorScheme="full"/>
                  </p:oleObj>
                </mc:Choice>
                <mc:Fallback>
                  <p:oleObj name="Chart" r:id="rId5" imgW="3809955" imgH="4114800" progId="MSGraph.Chart.8">
                    <p:embed followColorScheme="full"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1264"/>
                          <a:ext cx="2064" cy="2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0" name="Rectangle 15"/>
            <p:cNvSpPr>
              <a:spLocks noChangeArrowheads="1"/>
            </p:cNvSpPr>
            <p:nvPr/>
          </p:nvSpPr>
          <p:spPr bwMode="auto">
            <a:xfrm>
              <a:off x="3072" y="1168"/>
              <a:ext cx="2256" cy="25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11" name="Rectangle 16"/>
            <p:cNvSpPr>
              <a:spLocks noChangeArrowheads="1"/>
            </p:cNvSpPr>
            <p:nvPr/>
          </p:nvSpPr>
          <p:spPr bwMode="auto">
            <a:xfrm>
              <a:off x="3072" y="832"/>
              <a:ext cx="2256" cy="336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r>
                <a:rPr lang="en-US" sz="1600" b="1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sz="1600" b="1" baseline="-2500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sz="1600" b="1">
                  <a:latin typeface="Arial" panose="020B0604020202020204" pitchFamily="34" charset="0"/>
                  <a:cs typeface="Arial" panose="020B0604020202020204" pitchFamily="34" charset="0"/>
                </a:rPr>
                <a:t>=1 i.e. USL-LSL=6</a:t>
              </a:r>
              <a:r>
                <a:rPr lang="el-GR" sz="1600" b="1">
                  <a:latin typeface="Arial" panose="020B0604020202020204" pitchFamily="34" charset="0"/>
                  <a:cs typeface="Arial" panose="020B0604020202020204" pitchFamily="34" charset="0"/>
                </a:rPr>
                <a:t>σ</a:t>
              </a:r>
            </a:p>
          </p:txBody>
        </p:sp>
        <p:sp>
          <p:nvSpPr>
            <p:cNvPr id="8212" name="Line 17"/>
            <p:cNvSpPr>
              <a:spLocks noChangeShapeType="1"/>
            </p:cNvSpPr>
            <p:nvPr/>
          </p:nvSpPr>
          <p:spPr bwMode="auto">
            <a:xfrm flipV="1">
              <a:off x="4416" y="1408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13" name="Text Box 18"/>
            <p:cNvSpPr txBox="1">
              <a:spLocks noChangeArrowheads="1"/>
            </p:cNvSpPr>
            <p:nvPr/>
          </p:nvSpPr>
          <p:spPr bwMode="auto">
            <a:xfrm>
              <a:off x="3648" y="3376"/>
              <a:ext cx="139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000" b="1">
                  <a:latin typeface="Arial" panose="020B0604020202020204" pitchFamily="34" charset="0"/>
                  <a:cs typeface="Arial" panose="020B0604020202020204" pitchFamily="34" charset="0"/>
                </a:rPr>
                <a:t>Disk Thickness</a:t>
              </a:r>
            </a:p>
          </p:txBody>
        </p:sp>
        <p:sp>
          <p:nvSpPr>
            <p:cNvPr id="8214" name="Text Box 19"/>
            <p:cNvSpPr txBox="1">
              <a:spLocks noChangeArrowheads="1"/>
            </p:cNvSpPr>
            <p:nvPr/>
          </p:nvSpPr>
          <p:spPr bwMode="auto">
            <a:xfrm>
              <a:off x="3024" y="1216"/>
              <a:ext cx="91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000" b="1">
                  <a:latin typeface="Arial" panose="020B0604020202020204" pitchFamily="34" charset="0"/>
                  <a:cs typeface="Arial" panose="020B0604020202020204" pitchFamily="34" charset="0"/>
                </a:rPr>
                <a:t>Prob. Density</a:t>
              </a:r>
            </a:p>
          </p:txBody>
        </p:sp>
        <p:sp>
          <p:nvSpPr>
            <p:cNvPr id="8215" name="Line 22"/>
            <p:cNvSpPr>
              <a:spLocks noChangeShapeType="1"/>
            </p:cNvSpPr>
            <p:nvPr/>
          </p:nvSpPr>
          <p:spPr bwMode="auto">
            <a:xfrm>
              <a:off x="4416" y="246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aphicFrame>
          <p:nvGraphicFramePr>
            <p:cNvPr id="8196" name="Object 23"/>
            <p:cNvGraphicFramePr>
              <a:graphicFrameLocks noChangeAspect="1"/>
            </p:cNvGraphicFramePr>
            <p:nvPr/>
          </p:nvGraphicFramePr>
          <p:xfrm>
            <a:off x="4512" y="2224"/>
            <a:ext cx="291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28600" imgH="177480" progId="Equation.3">
                    <p:embed/>
                  </p:oleObj>
                </mc:Choice>
                <mc:Fallback>
                  <p:oleObj name="Equation" r:id="rId7" imgW="22860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2224"/>
                          <a:ext cx="291" cy="2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6" name="Line 24"/>
            <p:cNvSpPr>
              <a:spLocks noChangeShapeType="1"/>
            </p:cNvSpPr>
            <p:nvPr/>
          </p:nvSpPr>
          <p:spPr bwMode="auto">
            <a:xfrm>
              <a:off x="4032" y="246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aphicFrame>
          <p:nvGraphicFramePr>
            <p:cNvPr id="8197" name="Object 25"/>
            <p:cNvGraphicFramePr>
              <a:graphicFrameLocks noChangeAspect="1"/>
            </p:cNvGraphicFramePr>
            <p:nvPr/>
          </p:nvGraphicFramePr>
          <p:xfrm>
            <a:off x="4080" y="2224"/>
            <a:ext cx="291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28600" imgH="177480" progId="Equation.3">
                    <p:embed/>
                  </p:oleObj>
                </mc:Choice>
                <mc:Fallback>
                  <p:oleObj name="Equation" r:id="rId9" imgW="22860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2224"/>
                          <a:ext cx="291" cy="2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7" name="Text Box 26"/>
            <p:cNvSpPr txBox="1">
              <a:spLocks noChangeArrowheads="1"/>
            </p:cNvSpPr>
            <p:nvPr/>
          </p:nvSpPr>
          <p:spPr bwMode="auto">
            <a:xfrm>
              <a:off x="4656" y="3424"/>
              <a:ext cx="672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000" b="1">
                  <a:solidFill>
                    <a:srgbClr val="9933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Probability  above USL=0.135%</a:t>
              </a:r>
            </a:p>
          </p:txBody>
        </p:sp>
        <p:sp>
          <p:nvSpPr>
            <p:cNvPr id="8218" name="Line 27"/>
            <p:cNvSpPr>
              <a:spLocks noChangeShapeType="1"/>
            </p:cNvSpPr>
            <p:nvPr/>
          </p:nvSpPr>
          <p:spPr bwMode="auto">
            <a:xfrm flipH="1" flipV="1">
              <a:off x="4848" y="3136"/>
              <a:ext cx="336" cy="336"/>
            </a:xfrm>
            <a:prstGeom prst="line">
              <a:avLst/>
            </a:prstGeom>
            <a:noFill/>
            <a:ln w="9525">
              <a:solidFill>
                <a:srgbClr val="993366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19" name="Line 28"/>
            <p:cNvSpPr>
              <a:spLocks noChangeShapeType="1"/>
            </p:cNvSpPr>
            <p:nvPr/>
          </p:nvSpPr>
          <p:spPr bwMode="auto">
            <a:xfrm flipV="1">
              <a:off x="3648" y="3136"/>
              <a:ext cx="336" cy="336"/>
            </a:xfrm>
            <a:prstGeom prst="line">
              <a:avLst/>
            </a:prstGeom>
            <a:noFill/>
            <a:ln w="9525">
              <a:solidFill>
                <a:srgbClr val="993366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20" name="Text Box 29"/>
            <p:cNvSpPr txBox="1">
              <a:spLocks noChangeArrowheads="1"/>
            </p:cNvSpPr>
            <p:nvPr/>
          </p:nvSpPr>
          <p:spPr bwMode="auto">
            <a:xfrm>
              <a:off x="3072" y="3424"/>
              <a:ext cx="624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000" b="1">
                  <a:solidFill>
                    <a:srgbClr val="9933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Probability  below LSL=0.135%</a:t>
              </a:r>
            </a:p>
          </p:txBody>
        </p:sp>
        <p:sp>
          <p:nvSpPr>
            <p:cNvPr id="8221" name="Line 30"/>
            <p:cNvSpPr>
              <a:spLocks noChangeShapeType="1"/>
            </p:cNvSpPr>
            <p:nvPr/>
          </p:nvSpPr>
          <p:spPr bwMode="auto">
            <a:xfrm flipV="1">
              <a:off x="4032" y="1432"/>
              <a:ext cx="0" cy="1728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22" name="Line 31"/>
            <p:cNvSpPr>
              <a:spLocks noChangeShapeType="1"/>
            </p:cNvSpPr>
            <p:nvPr/>
          </p:nvSpPr>
          <p:spPr bwMode="auto">
            <a:xfrm flipV="1">
              <a:off x="4800" y="1432"/>
              <a:ext cx="0" cy="1728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23" name="Text Box 32"/>
            <p:cNvSpPr txBox="1">
              <a:spLocks noChangeArrowheads="1"/>
            </p:cNvSpPr>
            <p:nvPr/>
          </p:nvSpPr>
          <p:spPr bwMode="auto">
            <a:xfrm>
              <a:off x="4575" y="1252"/>
              <a:ext cx="4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b="1">
                  <a:solidFill>
                    <a:srgbClr val="9933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USL</a:t>
              </a:r>
            </a:p>
          </p:txBody>
        </p:sp>
        <p:sp>
          <p:nvSpPr>
            <p:cNvPr id="8224" name="Text Box 33"/>
            <p:cNvSpPr txBox="1">
              <a:spLocks noChangeArrowheads="1"/>
            </p:cNvSpPr>
            <p:nvPr/>
          </p:nvSpPr>
          <p:spPr bwMode="auto">
            <a:xfrm>
              <a:off x="3786" y="1251"/>
              <a:ext cx="4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b="1">
                  <a:solidFill>
                    <a:srgbClr val="9933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LSL</a:t>
              </a:r>
            </a:p>
          </p:txBody>
        </p:sp>
      </p:grpSp>
      <p:sp>
        <p:nvSpPr>
          <p:cNvPr id="613410" name="Text Box 34"/>
          <p:cNvSpPr txBox="1">
            <a:spLocks noChangeArrowheads="1"/>
          </p:cNvSpPr>
          <p:nvPr/>
        </p:nvSpPr>
        <p:spPr bwMode="auto">
          <a:xfrm>
            <a:off x="4864125" y="6469205"/>
            <a:ext cx="35083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Probability of Defect = 0.27%</a:t>
            </a:r>
          </a:p>
        </p:txBody>
      </p:sp>
    </p:spTree>
    <p:extLst>
      <p:ext uri="{BB962C8B-B14F-4D97-AF65-F5344CB8AC3E}">
        <p14:creationId xmlns:p14="http://schemas.microsoft.com/office/powerpoint/2010/main" val="30014913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34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72152" y="964442"/>
            <a:ext cx="8197850" cy="374650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Are the Following Processes Capable?</a:t>
            </a:r>
          </a:p>
        </p:txBody>
      </p:sp>
      <p:graphicFrame>
        <p:nvGraphicFramePr>
          <p:cNvPr id="614403" name="Group 3"/>
          <p:cNvGraphicFramePr>
            <a:graphicFrameLocks noGrp="1"/>
          </p:cNvGraphicFramePr>
          <p:nvPr>
            <p:ph type="tbl" idx="1"/>
          </p:nvPr>
        </p:nvGraphicFramePr>
        <p:xfrm>
          <a:off x="685800" y="1981200"/>
          <a:ext cx="7772400" cy="4114800"/>
        </p:xfrm>
        <a:graphic>
          <a:graphicData uri="http://schemas.openxmlformats.org/drawingml/2006/table">
            <a:tbl>
              <a:tblPr/>
              <a:tblGrid>
                <a:gridCol w="1554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Process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Sigma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USL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LSL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r>
                        <a:rPr kumimoji="0" 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100.03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99.97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100.03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99.97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7376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991738"/>
            <a:ext cx="8197850" cy="361950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Are the Following Processes Capable?</a:t>
            </a:r>
          </a:p>
        </p:txBody>
      </p:sp>
      <p:graphicFrame>
        <p:nvGraphicFramePr>
          <p:cNvPr id="646147" name="Group 3"/>
          <p:cNvGraphicFramePr>
            <a:graphicFrameLocks noGrp="1"/>
          </p:cNvGraphicFramePr>
          <p:nvPr>
            <p:ph type="tbl" idx="1"/>
          </p:nvPr>
        </p:nvGraphicFramePr>
        <p:xfrm>
          <a:off x="685800" y="1981200"/>
          <a:ext cx="7772400" cy="4114800"/>
        </p:xfrm>
        <a:graphic>
          <a:graphicData uri="http://schemas.openxmlformats.org/drawingml/2006/table">
            <a:tbl>
              <a:tblPr/>
              <a:tblGrid>
                <a:gridCol w="1554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Process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Sigma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USL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LSL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r>
                        <a:rPr kumimoji="0" 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100.03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99.97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100.03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99.97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16.67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0.0005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33.33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0.83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7398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4" name="Rectangle 3"/>
          <p:cNvSpPr>
            <a:spLocks noGrp="1" noChangeArrowheads="1"/>
          </p:cNvSpPr>
          <p:nvPr>
            <p:ph type="title"/>
          </p:nvPr>
        </p:nvSpPr>
        <p:spPr>
          <a:xfrm>
            <a:off x="709613" y="160338"/>
            <a:ext cx="7772400" cy="800100"/>
          </a:xfrm>
        </p:spPr>
        <p:txBody>
          <a:bodyPr/>
          <a:lstStyle/>
          <a:p>
            <a:pPr eaLnBrk="1" hangingPunct="1"/>
            <a:r>
              <a:rPr lang="en-US" sz="3600" dirty="0">
                <a:cs typeface="Arial" charset="0"/>
              </a:rPr>
              <a:t>You Need to Be Careful With </a:t>
            </a:r>
            <a:r>
              <a:rPr lang="en-US" sz="3600" dirty="0" err="1">
                <a:cs typeface="Arial" charset="0"/>
              </a:rPr>
              <a:t>C</a:t>
            </a:r>
            <a:r>
              <a:rPr lang="en-US" sz="3600" baseline="-25000" dirty="0" err="1">
                <a:cs typeface="Arial" charset="0"/>
              </a:rPr>
              <a:t>p</a:t>
            </a:r>
            <a:endParaRPr lang="en-US" sz="3600" dirty="0">
              <a:cs typeface="Arial" charset="0"/>
            </a:endParaRPr>
          </a:p>
        </p:txBody>
      </p:sp>
      <p:graphicFrame>
        <p:nvGraphicFramePr>
          <p:cNvPr id="9218" name="Object 4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61887868"/>
              </p:ext>
            </p:extLst>
          </p:nvPr>
        </p:nvGraphicFramePr>
        <p:xfrm>
          <a:off x="2350140" y="4759514"/>
          <a:ext cx="31750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8600" imgH="177480" progId="Equation.3">
                  <p:embed/>
                </p:oleObj>
              </mc:Choice>
              <mc:Fallback>
                <p:oleObj name="Equation" r:id="rId3" imgW="22860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0140" y="4759514"/>
                        <a:ext cx="317500" cy="247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3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92312579"/>
              </p:ext>
            </p:extLst>
          </p:nvPr>
        </p:nvGraphicFramePr>
        <p:xfrm>
          <a:off x="2918465" y="4745227"/>
          <a:ext cx="31750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8600" imgH="177480" progId="Equation.3">
                  <p:embed/>
                </p:oleObj>
              </mc:Choice>
              <mc:Fallback>
                <p:oleObj name="Equation" r:id="rId3" imgW="22860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8465" y="4745227"/>
                        <a:ext cx="317500" cy="247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4178046"/>
              </p:ext>
            </p:extLst>
          </p:nvPr>
        </p:nvGraphicFramePr>
        <p:xfrm>
          <a:off x="843602" y="2425889"/>
          <a:ext cx="3276600" cy="350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5" imgW="3809945" imgH="4114867" progId="MSGraph.Chart.8">
                  <p:embed followColorScheme="full"/>
                </p:oleObj>
              </mc:Choice>
              <mc:Fallback>
                <p:oleObj name="Chart" r:id="rId5" imgW="3809945" imgH="4114867" progId="MSGraph.Chart.8">
                  <p:embed followColorScheme="full"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3602" y="2425889"/>
                        <a:ext cx="3276600" cy="350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5" name="Rectangle 5"/>
          <p:cNvSpPr>
            <a:spLocks noChangeArrowheads="1"/>
          </p:cNvSpPr>
          <p:nvPr/>
        </p:nvSpPr>
        <p:spPr bwMode="auto">
          <a:xfrm>
            <a:off x="672152" y="2273489"/>
            <a:ext cx="3581400" cy="411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9226" name="Rectangle 6"/>
          <p:cNvSpPr>
            <a:spLocks noChangeArrowheads="1"/>
          </p:cNvSpPr>
          <p:nvPr/>
        </p:nvSpPr>
        <p:spPr bwMode="auto">
          <a:xfrm>
            <a:off x="672152" y="1740089"/>
            <a:ext cx="3581400" cy="5334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sz="1600" b="1">
                <a:latin typeface="+mj-lt"/>
              </a:rPr>
              <a:t>C</a:t>
            </a:r>
            <a:r>
              <a:rPr lang="en-US" sz="1600" b="1" baseline="-25000">
                <a:latin typeface="+mj-lt"/>
              </a:rPr>
              <a:t>p</a:t>
            </a:r>
            <a:r>
              <a:rPr lang="en-US" sz="1600" b="1">
                <a:latin typeface="+mj-lt"/>
              </a:rPr>
              <a:t>=1 and Process Centered</a:t>
            </a:r>
          </a:p>
        </p:txBody>
      </p:sp>
      <p:sp>
        <p:nvSpPr>
          <p:cNvPr id="9227" name="Line 7"/>
          <p:cNvSpPr>
            <a:spLocks noChangeShapeType="1"/>
          </p:cNvSpPr>
          <p:nvPr/>
        </p:nvSpPr>
        <p:spPr bwMode="auto">
          <a:xfrm flipV="1">
            <a:off x="2767652" y="2578289"/>
            <a:ext cx="0" cy="28194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9228" name="Text Box 8"/>
          <p:cNvSpPr txBox="1">
            <a:spLocks noChangeArrowheads="1"/>
          </p:cNvSpPr>
          <p:nvPr/>
        </p:nvSpPr>
        <p:spPr bwMode="auto">
          <a:xfrm>
            <a:off x="1586552" y="5778689"/>
            <a:ext cx="2209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b="1">
                <a:latin typeface="+mj-lt"/>
              </a:rPr>
              <a:t>Output</a:t>
            </a:r>
          </a:p>
        </p:txBody>
      </p:sp>
      <p:sp>
        <p:nvSpPr>
          <p:cNvPr id="9229" name="Text Box 9"/>
          <p:cNvSpPr txBox="1">
            <a:spLocks noChangeArrowheads="1"/>
          </p:cNvSpPr>
          <p:nvPr/>
        </p:nvSpPr>
        <p:spPr bwMode="auto">
          <a:xfrm>
            <a:off x="595952" y="2349689"/>
            <a:ext cx="1447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b="1">
                <a:latin typeface="+mj-lt"/>
              </a:rPr>
              <a:t>Prob. Density</a:t>
            </a:r>
          </a:p>
        </p:txBody>
      </p:sp>
      <p:sp>
        <p:nvSpPr>
          <p:cNvPr id="9230" name="Text Box 10"/>
          <p:cNvSpPr txBox="1">
            <a:spLocks noChangeArrowheads="1"/>
          </p:cNvSpPr>
          <p:nvPr/>
        </p:nvSpPr>
        <p:spPr bwMode="auto">
          <a:xfrm>
            <a:off x="2661290" y="5993002"/>
            <a:ext cx="16668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b="1">
                <a:solidFill>
                  <a:srgbClr val="993366"/>
                </a:solidFill>
                <a:latin typeface="+mj-lt"/>
              </a:rPr>
              <a:t>Probability  above USL =1-normsdist(3)=0.135%</a:t>
            </a:r>
          </a:p>
        </p:txBody>
      </p:sp>
      <p:sp>
        <p:nvSpPr>
          <p:cNvPr id="9231" name="Line 11"/>
          <p:cNvSpPr>
            <a:spLocks noChangeShapeType="1"/>
          </p:cNvSpPr>
          <p:nvPr/>
        </p:nvSpPr>
        <p:spPr bwMode="auto">
          <a:xfrm flipH="1" flipV="1">
            <a:off x="3501077" y="5359589"/>
            <a:ext cx="295275" cy="571500"/>
          </a:xfrm>
          <a:prstGeom prst="line">
            <a:avLst/>
          </a:prstGeom>
          <a:noFill/>
          <a:ln w="9525">
            <a:solidFill>
              <a:srgbClr val="9933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9232" name="Line 12"/>
          <p:cNvSpPr>
            <a:spLocks noChangeShapeType="1"/>
          </p:cNvSpPr>
          <p:nvPr/>
        </p:nvSpPr>
        <p:spPr bwMode="auto">
          <a:xfrm flipV="1">
            <a:off x="1586552" y="5372289"/>
            <a:ext cx="471488" cy="558800"/>
          </a:xfrm>
          <a:prstGeom prst="line">
            <a:avLst/>
          </a:prstGeom>
          <a:noFill/>
          <a:ln w="9525">
            <a:solidFill>
              <a:srgbClr val="9933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9233" name="Text Box 13"/>
          <p:cNvSpPr txBox="1">
            <a:spLocks noChangeArrowheads="1"/>
          </p:cNvSpPr>
          <p:nvPr/>
        </p:nvSpPr>
        <p:spPr bwMode="auto">
          <a:xfrm>
            <a:off x="646752" y="5994589"/>
            <a:ext cx="16176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b="1">
                <a:solidFill>
                  <a:srgbClr val="993366"/>
                </a:solidFill>
                <a:latin typeface="+mj-lt"/>
              </a:rPr>
              <a:t>Probability  below LSL =normsdist(-3)=0.135%</a:t>
            </a:r>
          </a:p>
        </p:txBody>
      </p:sp>
      <p:sp>
        <p:nvSpPr>
          <p:cNvPr id="9234" name="Line 14"/>
          <p:cNvSpPr>
            <a:spLocks noChangeShapeType="1"/>
          </p:cNvSpPr>
          <p:nvPr/>
        </p:nvSpPr>
        <p:spPr bwMode="auto">
          <a:xfrm flipV="1">
            <a:off x="2116777" y="2651314"/>
            <a:ext cx="0" cy="267970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9235" name="Line 15"/>
          <p:cNvSpPr>
            <a:spLocks noChangeShapeType="1"/>
          </p:cNvSpPr>
          <p:nvPr/>
        </p:nvSpPr>
        <p:spPr bwMode="auto">
          <a:xfrm flipV="1">
            <a:off x="3451865" y="2648139"/>
            <a:ext cx="0" cy="270510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9236" name="Line 16"/>
          <p:cNvSpPr>
            <a:spLocks noChangeShapeType="1"/>
          </p:cNvSpPr>
          <p:nvPr/>
        </p:nvSpPr>
        <p:spPr bwMode="auto">
          <a:xfrm flipV="1">
            <a:off x="2799402" y="4673789"/>
            <a:ext cx="611188" cy="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9237" name="Line 33"/>
          <p:cNvSpPr>
            <a:spLocks noChangeShapeType="1"/>
          </p:cNvSpPr>
          <p:nvPr/>
        </p:nvSpPr>
        <p:spPr bwMode="auto">
          <a:xfrm flipV="1">
            <a:off x="2148527" y="4675377"/>
            <a:ext cx="611188" cy="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9238" name="Text Box 39"/>
          <p:cNvSpPr txBox="1">
            <a:spLocks noChangeArrowheads="1"/>
          </p:cNvSpPr>
          <p:nvPr/>
        </p:nvSpPr>
        <p:spPr bwMode="auto">
          <a:xfrm>
            <a:off x="3085152" y="2375089"/>
            <a:ext cx="7620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>
                <a:solidFill>
                  <a:srgbClr val="993366"/>
                </a:solidFill>
                <a:latin typeface="+mj-lt"/>
              </a:rPr>
              <a:t>USL</a:t>
            </a:r>
          </a:p>
        </p:txBody>
      </p:sp>
      <p:sp>
        <p:nvSpPr>
          <p:cNvPr id="9239" name="Text Box 40"/>
          <p:cNvSpPr txBox="1">
            <a:spLocks noChangeArrowheads="1"/>
          </p:cNvSpPr>
          <p:nvPr/>
        </p:nvSpPr>
        <p:spPr bwMode="auto">
          <a:xfrm>
            <a:off x="1708790" y="2375089"/>
            <a:ext cx="7620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 dirty="0">
                <a:solidFill>
                  <a:srgbClr val="993366"/>
                </a:solidFill>
                <a:latin typeface="+mj-lt"/>
              </a:rPr>
              <a:t>LSL</a:t>
            </a:r>
          </a:p>
        </p:txBody>
      </p:sp>
      <p:sp>
        <p:nvSpPr>
          <p:cNvPr id="9240" name="Text Box 41"/>
          <p:cNvSpPr txBox="1">
            <a:spLocks noChangeArrowheads="1"/>
          </p:cNvSpPr>
          <p:nvPr/>
        </p:nvSpPr>
        <p:spPr bwMode="auto">
          <a:xfrm>
            <a:off x="761052" y="6370827"/>
            <a:ext cx="35083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>
                <a:latin typeface="+mj-lt"/>
              </a:rPr>
              <a:t>Probability of Defect = 0.27%</a:t>
            </a:r>
          </a:p>
        </p:txBody>
      </p:sp>
      <p:grpSp>
        <p:nvGrpSpPr>
          <p:cNvPr id="2" name="Group 43"/>
          <p:cNvGrpSpPr>
            <a:grpSpLocks/>
          </p:cNvGrpSpPr>
          <p:nvPr/>
        </p:nvGrpSpPr>
        <p:grpSpPr bwMode="auto">
          <a:xfrm>
            <a:off x="4493265" y="1754377"/>
            <a:ext cx="3744912" cy="4905375"/>
            <a:chOff x="2839" y="873"/>
            <a:chExt cx="2359" cy="3090"/>
          </a:xfrm>
        </p:grpSpPr>
        <p:graphicFrame>
          <p:nvGraphicFramePr>
            <p:cNvPr id="9221" name="Object 17"/>
            <p:cNvGraphicFramePr>
              <a:graphicFrameLocks noChangeAspect="1"/>
            </p:cNvGraphicFramePr>
            <p:nvPr/>
          </p:nvGraphicFramePr>
          <p:xfrm>
            <a:off x="2995" y="1305"/>
            <a:ext cx="2064" cy="2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7" imgW="3809945" imgH="4114867" progId="MSGraph.Chart.8">
                    <p:embed followColorScheme="full"/>
                  </p:oleObj>
                </mc:Choice>
                <mc:Fallback>
                  <p:oleObj name="Chart" r:id="rId7" imgW="3809945" imgH="4114867" progId="MSGraph.Chart.8">
                    <p:embed followColorScheme="full"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5" y="1305"/>
                          <a:ext cx="2064" cy="2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42" name="Rectangle 18"/>
            <p:cNvSpPr>
              <a:spLocks noChangeArrowheads="1"/>
            </p:cNvSpPr>
            <p:nvPr/>
          </p:nvSpPr>
          <p:spPr bwMode="auto">
            <a:xfrm>
              <a:off x="2887" y="1209"/>
              <a:ext cx="2256" cy="25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243" name="Rectangle 19"/>
            <p:cNvSpPr>
              <a:spLocks noChangeArrowheads="1"/>
            </p:cNvSpPr>
            <p:nvPr/>
          </p:nvSpPr>
          <p:spPr bwMode="auto">
            <a:xfrm>
              <a:off x="2887" y="873"/>
              <a:ext cx="2256" cy="336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r>
                <a:rPr lang="en-US" sz="1600" b="1">
                  <a:latin typeface="+mj-lt"/>
                </a:rPr>
                <a:t>C</a:t>
              </a:r>
              <a:r>
                <a:rPr lang="en-US" sz="1600" b="1" baseline="-25000">
                  <a:latin typeface="+mj-lt"/>
                </a:rPr>
                <a:t>p</a:t>
              </a:r>
              <a:r>
                <a:rPr lang="en-US" sz="1600" b="1">
                  <a:latin typeface="+mj-lt"/>
                </a:rPr>
                <a:t>=1 but Process Mean increased by 1.5</a:t>
              </a:r>
              <a:r>
                <a:rPr lang="el-GR" sz="1600" b="1">
                  <a:latin typeface="+mj-lt"/>
                  <a:cs typeface="Arial" charset="0"/>
                </a:rPr>
                <a:t>σ</a:t>
              </a:r>
            </a:p>
          </p:txBody>
        </p:sp>
        <p:sp>
          <p:nvSpPr>
            <p:cNvPr id="9244" name="Line 20"/>
            <p:cNvSpPr>
              <a:spLocks noChangeShapeType="1"/>
            </p:cNvSpPr>
            <p:nvPr/>
          </p:nvSpPr>
          <p:spPr bwMode="auto">
            <a:xfrm flipV="1">
              <a:off x="4420" y="1370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245" name="Text Box 21"/>
            <p:cNvSpPr txBox="1">
              <a:spLocks noChangeArrowheads="1"/>
            </p:cNvSpPr>
            <p:nvPr/>
          </p:nvSpPr>
          <p:spPr bwMode="auto">
            <a:xfrm>
              <a:off x="3463" y="3417"/>
              <a:ext cx="139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000" b="1">
                  <a:latin typeface="+mj-lt"/>
                </a:rPr>
                <a:t>Output</a:t>
              </a:r>
            </a:p>
          </p:txBody>
        </p:sp>
        <p:sp>
          <p:nvSpPr>
            <p:cNvPr id="9246" name="Text Box 22"/>
            <p:cNvSpPr txBox="1">
              <a:spLocks noChangeArrowheads="1"/>
            </p:cNvSpPr>
            <p:nvPr/>
          </p:nvSpPr>
          <p:spPr bwMode="auto">
            <a:xfrm>
              <a:off x="2839" y="1257"/>
              <a:ext cx="91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000" b="1">
                  <a:latin typeface="+mj-lt"/>
                </a:rPr>
                <a:t>Prob. Density</a:t>
              </a:r>
            </a:p>
          </p:txBody>
        </p:sp>
        <p:sp>
          <p:nvSpPr>
            <p:cNvPr id="9247" name="Line 23"/>
            <p:cNvSpPr>
              <a:spLocks noChangeShapeType="1"/>
            </p:cNvSpPr>
            <p:nvPr/>
          </p:nvSpPr>
          <p:spPr bwMode="auto">
            <a:xfrm>
              <a:off x="3810" y="2727"/>
              <a:ext cx="606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graphicFrame>
          <p:nvGraphicFramePr>
            <p:cNvPr id="9222" name="Object 24"/>
            <p:cNvGraphicFramePr>
              <a:graphicFrameLocks noChangeAspect="1"/>
            </p:cNvGraphicFramePr>
            <p:nvPr/>
          </p:nvGraphicFramePr>
          <p:xfrm>
            <a:off x="3997" y="2578"/>
            <a:ext cx="252" cy="1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342720" imgH="177480" progId="Equation.3">
                    <p:embed/>
                  </p:oleObj>
                </mc:Choice>
                <mc:Fallback>
                  <p:oleObj name="Equation" r:id="rId9" imgW="34272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7" y="2578"/>
                          <a:ext cx="252" cy="1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48" name="Line 26"/>
            <p:cNvSpPr>
              <a:spLocks noChangeShapeType="1"/>
            </p:cNvSpPr>
            <p:nvPr/>
          </p:nvSpPr>
          <p:spPr bwMode="auto">
            <a:xfrm flipH="1" flipV="1">
              <a:off x="4701" y="3051"/>
              <a:ext cx="154" cy="462"/>
            </a:xfrm>
            <a:prstGeom prst="line">
              <a:avLst/>
            </a:prstGeom>
            <a:noFill/>
            <a:ln w="9525">
              <a:solidFill>
                <a:srgbClr val="993366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249" name="Line 27"/>
            <p:cNvSpPr>
              <a:spLocks noChangeShapeType="1"/>
            </p:cNvSpPr>
            <p:nvPr/>
          </p:nvSpPr>
          <p:spPr bwMode="auto">
            <a:xfrm flipV="1">
              <a:off x="3407" y="3185"/>
              <a:ext cx="336" cy="336"/>
            </a:xfrm>
            <a:prstGeom prst="line">
              <a:avLst/>
            </a:prstGeom>
            <a:noFill/>
            <a:ln w="9525">
              <a:solidFill>
                <a:srgbClr val="993366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250" name="Line 29"/>
            <p:cNvSpPr>
              <a:spLocks noChangeShapeType="1"/>
            </p:cNvSpPr>
            <p:nvPr/>
          </p:nvSpPr>
          <p:spPr bwMode="auto">
            <a:xfrm flipV="1">
              <a:off x="3798" y="1462"/>
              <a:ext cx="8" cy="1673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251" name="Line 30"/>
            <p:cNvSpPr>
              <a:spLocks noChangeShapeType="1"/>
            </p:cNvSpPr>
            <p:nvPr/>
          </p:nvSpPr>
          <p:spPr bwMode="auto">
            <a:xfrm flipV="1">
              <a:off x="4637" y="1444"/>
              <a:ext cx="8" cy="1689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252" name="Line 31"/>
            <p:cNvSpPr>
              <a:spLocks noChangeShapeType="1"/>
            </p:cNvSpPr>
            <p:nvPr/>
          </p:nvSpPr>
          <p:spPr bwMode="auto">
            <a:xfrm flipV="1">
              <a:off x="4432" y="2721"/>
              <a:ext cx="180" cy="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graphicFrame>
          <p:nvGraphicFramePr>
            <p:cNvPr id="9223" name="Object 32"/>
            <p:cNvGraphicFramePr>
              <a:graphicFrameLocks noChangeAspect="1"/>
            </p:cNvGraphicFramePr>
            <p:nvPr/>
          </p:nvGraphicFramePr>
          <p:xfrm>
            <a:off x="4399" y="2564"/>
            <a:ext cx="242" cy="1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330120" imgH="177480" progId="Equation.3">
                    <p:embed/>
                  </p:oleObj>
                </mc:Choice>
                <mc:Fallback>
                  <p:oleObj name="Equation" r:id="rId11" imgW="33012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9" y="2564"/>
                          <a:ext cx="242" cy="1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53" name="Text Box 35"/>
            <p:cNvSpPr txBox="1">
              <a:spLocks noChangeArrowheads="1"/>
            </p:cNvSpPr>
            <p:nvPr/>
          </p:nvSpPr>
          <p:spPr bwMode="auto">
            <a:xfrm>
              <a:off x="4093" y="3536"/>
              <a:ext cx="110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000" b="1">
                  <a:solidFill>
                    <a:srgbClr val="993366"/>
                  </a:solidFill>
                  <a:latin typeface="+mj-lt"/>
                </a:rPr>
                <a:t>Probability  above USL =1-normsdist(1.5)=6.68%</a:t>
              </a:r>
            </a:p>
          </p:txBody>
        </p:sp>
        <p:sp>
          <p:nvSpPr>
            <p:cNvPr id="9254" name="Text Box 36"/>
            <p:cNvSpPr txBox="1">
              <a:spLocks noChangeArrowheads="1"/>
            </p:cNvSpPr>
            <p:nvPr/>
          </p:nvSpPr>
          <p:spPr bwMode="auto">
            <a:xfrm>
              <a:off x="2879" y="3537"/>
              <a:ext cx="116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000" b="1">
                  <a:solidFill>
                    <a:srgbClr val="993366"/>
                  </a:solidFill>
                  <a:latin typeface="+mj-lt"/>
                </a:rPr>
                <a:t>Probability  below LSL =normsdist(-4.5)=0.00034%</a:t>
              </a:r>
            </a:p>
          </p:txBody>
        </p:sp>
        <p:sp>
          <p:nvSpPr>
            <p:cNvPr id="9255" name="Text Box 37"/>
            <p:cNvSpPr txBox="1">
              <a:spLocks noChangeArrowheads="1"/>
            </p:cNvSpPr>
            <p:nvPr/>
          </p:nvSpPr>
          <p:spPr bwMode="auto">
            <a:xfrm>
              <a:off x="4421" y="1279"/>
              <a:ext cx="4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b="1">
                  <a:solidFill>
                    <a:srgbClr val="993366"/>
                  </a:solidFill>
                  <a:latin typeface="+mj-lt"/>
                </a:rPr>
                <a:t>USL</a:t>
              </a:r>
            </a:p>
          </p:txBody>
        </p:sp>
        <p:sp>
          <p:nvSpPr>
            <p:cNvPr id="9256" name="Text Box 38"/>
            <p:cNvSpPr txBox="1">
              <a:spLocks noChangeArrowheads="1"/>
            </p:cNvSpPr>
            <p:nvPr/>
          </p:nvSpPr>
          <p:spPr bwMode="auto">
            <a:xfrm>
              <a:off x="3554" y="1279"/>
              <a:ext cx="48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b="1">
                  <a:solidFill>
                    <a:srgbClr val="993366"/>
                  </a:solidFill>
                  <a:latin typeface="+mj-lt"/>
                </a:rPr>
                <a:t>LSL</a:t>
              </a:r>
            </a:p>
          </p:txBody>
        </p:sp>
        <p:sp>
          <p:nvSpPr>
            <p:cNvPr id="9257" name="Text Box 42"/>
            <p:cNvSpPr txBox="1">
              <a:spLocks noChangeArrowheads="1"/>
            </p:cNvSpPr>
            <p:nvPr/>
          </p:nvSpPr>
          <p:spPr bwMode="auto">
            <a:xfrm>
              <a:off x="2864" y="3790"/>
              <a:ext cx="221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b="1">
                  <a:latin typeface="+mj-lt"/>
                </a:rPr>
                <a:t>Probability of Defect = 6.68% 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62474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79400"/>
            <a:ext cx="7772400" cy="669925"/>
          </a:xfrm>
        </p:spPr>
        <p:txBody>
          <a:bodyPr/>
          <a:lstStyle/>
          <a:p>
            <a:pPr eaLnBrk="1" hangingPunct="1"/>
            <a:r>
              <a:rPr lang="en-US" sz="3600" dirty="0">
                <a:latin typeface="+mn-lt"/>
                <a:cs typeface="Arial" panose="020B0604020202020204" pitchFamily="34" charset="0"/>
              </a:rPr>
              <a:t>Another common measure is </a:t>
            </a:r>
            <a:r>
              <a:rPr lang="en-US" sz="3600" dirty="0" err="1">
                <a:latin typeface="+mn-lt"/>
                <a:cs typeface="Arial" panose="020B0604020202020204" pitchFamily="34" charset="0"/>
              </a:rPr>
              <a:t>C</a:t>
            </a:r>
            <a:r>
              <a:rPr lang="en-US" sz="3600" baseline="-25000" dirty="0" err="1">
                <a:latin typeface="+mn-lt"/>
                <a:cs typeface="Arial" panose="020B0604020202020204" pitchFamily="34" charset="0"/>
              </a:rPr>
              <a:t>pk</a:t>
            </a:r>
            <a:endParaRPr lang="en-US" sz="3600" baseline="-25000" dirty="0">
              <a:latin typeface="+mn-lt"/>
              <a:cs typeface="Arial" panose="020B0604020202020204" pitchFamily="34" charset="0"/>
            </a:endParaRPr>
          </a:p>
        </p:txBody>
      </p:sp>
      <p:graphicFrame>
        <p:nvGraphicFramePr>
          <p:cNvPr id="10242" name="Object 8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935815630"/>
              </p:ext>
            </p:extLst>
          </p:nvPr>
        </p:nvGraphicFramePr>
        <p:xfrm>
          <a:off x="2534157" y="2222204"/>
          <a:ext cx="2667000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55520" imgH="431640" progId="Equation.3">
                  <p:embed/>
                </p:oleObj>
              </mc:Choice>
              <mc:Fallback>
                <p:oleObj name="Equation" r:id="rId3" imgW="195552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4157" y="2222204"/>
                        <a:ext cx="2667000" cy="588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4" name="Text Box 10"/>
          <p:cNvSpPr txBox="1">
            <a:spLocks noChangeArrowheads="1"/>
          </p:cNvSpPr>
          <p:nvPr/>
        </p:nvSpPr>
        <p:spPr bwMode="auto">
          <a:xfrm>
            <a:off x="4680457" y="1763416"/>
            <a:ext cx="13716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>
                <a:solidFill>
                  <a:srgbClr val="9933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mean</a:t>
            </a:r>
          </a:p>
        </p:txBody>
      </p:sp>
      <p:sp>
        <p:nvSpPr>
          <p:cNvPr id="10245" name="Line 11"/>
          <p:cNvSpPr>
            <a:spLocks noChangeShapeType="1"/>
          </p:cNvSpPr>
          <p:nvPr/>
        </p:nvSpPr>
        <p:spPr bwMode="auto">
          <a:xfrm flipH="1">
            <a:off x="4528057" y="2095204"/>
            <a:ext cx="304800" cy="228600"/>
          </a:xfrm>
          <a:prstGeom prst="line">
            <a:avLst/>
          </a:prstGeom>
          <a:noFill/>
          <a:ln w="9525">
            <a:solidFill>
              <a:srgbClr val="993366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6" name="Text Box 21"/>
          <p:cNvSpPr txBox="1">
            <a:spLocks noChangeArrowheads="1"/>
          </p:cNvSpPr>
          <p:nvPr/>
        </p:nvSpPr>
        <p:spPr bwMode="auto">
          <a:xfrm>
            <a:off x="411669" y="3069929"/>
            <a:ext cx="792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Calculate the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pk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for Process A2 if the mean is 100</a:t>
            </a:r>
          </a:p>
        </p:txBody>
      </p:sp>
      <p:sp>
        <p:nvSpPr>
          <p:cNvPr id="10247" name="Text Box 23"/>
          <p:cNvSpPr txBox="1">
            <a:spLocks noChangeArrowheads="1"/>
          </p:cNvSpPr>
          <p:nvPr/>
        </p:nvSpPr>
        <p:spPr bwMode="auto">
          <a:xfrm>
            <a:off x="411669" y="4878091"/>
            <a:ext cx="792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Calculate the C</a:t>
            </a:r>
            <a:r>
              <a:rPr lang="en-US" sz="1800" baseline="-2500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and C</a:t>
            </a:r>
            <a:r>
              <a:rPr lang="en-US" sz="1800" baseline="-25000">
                <a:latin typeface="Arial" panose="020B0604020202020204" pitchFamily="34" charset="0"/>
                <a:cs typeface="Arial" panose="020B0604020202020204" pitchFamily="34" charset="0"/>
              </a:rPr>
              <a:t>pk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 for Process A2 if the mean is 100.015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E943744-919A-4106-8C26-6532EB359C63}"/>
                  </a:ext>
                </a:extLst>
              </p:cNvPr>
              <p:cNvSpPr txBox="1"/>
              <p:nvPr/>
            </p:nvSpPr>
            <p:spPr>
              <a:xfrm>
                <a:off x="2562675" y="3596683"/>
                <a:ext cx="36227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/>
                        <m:t>USL</m:t>
                      </m:r>
                      <m:r>
                        <m:rPr>
                          <m:nor/>
                        </m:rPr>
                        <a:rPr lang="en-US"/>
                        <m:t>,</m:t>
                      </m:r>
                      <m:r>
                        <m:rPr>
                          <m:nor/>
                        </m:rPr>
                        <a:rPr lang="en-US"/>
                        <m:t>LSL</m:t>
                      </m:r>
                      <m:r>
                        <m:rPr>
                          <m:nor/>
                        </m:rPr>
                        <a:rPr lang="en-US"/>
                        <m:t>,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m:rPr>
                          <m:nor/>
                        </m:rPr>
                        <a:rPr lang="en-US"/>
                        <m:t>=100.03,99.97,0.01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E943744-919A-4106-8C26-6532EB359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2675" y="3596683"/>
                <a:ext cx="3622787" cy="276999"/>
              </a:xfrm>
              <a:prstGeom prst="rect">
                <a:avLst/>
              </a:prstGeom>
              <a:blipFill>
                <a:blip r:embed="rId6"/>
                <a:stretch>
                  <a:fillRect l="-1345" t="-2222" r="-1681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958CFE3-2B02-401C-A128-A06D1C97290B}"/>
                  </a:ext>
                </a:extLst>
              </p:cNvPr>
              <p:cNvSpPr txBox="1"/>
              <p:nvPr/>
            </p:nvSpPr>
            <p:spPr>
              <a:xfrm>
                <a:off x="2496671" y="4151987"/>
                <a:ext cx="1907357" cy="2984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=100)=1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958CFE3-2B02-401C-A128-A06D1C972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671" y="4151987"/>
                <a:ext cx="1907357" cy="298415"/>
              </a:xfrm>
              <a:prstGeom prst="rect">
                <a:avLst/>
              </a:prstGeom>
              <a:blipFill>
                <a:blip r:embed="rId7"/>
                <a:stretch>
                  <a:fillRect l="-962" r="-962" b="-265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5A03EA-B6F0-4497-B719-0E1F11D536F4}"/>
                  </a:ext>
                </a:extLst>
              </p:cNvPr>
              <p:cNvSpPr txBox="1"/>
              <p:nvPr/>
            </p:nvSpPr>
            <p:spPr>
              <a:xfrm>
                <a:off x="2616464" y="5329032"/>
                <a:ext cx="362278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/>
                        <m:t>USL</m:t>
                      </m:r>
                      <m:r>
                        <m:rPr>
                          <m:nor/>
                        </m:rPr>
                        <a:rPr lang="en-US"/>
                        <m:t>,</m:t>
                      </m:r>
                      <m:r>
                        <m:rPr>
                          <m:nor/>
                        </m:rPr>
                        <a:rPr lang="en-US"/>
                        <m:t>LSL</m:t>
                      </m:r>
                      <m:r>
                        <m:rPr>
                          <m:nor/>
                        </m:rPr>
                        <a:rPr lang="en-US"/>
                        <m:t>,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σ</m:t>
                      </m:r>
                      <m:r>
                        <m:rPr>
                          <m:nor/>
                        </m:rPr>
                        <a:rPr lang="en-US"/>
                        <m:t>=100.03,99.97,0.01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5A03EA-B6F0-4497-B719-0E1F11D53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6464" y="5329032"/>
                <a:ext cx="3622787" cy="276999"/>
              </a:xfrm>
              <a:prstGeom prst="rect">
                <a:avLst/>
              </a:prstGeom>
              <a:blipFill>
                <a:blip r:embed="rId8"/>
                <a:stretch>
                  <a:fillRect l="-1347" t="-2174" r="-1852" b="-36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F7B822-D28B-4396-9B80-504C36A541D8}"/>
                  </a:ext>
                </a:extLst>
              </p:cNvPr>
              <p:cNvSpPr txBox="1"/>
              <p:nvPr/>
            </p:nvSpPr>
            <p:spPr>
              <a:xfrm>
                <a:off x="2716660" y="5742644"/>
                <a:ext cx="4015834" cy="2984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𝑝𝑘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=100.015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⁡{0.5,1.5}</m:t>
                    </m:r>
                  </m:oMath>
                </a14:m>
                <a:r>
                  <a:rPr lang="en-US" dirty="0"/>
                  <a:t>=0.5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F7B822-D28B-4396-9B80-504C36A54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6660" y="5742644"/>
                <a:ext cx="4015834" cy="298415"/>
              </a:xfrm>
              <a:prstGeom prst="rect">
                <a:avLst/>
              </a:prstGeom>
              <a:blipFill>
                <a:blip r:embed="rId9"/>
                <a:stretch>
                  <a:fillRect l="-2128" t="-28571" b="-387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4630857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0BCEBD-0501-4278-BFB2-F0F43E9DC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32" y="1871053"/>
            <a:ext cx="8492136" cy="185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919945"/>
      </p:ext>
    </p:extLst>
  </p:cSld>
  <p:clrMapOvr>
    <a:masterClrMapping/>
  </p:clrMapOvr>
</p:sld>
</file>

<file path=ppt/theme/theme1.xml><?xml version="1.0" encoding="utf-8"?>
<a:theme xmlns:a="http://schemas.openxmlformats.org/drawingml/2006/main" name="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Level">
      <a:majorFont>
        <a:latin typeface="Garamond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Lecture12</Template>
  <TotalTime>46318989</TotalTime>
  <Pages>2</Pages>
  <Words>1936</Words>
  <Application>Microsoft Macintosh PowerPoint</Application>
  <PresentationFormat>On-screen Show (4:3)</PresentationFormat>
  <Paragraphs>596</Paragraphs>
  <Slides>38</Slides>
  <Notes>26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38</vt:i4>
      </vt:variant>
    </vt:vector>
  </HeadingPairs>
  <TitlesOfParts>
    <vt:vector size="49" baseType="lpstr">
      <vt:lpstr>Arial</vt:lpstr>
      <vt:lpstr>Cambria Math</vt:lpstr>
      <vt:lpstr>Garamond</vt:lpstr>
      <vt:lpstr>Times New Roman</vt:lpstr>
      <vt:lpstr>Verdana</vt:lpstr>
      <vt:lpstr>Wingdings</vt:lpstr>
      <vt:lpstr>Level</vt:lpstr>
      <vt:lpstr>Clip</vt:lpstr>
      <vt:lpstr>Chart</vt:lpstr>
      <vt:lpstr>Equation</vt:lpstr>
      <vt:lpstr>Worksheet</vt:lpstr>
      <vt:lpstr>MGT 207</vt:lpstr>
      <vt:lpstr>Natural Manufacturing Variations</vt:lpstr>
      <vt:lpstr>All Processes Have Some Variation… But There Is Typical Variation and Atypical Variation</vt:lpstr>
      <vt:lpstr>Process is In-Control if Measurements Fall Within the Typical Range </vt:lpstr>
      <vt:lpstr>A Change In Measurements Indicates Process May Be Out-of-Control</vt:lpstr>
      <vt:lpstr>Quality Testing by Sampling</vt:lpstr>
      <vt:lpstr>Some Examples of Sample Data…  </vt:lpstr>
      <vt:lpstr>Visualizing the Data Can Be Helpful</vt:lpstr>
      <vt:lpstr>Let’s Look at the Next Sample Mean</vt:lpstr>
      <vt:lpstr>One Approach Is to Specify Limits on What Is Typical</vt:lpstr>
      <vt:lpstr>But What Are the Right Limits ?</vt:lpstr>
      <vt:lpstr>Often the Limits Are Set As Mean +/- 3 Standard Deviation </vt:lpstr>
      <vt:lpstr>How Many Defects Per Million?</vt:lpstr>
      <vt:lpstr>What mean and standard deviation should we use ?</vt:lpstr>
      <vt:lpstr>PowerPoint Presentation</vt:lpstr>
      <vt:lpstr>Bringing It All Together</vt:lpstr>
      <vt:lpstr>Table for A2 constants</vt:lpstr>
      <vt:lpstr>Calculate the Center Line, UCL and LCL for the following set of data</vt:lpstr>
      <vt:lpstr>Center Line, UCL and LCL</vt:lpstr>
      <vt:lpstr>Consider the Following Samples Is the Process In-Control?</vt:lpstr>
      <vt:lpstr>Plotting the Sample Means</vt:lpstr>
      <vt:lpstr>X-bar Charts Capture Shift in Means But Not Shift in Variability</vt:lpstr>
      <vt:lpstr>Range charts</vt:lpstr>
      <vt:lpstr>Range Charts (R-Charts) Are Used to Capture Shifts in Variability </vt:lpstr>
      <vt:lpstr>Table for D3 and D4 Constants</vt:lpstr>
      <vt:lpstr>What are the R-Chart Control Limits for This Process?</vt:lpstr>
      <vt:lpstr>Center Line, UCL and LCL Calculations</vt:lpstr>
      <vt:lpstr>Consider the Following Samples Is the Process In-Control?</vt:lpstr>
      <vt:lpstr>Out of Control? Need to Look at Both X-bar Chart and R Chart</vt:lpstr>
      <vt:lpstr>In Class Exercise:</vt:lpstr>
      <vt:lpstr>Solution </vt:lpstr>
      <vt:lpstr>Process capability</vt:lpstr>
      <vt:lpstr>A Common Measure of Process Capability</vt:lpstr>
      <vt:lpstr>Are the Following Processes Capable?</vt:lpstr>
      <vt:lpstr>Are the Following Processes Capable?</vt:lpstr>
      <vt:lpstr>You Need to Be Careful With Cp</vt:lpstr>
      <vt:lpstr>Another common measure is Cpk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PRODUCTIONS/OPERATIONS MANAGEMENT</dc:title>
  <dc:creator>Bethany Stubbe</dc:creator>
  <cp:lastModifiedBy>Danko Turcic</cp:lastModifiedBy>
  <cp:revision>353</cp:revision>
  <cp:lastPrinted>2018-03-11T17:56:16Z</cp:lastPrinted>
  <dcterms:created xsi:type="dcterms:W3CDTF">1998-04-08T22:08:56Z</dcterms:created>
  <dcterms:modified xsi:type="dcterms:W3CDTF">2025-05-15T00:34:14Z</dcterms:modified>
</cp:coreProperties>
</file>