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7" r:id="rId2"/>
    <p:sldId id="342" r:id="rId3"/>
    <p:sldId id="399" r:id="rId4"/>
    <p:sldId id="344" r:id="rId5"/>
    <p:sldId id="346" r:id="rId6"/>
    <p:sldId id="347" r:id="rId7"/>
    <p:sldId id="353" r:id="rId8"/>
    <p:sldId id="354" r:id="rId9"/>
    <p:sldId id="356" r:id="rId10"/>
    <p:sldId id="357" r:id="rId11"/>
    <p:sldId id="358" r:id="rId12"/>
    <p:sldId id="359" r:id="rId13"/>
    <p:sldId id="360" r:id="rId14"/>
    <p:sldId id="361" r:id="rId15"/>
    <p:sldId id="362" r:id="rId16"/>
    <p:sldId id="400" r:id="rId17"/>
    <p:sldId id="272" r:id="rId18"/>
    <p:sldId id="273" r:id="rId19"/>
    <p:sldId id="363" r:id="rId20"/>
    <p:sldId id="364" r:id="rId21"/>
    <p:sldId id="365" r:id="rId22"/>
    <p:sldId id="367" r:id="rId23"/>
    <p:sldId id="402" r:id="rId24"/>
    <p:sldId id="368" r:id="rId25"/>
    <p:sldId id="369" r:id="rId26"/>
    <p:sldId id="370" r:id="rId27"/>
    <p:sldId id="371" r:id="rId28"/>
    <p:sldId id="372" r:id="rId29"/>
    <p:sldId id="373" r:id="rId30"/>
    <p:sldId id="374" r:id="rId31"/>
    <p:sldId id="375" r:id="rId32"/>
    <p:sldId id="376" r:id="rId33"/>
    <p:sldId id="377" r:id="rId34"/>
    <p:sldId id="378" r:id="rId35"/>
    <p:sldId id="379" r:id="rId36"/>
    <p:sldId id="380" r:id="rId37"/>
    <p:sldId id="388" r:id="rId38"/>
    <p:sldId id="439" r:id="rId39"/>
    <p:sldId id="381" r:id="rId40"/>
    <p:sldId id="389" r:id="rId41"/>
    <p:sldId id="390" r:id="rId42"/>
    <p:sldId id="392" r:id="rId43"/>
    <p:sldId id="391" r:id="rId44"/>
    <p:sldId id="393" r:id="rId45"/>
  </p:sldIdLst>
  <p:sldSz cx="9144000" cy="6858000" type="screen4x3"/>
  <p:notesSz cx="7010400" cy="92964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p:defaultTextStyle>
  <p:extLst>
    <p:ext uri="{EFAFB233-063F-42B5-8137-9DF3F51BA10A}">
      <p15:sldGuideLst xmlns:p15="http://schemas.microsoft.com/office/powerpoint/2012/main">
        <p15:guide id="1" orient="horz" pos="2144">
          <p15:clr>
            <a:srgbClr val="A4A3A4"/>
          </p15:clr>
        </p15:guide>
        <p15:guide id="2" pos="288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LB" initials="JLB" lastIdx="1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33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21" autoAdjust="0"/>
    <p:restoredTop sz="86833" autoAdjust="0"/>
  </p:normalViewPr>
  <p:slideViewPr>
    <p:cSldViewPr snapToGrid="0" snapToObjects="1">
      <p:cViewPr varScale="1">
        <p:scale>
          <a:sx n="132" d="100"/>
          <a:sy n="132" d="100"/>
        </p:scale>
        <p:origin x="1336" y="160"/>
      </p:cViewPr>
      <p:guideLst>
        <p:guide orient="horz" pos="2144"/>
        <p:guide pos="2888"/>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Calibri" charset="0"/>
              </a:defRPr>
            </a:lvl1pPr>
          </a:lstStyle>
          <a:p>
            <a:fld id="{2E0611E1-B028-2443-BED6-15B43C61F054}" type="datetimeFigureOut">
              <a:rPr lang="en-US"/>
              <a:pPr/>
              <a:t>5/18/25</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endParaRPr lang="en-US" noProof="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Calibri" charset="0"/>
              </a:defRPr>
            </a:lvl1pPr>
          </a:lstStyle>
          <a:p>
            <a:fld id="{B5570E3B-8CB0-CD44-872C-98256F01E610}" type="slidenum">
              <a:rPr lang="en-US"/>
              <a:pPr/>
              <a:t>‹#›</a:t>
            </a:fld>
            <a:endParaRPr lang="en-US" dirty="0"/>
          </a:p>
        </p:txBody>
      </p:sp>
    </p:spTree>
    <p:extLst>
      <p:ext uri="{BB962C8B-B14F-4D97-AF65-F5344CB8AC3E}">
        <p14:creationId xmlns:p14="http://schemas.microsoft.com/office/powerpoint/2010/main" val="2830212815"/>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ＭＳ Ｐゴシック" charset="0"/>
        <a:cs typeface="+mn-cs"/>
      </a:defRPr>
    </a:lvl1pPr>
    <a:lvl2pPr marL="457200" algn="l" defTabSz="457200" rtl="0" fontAlgn="base">
      <a:spcBef>
        <a:spcPct val="30000"/>
      </a:spcBef>
      <a:spcAft>
        <a:spcPct val="0"/>
      </a:spcAft>
      <a:defRPr sz="1200" kern="1200">
        <a:solidFill>
          <a:schemeClr val="tx1"/>
        </a:solidFill>
        <a:latin typeface="+mn-lt"/>
        <a:ea typeface="ＭＳ Ｐゴシック" charset="0"/>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0"/>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0"/>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3151CC19-E4CB-F149-A502-AFDB09177ABA}" type="slidenum">
              <a:rPr lang="en-AU">
                <a:ea typeface="MS PGothic" charset="0"/>
                <a:cs typeface="MS PGothic" charset="0"/>
              </a:rPr>
              <a:pPr/>
              <a:t>2</a:t>
            </a:fld>
            <a:endParaRPr lang="en-AU" dirty="0">
              <a:ea typeface="MS PGothic" charset="0"/>
              <a:cs typeface="MS PGothic" charset="0"/>
            </a:endParaRPr>
          </a:p>
        </p:txBody>
      </p:sp>
      <p:sp>
        <p:nvSpPr>
          <p:cNvPr id="24578" name="Rectangle 2"/>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2207" tIns="45295" rIns="92207" bIns="45295"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
        <p:nvSpPr>
          <p:cNvPr id="24579" name="Rectangle 3"/>
          <p:cNvSpPr>
            <a:spLocks noGrp="1" noRot="1" noChangeAspect="1" noChangeArrowheads="1" noTextEdit="1"/>
          </p:cNvSpPr>
          <p:nvPr>
            <p:ph type="sldImg"/>
          </p:nvPr>
        </p:nvSpPr>
        <p:spPr bwMode="auto">
          <a:noFill/>
          <a:ln cap="flat">
            <a:solidFill>
              <a:schemeClr val="tx1"/>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Tree>
    <p:extLst>
      <p:ext uri="{BB962C8B-B14F-4D97-AF65-F5344CB8AC3E}">
        <p14:creationId xmlns:p14="http://schemas.microsoft.com/office/powerpoint/2010/main" val="486735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1BC670DE-4F8D-4F07-9B00-42E09325712D}" type="slidenum">
              <a:rPr lang="en-US"/>
              <a:pPr/>
              <a:t>3</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16660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A5FDAA02-BF40-CF42-ADBE-2D72D84762B9}" type="slidenum">
              <a:rPr lang="en-AU">
                <a:ea typeface="MS PGothic" charset="0"/>
                <a:cs typeface="MS PGothic" charset="0"/>
              </a:rPr>
              <a:pPr/>
              <a:t>4</a:t>
            </a:fld>
            <a:endParaRPr lang="en-AU" dirty="0">
              <a:ea typeface="MS PGothic" charset="0"/>
              <a:cs typeface="MS PGothic" charset="0"/>
            </a:endParaRPr>
          </a:p>
        </p:txBody>
      </p:sp>
      <p:sp>
        <p:nvSpPr>
          <p:cNvPr id="2867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867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3694479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1BFD0004-0637-0244-B8A7-64E993A481FF}" type="slidenum">
              <a:rPr lang="en-AU">
                <a:ea typeface="MS PGothic" charset="0"/>
                <a:cs typeface="MS PGothic" charset="0"/>
              </a:rPr>
              <a:pPr/>
              <a:t>5</a:t>
            </a:fld>
            <a:endParaRPr lang="en-AU" dirty="0">
              <a:ea typeface="MS PGothic" charset="0"/>
              <a:cs typeface="MS PGothic" charset="0"/>
            </a:endParaRPr>
          </a:p>
        </p:txBody>
      </p:sp>
      <p:sp>
        <p:nvSpPr>
          <p:cNvPr id="3277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277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3696976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D4D89B6D-75C3-BE4D-881F-0E96F247F623}" type="slidenum">
              <a:rPr lang="en-AU">
                <a:ea typeface="MS PGothic" charset="0"/>
                <a:cs typeface="MS PGothic" charset="0"/>
              </a:rPr>
              <a:pPr/>
              <a:t>6</a:t>
            </a:fld>
            <a:endParaRPr lang="en-AU" dirty="0">
              <a:ea typeface="MS PGothic" charset="0"/>
              <a:cs typeface="MS PGothic" charset="0"/>
            </a:endParaRPr>
          </a:p>
        </p:txBody>
      </p:sp>
      <p:sp>
        <p:nvSpPr>
          <p:cNvPr id="3481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1102426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525DD49F-F04D-2F41-A15C-036C761F3190}" type="slidenum">
              <a:rPr lang="en-AU">
                <a:ea typeface="MS PGothic" charset="0"/>
                <a:cs typeface="MS PGothic" charset="0"/>
              </a:rPr>
              <a:pPr/>
              <a:t>7</a:t>
            </a:fld>
            <a:endParaRPr lang="en-AU" dirty="0">
              <a:ea typeface="MS PGothic" charset="0"/>
              <a:cs typeface="MS PGothic" charset="0"/>
            </a:endParaRPr>
          </a:p>
        </p:txBody>
      </p:sp>
      <p:sp>
        <p:nvSpPr>
          <p:cNvPr id="4710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7107"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3874833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D92BECE0-1A95-B44A-BF9D-F2E1FA4242FE}" type="slidenum">
              <a:rPr lang="en-AU">
                <a:ea typeface="MS PGothic" charset="0"/>
                <a:cs typeface="MS PGothic" charset="0"/>
              </a:rPr>
              <a:pPr/>
              <a:t>8</a:t>
            </a:fld>
            <a:endParaRPr lang="en-AU" dirty="0">
              <a:ea typeface="MS PGothic" charset="0"/>
              <a:cs typeface="MS PGothic" charset="0"/>
            </a:endParaRPr>
          </a:p>
        </p:txBody>
      </p:sp>
      <p:sp>
        <p:nvSpPr>
          <p:cNvPr id="491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915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1267178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5C24DD3A-B815-1247-9475-E3D59382E182}" type="slidenum">
              <a:rPr lang="en-AU">
                <a:ea typeface="MS PGothic" charset="0"/>
                <a:cs typeface="MS PGothic" charset="0"/>
              </a:rPr>
              <a:pPr/>
              <a:t>9</a:t>
            </a:fld>
            <a:endParaRPr lang="en-AU" dirty="0">
              <a:ea typeface="MS PGothic" charset="0"/>
              <a:cs typeface="MS PGothic" charset="0"/>
            </a:endParaRPr>
          </a:p>
        </p:txBody>
      </p:sp>
      <p:sp>
        <p:nvSpPr>
          <p:cNvPr id="532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325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50905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97378C68-D768-4642-821B-40909109018F}" type="slidenum">
              <a:rPr lang="en-AU">
                <a:ea typeface="MS PGothic" charset="0"/>
                <a:cs typeface="MS PGothic" charset="0"/>
              </a:rPr>
              <a:pPr/>
              <a:t>10</a:t>
            </a:fld>
            <a:endParaRPr lang="en-AU" dirty="0">
              <a:ea typeface="MS PGothic" charset="0"/>
              <a:cs typeface="MS PGothic" charset="0"/>
            </a:endParaRPr>
          </a:p>
        </p:txBody>
      </p:sp>
      <p:sp>
        <p:nvSpPr>
          <p:cNvPr id="552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529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2741853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223B3525-C801-E845-91B6-E8623A02151F}" type="slidenum">
              <a:rPr lang="en-AU">
                <a:ea typeface="MS PGothic" charset="0"/>
                <a:cs typeface="MS PGothic" charset="0"/>
              </a:rPr>
              <a:pPr/>
              <a:t>11</a:t>
            </a:fld>
            <a:endParaRPr lang="en-AU" dirty="0">
              <a:ea typeface="MS PGothic" charset="0"/>
              <a:cs typeface="MS PGothic" charset="0"/>
            </a:endParaRPr>
          </a:p>
        </p:txBody>
      </p:sp>
      <p:sp>
        <p:nvSpPr>
          <p:cNvPr id="573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7347"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2461002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9C1D0F16-81FE-0F43-A931-F29FF291BC34}" type="slidenum">
              <a:rPr lang="en-AU">
                <a:ea typeface="MS PGothic" charset="0"/>
                <a:cs typeface="MS PGothic" charset="0"/>
              </a:rPr>
              <a:pPr/>
              <a:t>12</a:t>
            </a:fld>
            <a:endParaRPr lang="en-AU" dirty="0">
              <a:ea typeface="MS PGothic" charset="0"/>
              <a:cs typeface="MS PGothic" charset="0"/>
            </a:endParaRPr>
          </a:p>
        </p:txBody>
      </p:sp>
      <p:sp>
        <p:nvSpPr>
          <p:cNvPr id="5939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939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2048624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D637D87E-5885-434E-9264-D1704222FD71}" type="slidenum">
              <a:rPr lang="en-AU">
                <a:ea typeface="MS PGothic" charset="0"/>
                <a:cs typeface="MS PGothic" charset="0"/>
              </a:rPr>
              <a:pPr/>
              <a:t>13</a:t>
            </a:fld>
            <a:endParaRPr lang="en-AU" dirty="0">
              <a:ea typeface="MS PGothic" charset="0"/>
              <a:cs typeface="MS PGothic" charset="0"/>
            </a:endParaRPr>
          </a:p>
        </p:txBody>
      </p:sp>
      <p:sp>
        <p:nvSpPr>
          <p:cNvPr id="614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1443"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1506177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2525A165-1AFA-6E47-9642-14C261EE13FB}" type="slidenum">
              <a:rPr lang="en-AU">
                <a:ea typeface="MS PGothic" charset="0"/>
                <a:cs typeface="MS PGothic" charset="0"/>
              </a:rPr>
              <a:pPr/>
              <a:t>14</a:t>
            </a:fld>
            <a:endParaRPr lang="en-AU" dirty="0">
              <a:ea typeface="MS PGothic" charset="0"/>
              <a:cs typeface="MS PGothic" charset="0"/>
            </a:endParaRPr>
          </a:p>
        </p:txBody>
      </p:sp>
      <p:sp>
        <p:nvSpPr>
          <p:cNvPr id="6349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349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2886459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03B3F9F3-21E4-9A44-A310-7A20DACAA925}" type="slidenum">
              <a:rPr lang="en-AU">
                <a:ea typeface="MS PGothic" charset="0"/>
                <a:cs typeface="MS PGothic" charset="0"/>
              </a:rPr>
              <a:pPr/>
              <a:t>15</a:t>
            </a:fld>
            <a:endParaRPr lang="en-AU" dirty="0">
              <a:ea typeface="MS PGothic" charset="0"/>
              <a:cs typeface="MS PGothic" charset="0"/>
            </a:endParaRPr>
          </a:p>
        </p:txBody>
      </p:sp>
      <p:sp>
        <p:nvSpPr>
          <p:cNvPr id="655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553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3569700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4501FD2E-F2D4-3344-82F8-7AF9CD295062}" type="slidenum">
              <a:rPr lang="en-AU">
                <a:ea typeface="MS PGothic" charset="0"/>
                <a:cs typeface="MS PGothic" charset="0"/>
              </a:rPr>
              <a:pPr/>
              <a:t>19</a:t>
            </a:fld>
            <a:endParaRPr lang="en-AU" dirty="0">
              <a:ea typeface="MS PGothic" charset="0"/>
              <a:cs typeface="MS PGothic" charset="0"/>
            </a:endParaRPr>
          </a:p>
        </p:txBody>
      </p:sp>
      <p:sp>
        <p:nvSpPr>
          <p:cNvPr id="6758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7587"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3351738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9EAF12C8-C86E-F34E-BD91-375E8B4FBEDF}" type="slidenum">
              <a:rPr lang="en-AU">
                <a:ea typeface="MS PGothic" charset="0"/>
                <a:cs typeface="MS PGothic" charset="0"/>
              </a:rPr>
              <a:pPr/>
              <a:t>20</a:t>
            </a:fld>
            <a:endParaRPr lang="en-AU" dirty="0">
              <a:ea typeface="MS PGothic" charset="0"/>
              <a:cs typeface="MS PGothic" charset="0"/>
            </a:endParaRPr>
          </a:p>
        </p:txBody>
      </p:sp>
      <p:sp>
        <p:nvSpPr>
          <p:cNvPr id="6963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963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3335760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F200CD98-09E3-2A40-8DEC-6559D5F160A8}" type="slidenum">
              <a:rPr lang="en-AU">
                <a:ea typeface="MS PGothic" charset="0"/>
                <a:cs typeface="MS PGothic" charset="0"/>
              </a:rPr>
              <a:pPr/>
              <a:t>21</a:t>
            </a:fld>
            <a:endParaRPr lang="en-AU" dirty="0">
              <a:ea typeface="MS PGothic" charset="0"/>
              <a:cs typeface="MS PGothic" charset="0"/>
            </a:endParaRPr>
          </a:p>
        </p:txBody>
      </p:sp>
      <p:sp>
        <p:nvSpPr>
          <p:cNvPr id="716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1683"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12216903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1270C933-C57D-BC4E-8E9D-B51D5834BA37}" type="slidenum">
              <a:rPr lang="en-AU">
                <a:ea typeface="MS PGothic" charset="0"/>
                <a:cs typeface="MS PGothic" charset="0"/>
              </a:rPr>
              <a:pPr/>
              <a:t>22</a:t>
            </a:fld>
            <a:endParaRPr lang="en-AU" dirty="0">
              <a:ea typeface="MS PGothic" charset="0"/>
              <a:cs typeface="MS PGothic" charset="0"/>
            </a:endParaRPr>
          </a:p>
        </p:txBody>
      </p:sp>
      <p:sp>
        <p:nvSpPr>
          <p:cNvPr id="7680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6803"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18654398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834A2B97-2049-F040-8F39-3F99381C719D}" type="slidenum">
              <a:rPr lang="en-AU">
                <a:ea typeface="MS PGothic" charset="0"/>
                <a:cs typeface="MS PGothic" charset="0"/>
              </a:rPr>
              <a:pPr/>
              <a:t>23</a:t>
            </a:fld>
            <a:endParaRPr lang="en-AU" dirty="0">
              <a:ea typeface="MS PGothic" charset="0"/>
              <a:cs typeface="MS PGothic" charset="0"/>
            </a:endParaRPr>
          </a:p>
        </p:txBody>
      </p:sp>
      <p:sp>
        <p:nvSpPr>
          <p:cNvPr id="747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475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205228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27DF0A67-FF55-2A45-AC0A-2AB0CB407F85}" type="slidenum">
              <a:rPr lang="en-AU">
                <a:ea typeface="MS PGothic" charset="0"/>
                <a:cs typeface="MS PGothic" charset="0"/>
              </a:rPr>
              <a:pPr/>
              <a:t>24</a:t>
            </a:fld>
            <a:endParaRPr lang="en-AU" dirty="0">
              <a:ea typeface="MS PGothic" charset="0"/>
              <a:cs typeface="MS PGothic" charset="0"/>
            </a:endParaRPr>
          </a:p>
        </p:txBody>
      </p:sp>
      <p:sp>
        <p:nvSpPr>
          <p:cNvPr id="788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885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903037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AA487F3F-E03E-9D47-BC51-5964B0FC20D4}" type="slidenum">
              <a:rPr lang="en-AU">
                <a:ea typeface="MS PGothic" charset="0"/>
                <a:cs typeface="MS PGothic" charset="0"/>
              </a:rPr>
              <a:pPr/>
              <a:t>25</a:t>
            </a:fld>
            <a:endParaRPr lang="en-AU" dirty="0">
              <a:ea typeface="MS PGothic" charset="0"/>
              <a:cs typeface="MS PGothic" charset="0"/>
            </a:endParaRPr>
          </a:p>
        </p:txBody>
      </p:sp>
      <p:sp>
        <p:nvSpPr>
          <p:cNvPr id="808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089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1120967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28D829EB-0403-D94D-AE4C-0385389D2DAA}" type="slidenum">
              <a:rPr lang="en-AU">
                <a:ea typeface="MS PGothic" charset="0"/>
                <a:cs typeface="MS PGothic" charset="0"/>
              </a:rPr>
              <a:pPr/>
              <a:t>26</a:t>
            </a:fld>
            <a:endParaRPr lang="en-AU" dirty="0">
              <a:ea typeface="MS PGothic" charset="0"/>
              <a:cs typeface="MS PGothic" charset="0"/>
            </a:endParaRPr>
          </a:p>
        </p:txBody>
      </p:sp>
      <p:sp>
        <p:nvSpPr>
          <p:cNvPr id="8397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397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2576107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B800FD11-50F6-4944-8715-F8FC8E04F1B6}" type="slidenum">
              <a:rPr lang="en-AU">
                <a:ea typeface="MS PGothic" charset="0"/>
                <a:cs typeface="MS PGothic" charset="0"/>
              </a:rPr>
              <a:pPr/>
              <a:t>27</a:t>
            </a:fld>
            <a:endParaRPr lang="en-AU" dirty="0">
              <a:ea typeface="MS PGothic" charset="0"/>
              <a:cs typeface="MS PGothic" charset="0"/>
            </a:endParaRPr>
          </a:p>
        </p:txBody>
      </p:sp>
      <p:sp>
        <p:nvSpPr>
          <p:cNvPr id="870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7043"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3264123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78703333-74D8-2E42-A0EE-EDE326103E81}" type="slidenum">
              <a:rPr lang="en-AU">
                <a:ea typeface="MS PGothic" charset="0"/>
                <a:cs typeface="MS PGothic" charset="0"/>
              </a:rPr>
              <a:pPr/>
              <a:t>28</a:t>
            </a:fld>
            <a:endParaRPr lang="en-AU" dirty="0">
              <a:ea typeface="MS PGothic" charset="0"/>
              <a:cs typeface="MS PGothic" charset="0"/>
            </a:endParaRPr>
          </a:p>
        </p:txBody>
      </p:sp>
      <p:sp>
        <p:nvSpPr>
          <p:cNvPr id="9011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011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12301178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D3C1AFFE-925B-264E-8EB0-B70B6555AE43}" type="slidenum">
              <a:rPr lang="en-AU">
                <a:ea typeface="MS PGothic" charset="0"/>
                <a:cs typeface="MS PGothic" charset="0"/>
              </a:rPr>
              <a:pPr/>
              <a:t>29</a:t>
            </a:fld>
            <a:endParaRPr lang="en-AU" dirty="0">
              <a:ea typeface="MS PGothic" charset="0"/>
              <a:cs typeface="MS PGothic" charset="0"/>
            </a:endParaRPr>
          </a:p>
        </p:txBody>
      </p:sp>
      <p:sp>
        <p:nvSpPr>
          <p:cNvPr id="9318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3187"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41110415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F1F2FF78-26AC-0747-8530-D615FDB741BB}" type="slidenum">
              <a:rPr lang="en-AU">
                <a:ea typeface="MS PGothic" charset="0"/>
                <a:cs typeface="MS PGothic" charset="0"/>
              </a:rPr>
              <a:pPr/>
              <a:t>30</a:t>
            </a:fld>
            <a:endParaRPr lang="en-AU" dirty="0">
              <a:ea typeface="MS PGothic" charset="0"/>
              <a:cs typeface="MS PGothic" charset="0"/>
            </a:endParaRPr>
          </a:p>
        </p:txBody>
      </p:sp>
      <p:sp>
        <p:nvSpPr>
          <p:cNvPr id="9625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625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761788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9719BFDC-8881-5241-AD78-30F59D048CA0}" type="slidenum">
              <a:rPr lang="en-AU">
                <a:ea typeface="MS PGothic" charset="0"/>
                <a:cs typeface="MS PGothic" charset="0"/>
              </a:rPr>
              <a:pPr/>
              <a:t>31</a:t>
            </a:fld>
            <a:endParaRPr lang="en-AU" dirty="0">
              <a:ea typeface="MS PGothic" charset="0"/>
              <a:cs typeface="MS PGothic" charset="0"/>
            </a:endParaRPr>
          </a:p>
        </p:txBody>
      </p:sp>
      <p:sp>
        <p:nvSpPr>
          <p:cNvPr id="9830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8307"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3732211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83761ADF-D76A-144C-8652-931F13D93357}" type="slidenum">
              <a:rPr lang="en-AU">
                <a:ea typeface="MS PGothic" charset="0"/>
                <a:cs typeface="MS PGothic" charset="0"/>
              </a:rPr>
              <a:pPr/>
              <a:t>32</a:t>
            </a:fld>
            <a:endParaRPr lang="en-AU" dirty="0">
              <a:ea typeface="MS PGothic" charset="0"/>
              <a:cs typeface="MS PGothic" charset="0"/>
            </a:endParaRPr>
          </a:p>
        </p:txBody>
      </p:sp>
      <p:sp>
        <p:nvSpPr>
          <p:cNvPr id="1003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035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1835222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9D36FF2A-E4B9-0647-B84A-AC2F74D7C6B7}" type="slidenum">
              <a:rPr lang="en-AU">
                <a:ea typeface="MS PGothic" charset="0"/>
                <a:cs typeface="MS PGothic" charset="0"/>
              </a:rPr>
              <a:pPr/>
              <a:t>34</a:t>
            </a:fld>
            <a:endParaRPr lang="en-AU" dirty="0">
              <a:ea typeface="MS PGothic" charset="0"/>
              <a:cs typeface="MS PGothic" charset="0"/>
            </a:endParaRPr>
          </a:p>
        </p:txBody>
      </p:sp>
      <p:sp>
        <p:nvSpPr>
          <p:cNvPr id="1044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445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33257678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3A185CD6-7070-034A-98D1-4DE0ED782253}" type="slidenum">
              <a:rPr lang="en-AU">
                <a:ea typeface="MS PGothic" charset="0"/>
                <a:cs typeface="MS PGothic" charset="0"/>
              </a:rPr>
              <a:pPr/>
              <a:t>35</a:t>
            </a:fld>
            <a:endParaRPr lang="en-AU" dirty="0">
              <a:ea typeface="MS PGothic" charset="0"/>
              <a:cs typeface="MS PGothic" charset="0"/>
            </a:endParaRPr>
          </a:p>
        </p:txBody>
      </p:sp>
      <p:sp>
        <p:nvSpPr>
          <p:cNvPr id="1064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649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28855233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DF9222-64D0-44E7-9600-BBD4A6366366}" type="slidenum">
              <a:rPr lang="en-US"/>
              <a:pPr/>
              <a:t>38</a:t>
            </a:fld>
            <a:endParaRPr lang="en-US"/>
          </a:p>
        </p:txBody>
      </p:sp>
      <p:sp>
        <p:nvSpPr>
          <p:cNvPr id="764930" name="Rectangle 2"/>
          <p:cNvSpPr>
            <a:spLocks noGrp="1" noRot="1" noChangeAspect="1" noChangeArrowheads="1" noTextEdit="1"/>
          </p:cNvSpPr>
          <p:nvPr>
            <p:ph type="sldImg"/>
          </p:nvPr>
        </p:nvSpPr>
        <p:spPr>
          <a:ln/>
        </p:spPr>
      </p:sp>
      <p:sp>
        <p:nvSpPr>
          <p:cNvPr id="764931" name="Rectangle 3"/>
          <p:cNvSpPr>
            <a:spLocks noGrp="1" noChangeArrowheads="1"/>
          </p:cNvSpPr>
          <p:nvPr>
            <p:ph type="body" idx="1"/>
          </p:nvPr>
        </p:nvSpPr>
        <p:spPr/>
        <p:txBody>
          <a:bodyPr/>
          <a:lstStyle/>
          <a:p>
            <a:pPr marL="228570" indent="-228570"/>
            <a:endParaRPr lang="en-US"/>
          </a:p>
        </p:txBody>
      </p:sp>
    </p:spTree>
    <p:extLst>
      <p:ext uri="{BB962C8B-B14F-4D97-AF65-F5344CB8AC3E}">
        <p14:creationId xmlns:p14="http://schemas.microsoft.com/office/powerpoint/2010/main" val="38358416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8D7D843B-5CD5-AC44-879C-53E46DAB0FB4}" type="slidenum">
              <a:rPr lang="en-AU">
                <a:ea typeface="MS PGothic" charset="0"/>
                <a:cs typeface="MS PGothic" charset="0"/>
              </a:rPr>
              <a:pPr/>
              <a:t>39</a:t>
            </a:fld>
            <a:endParaRPr lang="en-AU" dirty="0">
              <a:ea typeface="MS PGothic" charset="0"/>
              <a:cs typeface="MS PGothic" charset="0"/>
            </a:endParaRPr>
          </a:p>
        </p:txBody>
      </p:sp>
      <p:sp>
        <p:nvSpPr>
          <p:cNvPr id="11059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059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9145133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8D7D843B-5CD5-AC44-879C-53E46DAB0FB4}" type="slidenum">
              <a:rPr lang="en-AU">
                <a:ea typeface="MS PGothic" charset="0"/>
                <a:cs typeface="MS PGothic" charset="0"/>
              </a:rPr>
              <a:pPr/>
              <a:t>40</a:t>
            </a:fld>
            <a:endParaRPr lang="en-AU" dirty="0">
              <a:ea typeface="MS PGothic" charset="0"/>
              <a:cs typeface="MS PGothic" charset="0"/>
            </a:endParaRPr>
          </a:p>
        </p:txBody>
      </p:sp>
      <p:sp>
        <p:nvSpPr>
          <p:cNvPr id="11059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059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35829757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8D7D843B-5CD5-AC44-879C-53E46DAB0FB4}" type="slidenum">
              <a:rPr lang="en-AU">
                <a:ea typeface="MS PGothic" charset="0"/>
                <a:cs typeface="MS PGothic" charset="0"/>
              </a:rPr>
              <a:pPr/>
              <a:t>41</a:t>
            </a:fld>
            <a:endParaRPr lang="en-AU" dirty="0">
              <a:ea typeface="MS PGothic" charset="0"/>
              <a:cs typeface="MS PGothic" charset="0"/>
            </a:endParaRPr>
          </a:p>
        </p:txBody>
      </p:sp>
      <p:sp>
        <p:nvSpPr>
          <p:cNvPr id="11059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059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35092209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8D7D843B-5CD5-AC44-879C-53E46DAB0FB4}" type="slidenum">
              <a:rPr lang="en-AU">
                <a:ea typeface="MS PGothic" charset="0"/>
                <a:cs typeface="MS PGothic" charset="0"/>
              </a:rPr>
              <a:pPr/>
              <a:t>42</a:t>
            </a:fld>
            <a:endParaRPr lang="en-AU" dirty="0">
              <a:ea typeface="MS PGothic" charset="0"/>
              <a:cs typeface="MS PGothic" charset="0"/>
            </a:endParaRPr>
          </a:p>
        </p:txBody>
      </p:sp>
      <p:sp>
        <p:nvSpPr>
          <p:cNvPr id="11059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059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7888282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8D7D843B-5CD5-AC44-879C-53E46DAB0FB4}" type="slidenum">
              <a:rPr lang="en-AU">
                <a:ea typeface="MS PGothic" charset="0"/>
                <a:cs typeface="MS PGothic" charset="0"/>
              </a:rPr>
              <a:pPr/>
              <a:t>43</a:t>
            </a:fld>
            <a:endParaRPr lang="en-AU" dirty="0">
              <a:ea typeface="MS PGothic" charset="0"/>
              <a:cs typeface="MS PGothic" charset="0"/>
            </a:endParaRPr>
          </a:p>
        </p:txBody>
      </p:sp>
      <p:sp>
        <p:nvSpPr>
          <p:cNvPr id="11059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059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7888282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57066" indent="-291179">
              <a:defRPr>
                <a:solidFill>
                  <a:schemeClr val="tx1"/>
                </a:solidFill>
                <a:latin typeface="Arial" charset="0"/>
                <a:ea typeface="Arial" charset="0"/>
                <a:cs typeface="Arial" charset="0"/>
              </a:defRPr>
            </a:lvl2pPr>
            <a:lvl3pPr marL="1164717" indent="-232943">
              <a:defRPr>
                <a:solidFill>
                  <a:schemeClr val="tx1"/>
                </a:solidFill>
                <a:latin typeface="Arial" charset="0"/>
                <a:ea typeface="Arial" charset="0"/>
                <a:cs typeface="Arial" charset="0"/>
              </a:defRPr>
            </a:lvl3pPr>
            <a:lvl4pPr marL="1630604" indent="-232943">
              <a:defRPr>
                <a:solidFill>
                  <a:schemeClr val="tx1"/>
                </a:solidFill>
                <a:latin typeface="Arial" charset="0"/>
                <a:ea typeface="Arial" charset="0"/>
                <a:cs typeface="Arial" charset="0"/>
              </a:defRPr>
            </a:lvl4pPr>
            <a:lvl5pPr marL="2096491" indent="-232943">
              <a:defRPr>
                <a:solidFill>
                  <a:schemeClr val="tx1"/>
                </a:solidFill>
                <a:latin typeface="Arial" charset="0"/>
                <a:ea typeface="Arial" charset="0"/>
                <a:cs typeface="Arial" charset="0"/>
              </a:defRPr>
            </a:lvl5pPr>
            <a:lvl6pPr marL="2562377" indent="-232943" fontAlgn="base">
              <a:spcBef>
                <a:spcPct val="0"/>
              </a:spcBef>
              <a:spcAft>
                <a:spcPct val="0"/>
              </a:spcAft>
              <a:defRPr>
                <a:solidFill>
                  <a:schemeClr val="tx1"/>
                </a:solidFill>
                <a:latin typeface="Arial" charset="0"/>
                <a:ea typeface="Arial" charset="0"/>
                <a:cs typeface="Arial" charset="0"/>
              </a:defRPr>
            </a:lvl6pPr>
            <a:lvl7pPr marL="3028264" indent="-232943" fontAlgn="base">
              <a:spcBef>
                <a:spcPct val="0"/>
              </a:spcBef>
              <a:spcAft>
                <a:spcPct val="0"/>
              </a:spcAft>
              <a:defRPr>
                <a:solidFill>
                  <a:schemeClr val="tx1"/>
                </a:solidFill>
                <a:latin typeface="Arial" charset="0"/>
                <a:ea typeface="Arial" charset="0"/>
                <a:cs typeface="Arial" charset="0"/>
              </a:defRPr>
            </a:lvl7pPr>
            <a:lvl8pPr marL="3494151" indent="-232943" fontAlgn="base">
              <a:spcBef>
                <a:spcPct val="0"/>
              </a:spcBef>
              <a:spcAft>
                <a:spcPct val="0"/>
              </a:spcAft>
              <a:defRPr>
                <a:solidFill>
                  <a:schemeClr val="tx1"/>
                </a:solidFill>
                <a:latin typeface="Arial" charset="0"/>
                <a:ea typeface="Arial" charset="0"/>
                <a:cs typeface="Arial" charset="0"/>
              </a:defRPr>
            </a:lvl8pPr>
            <a:lvl9pPr marL="3960038" indent="-232943" fontAlgn="base">
              <a:spcBef>
                <a:spcPct val="0"/>
              </a:spcBef>
              <a:spcAft>
                <a:spcPct val="0"/>
              </a:spcAft>
              <a:defRPr>
                <a:solidFill>
                  <a:schemeClr val="tx1"/>
                </a:solidFill>
                <a:latin typeface="Arial" charset="0"/>
                <a:ea typeface="Arial" charset="0"/>
                <a:cs typeface="Arial" charset="0"/>
              </a:defRPr>
            </a:lvl9pPr>
          </a:lstStyle>
          <a:p>
            <a:fld id="{8D7D843B-5CD5-AC44-879C-53E46DAB0FB4}" type="slidenum">
              <a:rPr lang="en-AU">
                <a:ea typeface="MS PGothic" charset="0"/>
                <a:cs typeface="MS PGothic" charset="0"/>
              </a:rPr>
              <a:pPr/>
              <a:t>44</a:t>
            </a:fld>
            <a:endParaRPr lang="en-AU" dirty="0">
              <a:ea typeface="MS PGothic" charset="0"/>
              <a:cs typeface="MS PGothic" charset="0"/>
            </a:endParaRPr>
          </a:p>
        </p:txBody>
      </p:sp>
      <p:sp>
        <p:nvSpPr>
          <p:cNvPr id="11059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059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Calibri" charset="0"/>
              <a:ea typeface="MS PGothic" charset="0"/>
              <a:cs typeface="MS PGothic" charset="0"/>
            </a:endParaRPr>
          </a:p>
        </p:txBody>
      </p:sp>
    </p:spTree>
    <p:extLst>
      <p:ext uri="{BB962C8B-B14F-4D97-AF65-F5344CB8AC3E}">
        <p14:creationId xmlns:p14="http://schemas.microsoft.com/office/powerpoint/2010/main" val="788828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TextBox 3"/>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DF9C12CE-0FD8-364D-9768-5447276E87B3}"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ctrTitle"/>
          </p:nvPr>
        </p:nvSpPr>
        <p:spPr>
          <a:xfrm>
            <a:off x="685800" y="2130425"/>
            <a:ext cx="7772400" cy="1470025"/>
          </a:xfrm>
        </p:spPr>
        <p:txBody>
          <a:bodyPr/>
          <a:lstStyle/>
          <a:p>
            <a:r>
              <a:rPr lang="en-AU"/>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a:t>Click to edit Master subtitle style</a:t>
            </a:r>
            <a:endParaRPr lang="en-US"/>
          </a:p>
        </p:txBody>
      </p:sp>
    </p:spTree>
    <p:extLst>
      <p:ext uri="{BB962C8B-B14F-4D97-AF65-F5344CB8AC3E}">
        <p14:creationId xmlns:p14="http://schemas.microsoft.com/office/powerpoint/2010/main" val="246964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TextBox 3"/>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40851343-75B4-5B41-BA15-A1E5D1AFA31C}"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lvl1pPr marL="342900" indent="-342900">
              <a:buClr>
                <a:schemeClr val="accent1"/>
              </a:buClr>
              <a:buFont typeface="Arial Unicode MS"/>
              <a:buChar char="▶"/>
              <a:defRPr/>
            </a:lvl1pPr>
            <a:lvl2pPr marL="742950" indent="-285750">
              <a:buClr>
                <a:schemeClr val="accent1"/>
              </a:buClr>
              <a:buFont typeface="Arial Unicode MS"/>
              <a:buChar char="▶"/>
              <a:defRPr/>
            </a:lvl2pPr>
            <a:lvl3pPr marL="1143000" indent="-228600">
              <a:buClr>
                <a:schemeClr val="accent1"/>
              </a:buClr>
              <a:buFont typeface="Arial Unicode MS"/>
              <a:buChar char="▶"/>
              <a:defRPr/>
            </a:lvl3pPr>
            <a:lvl4pPr marL="1600200" indent="-228600">
              <a:buClr>
                <a:schemeClr val="accent1"/>
              </a:buClr>
              <a:buFont typeface="Arial Unicode MS"/>
              <a:buChar char="▶"/>
              <a:defRPr/>
            </a:lvl4pPr>
            <a:lvl5pPr marL="2057400" indent="-228600">
              <a:buClr>
                <a:schemeClr val="accent1"/>
              </a:buClr>
              <a:buFont typeface="Arial Unicode MS"/>
              <a:buChar cha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2023379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spTree>
      <p:nvGrpSpPr>
        <p:cNvPr id="1" name=""/>
        <p:cNvGrpSpPr/>
        <p:nvPr/>
      </p:nvGrpSpPr>
      <p:grpSpPr>
        <a:xfrm>
          <a:off x="0" y="0"/>
          <a:ext cx="0" cy="0"/>
          <a:chOff x="0" y="0"/>
          <a:chExt cx="0" cy="0"/>
        </a:xfrm>
      </p:grpSpPr>
      <p:sp>
        <p:nvSpPr>
          <p:cNvPr id="4" name="TextBox 3"/>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BA5193B0-0154-3645-AAC6-F847D834F72F}"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a:t>Click to edit Master text styles</a:t>
            </a:r>
          </a:p>
        </p:txBody>
      </p:sp>
    </p:spTree>
    <p:extLst>
      <p:ext uri="{BB962C8B-B14F-4D97-AF65-F5344CB8AC3E}">
        <p14:creationId xmlns:p14="http://schemas.microsoft.com/office/powerpoint/2010/main" val="1833818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TextBox 4"/>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3062501F-5EAC-7245-8D34-C03DAAD42E71}"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6" name="TextBox 5"/>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215628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7" name="TextBox 6"/>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636BEDF9-1A21-6B43-B875-962A05A1E8E2}"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8" name="TextBox 7"/>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382910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par>
                          <p:cTn id="12" fill="hold">
                            <p:stCondLst>
                              <p:cond delay="3000"/>
                            </p:stCondLst>
                            <p:childTnLst>
                              <p:par>
                                <p:cTn id="13" presetID="18" presetClass="entr" presetSubtype="6" fill="hold" grpId="0" nodeType="afterEffect">
                                  <p:stCondLst>
                                    <p:cond delay="1000"/>
                                  </p:stCondLst>
                                  <p:childTnLst>
                                    <p:set>
                                      <p:cBhvr>
                                        <p:cTn id="14" dur="1" fill="hold">
                                          <p:stCondLst>
                                            <p:cond delay="0"/>
                                          </p:stCondLst>
                                        </p:cTn>
                                        <p:tgtEl>
                                          <p:spTgt spid="5"/>
                                        </p:tgtEl>
                                        <p:attrNameLst>
                                          <p:attrName>style.visibility</p:attrName>
                                        </p:attrNameLst>
                                      </p:cBhvr>
                                      <p:to>
                                        <p:strVal val="visible"/>
                                      </p:to>
                                    </p:set>
                                    <p:animEffect transition="in" filter="strips(downRight)">
                                      <p:cBhvr>
                                        <p:cTn id="15" dur="500"/>
                                        <p:tgtEl>
                                          <p:spTgt spid="5"/>
                                        </p:tgtEl>
                                      </p:cBhvr>
                                    </p:animEffect>
                                  </p:childTnLst>
                                </p:cTn>
                              </p:par>
                            </p:childTnLst>
                          </p:cTn>
                        </p:par>
                        <p:par>
                          <p:cTn id="16" fill="hold">
                            <p:stCondLst>
                              <p:cond delay="4500"/>
                            </p:stCondLst>
                            <p:childTnLst>
                              <p:par>
                                <p:cTn id="17" presetID="18" presetClass="entr" presetSubtype="6" fill="hold" grpId="0" nodeType="afterEffect">
                                  <p:stCondLst>
                                    <p:cond delay="1000"/>
                                  </p:stCondLst>
                                  <p:childTnLst>
                                    <p:set>
                                      <p:cBhvr>
                                        <p:cTn id="18" dur="1" fill="hold">
                                          <p:stCondLst>
                                            <p:cond delay="0"/>
                                          </p:stCondLst>
                                        </p:cTn>
                                        <p:tgtEl>
                                          <p:spTgt spid="6"/>
                                        </p:tgtEl>
                                        <p:attrNameLst>
                                          <p:attrName>style.visibility</p:attrName>
                                        </p:attrNameLst>
                                      </p:cBhvr>
                                      <p:to>
                                        <p:strVal val="visible"/>
                                      </p:to>
                                    </p:set>
                                    <p:animEffect transition="in" filter="strips(downRight)">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5" grpId="0" autoUpdateAnimBg="0"/>
      <p:bldP spid="6" grpId="0"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showMasterPhAnim="0" type="titleOnly" preserve="1">
  <p:cSld name="Title Only">
    <p:spTree>
      <p:nvGrpSpPr>
        <p:cNvPr id="1" name=""/>
        <p:cNvGrpSpPr/>
        <p:nvPr/>
      </p:nvGrpSpPr>
      <p:grpSpPr>
        <a:xfrm>
          <a:off x="0" y="0"/>
          <a:ext cx="0" cy="0"/>
          <a:chOff x="0" y="0"/>
          <a:chExt cx="0" cy="0"/>
        </a:xfrm>
      </p:grpSpPr>
      <p:sp>
        <p:nvSpPr>
          <p:cNvPr id="3" name="TextBox 2"/>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60EE7452-E89F-B44F-8EC6-5E7B2C87EB8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4" name="TextBox 3"/>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p:txBody>
          <a:bodyPr/>
          <a:lstStyle/>
          <a:p>
            <a:r>
              <a:rPr lang="en-AU"/>
              <a:t>Click to edit Master title style</a:t>
            </a:r>
            <a:endParaRPr lang="en-US"/>
          </a:p>
        </p:txBody>
      </p:sp>
    </p:spTree>
    <p:extLst>
      <p:ext uri="{BB962C8B-B14F-4D97-AF65-F5344CB8AC3E}">
        <p14:creationId xmlns:p14="http://schemas.microsoft.com/office/powerpoint/2010/main" val="747722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showMasterPhAnim="0" type="blank" preserve="1">
  <p:cSld name="Blank">
    <p:spTree>
      <p:nvGrpSpPr>
        <p:cNvPr id="1" name=""/>
        <p:cNvGrpSpPr/>
        <p:nvPr/>
      </p:nvGrpSpPr>
      <p:grpSpPr>
        <a:xfrm>
          <a:off x="0" y="0"/>
          <a:ext cx="0" cy="0"/>
          <a:chOff x="0" y="0"/>
          <a:chExt cx="0" cy="0"/>
        </a:xfrm>
      </p:grpSpPr>
      <p:sp>
        <p:nvSpPr>
          <p:cNvPr id="2" name="TextBox 1"/>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1BEF13AA-8851-2444-B9D7-768558950ADA}"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3" name="TextBox 2"/>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Tree>
    <p:extLst>
      <p:ext uri="{BB962C8B-B14F-4D97-AF65-F5344CB8AC3E}">
        <p14:creationId xmlns:p14="http://schemas.microsoft.com/office/powerpoint/2010/main" val="3614663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5" name="TextBox 4"/>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32A51939-0030-0A4E-A79E-17F611277B53}"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6" name="TextBox 5"/>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Tree>
    <p:extLst>
      <p:ext uri="{BB962C8B-B14F-4D97-AF65-F5344CB8AC3E}">
        <p14:creationId xmlns:p14="http://schemas.microsoft.com/office/powerpoint/2010/main" val="382208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spTree>
      <p:nvGrpSpPr>
        <p:cNvPr id="1" name=""/>
        <p:cNvGrpSpPr/>
        <p:nvPr/>
      </p:nvGrpSpPr>
      <p:grpSpPr>
        <a:xfrm>
          <a:off x="0" y="0"/>
          <a:ext cx="0" cy="0"/>
          <a:chOff x="0" y="0"/>
          <a:chExt cx="0" cy="0"/>
        </a:xfrm>
      </p:grpSpPr>
      <p:sp>
        <p:nvSpPr>
          <p:cNvPr id="6" name="TextBox 5"/>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9" name="TextBox 8"/>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3442813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nodePh="1">
                                  <p:stCondLst>
                                    <p:cond delay="100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showMasterPhAnim="0" type="vertTx" preserve="1">
  <p:cSld name="Title and Vertical Text">
    <p:spTree>
      <p:nvGrpSpPr>
        <p:cNvPr id="1" name=""/>
        <p:cNvGrpSpPr/>
        <p:nvPr/>
      </p:nvGrpSpPr>
      <p:grpSpPr>
        <a:xfrm>
          <a:off x="0" y="0"/>
          <a:ext cx="0" cy="0"/>
          <a:chOff x="0" y="0"/>
          <a:chExt cx="0" cy="0"/>
        </a:xfrm>
      </p:grpSpPr>
      <p:sp>
        <p:nvSpPr>
          <p:cNvPr id="5" name="TextBox 4"/>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8" name="TextBox 7"/>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21636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showMasterPhAnim="0" type="vertTitleAndTx" preserve="1">
  <p:cSld name="Vertical Title and Text">
    <p:spTree>
      <p:nvGrpSpPr>
        <p:cNvPr id="1" name=""/>
        <p:cNvGrpSpPr/>
        <p:nvPr/>
      </p:nvGrpSpPr>
      <p:grpSpPr>
        <a:xfrm>
          <a:off x="0" y="0"/>
          <a:ext cx="0" cy="0"/>
          <a:chOff x="0" y="0"/>
          <a:chExt cx="0" cy="0"/>
        </a:xfrm>
      </p:grpSpPr>
      <p:sp>
        <p:nvSpPr>
          <p:cNvPr id="4" name="TextBox 3"/>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Vertical Title 1"/>
          <p:cNvSpPr>
            <a:spLocks noGrp="1"/>
          </p:cNvSpPr>
          <p:nvPr>
            <p:ph type="title" orient="vert"/>
          </p:nvPr>
        </p:nvSpPr>
        <p:spPr>
          <a:xfrm>
            <a:off x="6629400" y="274638"/>
            <a:ext cx="2057400" cy="5851525"/>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23433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xOverObj">
  <p:cSld name="Title and Text over Content">
    <p:spTree>
      <p:nvGrpSpPr>
        <p:cNvPr id="1" name=""/>
        <p:cNvGrpSpPr/>
        <p:nvPr/>
      </p:nvGrpSpPr>
      <p:grpSpPr>
        <a:xfrm>
          <a:off x="0" y="0"/>
          <a:ext cx="0" cy="0"/>
          <a:chOff x="0" y="0"/>
          <a:chExt cx="0" cy="0"/>
        </a:xfrm>
      </p:grpSpPr>
      <p:sp>
        <p:nvSpPr>
          <p:cNvPr id="5" name="TextBox 4"/>
          <p:cNvSpPr txBox="1"/>
          <p:nvPr userDrawn="1"/>
        </p:nvSpPr>
        <p:spPr>
          <a:xfrm>
            <a:off x="7950200" y="6384925"/>
            <a:ext cx="748923" cy="276999"/>
          </a:xfrm>
          <a:prstGeom prst="rect">
            <a:avLst/>
          </a:prstGeom>
          <a:noFill/>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200" dirty="0">
                <a:solidFill>
                  <a:srgbClr val="A6A6A6"/>
                </a:solidFill>
              </a:rPr>
              <a:t>MD - </a:t>
            </a:r>
            <a:fld id="{D997E9B7-86B2-F54D-9574-2BF8339E7B12}" type="slidenum">
              <a:rPr lang="en-US" sz="1200">
                <a:solidFill>
                  <a:srgbClr val="A6A6A6"/>
                </a:solidFill>
              </a:rPr>
              <a:pPr/>
              <a:t>‹#›</a:t>
            </a:fld>
            <a:endParaRPr lang="en-US" sz="1200" dirty="0">
              <a:solidFill>
                <a:srgbClr val="A6A6A6"/>
              </a:solidFill>
            </a:endParaRPr>
          </a:p>
        </p:txBody>
      </p:sp>
      <p:sp>
        <p:nvSpPr>
          <p:cNvPr id="6" name="TextBox 5"/>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marL="0" marR="0" indent="0" algn="l" defTabSz="457200" rtl="0" eaLnBrk="1" fontAlgn="base" latinLnBrk="0" hangingPunct="1">
              <a:lnSpc>
                <a:spcPct val="100000"/>
              </a:lnSpc>
              <a:spcBef>
                <a:spcPct val="0"/>
              </a:spcBef>
              <a:spcAft>
                <a:spcPct val="0"/>
              </a:spcAft>
              <a:buClrTx/>
              <a:buSzTx/>
              <a:buFontTx/>
              <a:buNone/>
              <a:tabLst/>
              <a:defRPr/>
            </a:pPr>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a:xfrm>
            <a:off x="685800" y="434975"/>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177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40513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3284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AU"/>
              <a:t>Click to edit Master title style</a:t>
            </a:r>
            <a:endParaRPr lang="en-US"/>
          </a:p>
        </p:txBody>
      </p:sp>
      <p:sp>
        <p:nvSpPr>
          <p:cNvPr id="3"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8" name="TextBox 7"/>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6" name="TextBox 5"/>
          <p:cNvSpPr txBox="1"/>
          <p:nvPr userDrawn="1"/>
        </p:nvSpPr>
        <p:spPr>
          <a:xfrm>
            <a:off x="7975600" y="6384925"/>
            <a:ext cx="748923"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MD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tmplLst>
          <p:tmpl>
            <p:tnLst>
              <p:par>
                <p:cTn presetID="18" presetClass="entr" presetSubtype="6" fill="hold" nodeType="afterEffect">
                  <p:stCondLst>
                    <p:cond delay="1000"/>
                  </p:stCondLst>
                  <p:childTnLst>
                    <p:set>
                      <p:cBhvr>
                        <p:cTn dur="1" fill="hold">
                          <p:stCondLst>
                            <p:cond delay="0"/>
                          </p:stCondLst>
                        </p:cTn>
                        <p:tgtEl>
                          <p:spTgt spid="3"/>
                        </p:tgtEl>
                        <p:attrNameLst>
                          <p:attrName>style.visibility</p:attrName>
                        </p:attrNameLst>
                      </p:cBhvr>
                      <p:to>
                        <p:strVal val="visible"/>
                      </p:to>
                    </p:set>
                    <p:animEffect transition="in" filter="strips(downRight)">
                      <p:cBhvr>
                        <p:cTn dur="1000"/>
                        <p:tgtEl>
                          <p:spTgt spid="3"/>
                        </p:tgtEl>
                      </p:cBhvr>
                    </p:animEffect>
                  </p:childTnLst>
                </p:cTn>
              </p:par>
            </p:tnLst>
          </p:tmpl>
        </p:tmplLst>
      </p:bldP>
    </p:bldLst>
  </p:timing>
  <p:txStyles>
    <p:titleStyle>
      <a:lvl1pPr algn="ctr" defTabSz="457200" rtl="0" fontAlgn="base">
        <a:spcBef>
          <a:spcPct val="0"/>
        </a:spcBef>
        <a:spcAft>
          <a:spcPct val="0"/>
        </a:spcAft>
        <a:defRPr sz="4400" b="1" kern="1200">
          <a:solidFill>
            <a:schemeClr val="tx1"/>
          </a:solidFill>
          <a:latin typeface="Arial"/>
          <a:ea typeface="ＭＳ Ｐゴシック" charset="0"/>
          <a:cs typeface="Arial"/>
        </a:defRPr>
      </a:lvl1pPr>
      <a:lvl2pPr algn="ctr" defTabSz="457200" rtl="0" fontAlgn="base">
        <a:spcBef>
          <a:spcPct val="0"/>
        </a:spcBef>
        <a:spcAft>
          <a:spcPct val="0"/>
        </a:spcAft>
        <a:defRPr sz="4400" b="1">
          <a:solidFill>
            <a:schemeClr val="tx1"/>
          </a:solidFill>
          <a:latin typeface="Arial" charset="0"/>
          <a:ea typeface="ＭＳ Ｐゴシック" charset="0"/>
          <a:cs typeface="Arial" charset="0"/>
        </a:defRPr>
      </a:lvl2pPr>
      <a:lvl3pPr algn="ctr" defTabSz="457200" rtl="0" fontAlgn="base">
        <a:spcBef>
          <a:spcPct val="0"/>
        </a:spcBef>
        <a:spcAft>
          <a:spcPct val="0"/>
        </a:spcAft>
        <a:defRPr sz="4400" b="1">
          <a:solidFill>
            <a:schemeClr val="tx1"/>
          </a:solidFill>
          <a:latin typeface="Arial" charset="0"/>
          <a:ea typeface="ＭＳ Ｐゴシック" charset="0"/>
          <a:cs typeface="Arial" charset="0"/>
        </a:defRPr>
      </a:lvl3pPr>
      <a:lvl4pPr algn="ctr" defTabSz="457200" rtl="0" fontAlgn="base">
        <a:spcBef>
          <a:spcPct val="0"/>
        </a:spcBef>
        <a:spcAft>
          <a:spcPct val="0"/>
        </a:spcAft>
        <a:defRPr sz="4400" b="1">
          <a:solidFill>
            <a:schemeClr val="tx1"/>
          </a:solidFill>
          <a:latin typeface="Arial" charset="0"/>
          <a:ea typeface="ＭＳ Ｐゴシック" charset="0"/>
          <a:cs typeface="Arial" charset="0"/>
        </a:defRPr>
      </a:lvl4pPr>
      <a:lvl5pPr algn="ctr" defTabSz="457200" rtl="0" fontAlgn="base">
        <a:spcBef>
          <a:spcPct val="0"/>
        </a:spcBef>
        <a:spcAft>
          <a:spcPct val="0"/>
        </a:spcAft>
        <a:defRPr sz="4400" b="1">
          <a:solidFill>
            <a:schemeClr val="tx1"/>
          </a:solidFill>
          <a:latin typeface="Arial" charset="0"/>
          <a:ea typeface="ＭＳ Ｐゴシック" charset="0"/>
          <a:cs typeface="Arial" charset="0"/>
        </a:defRPr>
      </a:lvl5pPr>
      <a:lvl6pPr marL="457200" algn="ctr" defTabSz="457200" rtl="0" fontAlgn="base">
        <a:spcBef>
          <a:spcPct val="0"/>
        </a:spcBef>
        <a:spcAft>
          <a:spcPct val="0"/>
        </a:spcAft>
        <a:defRPr sz="4400" b="1">
          <a:solidFill>
            <a:schemeClr val="tx1"/>
          </a:solidFill>
          <a:latin typeface="Arial" charset="0"/>
          <a:ea typeface="ＭＳ Ｐゴシック" charset="0"/>
          <a:cs typeface="Arial" charset="0"/>
        </a:defRPr>
      </a:lvl6pPr>
      <a:lvl7pPr marL="914400" algn="ctr" defTabSz="457200" rtl="0" fontAlgn="base">
        <a:spcBef>
          <a:spcPct val="0"/>
        </a:spcBef>
        <a:spcAft>
          <a:spcPct val="0"/>
        </a:spcAft>
        <a:defRPr sz="4400" b="1">
          <a:solidFill>
            <a:schemeClr val="tx1"/>
          </a:solidFill>
          <a:latin typeface="Arial" charset="0"/>
          <a:ea typeface="ＭＳ Ｐゴシック" charset="0"/>
          <a:cs typeface="Arial" charset="0"/>
        </a:defRPr>
      </a:lvl7pPr>
      <a:lvl8pPr marL="1371600" algn="ctr" defTabSz="457200" rtl="0" fontAlgn="base">
        <a:spcBef>
          <a:spcPct val="0"/>
        </a:spcBef>
        <a:spcAft>
          <a:spcPct val="0"/>
        </a:spcAft>
        <a:defRPr sz="4400" b="1">
          <a:solidFill>
            <a:schemeClr val="tx1"/>
          </a:solidFill>
          <a:latin typeface="Arial" charset="0"/>
          <a:ea typeface="ＭＳ Ｐゴシック" charset="0"/>
          <a:cs typeface="Arial" charset="0"/>
        </a:defRPr>
      </a:lvl8pPr>
      <a:lvl9pPr marL="1828800" algn="ctr" defTabSz="457200" rtl="0" fontAlgn="base">
        <a:spcBef>
          <a:spcPct val="0"/>
        </a:spcBef>
        <a:spcAft>
          <a:spcPct val="0"/>
        </a:spcAft>
        <a:defRPr sz="4400" b="1">
          <a:solidFill>
            <a:schemeClr val="tx1"/>
          </a:solidFill>
          <a:latin typeface="Arial" charset="0"/>
          <a:ea typeface="ＭＳ Ｐゴシック" charset="0"/>
          <a:cs typeface="Arial" charset="0"/>
        </a:defRPr>
      </a:lvl9pPr>
    </p:titleStyle>
    <p:bodyStyle>
      <a:lvl1pPr marL="342900" indent="-342900" algn="l" defTabSz="457200" rtl="0" fontAlgn="base">
        <a:lnSpc>
          <a:spcPct val="90000"/>
        </a:lnSpc>
        <a:spcBef>
          <a:spcPct val="0"/>
        </a:spcBef>
        <a:spcAft>
          <a:spcPts val="1200"/>
        </a:spcAft>
        <a:buClr>
          <a:schemeClr val="accent1"/>
        </a:buClr>
        <a:buFont typeface="Arial Unicode MS" charset="0"/>
        <a:buChar char="▶"/>
        <a:defRPr sz="3200" kern="1200">
          <a:solidFill>
            <a:schemeClr val="tx1"/>
          </a:solidFill>
          <a:latin typeface="Arial"/>
          <a:ea typeface="ＭＳ Ｐゴシック" charset="0"/>
          <a:cs typeface="Arial"/>
        </a:defRPr>
      </a:lvl1pPr>
      <a:lvl2pPr marL="742950" indent="-285750" algn="l" defTabSz="457200" rtl="0" fontAlgn="base">
        <a:lnSpc>
          <a:spcPct val="90000"/>
        </a:lnSpc>
        <a:spcBef>
          <a:spcPct val="0"/>
        </a:spcBef>
        <a:spcAft>
          <a:spcPts val="1200"/>
        </a:spcAft>
        <a:buClr>
          <a:schemeClr val="accent1"/>
        </a:buClr>
        <a:buFont typeface="Arial Unicode MS" charset="0"/>
        <a:buChar char="▶"/>
        <a:defRPr sz="2800" kern="1200">
          <a:solidFill>
            <a:schemeClr val="tx1"/>
          </a:solidFill>
          <a:latin typeface="Arial"/>
          <a:ea typeface="Arial" charset="0"/>
          <a:cs typeface="Arial"/>
        </a:defRPr>
      </a:lvl2pPr>
      <a:lvl3pPr marL="1143000" indent="-228600" algn="l" defTabSz="457200" rtl="0" fontAlgn="base">
        <a:lnSpc>
          <a:spcPct val="90000"/>
        </a:lnSpc>
        <a:spcBef>
          <a:spcPct val="0"/>
        </a:spcBef>
        <a:spcAft>
          <a:spcPts val="1200"/>
        </a:spcAft>
        <a:buClr>
          <a:schemeClr val="accent1"/>
        </a:buClr>
        <a:buFont typeface="Arial Unicode MS" charset="0"/>
        <a:buChar char="▶"/>
        <a:defRPr sz="2400" kern="1200">
          <a:solidFill>
            <a:schemeClr val="tx1"/>
          </a:solidFill>
          <a:latin typeface="Arial"/>
          <a:ea typeface="Arial" charset="0"/>
          <a:cs typeface="Arial"/>
        </a:defRPr>
      </a:lvl3pPr>
      <a:lvl4pPr marL="1600200" indent="-228600" algn="l" defTabSz="457200" rtl="0" fontAlgn="base">
        <a:lnSpc>
          <a:spcPct val="90000"/>
        </a:lnSpc>
        <a:spcBef>
          <a:spcPct val="0"/>
        </a:spcBef>
        <a:spcAft>
          <a:spcPts val="1200"/>
        </a:spcAft>
        <a:buClr>
          <a:schemeClr val="accent1"/>
        </a:buClr>
        <a:buFont typeface="Arial Unicode MS" charset="0"/>
        <a:buChar char="▶"/>
        <a:defRPr sz="2000" kern="1200">
          <a:solidFill>
            <a:schemeClr val="tx1"/>
          </a:solidFill>
          <a:latin typeface="Arial"/>
          <a:ea typeface="Arial" charset="0"/>
          <a:cs typeface="Arial"/>
        </a:defRPr>
      </a:lvl4pPr>
      <a:lvl5pPr marL="2057400" indent="-228600" algn="l" defTabSz="457200" rtl="0" fontAlgn="base">
        <a:lnSpc>
          <a:spcPct val="90000"/>
        </a:lnSpc>
        <a:spcBef>
          <a:spcPct val="0"/>
        </a:spcBef>
        <a:spcAft>
          <a:spcPts val="1200"/>
        </a:spcAft>
        <a:buClr>
          <a:schemeClr val="accent1"/>
        </a:buClr>
        <a:buFont typeface="Arial Unicode MS" charset="0"/>
        <a:buChar char="▶"/>
        <a:defRPr sz="2000" kern="1200">
          <a:solidFill>
            <a:schemeClr val="tx1"/>
          </a:solidFill>
          <a:latin typeface="Arial"/>
          <a:ea typeface="Arial"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oleObject" Target="../embeddings/oleObject5.bin"/><Relationship Id="rId10" Type="http://schemas.openxmlformats.org/officeDocument/2006/relationships/image" Target="../media/image11.emf"/><Relationship Id="rId4" Type="http://schemas.openxmlformats.org/officeDocument/2006/relationships/image" Target="../media/image8.emf"/><Relationship Id="rId9" Type="http://schemas.openxmlformats.org/officeDocument/2006/relationships/oleObject" Target="../embeddings/oleObject7.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NUL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14.emf"/><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3.emf"/><Relationship Id="rId5" Type="http://schemas.openxmlformats.org/officeDocument/2006/relationships/oleObject" Target="../embeddings/oleObject9.bin"/><Relationship Id="rId4" Type="http://schemas.openxmlformats.org/officeDocument/2006/relationships/image" Target="../media/image12.emf"/></Relationships>
</file>

<file path=ppt/slides/_rels/slide41.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oleObject" Target="../embeddings/oleObject11.bin"/><Relationship Id="rId4" Type="http://schemas.openxmlformats.org/officeDocument/2006/relationships/image" Target="../media/image15.emf"/></Relationships>
</file>

<file path=ppt/slides/_rels/slide4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43.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oleObject" Target="../embeddings/oleObject14.bin"/><Relationship Id="rId4" Type="http://schemas.openxmlformats.org/officeDocument/2006/relationships/image" Target="../media/image20.emf"/></Relationships>
</file>

<file path=ppt/slides/_rels/slide44.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4.emf"/><Relationship Id="rId5" Type="http://schemas.openxmlformats.org/officeDocument/2006/relationships/oleObject" Target="../embeddings/oleObject17.bin"/><Relationship Id="rId4" Type="http://schemas.openxmlformats.org/officeDocument/2006/relationships/image" Target="../media/image2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d title.png"/>
          <p:cNvPicPr>
            <a:picLocks noChangeAspect="1"/>
          </p:cNvPicPr>
          <p:nvPr/>
        </p:nvPicPr>
        <p:blipFill rotWithShape="1">
          <a:blip r:embed="rId2">
            <a:alphaModFix amt="43000"/>
            <a:extLst>
              <a:ext uri="{28A0092B-C50C-407E-A947-70E740481C1C}">
                <a14:useLocalDpi xmlns:a14="http://schemas.microsoft.com/office/drawing/2010/main" val="0"/>
              </a:ext>
            </a:extLst>
          </a:blip>
          <a:srcRect l="6527"/>
          <a:stretch/>
        </p:blipFill>
        <p:spPr>
          <a:xfrm>
            <a:off x="0" y="1"/>
            <a:ext cx="9144000" cy="6858000"/>
          </a:xfrm>
          <a:prstGeom prst="rect">
            <a:avLst/>
          </a:prstGeom>
        </p:spPr>
      </p:pic>
      <p:sp>
        <p:nvSpPr>
          <p:cNvPr id="12" name="Rectangle 11"/>
          <p:cNvSpPr>
            <a:spLocks noChangeArrowheads="1"/>
          </p:cNvSpPr>
          <p:nvPr/>
        </p:nvSpPr>
        <p:spPr bwMode="auto">
          <a:xfrm>
            <a:off x="6838950" y="1109663"/>
            <a:ext cx="1708150" cy="1666875"/>
          </a:xfrm>
          <a:prstGeom prst="rect">
            <a:avLst/>
          </a:prstGeom>
          <a:solidFill>
            <a:srgbClr val="BFBFBF"/>
          </a:solidFill>
          <a:ln>
            <a:noFill/>
          </a:ln>
          <a:effectLst>
            <a:outerShdw blurRad="63500" dist="23000" dir="5400000" rotWithShape="0">
              <a:srgbClr val="000000">
                <a:alpha val="34999"/>
              </a:srgbClr>
            </a:outerShdw>
          </a:effectLst>
          <a:extLs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fontAlgn="auto">
              <a:spcBef>
                <a:spcPts val="0"/>
              </a:spcBef>
              <a:spcAft>
                <a:spcPts val="0"/>
              </a:spcAft>
              <a:defRPr/>
            </a:pPr>
            <a:endParaRPr lang="en-US" dirty="0">
              <a:solidFill>
                <a:schemeClr val="lt1"/>
              </a:solidFill>
              <a:latin typeface="+mn-lt"/>
              <a:ea typeface="+mn-ea"/>
              <a:cs typeface="+mn-cs"/>
            </a:endParaRPr>
          </a:p>
        </p:txBody>
      </p:sp>
      <p:grpSp>
        <p:nvGrpSpPr>
          <p:cNvPr id="13" name="Group 32"/>
          <p:cNvGrpSpPr>
            <a:grpSpLocks/>
          </p:cNvGrpSpPr>
          <p:nvPr/>
        </p:nvGrpSpPr>
        <p:grpSpPr bwMode="auto">
          <a:xfrm>
            <a:off x="368300" y="638175"/>
            <a:ext cx="6732588" cy="2363788"/>
            <a:chOff x="0" y="1417638"/>
            <a:chExt cx="7500407" cy="1305983"/>
          </a:xfrm>
        </p:grpSpPr>
        <p:sp>
          <p:nvSpPr>
            <p:cNvPr id="14" name="Rectangle 4"/>
            <p:cNvSpPr/>
            <p:nvPr/>
          </p:nvSpPr>
          <p:spPr>
            <a:xfrm>
              <a:off x="7056501" y="1564112"/>
              <a:ext cx="443906" cy="1159509"/>
            </a:xfrm>
            <a:custGeom>
              <a:avLst/>
              <a:gdLst>
                <a:gd name="connsiteX0" fmla="*/ 0 w 443441"/>
                <a:gd name="connsiteY0" fmla="*/ 0 h 1159933"/>
                <a:gd name="connsiteX1" fmla="*/ 443441 w 443441"/>
                <a:gd name="connsiteY1" fmla="*/ 0 h 1159933"/>
                <a:gd name="connsiteX2" fmla="*/ 443441 w 443441"/>
                <a:gd name="connsiteY2" fmla="*/ 1159933 h 1159933"/>
                <a:gd name="connsiteX3" fmla="*/ 0 w 443441"/>
                <a:gd name="connsiteY3" fmla="*/ 1159933 h 1159933"/>
                <a:gd name="connsiteX4" fmla="*/ 0 w 443441"/>
                <a:gd name="connsiteY4" fmla="*/ 0 h 1159933"/>
                <a:gd name="connsiteX0" fmla="*/ 0 w 443441"/>
                <a:gd name="connsiteY0" fmla="*/ 0 h 1159933"/>
                <a:gd name="connsiteX1" fmla="*/ 443441 w 443441"/>
                <a:gd name="connsiteY1" fmla="*/ 0 h 1159933"/>
                <a:gd name="connsiteX2" fmla="*/ 262467 w 443441"/>
                <a:gd name="connsiteY2" fmla="*/ 555095 h 1159933"/>
                <a:gd name="connsiteX3" fmla="*/ 443441 w 443441"/>
                <a:gd name="connsiteY3" fmla="*/ 1159933 h 1159933"/>
                <a:gd name="connsiteX4" fmla="*/ 0 w 443441"/>
                <a:gd name="connsiteY4" fmla="*/ 1159933 h 1159933"/>
                <a:gd name="connsiteX5" fmla="*/ 0 w 443441"/>
                <a:gd name="connsiteY5" fmla="*/ 0 h 1159933"/>
                <a:gd name="connsiteX0" fmla="*/ 0 w 443441"/>
                <a:gd name="connsiteY0" fmla="*/ 0 h 1159933"/>
                <a:gd name="connsiteX1" fmla="*/ 443441 w 443441"/>
                <a:gd name="connsiteY1" fmla="*/ 0 h 1159933"/>
                <a:gd name="connsiteX2" fmla="*/ 262467 w 443441"/>
                <a:gd name="connsiteY2" fmla="*/ 555095 h 1159933"/>
                <a:gd name="connsiteX3" fmla="*/ 443441 w 443441"/>
                <a:gd name="connsiteY3" fmla="*/ 1159933 h 1159933"/>
                <a:gd name="connsiteX4" fmla="*/ 0 w 443441"/>
                <a:gd name="connsiteY4" fmla="*/ 1159933 h 1159933"/>
                <a:gd name="connsiteX5" fmla="*/ 0 w 443441"/>
                <a:gd name="connsiteY5" fmla="*/ 0 h 1159933"/>
                <a:gd name="connsiteX0" fmla="*/ 0 w 443441"/>
                <a:gd name="connsiteY0" fmla="*/ 0 h 1159933"/>
                <a:gd name="connsiteX1" fmla="*/ 443441 w 443441"/>
                <a:gd name="connsiteY1" fmla="*/ 0 h 1159933"/>
                <a:gd name="connsiteX2" fmla="*/ 262467 w 443441"/>
                <a:gd name="connsiteY2" fmla="*/ 555095 h 1159933"/>
                <a:gd name="connsiteX3" fmla="*/ 443441 w 443441"/>
                <a:gd name="connsiteY3" fmla="*/ 1159933 h 1159933"/>
                <a:gd name="connsiteX4" fmla="*/ 0 w 443441"/>
                <a:gd name="connsiteY4" fmla="*/ 1159933 h 1159933"/>
                <a:gd name="connsiteX5" fmla="*/ 0 w 443441"/>
                <a:gd name="connsiteY5" fmla="*/ 0 h 1159933"/>
                <a:gd name="connsiteX0" fmla="*/ 0 w 443441"/>
                <a:gd name="connsiteY0" fmla="*/ 0 h 1159933"/>
                <a:gd name="connsiteX1" fmla="*/ 443441 w 443441"/>
                <a:gd name="connsiteY1" fmla="*/ 0 h 1159933"/>
                <a:gd name="connsiteX2" fmla="*/ 262467 w 443441"/>
                <a:gd name="connsiteY2" fmla="*/ 583670 h 1159933"/>
                <a:gd name="connsiteX3" fmla="*/ 443441 w 443441"/>
                <a:gd name="connsiteY3" fmla="*/ 1159933 h 1159933"/>
                <a:gd name="connsiteX4" fmla="*/ 0 w 443441"/>
                <a:gd name="connsiteY4" fmla="*/ 1159933 h 1159933"/>
                <a:gd name="connsiteX5" fmla="*/ 0 w 443441"/>
                <a:gd name="connsiteY5" fmla="*/ 0 h 1159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441" h="1159933">
                  <a:moveTo>
                    <a:pt x="0" y="0"/>
                  </a:moveTo>
                  <a:lnTo>
                    <a:pt x="443441" y="0"/>
                  </a:lnTo>
                  <a:lnTo>
                    <a:pt x="262467" y="583670"/>
                  </a:lnTo>
                  <a:lnTo>
                    <a:pt x="443441" y="1159933"/>
                  </a:lnTo>
                  <a:lnTo>
                    <a:pt x="0" y="1159933"/>
                  </a:lnTo>
                  <a:lnTo>
                    <a:pt x="0" y="0"/>
                  </a:lnTo>
                  <a:close/>
                </a:path>
              </a:pathLst>
            </a:custGeom>
            <a:solidFill>
              <a:schemeClr val="tx2"/>
            </a:solidFill>
            <a:ln w="25400">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Helvetica Neue"/>
                <a:cs typeface="Helvetica Neue"/>
              </a:endParaRPr>
            </a:p>
          </p:txBody>
        </p:sp>
        <p:sp>
          <p:nvSpPr>
            <p:cNvPr id="15" name="Rectangle 14"/>
            <p:cNvSpPr/>
            <p:nvPr/>
          </p:nvSpPr>
          <p:spPr>
            <a:xfrm>
              <a:off x="0" y="1417638"/>
              <a:ext cx="7208596" cy="1159509"/>
            </a:xfrm>
            <a:prstGeom prst="rect">
              <a:avLst/>
            </a:prstGeom>
            <a:solidFill>
              <a:schemeClr val="tx2"/>
            </a:solidFill>
            <a:ln w="25400">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Helvetica Neue"/>
                <a:cs typeface="Helvetica Neue"/>
              </a:endParaRPr>
            </a:p>
          </p:txBody>
        </p:sp>
        <p:sp>
          <p:nvSpPr>
            <p:cNvPr id="16" name="Freeform 15"/>
            <p:cNvSpPr>
              <a:spLocks/>
            </p:cNvSpPr>
            <p:nvPr/>
          </p:nvSpPr>
          <p:spPr bwMode="auto">
            <a:xfrm>
              <a:off x="7054850" y="2574925"/>
              <a:ext cx="149225" cy="142875"/>
            </a:xfrm>
            <a:custGeom>
              <a:avLst/>
              <a:gdLst>
                <a:gd name="T0" fmla="*/ 149225 w 149225"/>
                <a:gd name="T1" fmla="*/ 0 h 142875"/>
                <a:gd name="T2" fmla="*/ 0 w 149225"/>
                <a:gd name="T3" fmla="*/ 142875 h 142875"/>
                <a:gd name="T4" fmla="*/ 6350 w 149225"/>
                <a:gd name="T5" fmla="*/ 0 h 142875"/>
                <a:gd name="T6" fmla="*/ 149225 w 149225"/>
                <a:gd name="T7" fmla="*/ 0 h 14287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225" h="142875">
                  <a:moveTo>
                    <a:pt x="149225" y="0"/>
                  </a:moveTo>
                  <a:lnTo>
                    <a:pt x="0" y="142875"/>
                  </a:lnTo>
                  <a:lnTo>
                    <a:pt x="6350" y="0"/>
                  </a:lnTo>
                  <a:lnTo>
                    <a:pt x="149225" y="0"/>
                  </a:lnTo>
                  <a:close/>
                </a:path>
              </a:pathLst>
            </a:custGeom>
            <a:solidFill>
              <a:srgbClr val="7F7F7F"/>
            </a:solidFill>
            <a:ln>
              <a:noFill/>
            </a:ln>
            <a:effectLst>
              <a:outerShdw blurRad="63500" dist="23000" dir="5400000" rotWithShape="0">
                <a:srgbClr val="000000">
                  <a:alpha val="34999"/>
                </a:srgbClr>
              </a:outerShdw>
            </a:effectLst>
            <a:extLst>
              <a:ext uri="{91240B29-F687-4f45-9708-019B960494DF}">
                <a14:hiddenLine xmlns="" xmlns:a14="http://schemas.microsoft.com/office/drawing/2010/main" w="9525" cap="flat" cmpd="sng">
                  <a:solidFill>
                    <a:srgbClr val="000000"/>
                  </a:solidFill>
                  <a:prstDash val="solid"/>
                  <a:round/>
                  <a:headEnd/>
                  <a:tailEnd/>
                </a14:hiddenLine>
              </a:ext>
            </a:extLst>
          </p:spPr>
          <p:txBody>
            <a:bodyPr anchor="ctr"/>
            <a:lstStyle/>
            <a:p>
              <a:endParaRPr lang="en-US" dirty="0"/>
            </a:p>
          </p:txBody>
        </p:sp>
      </p:grpSp>
      <p:sp>
        <p:nvSpPr>
          <p:cNvPr id="17" name="Title 1"/>
          <p:cNvSpPr txBox="1">
            <a:spLocks/>
          </p:cNvSpPr>
          <p:nvPr/>
        </p:nvSpPr>
        <p:spPr bwMode="auto">
          <a:xfrm>
            <a:off x="406400" y="574675"/>
            <a:ext cx="6324600" cy="21669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r>
              <a:rPr lang="en-US" sz="4400" b="1" dirty="0">
                <a:solidFill>
                  <a:schemeClr val="bg1"/>
                </a:solidFill>
              </a:rPr>
              <a:t>Waiting-Line Models</a:t>
            </a:r>
          </a:p>
        </p:txBody>
      </p:sp>
      <p:sp>
        <p:nvSpPr>
          <p:cNvPr id="18" name="TextBox 17"/>
          <p:cNvSpPr txBox="1"/>
          <p:nvPr/>
        </p:nvSpPr>
        <p:spPr>
          <a:xfrm>
            <a:off x="6946900" y="874713"/>
            <a:ext cx="1069524" cy="2000548"/>
          </a:xfrm>
          <a:prstGeom prst="rect">
            <a:avLst/>
          </a:prstGeom>
          <a:noFill/>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2400" dirty="0">
                <a:solidFill>
                  <a:schemeClr val="bg1"/>
                </a:solidFill>
                <a:effectLst>
                  <a:outerShdw blurRad="38100" dist="38100" dir="2700000" algn="tl">
                    <a:srgbClr val="DDDDDD"/>
                  </a:outerShdw>
                </a:effectLst>
              </a:rPr>
              <a:t>8</a:t>
            </a:r>
          </a:p>
        </p:txBody>
      </p:sp>
      <p:sp>
        <p:nvSpPr>
          <p:cNvPr id="3" name="TextBox 2">
            <a:extLst>
              <a:ext uri="{FF2B5EF4-FFF2-40B4-BE49-F238E27FC236}">
                <a16:creationId xmlns:a16="http://schemas.microsoft.com/office/drawing/2014/main" id="{6596366C-F871-C1EB-F947-8785F2F7EDF7}"/>
              </a:ext>
            </a:extLst>
          </p:cNvPr>
          <p:cNvSpPr txBox="1"/>
          <p:nvPr/>
        </p:nvSpPr>
        <p:spPr>
          <a:xfrm>
            <a:off x="1318846" y="3798277"/>
            <a:ext cx="3505200" cy="584775"/>
          </a:xfrm>
          <a:prstGeom prst="rect">
            <a:avLst/>
          </a:prstGeom>
          <a:noFill/>
        </p:spPr>
        <p:txBody>
          <a:bodyPr wrap="square" rtlCol="0">
            <a:spAutoFit/>
          </a:bodyPr>
          <a:lstStyle/>
          <a:p>
            <a:r>
              <a:rPr lang="en-US" sz="3200" dirty="0"/>
              <a:t>MGT 207</a:t>
            </a:r>
          </a:p>
        </p:txBody>
      </p:sp>
    </p:spTree>
  </p:cSld>
  <p:clrMapOvr>
    <a:masterClrMapping/>
  </p:clrMapOvr>
  <p:transition spd="slow">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85800" y="228600"/>
            <a:ext cx="7772400" cy="1346200"/>
          </a:xfrm>
        </p:spPr>
        <p:txBody>
          <a:bodyPr rtlCol="0">
            <a:normAutofit fontScale="90000"/>
          </a:bodyPr>
          <a:lstStyle/>
          <a:p>
            <a:pPr fontAlgn="auto">
              <a:spcAft>
                <a:spcPts val="0"/>
              </a:spcAft>
              <a:defRPr/>
            </a:pPr>
            <a:r>
              <a:rPr lang="en-US" dirty="0">
                <a:latin typeface="Arial" charset="0"/>
              </a:rPr>
              <a:t>Common Queuing Situations</a:t>
            </a:r>
          </a:p>
        </p:txBody>
      </p:sp>
      <p:graphicFrame>
        <p:nvGraphicFramePr>
          <p:cNvPr id="27729" name="Group 81"/>
          <p:cNvGraphicFramePr>
            <a:graphicFrameLocks noGrp="1"/>
          </p:cNvGraphicFramePr>
          <p:nvPr>
            <p:extLst>
              <p:ext uri="{D42A27DB-BD31-4B8C-83A1-F6EECF244321}">
                <p14:modId xmlns:p14="http://schemas.microsoft.com/office/powerpoint/2010/main" val="3691989147"/>
              </p:ext>
            </p:extLst>
          </p:nvPr>
        </p:nvGraphicFramePr>
        <p:xfrm>
          <a:off x="368300" y="1816100"/>
          <a:ext cx="8407400" cy="3543305"/>
        </p:xfrm>
        <a:graphic>
          <a:graphicData uri="http://schemas.openxmlformats.org/drawingml/2006/table">
            <a:tbl>
              <a:tblPr/>
              <a:tblGrid>
                <a:gridCol w="1562100">
                  <a:extLst>
                    <a:ext uri="{9D8B030D-6E8A-4147-A177-3AD203B41FA5}">
                      <a16:colId xmlns:a16="http://schemas.microsoft.com/office/drawing/2014/main" val="20000"/>
                    </a:ext>
                  </a:extLst>
                </a:gridCol>
                <a:gridCol w="774700">
                  <a:extLst>
                    <a:ext uri="{9D8B030D-6E8A-4147-A177-3AD203B41FA5}">
                      <a16:colId xmlns:a16="http://schemas.microsoft.com/office/drawing/2014/main" val="20001"/>
                    </a:ext>
                  </a:extLst>
                </a:gridCol>
                <a:gridCol w="2463800">
                  <a:extLst>
                    <a:ext uri="{9D8B030D-6E8A-4147-A177-3AD203B41FA5}">
                      <a16:colId xmlns:a16="http://schemas.microsoft.com/office/drawing/2014/main" val="20002"/>
                    </a:ext>
                  </a:extLst>
                </a:gridCol>
                <a:gridCol w="3606800">
                  <a:extLst>
                    <a:ext uri="{9D8B030D-6E8A-4147-A177-3AD203B41FA5}">
                      <a16:colId xmlns:a16="http://schemas.microsoft.com/office/drawing/2014/main" val="20003"/>
                    </a:ext>
                  </a:extLst>
                </a:gridCol>
              </a:tblGrid>
              <a:tr h="354013">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rgbClr val="FFFFFF"/>
                          </a:solidFill>
                          <a:effectLst/>
                          <a:latin typeface="Arial" charset="0"/>
                          <a:ea typeface="MS PGothic" charset="0"/>
                          <a:cs typeface="MS PGothic" charset="0"/>
                        </a:rPr>
                        <a:t>TABLE D.1</a:t>
                      </a: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tx1"/>
                    </a:solidFill>
                  </a:tcPr>
                </a:tc>
                <a:tc gridSpan="3">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MS PGothic" charset="0"/>
                          <a:cs typeface="MS PGothic" charset="0"/>
                        </a:rPr>
                        <a:t>Common Queuing Situations</a:t>
                      </a: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4013">
                <a:tc gridSpan="2">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1" i="0" u="none" strike="noStrike" cap="none" normalizeH="0" baseline="0" dirty="0">
                          <a:ln>
                            <a:noFill/>
                          </a:ln>
                          <a:solidFill>
                            <a:schemeClr val="bg1"/>
                          </a:solidFill>
                          <a:effectLst/>
                          <a:latin typeface="Arial" charset="0"/>
                          <a:ea typeface="ＭＳ Ｐゴシック" charset="0"/>
                          <a:cs typeface="Arial" charset="0"/>
                        </a:rPr>
                        <a:t>SITUATION</a:t>
                      </a:r>
                      <a:endParaRPr kumimoji="0" lang="en-US" sz="1600" b="1" i="0" u="none" strike="noStrike" cap="none" normalizeH="0" baseline="0" dirty="0">
                        <a:ln>
                          <a:noFill/>
                        </a:ln>
                        <a:solidFill>
                          <a:schemeClr val="bg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1" i="0" u="none" strike="noStrike" cap="none" normalizeH="0" baseline="0" dirty="0">
                          <a:ln>
                            <a:noFill/>
                          </a:ln>
                          <a:solidFill>
                            <a:schemeClr val="bg1"/>
                          </a:solidFill>
                          <a:effectLst/>
                          <a:latin typeface="Arial" charset="0"/>
                          <a:ea typeface="ＭＳ Ｐゴシック" charset="0"/>
                          <a:cs typeface="Arial" charset="0"/>
                        </a:rPr>
                        <a:t>ARRIVALS IN QUEUE</a:t>
                      </a:r>
                      <a:endParaRPr kumimoji="0" lang="en-US" sz="1600" b="1" i="0" u="none" strike="noStrike" cap="none" normalizeH="0" baseline="0" dirty="0">
                        <a:ln>
                          <a:noFill/>
                        </a:ln>
                        <a:solidFill>
                          <a:schemeClr val="bg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1" i="0" u="none" strike="noStrike" cap="none" normalizeH="0" baseline="0" dirty="0">
                          <a:ln>
                            <a:noFill/>
                          </a:ln>
                          <a:solidFill>
                            <a:schemeClr val="bg1"/>
                          </a:solidFill>
                          <a:effectLst/>
                          <a:latin typeface="Arial" charset="0"/>
                          <a:ea typeface="ＭＳ Ｐゴシック" charset="0"/>
                          <a:cs typeface="Arial" charset="0"/>
                        </a:rPr>
                        <a:t>SERVICE PROCESS</a:t>
                      </a:r>
                      <a:endParaRPr kumimoji="0" lang="en-US" sz="1600" b="1" i="0" u="none" strike="noStrike" cap="none" normalizeH="0" baseline="0" dirty="0">
                        <a:ln>
                          <a:noFill/>
                        </a:ln>
                        <a:solidFill>
                          <a:schemeClr val="bg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54013">
                <a:tc gridSpan="2">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Supermarket</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Grocery shoppers</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174625" marR="0" lvl="0" indent="-174625"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Checkout clerks at cash register</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4013">
                <a:tc gridSpan="2">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Highway toll booth</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Automobiles</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Collection of tolls at booth</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4013">
                <a:tc gridSpan="2">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Doctor’s office</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Patients</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174625" marR="0" lvl="0" indent="-174625"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Treatment by doctors and nurses</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4013">
                <a:tc gridSpan="2">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Computer system</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Programs to be run</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Computer processes jobs</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4013">
                <a:tc gridSpan="2">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Telephone company</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Callers</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174625" marR="0" lvl="0" indent="-174625"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Switching equipment forwards calls</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4013">
                <a:tc gridSpan="2">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Bank</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Customers</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Transactions handled by teller</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4013">
                <a:tc gridSpan="2">
                  <a:txBody>
                    <a:bodyPr/>
                    <a:lstStyle/>
                    <a:p>
                      <a:pPr marL="174625" marR="0" lvl="0" indent="-174625"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Machine maintenance</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Broken machines</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Repair people fix machines</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7188">
                <a:tc gridSpan="2">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Harbor</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Ships and barges</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Dock workers load and unload</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907949744"/>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1000"/>
                                  </p:stCondLst>
                                  <p:childTnLst>
                                    <p:set>
                                      <p:cBhvr>
                                        <p:cTn id="6" dur="1" fill="hold">
                                          <p:stCondLst>
                                            <p:cond delay="0"/>
                                          </p:stCondLst>
                                        </p:cTn>
                                        <p:tgtEl>
                                          <p:spTgt spid="27729"/>
                                        </p:tgtEl>
                                        <p:attrNameLst>
                                          <p:attrName>style.visibility</p:attrName>
                                        </p:attrNameLst>
                                      </p:cBhvr>
                                      <p:to>
                                        <p:strVal val="visible"/>
                                      </p:to>
                                    </p:set>
                                    <p:animEffect transition="in" filter="strips(downRight)">
                                      <p:cBhvr>
                                        <p:cTn id="7" dur="1000"/>
                                        <p:tgtEl>
                                          <p:spTgt spid="27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152400"/>
            <a:ext cx="7772400" cy="838200"/>
          </a:xfrm>
        </p:spPr>
        <p:txBody>
          <a:bodyPr/>
          <a:lstStyle/>
          <a:p>
            <a:pPr eaLnBrk="1" hangingPunct="1"/>
            <a:r>
              <a:rPr lang="en-US" sz="2800" dirty="0">
                <a:latin typeface="Arial" charset="0"/>
                <a:cs typeface="Arial" charset="0"/>
              </a:rPr>
              <a:t>The Impact of Variability</a:t>
            </a:r>
          </a:p>
        </p:txBody>
      </p:sp>
      <p:sp>
        <p:nvSpPr>
          <p:cNvPr id="14339" name="Rectangle 3"/>
          <p:cNvSpPr>
            <a:spLocks noGrp="1" noChangeArrowheads="1"/>
          </p:cNvSpPr>
          <p:nvPr>
            <p:ph idx="1"/>
          </p:nvPr>
        </p:nvSpPr>
        <p:spPr>
          <a:xfrm>
            <a:off x="457200" y="860425"/>
            <a:ext cx="7772400" cy="4114800"/>
          </a:xfrm>
        </p:spPr>
        <p:txBody>
          <a:bodyPr/>
          <a:lstStyle/>
          <a:p>
            <a:pPr marL="0" indent="0" eaLnBrk="1" hangingPunct="1">
              <a:buNone/>
            </a:pPr>
            <a:r>
              <a:rPr lang="en-US" sz="1800" dirty="0">
                <a:latin typeface="Arial" charset="0"/>
                <a:cs typeface="Arial" charset="0"/>
              </a:rPr>
              <a:t>Question: Customers arrive every </a:t>
            </a:r>
            <a:r>
              <a:rPr lang="en-US" sz="1800" dirty="0">
                <a:solidFill>
                  <a:srgbClr val="FF0000"/>
                </a:solidFill>
                <a:latin typeface="Arial" charset="0"/>
                <a:cs typeface="Arial" charset="0"/>
              </a:rPr>
              <a:t>5 minutes </a:t>
            </a:r>
            <a:r>
              <a:rPr lang="en-US" sz="1800" dirty="0">
                <a:latin typeface="Arial" charset="0"/>
                <a:cs typeface="Arial" charset="0"/>
              </a:rPr>
              <a:t>and every service takes </a:t>
            </a:r>
            <a:r>
              <a:rPr lang="en-US" sz="1800" dirty="0">
                <a:solidFill>
                  <a:srgbClr val="FF0000"/>
                </a:solidFill>
                <a:latin typeface="Arial" charset="0"/>
                <a:cs typeface="Arial" charset="0"/>
              </a:rPr>
              <a:t>4 minutes</a:t>
            </a:r>
            <a:r>
              <a:rPr lang="en-US" sz="1800" dirty="0">
                <a:latin typeface="Arial" charset="0"/>
                <a:cs typeface="Arial" charset="0"/>
              </a:rPr>
              <a:t>. How long does each customer wait in line?</a:t>
            </a:r>
          </a:p>
        </p:txBody>
      </p:sp>
      <p:sp>
        <p:nvSpPr>
          <p:cNvPr id="698372" name="Line 4"/>
          <p:cNvSpPr>
            <a:spLocks noChangeShapeType="1"/>
          </p:cNvSpPr>
          <p:nvPr/>
        </p:nvSpPr>
        <p:spPr bwMode="auto">
          <a:xfrm>
            <a:off x="1371600" y="1752600"/>
            <a:ext cx="0" cy="3581400"/>
          </a:xfrm>
          <a:prstGeom prst="line">
            <a:avLst/>
          </a:prstGeom>
          <a:noFill/>
          <a:ln w="9525">
            <a:solidFill>
              <a:schemeClr val="tx1"/>
            </a:solidFill>
            <a:round/>
            <a:headEnd/>
            <a:tailEnd/>
          </a:ln>
        </p:spPr>
        <p:txBody>
          <a:bodyPr/>
          <a:lstStyle/>
          <a:p>
            <a:endParaRPr lang="en-US"/>
          </a:p>
        </p:txBody>
      </p:sp>
      <p:sp>
        <p:nvSpPr>
          <p:cNvPr id="698373" name="Line 5"/>
          <p:cNvSpPr>
            <a:spLocks noChangeShapeType="1"/>
          </p:cNvSpPr>
          <p:nvPr/>
        </p:nvSpPr>
        <p:spPr bwMode="auto">
          <a:xfrm>
            <a:off x="1371600" y="5334000"/>
            <a:ext cx="6324600" cy="0"/>
          </a:xfrm>
          <a:prstGeom prst="line">
            <a:avLst/>
          </a:prstGeom>
          <a:noFill/>
          <a:ln w="9525">
            <a:solidFill>
              <a:schemeClr val="tx1"/>
            </a:solidFill>
            <a:round/>
            <a:headEnd/>
            <a:tailEnd/>
          </a:ln>
        </p:spPr>
        <p:txBody>
          <a:bodyPr/>
          <a:lstStyle/>
          <a:p>
            <a:endParaRPr lang="en-US"/>
          </a:p>
        </p:txBody>
      </p:sp>
      <p:sp>
        <p:nvSpPr>
          <p:cNvPr id="698374" name="Line 6"/>
          <p:cNvSpPr>
            <a:spLocks noChangeShapeType="1"/>
          </p:cNvSpPr>
          <p:nvPr/>
        </p:nvSpPr>
        <p:spPr bwMode="auto">
          <a:xfrm>
            <a:off x="2133600" y="1752600"/>
            <a:ext cx="0" cy="3581400"/>
          </a:xfrm>
          <a:prstGeom prst="line">
            <a:avLst/>
          </a:prstGeom>
          <a:noFill/>
          <a:ln w="9525">
            <a:solidFill>
              <a:srgbClr val="FF0000"/>
            </a:solidFill>
            <a:prstDash val="dash"/>
            <a:round/>
            <a:headEnd/>
            <a:tailEnd/>
          </a:ln>
        </p:spPr>
        <p:txBody>
          <a:bodyPr/>
          <a:lstStyle/>
          <a:p>
            <a:endParaRPr lang="en-US"/>
          </a:p>
        </p:txBody>
      </p:sp>
      <p:sp>
        <p:nvSpPr>
          <p:cNvPr id="698375" name="Line 7"/>
          <p:cNvSpPr>
            <a:spLocks noChangeShapeType="1"/>
          </p:cNvSpPr>
          <p:nvPr/>
        </p:nvSpPr>
        <p:spPr bwMode="auto">
          <a:xfrm>
            <a:off x="2895600" y="1752600"/>
            <a:ext cx="0" cy="3581400"/>
          </a:xfrm>
          <a:prstGeom prst="line">
            <a:avLst/>
          </a:prstGeom>
          <a:noFill/>
          <a:ln w="9525">
            <a:solidFill>
              <a:srgbClr val="FF0000"/>
            </a:solidFill>
            <a:prstDash val="dash"/>
            <a:round/>
            <a:headEnd/>
            <a:tailEnd/>
          </a:ln>
        </p:spPr>
        <p:txBody>
          <a:bodyPr/>
          <a:lstStyle/>
          <a:p>
            <a:endParaRPr lang="en-US"/>
          </a:p>
        </p:txBody>
      </p:sp>
      <p:sp>
        <p:nvSpPr>
          <p:cNvPr id="698376" name="Line 8"/>
          <p:cNvSpPr>
            <a:spLocks noChangeShapeType="1"/>
          </p:cNvSpPr>
          <p:nvPr/>
        </p:nvSpPr>
        <p:spPr bwMode="auto">
          <a:xfrm>
            <a:off x="3657600" y="1752600"/>
            <a:ext cx="0" cy="3581400"/>
          </a:xfrm>
          <a:prstGeom prst="line">
            <a:avLst/>
          </a:prstGeom>
          <a:noFill/>
          <a:ln w="9525">
            <a:solidFill>
              <a:srgbClr val="FF0000"/>
            </a:solidFill>
            <a:prstDash val="dash"/>
            <a:round/>
            <a:headEnd/>
            <a:tailEnd/>
          </a:ln>
        </p:spPr>
        <p:txBody>
          <a:bodyPr/>
          <a:lstStyle/>
          <a:p>
            <a:endParaRPr lang="en-US"/>
          </a:p>
        </p:txBody>
      </p:sp>
      <p:sp>
        <p:nvSpPr>
          <p:cNvPr id="698377" name="Line 9"/>
          <p:cNvSpPr>
            <a:spLocks noChangeShapeType="1"/>
          </p:cNvSpPr>
          <p:nvPr/>
        </p:nvSpPr>
        <p:spPr bwMode="auto">
          <a:xfrm>
            <a:off x="4419600" y="1752600"/>
            <a:ext cx="0" cy="3581400"/>
          </a:xfrm>
          <a:prstGeom prst="line">
            <a:avLst/>
          </a:prstGeom>
          <a:noFill/>
          <a:ln w="9525">
            <a:solidFill>
              <a:srgbClr val="FF0000"/>
            </a:solidFill>
            <a:prstDash val="dash"/>
            <a:round/>
            <a:headEnd/>
            <a:tailEnd/>
          </a:ln>
        </p:spPr>
        <p:txBody>
          <a:bodyPr/>
          <a:lstStyle/>
          <a:p>
            <a:endParaRPr lang="en-US"/>
          </a:p>
        </p:txBody>
      </p:sp>
      <p:sp>
        <p:nvSpPr>
          <p:cNvPr id="698378" name="Line 10"/>
          <p:cNvSpPr>
            <a:spLocks noChangeShapeType="1"/>
          </p:cNvSpPr>
          <p:nvPr/>
        </p:nvSpPr>
        <p:spPr bwMode="auto">
          <a:xfrm>
            <a:off x="5181600" y="1752600"/>
            <a:ext cx="0" cy="3581400"/>
          </a:xfrm>
          <a:prstGeom prst="line">
            <a:avLst/>
          </a:prstGeom>
          <a:noFill/>
          <a:ln w="9525">
            <a:solidFill>
              <a:srgbClr val="FF0000"/>
            </a:solidFill>
            <a:prstDash val="dash"/>
            <a:round/>
            <a:headEnd/>
            <a:tailEnd/>
          </a:ln>
        </p:spPr>
        <p:txBody>
          <a:bodyPr/>
          <a:lstStyle/>
          <a:p>
            <a:endParaRPr lang="en-US"/>
          </a:p>
        </p:txBody>
      </p:sp>
      <p:sp>
        <p:nvSpPr>
          <p:cNvPr id="698379" name="Line 11"/>
          <p:cNvSpPr>
            <a:spLocks noChangeShapeType="1"/>
          </p:cNvSpPr>
          <p:nvPr/>
        </p:nvSpPr>
        <p:spPr bwMode="auto">
          <a:xfrm>
            <a:off x="5943600" y="1752600"/>
            <a:ext cx="0" cy="3581400"/>
          </a:xfrm>
          <a:prstGeom prst="line">
            <a:avLst/>
          </a:prstGeom>
          <a:noFill/>
          <a:ln w="9525">
            <a:solidFill>
              <a:srgbClr val="FF0000"/>
            </a:solidFill>
            <a:prstDash val="dash"/>
            <a:round/>
            <a:headEnd/>
            <a:tailEnd/>
          </a:ln>
        </p:spPr>
        <p:txBody>
          <a:bodyPr/>
          <a:lstStyle/>
          <a:p>
            <a:endParaRPr lang="en-US"/>
          </a:p>
        </p:txBody>
      </p:sp>
      <p:sp>
        <p:nvSpPr>
          <p:cNvPr id="698380" name="Line 12"/>
          <p:cNvSpPr>
            <a:spLocks noChangeShapeType="1"/>
          </p:cNvSpPr>
          <p:nvPr/>
        </p:nvSpPr>
        <p:spPr bwMode="auto">
          <a:xfrm>
            <a:off x="6705600" y="1752600"/>
            <a:ext cx="0" cy="3581400"/>
          </a:xfrm>
          <a:prstGeom prst="line">
            <a:avLst/>
          </a:prstGeom>
          <a:noFill/>
          <a:ln w="9525">
            <a:solidFill>
              <a:srgbClr val="FF0000"/>
            </a:solidFill>
            <a:prstDash val="dash"/>
            <a:round/>
            <a:headEnd/>
            <a:tailEnd/>
          </a:ln>
        </p:spPr>
        <p:txBody>
          <a:bodyPr/>
          <a:lstStyle/>
          <a:p>
            <a:endParaRPr lang="en-US"/>
          </a:p>
        </p:txBody>
      </p:sp>
      <p:sp>
        <p:nvSpPr>
          <p:cNvPr id="698381" name="Line 13"/>
          <p:cNvSpPr>
            <a:spLocks noChangeShapeType="1"/>
          </p:cNvSpPr>
          <p:nvPr/>
        </p:nvSpPr>
        <p:spPr bwMode="auto">
          <a:xfrm>
            <a:off x="7467600" y="1752600"/>
            <a:ext cx="0" cy="3581400"/>
          </a:xfrm>
          <a:prstGeom prst="line">
            <a:avLst/>
          </a:prstGeom>
          <a:noFill/>
          <a:ln w="9525">
            <a:solidFill>
              <a:srgbClr val="FF0000"/>
            </a:solidFill>
            <a:prstDash val="dash"/>
            <a:round/>
            <a:headEnd/>
            <a:tailEnd/>
          </a:ln>
        </p:spPr>
        <p:txBody>
          <a:bodyPr/>
          <a:lstStyle/>
          <a:p>
            <a:endParaRPr lang="en-US"/>
          </a:p>
        </p:txBody>
      </p:sp>
      <p:sp>
        <p:nvSpPr>
          <p:cNvPr id="698382" name="Rectangle 14"/>
          <p:cNvSpPr>
            <a:spLocks noChangeArrowheads="1"/>
          </p:cNvSpPr>
          <p:nvPr/>
        </p:nvSpPr>
        <p:spPr bwMode="auto">
          <a:xfrm>
            <a:off x="1447800" y="1600200"/>
            <a:ext cx="609600" cy="228600"/>
          </a:xfrm>
          <a:prstGeom prst="rect">
            <a:avLst/>
          </a:prstGeom>
          <a:noFill/>
          <a:ln w="9525">
            <a:noFill/>
            <a:miter lim="800000"/>
            <a:headEnd/>
            <a:tailEnd/>
          </a:ln>
        </p:spPr>
        <p:txBody>
          <a:bodyPr wrap="none" anchor="ctr"/>
          <a:lstStyle/>
          <a:p>
            <a:r>
              <a:rPr lang="en-US" sz="1000"/>
              <a:t>Customer 1</a:t>
            </a:r>
          </a:p>
        </p:txBody>
      </p:sp>
      <p:sp>
        <p:nvSpPr>
          <p:cNvPr id="698383" name="Rectangle 15"/>
          <p:cNvSpPr>
            <a:spLocks noChangeArrowheads="1"/>
          </p:cNvSpPr>
          <p:nvPr/>
        </p:nvSpPr>
        <p:spPr bwMode="auto">
          <a:xfrm>
            <a:off x="2209800" y="1905000"/>
            <a:ext cx="609600" cy="228600"/>
          </a:xfrm>
          <a:prstGeom prst="rect">
            <a:avLst/>
          </a:prstGeom>
          <a:noFill/>
          <a:ln w="9525">
            <a:noFill/>
            <a:miter lim="800000"/>
            <a:headEnd/>
            <a:tailEnd/>
          </a:ln>
        </p:spPr>
        <p:txBody>
          <a:bodyPr wrap="none" anchor="ctr"/>
          <a:lstStyle/>
          <a:p>
            <a:r>
              <a:rPr lang="en-US" sz="1000"/>
              <a:t>Customer 2</a:t>
            </a:r>
          </a:p>
        </p:txBody>
      </p:sp>
      <p:sp>
        <p:nvSpPr>
          <p:cNvPr id="698384" name="Rectangle 16"/>
          <p:cNvSpPr>
            <a:spLocks noChangeArrowheads="1"/>
          </p:cNvSpPr>
          <p:nvPr/>
        </p:nvSpPr>
        <p:spPr bwMode="auto">
          <a:xfrm>
            <a:off x="1371600" y="1828800"/>
            <a:ext cx="609600" cy="304800"/>
          </a:xfrm>
          <a:prstGeom prst="rect">
            <a:avLst/>
          </a:prstGeom>
          <a:solidFill>
            <a:srgbClr val="66CCFF"/>
          </a:solidFill>
          <a:ln w="9525">
            <a:solidFill>
              <a:schemeClr val="tx1"/>
            </a:solidFill>
            <a:miter lim="800000"/>
            <a:headEnd/>
            <a:tailEnd/>
          </a:ln>
        </p:spPr>
        <p:txBody>
          <a:bodyPr wrap="none" anchor="ctr"/>
          <a:lstStyle/>
          <a:p>
            <a:endParaRPr lang="en-US"/>
          </a:p>
        </p:txBody>
      </p:sp>
      <p:sp>
        <p:nvSpPr>
          <p:cNvPr id="698393" name="Rectangle 25"/>
          <p:cNvSpPr>
            <a:spLocks noChangeArrowheads="1"/>
          </p:cNvSpPr>
          <p:nvPr/>
        </p:nvSpPr>
        <p:spPr bwMode="auto">
          <a:xfrm>
            <a:off x="2971800" y="2209800"/>
            <a:ext cx="609600" cy="228600"/>
          </a:xfrm>
          <a:prstGeom prst="rect">
            <a:avLst/>
          </a:prstGeom>
          <a:noFill/>
          <a:ln w="9525">
            <a:noFill/>
            <a:miter lim="800000"/>
            <a:headEnd/>
            <a:tailEnd/>
          </a:ln>
        </p:spPr>
        <p:txBody>
          <a:bodyPr wrap="none" anchor="ctr"/>
          <a:lstStyle/>
          <a:p>
            <a:r>
              <a:rPr lang="en-US" sz="1000"/>
              <a:t>Customer 3</a:t>
            </a:r>
          </a:p>
        </p:txBody>
      </p:sp>
      <p:sp>
        <p:nvSpPr>
          <p:cNvPr id="698394" name="Rectangle 26"/>
          <p:cNvSpPr>
            <a:spLocks noChangeArrowheads="1"/>
          </p:cNvSpPr>
          <p:nvPr/>
        </p:nvSpPr>
        <p:spPr bwMode="auto">
          <a:xfrm>
            <a:off x="3733800" y="2514600"/>
            <a:ext cx="609600" cy="228600"/>
          </a:xfrm>
          <a:prstGeom prst="rect">
            <a:avLst/>
          </a:prstGeom>
          <a:noFill/>
          <a:ln w="9525">
            <a:noFill/>
            <a:miter lim="800000"/>
            <a:headEnd/>
            <a:tailEnd/>
          </a:ln>
        </p:spPr>
        <p:txBody>
          <a:bodyPr wrap="none" anchor="ctr"/>
          <a:lstStyle/>
          <a:p>
            <a:r>
              <a:rPr lang="en-US" sz="1000"/>
              <a:t>Customer 4</a:t>
            </a:r>
          </a:p>
        </p:txBody>
      </p:sp>
      <p:sp>
        <p:nvSpPr>
          <p:cNvPr id="698395" name="Rectangle 27"/>
          <p:cNvSpPr>
            <a:spLocks noChangeArrowheads="1"/>
          </p:cNvSpPr>
          <p:nvPr/>
        </p:nvSpPr>
        <p:spPr bwMode="auto">
          <a:xfrm>
            <a:off x="4495800" y="2819400"/>
            <a:ext cx="609600" cy="228600"/>
          </a:xfrm>
          <a:prstGeom prst="rect">
            <a:avLst/>
          </a:prstGeom>
          <a:noFill/>
          <a:ln w="9525">
            <a:noFill/>
            <a:miter lim="800000"/>
            <a:headEnd/>
            <a:tailEnd/>
          </a:ln>
        </p:spPr>
        <p:txBody>
          <a:bodyPr wrap="none" anchor="ctr"/>
          <a:lstStyle/>
          <a:p>
            <a:r>
              <a:rPr lang="en-US" sz="1000"/>
              <a:t>Customer 5</a:t>
            </a:r>
          </a:p>
        </p:txBody>
      </p:sp>
      <p:sp>
        <p:nvSpPr>
          <p:cNvPr id="698396" name="Rectangle 28"/>
          <p:cNvSpPr>
            <a:spLocks noChangeArrowheads="1"/>
          </p:cNvSpPr>
          <p:nvPr/>
        </p:nvSpPr>
        <p:spPr bwMode="auto">
          <a:xfrm>
            <a:off x="5257800" y="3124200"/>
            <a:ext cx="609600" cy="228600"/>
          </a:xfrm>
          <a:prstGeom prst="rect">
            <a:avLst/>
          </a:prstGeom>
          <a:noFill/>
          <a:ln w="9525">
            <a:noFill/>
            <a:miter lim="800000"/>
            <a:headEnd/>
            <a:tailEnd/>
          </a:ln>
        </p:spPr>
        <p:txBody>
          <a:bodyPr wrap="none" anchor="ctr"/>
          <a:lstStyle/>
          <a:p>
            <a:r>
              <a:rPr lang="en-US" sz="1000"/>
              <a:t>Customer 6</a:t>
            </a:r>
          </a:p>
        </p:txBody>
      </p:sp>
      <p:sp>
        <p:nvSpPr>
          <p:cNvPr id="698397" name="Rectangle 29"/>
          <p:cNvSpPr>
            <a:spLocks noChangeArrowheads="1"/>
          </p:cNvSpPr>
          <p:nvPr/>
        </p:nvSpPr>
        <p:spPr bwMode="auto">
          <a:xfrm>
            <a:off x="6019800" y="3429000"/>
            <a:ext cx="609600" cy="228600"/>
          </a:xfrm>
          <a:prstGeom prst="rect">
            <a:avLst/>
          </a:prstGeom>
          <a:noFill/>
          <a:ln w="9525">
            <a:noFill/>
            <a:miter lim="800000"/>
            <a:headEnd/>
            <a:tailEnd/>
          </a:ln>
        </p:spPr>
        <p:txBody>
          <a:bodyPr wrap="none" anchor="ctr"/>
          <a:lstStyle/>
          <a:p>
            <a:r>
              <a:rPr lang="en-US" sz="1000"/>
              <a:t>Customer 7</a:t>
            </a:r>
          </a:p>
        </p:txBody>
      </p:sp>
      <p:sp>
        <p:nvSpPr>
          <p:cNvPr id="698398" name="Rectangle 30"/>
          <p:cNvSpPr>
            <a:spLocks noChangeArrowheads="1"/>
          </p:cNvSpPr>
          <p:nvPr/>
        </p:nvSpPr>
        <p:spPr bwMode="auto">
          <a:xfrm>
            <a:off x="6781800" y="3733800"/>
            <a:ext cx="609600" cy="228600"/>
          </a:xfrm>
          <a:prstGeom prst="rect">
            <a:avLst/>
          </a:prstGeom>
          <a:noFill/>
          <a:ln w="9525">
            <a:noFill/>
            <a:miter lim="800000"/>
            <a:headEnd/>
            <a:tailEnd/>
          </a:ln>
        </p:spPr>
        <p:txBody>
          <a:bodyPr wrap="none" anchor="ctr"/>
          <a:lstStyle/>
          <a:p>
            <a:r>
              <a:rPr lang="en-US" sz="1000"/>
              <a:t>Customer 8</a:t>
            </a:r>
          </a:p>
        </p:txBody>
      </p:sp>
      <p:sp>
        <p:nvSpPr>
          <p:cNvPr id="698399" name="Rectangle 31"/>
          <p:cNvSpPr>
            <a:spLocks noChangeArrowheads="1"/>
          </p:cNvSpPr>
          <p:nvPr/>
        </p:nvSpPr>
        <p:spPr bwMode="auto">
          <a:xfrm>
            <a:off x="7543800" y="3962400"/>
            <a:ext cx="609600" cy="228600"/>
          </a:xfrm>
          <a:prstGeom prst="rect">
            <a:avLst/>
          </a:prstGeom>
          <a:noFill/>
          <a:ln w="9525">
            <a:noFill/>
            <a:miter lim="800000"/>
            <a:headEnd/>
            <a:tailEnd/>
          </a:ln>
        </p:spPr>
        <p:txBody>
          <a:bodyPr wrap="none" anchor="ctr"/>
          <a:lstStyle/>
          <a:p>
            <a:r>
              <a:rPr lang="en-US" sz="1000"/>
              <a:t>Customer 9</a:t>
            </a:r>
          </a:p>
        </p:txBody>
      </p:sp>
      <p:sp>
        <p:nvSpPr>
          <p:cNvPr id="698400" name="Text Box 32"/>
          <p:cNvSpPr txBox="1">
            <a:spLocks noChangeArrowheads="1"/>
          </p:cNvSpPr>
          <p:nvPr/>
        </p:nvSpPr>
        <p:spPr bwMode="auto">
          <a:xfrm>
            <a:off x="1112838" y="5440363"/>
            <a:ext cx="487362" cy="274637"/>
          </a:xfrm>
          <a:prstGeom prst="rect">
            <a:avLst/>
          </a:prstGeom>
          <a:noFill/>
          <a:ln w="9525">
            <a:noFill/>
            <a:miter lim="800000"/>
            <a:headEnd/>
            <a:tailEnd/>
          </a:ln>
        </p:spPr>
        <p:txBody>
          <a:bodyPr wrap="none">
            <a:spAutoFit/>
          </a:bodyPr>
          <a:lstStyle/>
          <a:p>
            <a:r>
              <a:rPr lang="en-US" sz="1200"/>
              <a:t>7:00</a:t>
            </a:r>
          </a:p>
        </p:txBody>
      </p:sp>
      <p:sp>
        <p:nvSpPr>
          <p:cNvPr id="698401" name="Text Box 33"/>
          <p:cNvSpPr txBox="1">
            <a:spLocks noChangeArrowheads="1"/>
          </p:cNvSpPr>
          <p:nvPr/>
        </p:nvSpPr>
        <p:spPr bwMode="auto">
          <a:xfrm>
            <a:off x="1874838" y="5440363"/>
            <a:ext cx="487362" cy="274637"/>
          </a:xfrm>
          <a:prstGeom prst="rect">
            <a:avLst/>
          </a:prstGeom>
          <a:noFill/>
          <a:ln w="9525">
            <a:noFill/>
            <a:miter lim="800000"/>
            <a:headEnd/>
            <a:tailEnd/>
          </a:ln>
        </p:spPr>
        <p:txBody>
          <a:bodyPr wrap="none">
            <a:spAutoFit/>
          </a:bodyPr>
          <a:lstStyle/>
          <a:p>
            <a:r>
              <a:rPr lang="en-US" sz="1200"/>
              <a:t>7:05</a:t>
            </a:r>
          </a:p>
        </p:txBody>
      </p:sp>
      <p:sp>
        <p:nvSpPr>
          <p:cNvPr id="698402" name="Text Box 34"/>
          <p:cNvSpPr txBox="1">
            <a:spLocks noChangeArrowheads="1"/>
          </p:cNvSpPr>
          <p:nvPr/>
        </p:nvSpPr>
        <p:spPr bwMode="auto">
          <a:xfrm>
            <a:off x="2636838" y="5440363"/>
            <a:ext cx="487362" cy="274637"/>
          </a:xfrm>
          <a:prstGeom prst="rect">
            <a:avLst/>
          </a:prstGeom>
          <a:noFill/>
          <a:ln w="9525">
            <a:noFill/>
            <a:miter lim="800000"/>
            <a:headEnd/>
            <a:tailEnd/>
          </a:ln>
        </p:spPr>
        <p:txBody>
          <a:bodyPr wrap="none">
            <a:spAutoFit/>
          </a:bodyPr>
          <a:lstStyle/>
          <a:p>
            <a:r>
              <a:rPr lang="en-US" sz="1200"/>
              <a:t>7:10</a:t>
            </a:r>
          </a:p>
        </p:txBody>
      </p:sp>
      <p:sp>
        <p:nvSpPr>
          <p:cNvPr id="698403" name="Text Box 35"/>
          <p:cNvSpPr txBox="1">
            <a:spLocks noChangeArrowheads="1"/>
          </p:cNvSpPr>
          <p:nvPr/>
        </p:nvSpPr>
        <p:spPr bwMode="auto">
          <a:xfrm>
            <a:off x="3398838" y="5440363"/>
            <a:ext cx="487362" cy="274637"/>
          </a:xfrm>
          <a:prstGeom prst="rect">
            <a:avLst/>
          </a:prstGeom>
          <a:noFill/>
          <a:ln w="9525">
            <a:noFill/>
            <a:miter lim="800000"/>
            <a:headEnd/>
            <a:tailEnd/>
          </a:ln>
        </p:spPr>
        <p:txBody>
          <a:bodyPr wrap="none">
            <a:spAutoFit/>
          </a:bodyPr>
          <a:lstStyle/>
          <a:p>
            <a:r>
              <a:rPr lang="en-US" sz="1200"/>
              <a:t>7:15</a:t>
            </a:r>
          </a:p>
        </p:txBody>
      </p:sp>
      <p:sp>
        <p:nvSpPr>
          <p:cNvPr id="698404" name="Text Box 36"/>
          <p:cNvSpPr txBox="1">
            <a:spLocks noChangeArrowheads="1"/>
          </p:cNvSpPr>
          <p:nvPr/>
        </p:nvSpPr>
        <p:spPr bwMode="auto">
          <a:xfrm>
            <a:off x="4160838" y="5440363"/>
            <a:ext cx="487362" cy="274637"/>
          </a:xfrm>
          <a:prstGeom prst="rect">
            <a:avLst/>
          </a:prstGeom>
          <a:noFill/>
          <a:ln w="9525">
            <a:noFill/>
            <a:miter lim="800000"/>
            <a:headEnd/>
            <a:tailEnd/>
          </a:ln>
        </p:spPr>
        <p:txBody>
          <a:bodyPr wrap="none">
            <a:spAutoFit/>
          </a:bodyPr>
          <a:lstStyle/>
          <a:p>
            <a:r>
              <a:rPr lang="en-US" sz="1200"/>
              <a:t>7:20</a:t>
            </a:r>
          </a:p>
        </p:txBody>
      </p:sp>
      <p:sp>
        <p:nvSpPr>
          <p:cNvPr id="698405" name="Text Box 37"/>
          <p:cNvSpPr txBox="1">
            <a:spLocks noChangeArrowheads="1"/>
          </p:cNvSpPr>
          <p:nvPr/>
        </p:nvSpPr>
        <p:spPr bwMode="auto">
          <a:xfrm>
            <a:off x="4922838" y="5440363"/>
            <a:ext cx="487362" cy="274637"/>
          </a:xfrm>
          <a:prstGeom prst="rect">
            <a:avLst/>
          </a:prstGeom>
          <a:noFill/>
          <a:ln w="9525">
            <a:noFill/>
            <a:miter lim="800000"/>
            <a:headEnd/>
            <a:tailEnd/>
          </a:ln>
        </p:spPr>
        <p:txBody>
          <a:bodyPr wrap="none">
            <a:spAutoFit/>
          </a:bodyPr>
          <a:lstStyle/>
          <a:p>
            <a:r>
              <a:rPr lang="en-US" sz="1200"/>
              <a:t>7:25</a:t>
            </a:r>
          </a:p>
        </p:txBody>
      </p:sp>
      <p:sp>
        <p:nvSpPr>
          <p:cNvPr id="698406" name="Text Box 38"/>
          <p:cNvSpPr txBox="1">
            <a:spLocks noChangeArrowheads="1"/>
          </p:cNvSpPr>
          <p:nvPr/>
        </p:nvSpPr>
        <p:spPr bwMode="auto">
          <a:xfrm>
            <a:off x="5715000" y="5440363"/>
            <a:ext cx="487363" cy="274637"/>
          </a:xfrm>
          <a:prstGeom prst="rect">
            <a:avLst/>
          </a:prstGeom>
          <a:noFill/>
          <a:ln w="9525">
            <a:noFill/>
            <a:miter lim="800000"/>
            <a:headEnd/>
            <a:tailEnd/>
          </a:ln>
        </p:spPr>
        <p:txBody>
          <a:bodyPr wrap="none">
            <a:spAutoFit/>
          </a:bodyPr>
          <a:lstStyle/>
          <a:p>
            <a:r>
              <a:rPr lang="en-US" sz="1200"/>
              <a:t>7:30</a:t>
            </a:r>
          </a:p>
        </p:txBody>
      </p:sp>
      <p:sp>
        <p:nvSpPr>
          <p:cNvPr id="698407" name="Text Box 39"/>
          <p:cNvSpPr txBox="1">
            <a:spLocks noChangeArrowheads="1"/>
          </p:cNvSpPr>
          <p:nvPr/>
        </p:nvSpPr>
        <p:spPr bwMode="auto">
          <a:xfrm>
            <a:off x="6477000" y="5440363"/>
            <a:ext cx="487363" cy="274637"/>
          </a:xfrm>
          <a:prstGeom prst="rect">
            <a:avLst/>
          </a:prstGeom>
          <a:noFill/>
          <a:ln w="9525">
            <a:noFill/>
            <a:miter lim="800000"/>
            <a:headEnd/>
            <a:tailEnd/>
          </a:ln>
        </p:spPr>
        <p:txBody>
          <a:bodyPr wrap="none">
            <a:spAutoFit/>
          </a:bodyPr>
          <a:lstStyle/>
          <a:p>
            <a:r>
              <a:rPr lang="en-US" sz="1200"/>
              <a:t>7:35</a:t>
            </a:r>
          </a:p>
        </p:txBody>
      </p:sp>
      <p:sp>
        <p:nvSpPr>
          <p:cNvPr id="698408" name="Text Box 40"/>
          <p:cNvSpPr txBox="1">
            <a:spLocks noChangeArrowheads="1"/>
          </p:cNvSpPr>
          <p:nvPr/>
        </p:nvSpPr>
        <p:spPr bwMode="auto">
          <a:xfrm>
            <a:off x="7208838" y="5440363"/>
            <a:ext cx="487362" cy="274637"/>
          </a:xfrm>
          <a:prstGeom prst="rect">
            <a:avLst/>
          </a:prstGeom>
          <a:noFill/>
          <a:ln w="9525">
            <a:noFill/>
            <a:miter lim="800000"/>
            <a:headEnd/>
            <a:tailEnd/>
          </a:ln>
        </p:spPr>
        <p:txBody>
          <a:bodyPr wrap="none">
            <a:spAutoFit/>
          </a:bodyPr>
          <a:lstStyle/>
          <a:p>
            <a:r>
              <a:rPr lang="en-US" sz="1200"/>
              <a:t>7:40</a:t>
            </a:r>
          </a:p>
        </p:txBody>
      </p:sp>
      <p:sp>
        <p:nvSpPr>
          <p:cNvPr id="698409" name="Text Box 41"/>
          <p:cNvSpPr txBox="1">
            <a:spLocks noChangeArrowheads="1"/>
          </p:cNvSpPr>
          <p:nvPr/>
        </p:nvSpPr>
        <p:spPr bwMode="auto">
          <a:xfrm>
            <a:off x="7845425" y="5241925"/>
            <a:ext cx="598488" cy="304800"/>
          </a:xfrm>
          <a:prstGeom prst="rect">
            <a:avLst/>
          </a:prstGeom>
          <a:noFill/>
          <a:ln w="9525">
            <a:noFill/>
            <a:miter lim="800000"/>
            <a:headEnd/>
            <a:tailEnd/>
          </a:ln>
        </p:spPr>
        <p:txBody>
          <a:bodyPr wrap="none">
            <a:spAutoFit/>
          </a:bodyPr>
          <a:lstStyle/>
          <a:p>
            <a:r>
              <a:rPr lang="en-US" sz="1400"/>
              <a:t>Time</a:t>
            </a:r>
          </a:p>
        </p:txBody>
      </p:sp>
      <p:sp>
        <p:nvSpPr>
          <p:cNvPr id="698410" name="Rectangle 42"/>
          <p:cNvSpPr>
            <a:spLocks noChangeArrowheads="1"/>
          </p:cNvSpPr>
          <p:nvPr/>
        </p:nvSpPr>
        <p:spPr bwMode="auto">
          <a:xfrm>
            <a:off x="2133600" y="2133600"/>
            <a:ext cx="609600" cy="304800"/>
          </a:xfrm>
          <a:prstGeom prst="rect">
            <a:avLst/>
          </a:prstGeom>
          <a:solidFill>
            <a:srgbClr val="66CCFF"/>
          </a:solidFill>
          <a:ln w="9525">
            <a:solidFill>
              <a:schemeClr val="tx1"/>
            </a:solidFill>
            <a:miter lim="800000"/>
            <a:headEnd/>
            <a:tailEnd/>
          </a:ln>
        </p:spPr>
        <p:txBody>
          <a:bodyPr wrap="none" anchor="ctr"/>
          <a:lstStyle/>
          <a:p>
            <a:endParaRPr lang="en-US"/>
          </a:p>
        </p:txBody>
      </p:sp>
      <p:sp>
        <p:nvSpPr>
          <p:cNvPr id="698411" name="Rectangle 43"/>
          <p:cNvSpPr>
            <a:spLocks noChangeArrowheads="1"/>
          </p:cNvSpPr>
          <p:nvPr/>
        </p:nvSpPr>
        <p:spPr bwMode="auto">
          <a:xfrm>
            <a:off x="2895600" y="2438400"/>
            <a:ext cx="609600" cy="304800"/>
          </a:xfrm>
          <a:prstGeom prst="rect">
            <a:avLst/>
          </a:prstGeom>
          <a:solidFill>
            <a:srgbClr val="66CCFF"/>
          </a:solidFill>
          <a:ln w="9525">
            <a:solidFill>
              <a:schemeClr val="tx1"/>
            </a:solidFill>
            <a:miter lim="800000"/>
            <a:headEnd/>
            <a:tailEnd/>
          </a:ln>
        </p:spPr>
        <p:txBody>
          <a:bodyPr wrap="none" anchor="ctr"/>
          <a:lstStyle/>
          <a:p>
            <a:endParaRPr lang="en-US"/>
          </a:p>
        </p:txBody>
      </p:sp>
      <p:sp>
        <p:nvSpPr>
          <p:cNvPr id="698412" name="Rectangle 44"/>
          <p:cNvSpPr>
            <a:spLocks noChangeArrowheads="1"/>
          </p:cNvSpPr>
          <p:nvPr/>
        </p:nvSpPr>
        <p:spPr bwMode="auto">
          <a:xfrm>
            <a:off x="3657600" y="2743200"/>
            <a:ext cx="609600" cy="304800"/>
          </a:xfrm>
          <a:prstGeom prst="rect">
            <a:avLst/>
          </a:prstGeom>
          <a:solidFill>
            <a:srgbClr val="66CCFF"/>
          </a:solidFill>
          <a:ln w="9525">
            <a:solidFill>
              <a:schemeClr val="tx1"/>
            </a:solidFill>
            <a:miter lim="800000"/>
            <a:headEnd/>
            <a:tailEnd/>
          </a:ln>
        </p:spPr>
        <p:txBody>
          <a:bodyPr wrap="none" anchor="ctr"/>
          <a:lstStyle/>
          <a:p>
            <a:endParaRPr lang="en-US"/>
          </a:p>
        </p:txBody>
      </p:sp>
      <p:sp>
        <p:nvSpPr>
          <p:cNvPr id="698413" name="Rectangle 45"/>
          <p:cNvSpPr>
            <a:spLocks noChangeArrowheads="1"/>
          </p:cNvSpPr>
          <p:nvPr/>
        </p:nvSpPr>
        <p:spPr bwMode="auto">
          <a:xfrm>
            <a:off x="4419600" y="3048000"/>
            <a:ext cx="609600" cy="304800"/>
          </a:xfrm>
          <a:prstGeom prst="rect">
            <a:avLst/>
          </a:prstGeom>
          <a:solidFill>
            <a:srgbClr val="66CCFF"/>
          </a:solidFill>
          <a:ln w="9525">
            <a:solidFill>
              <a:schemeClr val="tx1"/>
            </a:solidFill>
            <a:miter lim="800000"/>
            <a:headEnd/>
            <a:tailEnd/>
          </a:ln>
        </p:spPr>
        <p:txBody>
          <a:bodyPr wrap="none" anchor="ctr"/>
          <a:lstStyle/>
          <a:p>
            <a:endParaRPr lang="en-US"/>
          </a:p>
        </p:txBody>
      </p:sp>
      <p:sp>
        <p:nvSpPr>
          <p:cNvPr id="698414" name="Rectangle 46"/>
          <p:cNvSpPr>
            <a:spLocks noChangeArrowheads="1"/>
          </p:cNvSpPr>
          <p:nvPr/>
        </p:nvSpPr>
        <p:spPr bwMode="auto">
          <a:xfrm>
            <a:off x="5181600" y="3352800"/>
            <a:ext cx="609600" cy="304800"/>
          </a:xfrm>
          <a:prstGeom prst="rect">
            <a:avLst/>
          </a:prstGeom>
          <a:solidFill>
            <a:srgbClr val="66CCFF"/>
          </a:solidFill>
          <a:ln w="9525">
            <a:solidFill>
              <a:schemeClr val="tx1"/>
            </a:solidFill>
            <a:miter lim="800000"/>
            <a:headEnd/>
            <a:tailEnd/>
          </a:ln>
        </p:spPr>
        <p:txBody>
          <a:bodyPr wrap="none" anchor="ctr"/>
          <a:lstStyle/>
          <a:p>
            <a:endParaRPr lang="en-US"/>
          </a:p>
        </p:txBody>
      </p:sp>
      <p:sp>
        <p:nvSpPr>
          <p:cNvPr id="698415" name="Rectangle 47"/>
          <p:cNvSpPr>
            <a:spLocks noChangeArrowheads="1"/>
          </p:cNvSpPr>
          <p:nvPr/>
        </p:nvSpPr>
        <p:spPr bwMode="auto">
          <a:xfrm>
            <a:off x="5943600" y="3657600"/>
            <a:ext cx="609600" cy="304800"/>
          </a:xfrm>
          <a:prstGeom prst="rect">
            <a:avLst/>
          </a:prstGeom>
          <a:solidFill>
            <a:srgbClr val="66CCFF"/>
          </a:solidFill>
          <a:ln w="9525">
            <a:solidFill>
              <a:schemeClr val="tx1"/>
            </a:solidFill>
            <a:miter lim="800000"/>
            <a:headEnd/>
            <a:tailEnd/>
          </a:ln>
        </p:spPr>
        <p:txBody>
          <a:bodyPr wrap="none" anchor="ctr"/>
          <a:lstStyle/>
          <a:p>
            <a:endParaRPr lang="en-US"/>
          </a:p>
        </p:txBody>
      </p:sp>
      <p:sp>
        <p:nvSpPr>
          <p:cNvPr id="698416" name="Rectangle 48"/>
          <p:cNvSpPr>
            <a:spLocks noChangeArrowheads="1"/>
          </p:cNvSpPr>
          <p:nvPr/>
        </p:nvSpPr>
        <p:spPr bwMode="auto">
          <a:xfrm>
            <a:off x="6705600" y="3962400"/>
            <a:ext cx="609600" cy="304800"/>
          </a:xfrm>
          <a:prstGeom prst="rect">
            <a:avLst/>
          </a:prstGeom>
          <a:solidFill>
            <a:srgbClr val="66CCFF"/>
          </a:solidFill>
          <a:ln w="9525">
            <a:solidFill>
              <a:schemeClr val="tx1"/>
            </a:solidFill>
            <a:miter lim="800000"/>
            <a:headEnd/>
            <a:tailEnd/>
          </a:ln>
        </p:spPr>
        <p:txBody>
          <a:bodyPr wrap="none" anchor="ctr"/>
          <a:lstStyle/>
          <a:p>
            <a:endParaRPr lang="en-US"/>
          </a:p>
        </p:txBody>
      </p:sp>
      <p:sp>
        <p:nvSpPr>
          <p:cNvPr id="698417" name="Rectangle 49"/>
          <p:cNvSpPr>
            <a:spLocks noChangeArrowheads="1"/>
          </p:cNvSpPr>
          <p:nvPr/>
        </p:nvSpPr>
        <p:spPr bwMode="auto">
          <a:xfrm>
            <a:off x="7467600" y="4267200"/>
            <a:ext cx="609600" cy="304800"/>
          </a:xfrm>
          <a:prstGeom prst="rect">
            <a:avLst/>
          </a:prstGeom>
          <a:solidFill>
            <a:srgbClr val="66CCFF"/>
          </a:solidFill>
          <a:ln w="9525">
            <a:solidFill>
              <a:schemeClr val="tx1"/>
            </a:solidFill>
            <a:miter lim="800000"/>
            <a:headEnd/>
            <a:tailEnd/>
          </a:ln>
        </p:spPr>
        <p:txBody>
          <a:bodyPr wrap="none" anchor="ctr"/>
          <a:lstStyle/>
          <a:p>
            <a:endParaRPr lang="en-US"/>
          </a:p>
        </p:txBody>
      </p:sp>
      <p:sp>
        <p:nvSpPr>
          <p:cNvPr id="42" name="TextBox 41"/>
          <p:cNvSpPr txBox="1"/>
          <p:nvPr/>
        </p:nvSpPr>
        <p:spPr>
          <a:xfrm>
            <a:off x="381000" y="5638800"/>
            <a:ext cx="8763000" cy="830997"/>
          </a:xfrm>
          <a:prstGeom prst="rect">
            <a:avLst/>
          </a:prstGeom>
          <a:noFill/>
        </p:spPr>
        <p:txBody>
          <a:bodyPr wrap="square" rtlCol="0">
            <a:spAutoFit/>
          </a:bodyPr>
          <a:lstStyle/>
          <a:p>
            <a:pPr algn="l"/>
            <a:r>
              <a:rPr lang="en-US" sz="1600" b="0" dirty="0">
                <a:solidFill>
                  <a:srgbClr val="FF0000"/>
                </a:solidFill>
              </a:rPr>
              <a:t>A harder question—Given 12 customer arrivals per hour, think about a situation where 12 customers arrive altogether at the top of each hour. What’s the longest time a customer has to wait in line? </a:t>
            </a:r>
          </a:p>
        </p:txBody>
      </p:sp>
    </p:spTree>
    <p:extLst>
      <p:ext uri="{BB962C8B-B14F-4D97-AF65-F5344CB8AC3E}">
        <p14:creationId xmlns:p14="http://schemas.microsoft.com/office/powerpoint/2010/main" val="238386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83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837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983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837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837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9837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9837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9837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9838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838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9838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9838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9838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839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9839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9839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9839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9839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9839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9839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9840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9840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840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9840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9840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9840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9840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984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9840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9840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9841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9841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9841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9841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9841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9841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9841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9841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372" grpId="0" animBg="1"/>
      <p:bldP spid="698373" grpId="0" animBg="1"/>
      <p:bldP spid="698374" grpId="0" animBg="1"/>
      <p:bldP spid="698375" grpId="0" animBg="1"/>
      <p:bldP spid="698376" grpId="0" animBg="1"/>
      <p:bldP spid="698377" grpId="0" animBg="1"/>
      <p:bldP spid="698378" grpId="0" animBg="1"/>
      <p:bldP spid="698379" grpId="0" animBg="1"/>
      <p:bldP spid="698380" grpId="0" animBg="1"/>
      <p:bldP spid="698381" grpId="0" animBg="1"/>
      <p:bldP spid="698382" grpId="0"/>
      <p:bldP spid="698383" grpId="0"/>
      <p:bldP spid="698384" grpId="0" animBg="1"/>
      <p:bldP spid="698393" grpId="0"/>
      <p:bldP spid="698394" grpId="0"/>
      <p:bldP spid="698395" grpId="0"/>
      <p:bldP spid="698396" grpId="0"/>
      <p:bldP spid="698397" grpId="0"/>
      <p:bldP spid="698398" grpId="0"/>
      <p:bldP spid="698399" grpId="0"/>
      <p:bldP spid="698400" grpId="0"/>
      <p:bldP spid="698401" grpId="0"/>
      <p:bldP spid="698402" grpId="0"/>
      <p:bldP spid="698403" grpId="0"/>
      <p:bldP spid="698404" grpId="0"/>
      <p:bldP spid="698405" grpId="0"/>
      <p:bldP spid="698406" grpId="0"/>
      <p:bldP spid="698407" grpId="0"/>
      <p:bldP spid="698408" grpId="0"/>
      <p:bldP spid="698409" grpId="0"/>
      <p:bldP spid="698410" grpId="0" animBg="1"/>
      <p:bldP spid="698411" grpId="0" animBg="1"/>
      <p:bldP spid="698412" grpId="0" animBg="1"/>
      <p:bldP spid="698413" grpId="0" animBg="1"/>
      <p:bldP spid="698414" grpId="0" animBg="1"/>
      <p:bldP spid="698415" grpId="0" animBg="1"/>
      <p:bldP spid="698416" grpId="0" animBg="1"/>
      <p:bldP spid="6984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527050" y="358775"/>
            <a:ext cx="8089900" cy="952500"/>
          </a:xfrm>
        </p:spPr>
        <p:txBody>
          <a:bodyPr/>
          <a:lstStyle/>
          <a:p>
            <a:r>
              <a:rPr lang="en-US" dirty="0">
                <a:latin typeface="Arial" charset="0"/>
                <a:ea typeface="MS PGothic" charset="0"/>
                <a:cs typeface="MS PGothic" charset="0"/>
              </a:rPr>
              <a:t>Parts of a Waiting Line</a:t>
            </a:r>
          </a:p>
        </p:txBody>
      </p:sp>
      <p:sp>
        <p:nvSpPr>
          <p:cNvPr id="33795" name="Rectangle 3"/>
          <p:cNvSpPr>
            <a:spLocks noChangeArrowheads="1"/>
          </p:cNvSpPr>
          <p:nvPr/>
        </p:nvSpPr>
        <p:spPr bwMode="auto">
          <a:xfrm>
            <a:off x="7439025" y="6000750"/>
            <a:ext cx="11779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Figure </a:t>
            </a:r>
            <a:r>
              <a:rPr lang="en-US" sz="1600" dirty="0">
                <a:solidFill>
                  <a:schemeClr val="tx2"/>
                </a:solidFill>
              </a:rPr>
              <a:t>D.1</a:t>
            </a:r>
          </a:p>
        </p:txBody>
      </p:sp>
      <p:grpSp>
        <p:nvGrpSpPr>
          <p:cNvPr id="2" name="Group 1"/>
          <p:cNvGrpSpPr/>
          <p:nvPr/>
        </p:nvGrpSpPr>
        <p:grpSpPr>
          <a:xfrm>
            <a:off x="317500" y="1538288"/>
            <a:ext cx="8497888" cy="4613275"/>
            <a:chOff x="317500" y="1538288"/>
            <a:chExt cx="8497888" cy="4613275"/>
          </a:xfrm>
        </p:grpSpPr>
        <p:grpSp>
          <p:nvGrpSpPr>
            <p:cNvPr id="33796" name="Group 4"/>
            <p:cNvGrpSpPr>
              <a:grpSpLocks/>
            </p:cNvGrpSpPr>
            <p:nvPr/>
          </p:nvGrpSpPr>
          <p:grpSpPr bwMode="auto">
            <a:xfrm>
              <a:off x="317500" y="2284413"/>
              <a:ext cx="8497888" cy="1790700"/>
              <a:chOff x="200" y="1559"/>
              <a:chExt cx="5353" cy="1128"/>
            </a:xfrm>
          </p:grpSpPr>
          <p:pic>
            <p:nvPicPr>
              <p:cNvPr id="276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 y="1597"/>
                <a:ext cx="5353" cy="10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7674" name="Rectangle 6"/>
              <p:cNvSpPr>
                <a:spLocks noChangeArrowheads="1"/>
              </p:cNvSpPr>
              <p:nvPr/>
            </p:nvSpPr>
            <p:spPr bwMode="auto">
              <a:xfrm>
                <a:off x="3498" y="1559"/>
                <a:ext cx="615" cy="2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en-US" sz="1400" dirty="0"/>
                  <a:t>Dave</a:t>
                </a:r>
                <a:r>
                  <a:rPr lang="ja-JP" altLang="en-US" sz="1400"/>
                  <a:t>’</a:t>
                </a:r>
                <a:r>
                  <a:rPr lang="en-US" sz="1400" dirty="0"/>
                  <a:t>s </a:t>
                </a:r>
              </a:p>
              <a:p>
                <a:pPr algn="ctr">
                  <a:lnSpc>
                    <a:spcPct val="85000"/>
                  </a:lnSpc>
                </a:pPr>
                <a:r>
                  <a:rPr lang="en-US" sz="1400" dirty="0"/>
                  <a:t>Car Wash</a:t>
                </a:r>
              </a:p>
            </p:txBody>
          </p:sp>
          <p:sp>
            <p:nvSpPr>
              <p:cNvPr id="27675" name="Rectangle 7"/>
              <p:cNvSpPr>
                <a:spLocks noChangeArrowheads="1"/>
              </p:cNvSpPr>
              <p:nvPr/>
            </p:nvSpPr>
            <p:spPr bwMode="auto">
              <a:xfrm>
                <a:off x="3296" y="2231"/>
                <a:ext cx="402"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Enter</a:t>
                </a:r>
              </a:p>
            </p:txBody>
          </p:sp>
          <p:sp>
            <p:nvSpPr>
              <p:cNvPr id="27676" name="Rectangle 8"/>
              <p:cNvSpPr>
                <a:spLocks noChangeArrowheads="1"/>
              </p:cNvSpPr>
              <p:nvPr/>
            </p:nvSpPr>
            <p:spPr bwMode="auto">
              <a:xfrm>
                <a:off x="3920" y="2231"/>
                <a:ext cx="305"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Exit</a:t>
                </a:r>
              </a:p>
            </p:txBody>
          </p:sp>
        </p:grpSp>
        <p:grpSp>
          <p:nvGrpSpPr>
            <p:cNvPr id="33801" name="Group 9"/>
            <p:cNvGrpSpPr>
              <a:grpSpLocks/>
            </p:cNvGrpSpPr>
            <p:nvPr/>
          </p:nvGrpSpPr>
          <p:grpSpPr bwMode="auto">
            <a:xfrm>
              <a:off x="503238" y="1538288"/>
              <a:ext cx="8093075" cy="1338262"/>
              <a:chOff x="317" y="1089"/>
              <a:chExt cx="5098" cy="843"/>
            </a:xfrm>
          </p:grpSpPr>
          <p:sp>
            <p:nvSpPr>
              <p:cNvPr id="27667" name="Rectangle 10"/>
              <p:cNvSpPr>
                <a:spLocks noChangeArrowheads="1"/>
              </p:cNvSpPr>
              <p:nvPr/>
            </p:nvSpPr>
            <p:spPr bwMode="auto">
              <a:xfrm>
                <a:off x="317" y="1089"/>
                <a:ext cx="876" cy="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en-US" sz="1600" dirty="0"/>
                  <a:t>Population of</a:t>
                </a:r>
              </a:p>
              <a:p>
                <a:pPr algn="ctr">
                  <a:lnSpc>
                    <a:spcPct val="85000"/>
                  </a:lnSpc>
                </a:pPr>
                <a:r>
                  <a:rPr lang="en-US" sz="1600" dirty="0"/>
                  <a:t>dirty cars</a:t>
                </a:r>
              </a:p>
            </p:txBody>
          </p:sp>
          <p:sp>
            <p:nvSpPr>
              <p:cNvPr id="27668" name="Rectangle 11"/>
              <p:cNvSpPr>
                <a:spLocks noChangeArrowheads="1"/>
              </p:cNvSpPr>
              <p:nvPr/>
            </p:nvSpPr>
            <p:spPr bwMode="auto">
              <a:xfrm>
                <a:off x="1247" y="1089"/>
                <a:ext cx="878" cy="5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en-US" sz="1600" dirty="0"/>
                  <a:t>Arrivals</a:t>
                </a:r>
              </a:p>
              <a:p>
                <a:pPr algn="ctr">
                  <a:lnSpc>
                    <a:spcPct val="85000"/>
                  </a:lnSpc>
                </a:pPr>
                <a:r>
                  <a:rPr lang="en-US" sz="1600" dirty="0"/>
                  <a:t>from the</a:t>
                </a:r>
              </a:p>
              <a:p>
                <a:pPr algn="ctr">
                  <a:lnSpc>
                    <a:spcPct val="85000"/>
                  </a:lnSpc>
                </a:pPr>
                <a:r>
                  <a:rPr lang="en-US" sz="1600" dirty="0"/>
                  <a:t>general</a:t>
                </a:r>
              </a:p>
              <a:p>
                <a:pPr algn="ctr">
                  <a:lnSpc>
                    <a:spcPct val="85000"/>
                  </a:lnSpc>
                </a:pPr>
                <a:r>
                  <a:rPr lang="en-US" sz="1600" dirty="0"/>
                  <a:t>population …</a:t>
                </a:r>
              </a:p>
            </p:txBody>
          </p:sp>
          <p:sp>
            <p:nvSpPr>
              <p:cNvPr id="27669" name="Rectangle 12"/>
              <p:cNvSpPr>
                <a:spLocks noChangeArrowheads="1"/>
              </p:cNvSpPr>
              <p:nvPr/>
            </p:nvSpPr>
            <p:spPr bwMode="auto">
              <a:xfrm>
                <a:off x="2309" y="1089"/>
                <a:ext cx="842" cy="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en-US" sz="1600" dirty="0"/>
                  <a:t>Queue</a:t>
                </a:r>
              </a:p>
              <a:p>
                <a:pPr algn="ctr">
                  <a:lnSpc>
                    <a:spcPct val="85000"/>
                  </a:lnSpc>
                </a:pPr>
                <a:r>
                  <a:rPr lang="en-US" sz="1600" dirty="0"/>
                  <a:t>(waiting line)</a:t>
                </a:r>
              </a:p>
            </p:txBody>
          </p:sp>
          <p:sp>
            <p:nvSpPr>
              <p:cNvPr id="27670" name="Rectangle 13"/>
              <p:cNvSpPr>
                <a:spLocks noChangeArrowheads="1"/>
              </p:cNvSpPr>
              <p:nvPr/>
            </p:nvSpPr>
            <p:spPr bwMode="auto">
              <a:xfrm>
                <a:off x="3497" y="1089"/>
                <a:ext cx="547" cy="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en-US" sz="1600" dirty="0"/>
                  <a:t>Service</a:t>
                </a:r>
              </a:p>
              <a:p>
                <a:pPr algn="ctr">
                  <a:lnSpc>
                    <a:spcPct val="85000"/>
                  </a:lnSpc>
                </a:pPr>
                <a:r>
                  <a:rPr lang="en-US" sz="1600" dirty="0"/>
                  <a:t>facility</a:t>
                </a:r>
              </a:p>
            </p:txBody>
          </p:sp>
          <p:sp>
            <p:nvSpPr>
              <p:cNvPr id="27671" name="Rectangle 14"/>
              <p:cNvSpPr>
                <a:spLocks noChangeArrowheads="1"/>
              </p:cNvSpPr>
              <p:nvPr/>
            </p:nvSpPr>
            <p:spPr bwMode="auto">
              <a:xfrm>
                <a:off x="4422" y="1089"/>
                <a:ext cx="993"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en-US" sz="1600" dirty="0"/>
                  <a:t>Exit the system</a:t>
                </a:r>
              </a:p>
            </p:txBody>
          </p:sp>
          <p:sp>
            <p:nvSpPr>
              <p:cNvPr id="27672" name="AutoShape 15"/>
              <p:cNvSpPr>
                <a:spLocks/>
              </p:cNvSpPr>
              <p:nvPr/>
            </p:nvSpPr>
            <p:spPr bwMode="auto">
              <a:xfrm rot="5400000">
                <a:off x="2652" y="1228"/>
                <a:ext cx="144" cy="1264"/>
              </a:xfrm>
              <a:prstGeom prst="leftBrace">
                <a:avLst>
                  <a:gd name="adj1" fmla="val 45799"/>
                  <a:gd name="adj2" fmla="val 50079"/>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NZ" dirty="0"/>
              </a:p>
            </p:txBody>
          </p:sp>
        </p:grpSp>
        <p:grpSp>
          <p:nvGrpSpPr>
            <p:cNvPr id="33808" name="Group 16"/>
            <p:cNvGrpSpPr>
              <a:grpSpLocks/>
            </p:cNvGrpSpPr>
            <p:nvPr/>
          </p:nvGrpSpPr>
          <p:grpSpPr bwMode="auto">
            <a:xfrm>
              <a:off x="746125" y="3759200"/>
              <a:ext cx="2416175" cy="881063"/>
              <a:chOff x="470" y="2488"/>
              <a:chExt cx="1522" cy="555"/>
            </a:xfrm>
          </p:grpSpPr>
          <p:sp>
            <p:nvSpPr>
              <p:cNvPr id="27664" name="Rectangle 17"/>
              <p:cNvSpPr>
                <a:spLocks noChangeArrowheads="1"/>
              </p:cNvSpPr>
              <p:nvPr/>
            </p:nvSpPr>
            <p:spPr bwMode="auto">
              <a:xfrm>
                <a:off x="470" y="2830"/>
                <a:ext cx="1352"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Arrivals to the system</a:t>
                </a:r>
              </a:p>
            </p:txBody>
          </p:sp>
          <p:sp>
            <p:nvSpPr>
              <p:cNvPr id="27665" name="Line 18"/>
              <p:cNvSpPr>
                <a:spLocks noChangeShapeType="1"/>
              </p:cNvSpPr>
              <p:nvPr/>
            </p:nvSpPr>
            <p:spPr bwMode="auto">
              <a:xfrm>
                <a:off x="1992" y="2488"/>
                <a:ext cx="0" cy="384"/>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27666" name="Line 19"/>
              <p:cNvSpPr>
                <a:spLocks noChangeShapeType="1"/>
              </p:cNvSpPr>
              <p:nvPr/>
            </p:nvSpPr>
            <p:spPr bwMode="auto">
              <a:xfrm>
                <a:off x="512" y="2792"/>
                <a:ext cx="1456" cy="0"/>
              </a:xfrm>
              <a:prstGeom prst="line">
                <a:avLst/>
              </a:prstGeom>
              <a:noFill/>
              <a:ln w="38100">
                <a:solidFill>
                  <a:schemeClr val="tx1"/>
                </a:solidFill>
                <a:round/>
                <a:headEnd/>
                <a:tailEnd type="triangle" w="med" len="sm"/>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33812" name="Group 20"/>
            <p:cNvGrpSpPr>
              <a:grpSpLocks/>
            </p:cNvGrpSpPr>
            <p:nvPr/>
          </p:nvGrpSpPr>
          <p:grpSpPr bwMode="auto">
            <a:xfrm>
              <a:off x="6896100" y="4241800"/>
              <a:ext cx="1854200" cy="398463"/>
              <a:chOff x="4344" y="2792"/>
              <a:chExt cx="1168" cy="251"/>
            </a:xfrm>
          </p:grpSpPr>
          <p:sp>
            <p:nvSpPr>
              <p:cNvPr id="27662" name="Rectangle 21"/>
              <p:cNvSpPr>
                <a:spLocks noChangeArrowheads="1"/>
              </p:cNvSpPr>
              <p:nvPr/>
            </p:nvSpPr>
            <p:spPr bwMode="auto">
              <a:xfrm>
                <a:off x="4406" y="2830"/>
                <a:ext cx="993"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Exit the system</a:t>
                </a:r>
              </a:p>
            </p:txBody>
          </p:sp>
          <p:sp>
            <p:nvSpPr>
              <p:cNvPr id="27663" name="Line 22"/>
              <p:cNvSpPr>
                <a:spLocks noChangeShapeType="1"/>
              </p:cNvSpPr>
              <p:nvPr/>
            </p:nvSpPr>
            <p:spPr bwMode="auto">
              <a:xfrm>
                <a:off x="4344" y="2792"/>
                <a:ext cx="1168" cy="0"/>
              </a:xfrm>
              <a:prstGeom prst="line">
                <a:avLst/>
              </a:prstGeom>
              <a:noFill/>
              <a:ln w="38100">
                <a:solidFill>
                  <a:schemeClr val="tx1"/>
                </a:solidFill>
                <a:round/>
                <a:headEnd/>
                <a:tailEnd type="triangle" w="med" len="sm"/>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33815" name="Group 23"/>
            <p:cNvGrpSpPr>
              <a:grpSpLocks/>
            </p:cNvGrpSpPr>
            <p:nvPr/>
          </p:nvGrpSpPr>
          <p:grpSpPr bwMode="auto">
            <a:xfrm>
              <a:off x="3225800" y="3759200"/>
              <a:ext cx="3632200" cy="881063"/>
              <a:chOff x="2032" y="2488"/>
              <a:chExt cx="2288" cy="555"/>
            </a:xfrm>
          </p:grpSpPr>
          <p:sp>
            <p:nvSpPr>
              <p:cNvPr id="27659" name="Rectangle 24"/>
              <p:cNvSpPr>
                <a:spLocks noChangeArrowheads="1"/>
              </p:cNvSpPr>
              <p:nvPr/>
            </p:nvSpPr>
            <p:spPr bwMode="auto">
              <a:xfrm>
                <a:off x="2734" y="2830"/>
                <a:ext cx="885"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In the system</a:t>
                </a:r>
              </a:p>
            </p:txBody>
          </p:sp>
          <p:sp>
            <p:nvSpPr>
              <p:cNvPr id="27660" name="Line 25"/>
              <p:cNvSpPr>
                <a:spLocks noChangeShapeType="1"/>
              </p:cNvSpPr>
              <p:nvPr/>
            </p:nvSpPr>
            <p:spPr bwMode="auto">
              <a:xfrm>
                <a:off x="4320" y="2488"/>
                <a:ext cx="0" cy="384"/>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27661" name="Line 26"/>
              <p:cNvSpPr>
                <a:spLocks noChangeShapeType="1"/>
              </p:cNvSpPr>
              <p:nvPr/>
            </p:nvSpPr>
            <p:spPr bwMode="auto">
              <a:xfrm>
                <a:off x="2032" y="2792"/>
                <a:ext cx="2264" cy="0"/>
              </a:xfrm>
              <a:prstGeom prst="line">
                <a:avLst/>
              </a:prstGeom>
              <a:noFill/>
              <a:ln w="38100">
                <a:solidFill>
                  <a:schemeClr val="tx1"/>
                </a:solidFill>
                <a:round/>
                <a:headEnd type="triangle" w="med" len="sm"/>
                <a:tailEnd type="triangle" w="med" len="sm"/>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33819" name="Rectangle 27"/>
            <p:cNvSpPr>
              <a:spLocks noChangeArrowheads="1"/>
            </p:cNvSpPr>
            <p:nvPr/>
          </p:nvSpPr>
          <p:spPr bwMode="auto">
            <a:xfrm>
              <a:off x="387350" y="4808538"/>
              <a:ext cx="3016250" cy="1343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292100" indent="-292100">
                <a:lnSpc>
                  <a:spcPct val="90000"/>
                </a:lnSpc>
              </a:pPr>
              <a:r>
                <a:rPr lang="en-US" b="1" dirty="0"/>
                <a:t>Arrival Characteristics</a:t>
              </a:r>
            </a:p>
            <a:p>
              <a:pPr marL="292100" indent="-292100">
                <a:lnSpc>
                  <a:spcPct val="90000"/>
                </a:lnSpc>
                <a:buClr>
                  <a:schemeClr val="accent1"/>
                </a:buClr>
                <a:buSzPct val="60000"/>
                <a:buFont typeface="Lucida Grande" charset="0"/>
                <a:buChar char="►"/>
              </a:pPr>
              <a:r>
                <a:rPr lang="en-US" dirty="0"/>
                <a:t>Size of the population</a:t>
              </a:r>
            </a:p>
            <a:p>
              <a:pPr marL="292100" indent="-292100">
                <a:lnSpc>
                  <a:spcPct val="90000"/>
                </a:lnSpc>
                <a:buClr>
                  <a:schemeClr val="accent1"/>
                </a:buClr>
                <a:buSzPct val="60000"/>
                <a:buFont typeface="Lucida Grande" charset="0"/>
                <a:buChar char="►"/>
              </a:pPr>
              <a:r>
                <a:rPr lang="en-US" dirty="0"/>
                <a:t>Behavior of arrivals</a:t>
              </a:r>
            </a:p>
            <a:p>
              <a:pPr marL="292100" indent="-292100">
                <a:lnSpc>
                  <a:spcPct val="90000"/>
                </a:lnSpc>
                <a:buClr>
                  <a:schemeClr val="accent1"/>
                </a:buClr>
                <a:buSzPct val="60000"/>
                <a:buFont typeface="Lucida Grande" charset="0"/>
                <a:buChar char="►"/>
              </a:pPr>
              <a:r>
                <a:rPr lang="en-US" dirty="0"/>
                <a:t>Statistical distribution of arrivals</a:t>
              </a:r>
            </a:p>
          </p:txBody>
        </p:sp>
        <p:sp>
          <p:nvSpPr>
            <p:cNvPr id="33820" name="Rectangle 28"/>
            <p:cNvSpPr>
              <a:spLocks noChangeArrowheads="1"/>
            </p:cNvSpPr>
            <p:nvPr/>
          </p:nvSpPr>
          <p:spPr bwMode="auto">
            <a:xfrm>
              <a:off x="3397250" y="4808538"/>
              <a:ext cx="2495550" cy="1343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292100" indent="-292100">
                <a:lnSpc>
                  <a:spcPct val="90000"/>
                </a:lnSpc>
              </a:pPr>
              <a:r>
                <a:rPr lang="en-US" b="1" dirty="0"/>
                <a:t>Waiting-Line Characteristics</a:t>
              </a:r>
            </a:p>
            <a:p>
              <a:pPr marL="292100" indent="-292100">
                <a:lnSpc>
                  <a:spcPct val="90000"/>
                </a:lnSpc>
                <a:buClr>
                  <a:schemeClr val="accent1"/>
                </a:buClr>
                <a:buSzPct val="60000"/>
                <a:buFont typeface="Lucida Grande" charset="0"/>
                <a:buChar char="►"/>
              </a:pPr>
              <a:r>
                <a:rPr lang="en-US" dirty="0"/>
                <a:t>Limited vs. unlimited</a:t>
              </a:r>
            </a:p>
            <a:p>
              <a:pPr marL="292100" indent="-292100">
                <a:lnSpc>
                  <a:spcPct val="90000"/>
                </a:lnSpc>
                <a:buClr>
                  <a:schemeClr val="accent1"/>
                </a:buClr>
                <a:buSzPct val="60000"/>
                <a:buFont typeface="Lucida Grande" charset="0"/>
                <a:buChar char="►"/>
              </a:pPr>
              <a:r>
                <a:rPr lang="en-US" dirty="0"/>
                <a:t>Queue discipline</a:t>
              </a:r>
            </a:p>
          </p:txBody>
        </p:sp>
        <p:sp>
          <p:nvSpPr>
            <p:cNvPr id="33821" name="Rectangle 29"/>
            <p:cNvSpPr>
              <a:spLocks noChangeArrowheads="1"/>
            </p:cNvSpPr>
            <p:nvPr/>
          </p:nvSpPr>
          <p:spPr bwMode="auto">
            <a:xfrm>
              <a:off x="5810250" y="4808538"/>
              <a:ext cx="2940050" cy="10937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292100" indent="-292100">
                <a:lnSpc>
                  <a:spcPct val="90000"/>
                </a:lnSpc>
              </a:pPr>
              <a:r>
                <a:rPr lang="en-US" b="1" dirty="0"/>
                <a:t>Service Characteristics</a:t>
              </a:r>
            </a:p>
            <a:p>
              <a:pPr marL="292100" indent="-292100">
                <a:lnSpc>
                  <a:spcPct val="90000"/>
                </a:lnSpc>
                <a:buClr>
                  <a:schemeClr val="accent1"/>
                </a:buClr>
                <a:buSzPct val="60000"/>
                <a:buFont typeface="Lucida Grande" charset="0"/>
                <a:buChar char="►"/>
              </a:pPr>
              <a:r>
                <a:rPr lang="en-US" dirty="0"/>
                <a:t>Service design</a:t>
              </a:r>
            </a:p>
            <a:p>
              <a:pPr marL="292100" indent="-292100">
                <a:lnSpc>
                  <a:spcPct val="90000"/>
                </a:lnSpc>
                <a:buClr>
                  <a:schemeClr val="accent1"/>
                </a:buClr>
                <a:buSzPct val="60000"/>
                <a:buFont typeface="Lucida Grande" charset="0"/>
                <a:buChar char="►"/>
              </a:pPr>
              <a:r>
                <a:rPr lang="en-US" dirty="0"/>
                <a:t>Statistical distribution of service</a:t>
              </a:r>
            </a:p>
          </p:txBody>
        </p:sp>
      </p:grpSp>
    </p:spTree>
    <p:extLst>
      <p:ext uri="{BB962C8B-B14F-4D97-AF65-F5344CB8AC3E}">
        <p14:creationId xmlns:p14="http://schemas.microsoft.com/office/powerpoint/2010/main" val="1863602161"/>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wipe(left)">
                                      <p:cBhvr>
                                        <p:cTn id="7" dur="10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527050" y="384175"/>
            <a:ext cx="8089900" cy="952500"/>
          </a:xfrm>
        </p:spPr>
        <p:txBody>
          <a:bodyPr/>
          <a:lstStyle/>
          <a:p>
            <a:r>
              <a:rPr lang="en-US" dirty="0">
                <a:latin typeface="Arial" charset="0"/>
                <a:ea typeface="MS PGothic" charset="0"/>
                <a:cs typeface="MS PGothic" charset="0"/>
              </a:rPr>
              <a:t>Poisson Distribution</a:t>
            </a:r>
          </a:p>
        </p:txBody>
      </p:sp>
      <p:grpSp>
        <p:nvGrpSpPr>
          <p:cNvPr id="35843" name="Group 3"/>
          <p:cNvGrpSpPr>
            <a:grpSpLocks/>
          </p:cNvGrpSpPr>
          <p:nvPr/>
        </p:nvGrpSpPr>
        <p:grpSpPr bwMode="auto">
          <a:xfrm>
            <a:off x="1073150" y="1974850"/>
            <a:ext cx="7005638" cy="1077913"/>
            <a:chOff x="870" y="1172"/>
            <a:chExt cx="4413" cy="679"/>
          </a:xfrm>
        </p:grpSpPr>
        <p:sp>
          <p:nvSpPr>
            <p:cNvPr id="31748" name="Rectangle 4"/>
            <p:cNvSpPr>
              <a:spLocks noChangeArrowheads="1"/>
            </p:cNvSpPr>
            <p:nvPr/>
          </p:nvSpPr>
          <p:spPr bwMode="auto">
            <a:xfrm>
              <a:off x="870" y="1314"/>
              <a:ext cx="4413" cy="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3200" i="1" dirty="0"/>
                <a:t>P</a:t>
              </a:r>
              <a:r>
                <a:rPr lang="en-US" sz="3200" dirty="0"/>
                <a:t>(</a:t>
              </a:r>
              <a:r>
                <a:rPr lang="en-US" sz="3200" i="1" dirty="0">
                  <a:latin typeface="Times New Roman" charset="0"/>
                  <a:cs typeface="Times New Roman" charset="0"/>
                </a:rPr>
                <a:t>x</a:t>
              </a:r>
              <a:r>
                <a:rPr lang="en-US" sz="3200" dirty="0"/>
                <a:t>) =               for </a:t>
              </a:r>
              <a:r>
                <a:rPr lang="en-US" sz="3200" i="1" dirty="0">
                  <a:latin typeface="Times New Roman" charset="0"/>
                  <a:cs typeface="Times New Roman" charset="0"/>
                </a:rPr>
                <a:t>x</a:t>
              </a:r>
              <a:r>
                <a:rPr lang="en-US" sz="3200" dirty="0"/>
                <a:t> = 0, 1, 2, 3, 4, …</a:t>
              </a:r>
            </a:p>
          </p:txBody>
        </p:sp>
        <p:grpSp>
          <p:nvGrpSpPr>
            <p:cNvPr id="31749" name="Group 5"/>
            <p:cNvGrpSpPr>
              <a:grpSpLocks/>
            </p:cNvGrpSpPr>
            <p:nvPr/>
          </p:nvGrpSpPr>
          <p:grpSpPr bwMode="auto">
            <a:xfrm>
              <a:off x="1712" y="1172"/>
              <a:ext cx="657" cy="679"/>
              <a:chOff x="1704" y="2068"/>
              <a:chExt cx="657" cy="679"/>
            </a:xfrm>
          </p:grpSpPr>
          <p:sp>
            <p:nvSpPr>
              <p:cNvPr id="31750" name="Rectangle 6"/>
              <p:cNvSpPr>
                <a:spLocks noChangeArrowheads="1"/>
              </p:cNvSpPr>
              <p:nvPr/>
            </p:nvSpPr>
            <p:spPr bwMode="auto">
              <a:xfrm>
                <a:off x="1704" y="2068"/>
                <a:ext cx="657" cy="6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3200" i="1" dirty="0">
                    <a:latin typeface="Times New Roman" charset="0"/>
                    <a:cs typeface="Times New Roman" charset="0"/>
                  </a:rPr>
                  <a:t>e</a:t>
                </a:r>
                <a:r>
                  <a:rPr lang="en-US" sz="3200" baseline="30000" dirty="0"/>
                  <a:t>-</a:t>
                </a:r>
                <a:r>
                  <a:rPr lang="en-US" sz="3200" baseline="30000" dirty="0">
                    <a:sym typeface="Symbol" charset="0"/>
                  </a:rPr>
                  <a:t></a:t>
                </a:r>
                <a:r>
                  <a:rPr lang="en-US" sz="3200" i="1" dirty="0">
                    <a:sym typeface="Symbol" charset="0"/>
                  </a:rPr>
                  <a:t></a:t>
                </a:r>
                <a:r>
                  <a:rPr lang="en-US" sz="3200" baseline="30000" dirty="0">
                    <a:sym typeface="Symbol" charset="0"/>
                  </a:rPr>
                  <a:t>x</a:t>
                </a:r>
                <a:endParaRPr lang="en-US" sz="3200" dirty="0">
                  <a:sym typeface="Symbol" charset="0"/>
                </a:endParaRPr>
              </a:p>
              <a:p>
                <a:pPr algn="ctr"/>
                <a:r>
                  <a:rPr lang="en-US" sz="3200" i="1" dirty="0">
                    <a:latin typeface="Times New Roman" charset="0"/>
                    <a:cs typeface="Times New Roman" charset="0"/>
                    <a:sym typeface="Symbol" charset="0"/>
                  </a:rPr>
                  <a:t>x</a:t>
                </a:r>
                <a:r>
                  <a:rPr lang="en-US" sz="3200" dirty="0">
                    <a:sym typeface="Symbol" charset="0"/>
                  </a:rPr>
                  <a:t>!</a:t>
                </a:r>
                <a:endParaRPr lang="en-US" sz="3200" dirty="0"/>
              </a:p>
            </p:txBody>
          </p:sp>
          <p:sp>
            <p:nvSpPr>
              <p:cNvPr id="31751" name="Line 7"/>
              <p:cNvSpPr>
                <a:spLocks noChangeShapeType="1"/>
              </p:cNvSpPr>
              <p:nvPr/>
            </p:nvSpPr>
            <p:spPr bwMode="auto">
              <a:xfrm>
                <a:off x="1741" y="2392"/>
                <a:ext cx="584"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sp>
        <p:nvSpPr>
          <p:cNvPr id="35848" name="Rectangle 8"/>
          <p:cNvSpPr>
            <a:spLocks noChangeArrowheads="1"/>
          </p:cNvSpPr>
          <p:nvPr/>
        </p:nvSpPr>
        <p:spPr bwMode="auto">
          <a:xfrm>
            <a:off x="787400" y="3429000"/>
            <a:ext cx="7567613" cy="2036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2197100" indent="-2197100">
              <a:lnSpc>
                <a:spcPct val="90000"/>
              </a:lnSpc>
              <a:spcBef>
                <a:spcPct val="25000"/>
              </a:spcBef>
              <a:tabLst>
                <a:tab pos="1625600" algn="r"/>
                <a:tab pos="1816100" algn="l"/>
                <a:tab pos="2197100" algn="l"/>
              </a:tabLst>
            </a:pPr>
            <a:r>
              <a:rPr lang="en-US" sz="2400" dirty="0"/>
              <a:t>where	</a:t>
            </a:r>
            <a:r>
              <a:rPr lang="en-US" sz="2400" i="1" dirty="0"/>
              <a:t>P</a:t>
            </a:r>
            <a:r>
              <a:rPr lang="en-US" sz="2400" dirty="0"/>
              <a:t>(</a:t>
            </a:r>
            <a:r>
              <a:rPr lang="en-US" sz="2400" i="1" dirty="0">
                <a:latin typeface="Times New Roman" charset="0"/>
                <a:cs typeface="Times New Roman" charset="0"/>
              </a:rPr>
              <a:t>x</a:t>
            </a:r>
            <a:r>
              <a:rPr lang="en-US" sz="2400" dirty="0"/>
              <a:t>)	=	probability of </a:t>
            </a:r>
            <a:r>
              <a:rPr lang="en-US" sz="2400" i="1" dirty="0">
                <a:latin typeface="Times New Roman" charset="0"/>
                <a:cs typeface="Times New Roman" charset="0"/>
              </a:rPr>
              <a:t>x</a:t>
            </a:r>
            <a:r>
              <a:rPr lang="en-US" sz="2400" dirty="0"/>
              <a:t> arrivals</a:t>
            </a:r>
          </a:p>
          <a:p>
            <a:pPr marL="2197100" indent="-2197100">
              <a:lnSpc>
                <a:spcPct val="90000"/>
              </a:lnSpc>
              <a:spcBef>
                <a:spcPct val="25000"/>
              </a:spcBef>
              <a:tabLst>
                <a:tab pos="1625600" algn="r"/>
                <a:tab pos="1816100" algn="l"/>
                <a:tab pos="2197100" algn="l"/>
              </a:tabLst>
            </a:pPr>
            <a:r>
              <a:rPr lang="en-US" sz="2400" dirty="0"/>
              <a:t>	</a:t>
            </a:r>
            <a:r>
              <a:rPr lang="en-US" sz="2400" i="1" dirty="0">
                <a:latin typeface="Times New Roman" charset="0"/>
                <a:cs typeface="Times New Roman" charset="0"/>
              </a:rPr>
              <a:t>x</a:t>
            </a:r>
            <a:r>
              <a:rPr lang="en-US" sz="2400" dirty="0"/>
              <a:t>	=	number of arrivals per unit of time</a:t>
            </a:r>
          </a:p>
          <a:p>
            <a:pPr marL="2197100" indent="-2197100">
              <a:lnSpc>
                <a:spcPct val="90000"/>
              </a:lnSpc>
              <a:spcBef>
                <a:spcPct val="25000"/>
              </a:spcBef>
              <a:tabLst>
                <a:tab pos="1625600" algn="r"/>
                <a:tab pos="1816100" algn="l"/>
                <a:tab pos="2197100" algn="l"/>
              </a:tabLst>
            </a:pPr>
            <a:r>
              <a:rPr lang="en-US" sz="2400" dirty="0"/>
              <a:t>	</a:t>
            </a:r>
            <a:r>
              <a:rPr lang="en-US" sz="2400" i="1" dirty="0">
                <a:sym typeface="Symbol" charset="0"/>
              </a:rPr>
              <a:t></a:t>
            </a:r>
            <a:r>
              <a:rPr lang="en-US" sz="2400" dirty="0">
                <a:sym typeface="Symbol" charset="0"/>
              </a:rPr>
              <a:t>	=	average arrival rate</a:t>
            </a:r>
          </a:p>
          <a:p>
            <a:pPr marL="2197100" indent="-2197100">
              <a:lnSpc>
                <a:spcPct val="90000"/>
              </a:lnSpc>
              <a:spcBef>
                <a:spcPct val="25000"/>
              </a:spcBef>
              <a:tabLst>
                <a:tab pos="1625600" algn="r"/>
                <a:tab pos="1816100" algn="l"/>
                <a:tab pos="2197100" algn="l"/>
              </a:tabLst>
            </a:pPr>
            <a:r>
              <a:rPr lang="en-US" sz="2400" dirty="0">
                <a:sym typeface="Symbol" charset="0"/>
              </a:rPr>
              <a:t>	</a:t>
            </a:r>
            <a:r>
              <a:rPr lang="en-US" sz="2400" i="1" dirty="0">
                <a:latin typeface="Times New Roman" charset="0"/>
                <a:cs typeface="Times New Roman" charset="0"/>
                <a:sym typeface="Symbol" charset="0"/>
              </a:rPr>
              <a:t>e</a:t>
            </a:r>
            <a:r>
              <a:rPr lang="en-US" sz="2400" dirty="0">
                <a:sym typeface="Symbol" charset="0"/>
              </a:rPr>
              <a:t>	=	2.7183 (which is the base of the natural logarithm)</a:t>
            </a:r>
            <a:endParaRPr lang="en-US" sz="2400" dirty="0"/>
          </a:p>
        </p:txBody>
      </p:sp>
    </p:spTree>
    <p:extLst>
      <p:ext uri="{BB962C8B-B14F-4D97-AF65-F5344CB8AC3E}">
        <p14:creationId xmlns:p14="http://schemas.microsoft.com/office/powerpoint/2010/main" val="4052226774"/>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35843"/>
                                        </p:tgtEl>
                                        <p:attrNameLst>
                                          <p:attrName>style.visibility</p:attrName>
                                        </p:attrNameLst>
                                      </p:cBhvr>
                                      <p:to>
                                        <p:strVal val="visible"/>
                                      </p:to>
                                    </p:set>
                                    <p:animEffect transition="in" filter="wipe(left)">
                                      <p:cBhvr>
                                        <p:cTn id="7" dur="1000"/>
                                        <p:tgtEl>
                                          <p:spTgt spid="35843"/>
                                        </p:tgtEl>
                                      </p:cBhvr>
                                    </p:animEffect>
                                  </p:childTnLst>
                                </p:cTn>
                              </p:par>
                            </p:childTnLst>
                          </p:cTn>
                        </p:par>
                        <p:par>
                          <p:cTn id="8" fill="hold" nodeType="afterGroup">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35848"/>
                                        </p:tgtEl>
                                        <p:attrNameLst>
                                          <p:attrName>style.visibility</p:attrName>
                                        </p:attrNameLst>
                                      </p:cBhvr>
                                      <p:to>
                                        <p:strVal val="visible"/>
                                      </p:to>
                                    </p:set>
                                    <p:animEffect transition="in" filter="strips(downRight)">
                                      <p:cBhvr>
                                        <p:cTn id="11" dur="1000"/>
                                        <p:tgtEl>
                                          <p:spTgt spid="35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527050" y="384175"/>
            <a:ext cx="8089900" cy="952500"/>
          </a:xfrm>
        </p:spPr>
        <p:txBody>
          <a:bodyPr/>
          <a:lstStyle/>
          <a:p>
            <a:r>
              <a:rPr lang="en-US" dirty="0">
                <a:latin typeface="Arial" charset="0"/>
                <a:ea typeface="MS PGothic" charset="0"/>
                <a:cs typeface="MS PGothic" charset="0"/>
              </a:rPr>
              <a:t>Poisson Distribution</a:t>
            </a:r>
          </a:p>
        </p:txBody>
      </p:sp>
      <p:grpSp>
        <p:nvGrpSpPr>
          <p:cNvPr id="37891" name="Group 3"/>
          <p:cNvGrpSpPr>
            <a:grpSpLocks/>
          </p:cNvGrpSpPr>
          <p:nvPr/>
        </p:nvGrpSpPr>
        <p:grpSpPr bwMode="auto">
          <a:xfrm>
            <a:off x="2981325" y="1465263"/>
            <a:ext cx="3167063" cy="708025"/>
            <a:chOff x="1750" y="947"/>
            <a:chExt cx="1995" cy="446"/>
          </a:xfrm>
        </p:grpSpPr>
        <p:sp>
          <p:nvSpPr>
            <p:cNvPr id="33854" name="Rectangle 4"/>
            <p:cNvSpPr>
              <a:spLocks noChangeArrowheads="1"/>
            </p:cNvSpPr>
            <p:nvPr/>
          </p:nvSpPr>
          <p:spPr bwMode="auto">
            <a:xfrm>
              <a:off x="1750" y="1039"/>
              <a:ext cx="1490"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Probability = </a:t>
              </a:r>
              <a:r>
                <a:rPr lang="en-US" sz="2000" i="1" dirty="0"/>
                <a:t>P</a:t>
              </a:r>
              <a:r>
                <a:rPr lang="en-US" sz="2000" dirty="0"/>
                <a:t>(</a:t>
              </a:r>
              <a:r>
                <a:rPr lang="en-US" sz="2000" i="1" dirty="0">
                  <a:latin typeface="Times New Roman" charset="0"/>
                  <a:cs typeface="Times New Roman" charset="0"/>
                </a:rPr>
                <a:t>x</a:t>
              </a:r>
              <a:r>
                <a:rPr lang="en-US" sz="2000" dirty="0"/>
                <a:t>) =</a:t>
              </a:r>
            </a:p>
          </p:txBody>
        </p:sp>
        <p:grpSp>
          <p:nvGrpSpPr>
            <p:cNvPr id="33855" name="Group 5"/>
            <p:cNvGrpSpPr>
              <a:grpSpLocks/>
            </p:cNvGrpSpPr>
            <p:nvPr/>
          </p:nvGrpSpPr>
          <p:grpSpPr bwMode="auto">
            <a:xfrm>
              <a:off x="3291" y="947"/>
              <a:ext cx="454" cy="446"/>
              <a:chOff x="403" y="1067"/>
              <a:chExt cx="454" cy="446"/>
            </a:xfrm>
          </p:grpSpPr>
          <p:sp>
            <p:nvSpPr>
              <p:cNvPr id="33856" name="Rectangle 6"/>
              <p:cNvSpPr>
                <a:spLocks noChangeArrowheads="1"/>
              </p:cNvSpPr>
              <p:nvPr/>
            </p:nvSpPr>
            <p:spPr bwMode="auto">
              <a:xfrm>
                <a:off x="403" y="1067"/>
                <a:ext cx="454" cy="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2000" i="1" dirty="0">
                    <a:latin typeface="Times New Roman" charset="0"/>
                    <a:cs typeface="Times New Roman" charset="0"/>
                  </a:rPr>
                  <a:t>e</a:t>
                </a:r>
                <a:r>
                  <a:rPr lang="en-US" sz="2000" baseline="30000" dirty="0"/>
                  <a:t>-</a:t>
                </a:r>
                <a:r>
                  <a:rPr lang="en-US" sz="2000" baseline="30000" dirty="0">
                    <a:sym typeface="Symbol" charset="0"/>
                  </a:rPr>
                  <a:t></a:t>
                </a:r>
                <a:r>
                  <a:rPr lang="en-US" sz="2000" i="1" dirty="0">
                    <a:sym typeface="Symbol" charset="0"/>
                  </a:rPr>
                  <a:t></a:t>
                </a:r>
                <a:r>
                  <a:rPr lang="en-US" sz="2000" baseline="30000" dirty="0">
                    <a:sym typeface="Symbol" charset="0"/>
                  </a:rPr>
                  <a:t>x</a:t>
                </a:r>
                <a:endParaRPr lang="en-US" sz="2000" dirty="0">
                  <a:sym typeface="Symbol" charset="0"/>
                </a:endParaRPr>
              </a:p>
              <a:p>
                <a:pPr algn="ctr"/>
                <a:r>
                  <a:rPr lang="en-US" sz="2000" i="1" dirty="0">
                    <a:latin typeface="Times New Roman" charset="0"/>
                    <a:cs typeface="Times New Roman" charset="0"/>
                    <a:sym typeface="Symbol" charset="0"/>
                  </a:rPr>
                  <a:t>x</a:t>
                </a:r>
                <a:r>
                  <a:rPr lang="en-US" sz="2000" dirty="0">
                    <a:sym typeface="Symbol" charset="0"/>
                  </a:rPr>
                  <a:t>!</a:t>
                </a:r>
                <a:endParaRPr lang="en-US" sz="2000" dirty="0"/>
              </a:p>
            </p:txBody>
          </p:sp>
          <p:sp>
            <p:nvSpPr>
              <p:cNvPr id="33857" name="Line 7"/>
              <p:cNvSpPr>
                <a:spLocks noChangeShapeType="1"/>
              </p:cNvSpPr>
              <p:nvPr/>
            </p:nvSpPr>
            <p:spPr bwMode="auto">
              <a:xfrm>
                <a:off x="435" y="1280"/>
                <a:ext cx="368"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grpSp>
        <p:nvGrpSpPr>
          <p:cNvPr id="37896" name="Group 8"/>
          <p:cNvGrpSpPr>
            <a:grpSpLocks/>
          </p:cNvGrpSpPr>
          <p:nvPr/>
        </p:nvGrpSpPr>
        <p:grpSpPr bwMode="auto">
          <a:xfrm>
            <a:off x="609600" y="2120900"/>
            <a:ext cx="3775075" cy="4127500"/>
            <a:chOff x="384" y="1360"/>
            <a:chExt cx="2378" cy="2600"/>
          </a:xfrm>
        </p:grpSpPr>
        <p:sp>
          <p:nvSpPr>
            <p:cNvPr id="33828" name="Rectangle 9"/>
            <p:cNvSpPr>
              <a:spLocks noChangeArrowheads="1"/>
            </p:cNvSpPr>
            <p:nvPr/>
          </p:nvSpPr>
          <p:spPr bwMode="auto">
            <a:xfrm>
              <a:off x="968" y="1360"/>
              <a:ext cx="1664" cy="2216"/>
            </a:xfrm>
            <a:prstGeom prst="rect">
              <a:avLst/>
            </a:prstGeom>
            <a:solidFill>
              <a:srgbClr val="F7D7AC"/>
            </a:solidFill>
            <a:ln w="19050">
              <a:solidFill>
                <a:schemeClr val="tx1"/>
              </a:solidFill>
              <a:miter lim="800000"/>
              <a:headEnd/>
              <a:tailEnd/>
            </a:ln>
          </p:spPr>
          <p:txBody>
            <a:bodyPr wrap="none" anchor="ctr"/>
            <a:lstStyle/>
            <a:p>
              <a:endParaRPr lang="en-NZ" dirty="0"/>
            </a:p>
          </p:txBody>
        </p:sp>
        <p:sp>
          <p:nvSpPr>
            <p:cNvPr id="33829" name="Rectangle 10"/>
            <p:cNvSpPr>
              <a:spLocks noChangeArrowheads="1"/>
            </p:cNvSpPr>
            <p:nvPr/>
          </p:nvSpPr>
          <p:spPr bwMode="auto">
            <a:xfrm>
              <a:off x="580" y="1431"/>
              <a:ext cx="512" cy="22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r">
                <a:lnSpc>
                  <a:spcPct val="240000"/>
                </a:lnSpc>
              </a:pPr>
              <a:r>
                <a:rPr lang="en-US" sz="1600" dirty="0"/>
                <a:t>0.25  –</a:t>
              </a:r>
            </a:p>
            <a:p>
              <a:pPr algn="r">
                <a:lnSpc>
                  <a:spcPct val="240000"/>
                </a:lnSpc>
              </a:pPr>
              <a:r>
                <a:rPr lang="en-US" sz="1600" dirty="0"/>
                <a:t>0.20  –</a:t>
              </a:r>
            </a:p>
            <a:p>
              <a:pPr algn="r">
                <a:lnSpc>
                  <a:spcPct val="240000"/>
                </a:lnSpc>
              </a:pPr>
              <a:r>
                <a:rPr lang="en-US" sz="1600" dirty="0"/>
                <a:t>0.15  –</a:t>
              </a:r>
            </a:p>
            <a:p>
              <a:pPr algn="r">
                <a:lnSpc>
                  <a:spcPct val="240000"/>
                </a:lnSpc>
              </a:pPr>
              <a:r>
                <a:rPr lang="en-US" sz="1600" dirty="0"/>
                <a:t>0.10  –</a:t>
              </a:r>
            </a:p>
            <a:p>
              <a:pPr algn="r">
                <a:lnSpc>
                  <a:spcPct val="240000"/>
                </a:lnSpc>
              </a:pPr>
              <a:r>
                <a:rPr lang="en-US" sz="1600" dirty="0"/>
                <a:t>0.05  –</a:t>
              </a:r>
            </a:p>
            <a:p>
              <a:pPr algn="r">
                <a:lnSpc>
                  <a:spcPct val="240000"/>
                </a:lnSpc>
              </a:pPr>
              <a:r>
                <a:rPr lang="en-US" sz="1600" dirty="0"/>
                <a:t>–</a:t>
              </a:r>
            </a:p>
          </p:txBody>
        </p:sp>
        <p:sp>
          <p:nvSpPr>
            <p:cNvPr id="33830" name="Rectangle 11"/>
            <p:cNvSpPr>
              <a:spLocks noChangeArrowheads="1"/>
            </p:cNvSpPr>
            <p:nvPr/>
          </p:nvSpPr>
          <p:spPr bwMode="auto">
            <a:xfrm rot="-5400000">
              <a:off x="131" y="2321"/>
              <a:ext cx="720"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Probability</a:t>
              </a:r>
            </a:p>
          </p:txBody>
        </p:sp>
        <p:sp>
          <p:nvSpPr>
            <p:cNvPr id="15401" name="Rectangle 12"/>
            <p:cNvSpPr>
              <a:spLocks noChangeArrowheads="1"/>
            </p:cNvSpPr>
            <p:nvPr/>
          </p:nvSpPr>
          <p:spPr bwMode="auto">
            <a:xfrm>
              <a:off x="1051" y="2570"/>
              <a:ext cx="104" cy="1006"/>
            </a:xfrm>
            <a:prstGeom prst="rect">
              <a:avLst/>
            </a:prstGeom>
            <a:solidFill>
              <a:schemeClr val="accent4">
                <a:lumMod val="75000"/>
              </a:schemeClr>
            </a:solidFill>
            <a:ln w="9525">
              <a:solidFill>
                <a:schemeClr val="tx1"/>
              </a:solidFill>
              <a:miter lim="800000"/>
              <a:headEnd/>
              <a:tailEnd/>
            </a:ln>
            <a:effectLst/>
          </p:spPr>
          <p:txBody>
            <a:bodyPr wrap="none" anchor="ctr"/>
            <a:lstStyle/>
            <a:p>
              <a:pPr fontAlgn="auto">
                <a:spcBef>
                  <a:spcPts val="0"/>
                </a:spcBef>
                <a:spcAft>
                  <a:spcPts val="0"/>
                </a:spcAft>
                <a:defRPr/>
              </a:pPr>
              <a:endParaRPr lang="en-NZ" dirty="0">
                <a:latin typeface="+mn-lt"/>
                <a:ea typeface="+mn-ea"/>
                <a:cs typeface="+mn-cs"/>
              </a:endParaRPr>
            </a:p>
          </p:txBody>
        </p:sp>
        <p:sp>
          <p:nvSpPr>
            <p:cNvPr id="15402" name="Rectangle 13"/>
            <p:cNvSpPr>
              <a:spLocks noChangeArrowheads="1"/>
            </p:cNvSpPr>
            <p:nvPr/>
          </p:nvSpPr>
          <p:spPr bwMode="auto">
            <a:xfrm>
              <a:off x="1203" y="1523"/>
              <a:ext cx="104" cy="2053"/>
            </a:xfrm>
            <a:prstGeom prst="rect">
              <a:avLst/>
            </a:prstGeom>
            <a:solidFill>
              <a:schemeClr val="accent4">
                <a:lumMod val="75000"/>
              </a:schemeClr>
            </a:solidFill>
            <a:ln w="9525">
              <a:solidFill>
                <a:schemeClr val="tx1"/>
              </a:solidFill>
              <a:miter lim="800000"/>
              <a:headEnd/>
              <a:tailEnd/>
            </a:ln>
            <a:effectLst/>
          </p:spPr>
          <p:txBody>
            <a:bodyPr wrap="none" anchor="ctr"/>
            <a:lstStyle/>
            <a:p>
              <a:pPr fontAlgn="auto">
                <a:spcBef>
                  <a:spcPts val="0"/>
                </a:spcBef>
                <a:spcAft>
                  <a:spcPts val="0"/>
                </a:spcAft>
                <a:defRPr/>
              </a:pPr>
              <a:endParaRPr lang="en-NZ" dirty="0">
                <a:latin typeface="+mn-lt"/>
                <a:ea typeface="+mn-ea"/>
                <a:cs typeface="+mn-cs"/>
              </a:endParaRPr>
            </a:p>
          </p:txBody>
        </p:sp>
        <p:sp>
          <p:nvSpPr>
            <p:cNvPr id="15403" name="Rectangle 14"/>
            <p:cNvSpPr>
              <a:spLocks noChangeArrowheads="1"/>
            </p:cNvSpPr>
            <p:nvPr/>
          </p:nvSpPr>
          <p:spPr bwMode="auto">
            <a:xfrm>
              <a:off x="1352" y="1523"/>
              <a:ext cx="104" cy="2053"/>
            </a:xfrm>
            <a:prstGeom prst="rect">
              <a:avLst/>
            </a:prstGeom>
            <a:solidFill>
              <a:schemeClr val="accent4">
                <a:lumMod val="75000"/>
              </a:schemeClr>
            </a:solidFill>
            <a:ln w="9525">
              <a:solidFill>
                <a:schemeClr val="tx1"/>
              </a:solidFill>
              <a:miter lim="800000"/>
              <a:headEnd/>
              <a:tailEnd/>
            </a:ln>
            <a:effectLst/>
          </p:spPr>
          <p:txBody>
            <a:bodyPr wrap="none" anchor="ctr"/>
            <a:lstStyle/>
            <a:p>
              <a:pPr fontAlgn="auto">
                <a:spcBef>
                  <a:spcPts val="0"/>
                </a:spcBef>
                <a:spcAft>
                  <a:spcPts val="0"/>
                </a:spcAft>
                <a:defRPr/>
              </a:pPr>
              <a:endParaRPr lang="en-NZ" dirty="0">
                <a:latin typeface="+mn-lt"/>
                <a:ea typeface="+mn-ea"/>
                <a:cs typeface="+mn-cs"/>
              </a:endParaRPr>
            </a:p>
          </p:txBody>
        </p:sp>
        <p:sp>
          <p:nvSpPr>
            <p:cNvPr id="15404" name="Rectangle 15"/>
            <p:cNvSpPr>
              <a:spLocks noChangeArrowheads="1"/>
            </p:cNvSpPr>
            <p:nvPr/>
          </p:nvSpPr>
          <p:spPr bwMode="auto">
            <a:xfrm>
              <a:off x="1501" y="2227"/>
              <a:ext cx="104" cy="1349"/>
            </a:xfrm>
            <a:prstGeom prst="rect">
              <a:avLst/>
            </a:prstGeom>
            <a:solidFill>
              <a:schemeClr val="accent4">
                <a:lumMod val="75000"/>
              </a:schemeClr>
            </a:solidFill>
            <a:ln w="9525">
              <a:solidFill>
                <a:schemeClr val="tx1"/>
              </a:solidFill>
              <a:miter lim="800000"/>
              <a:headEnd/>
              <a:tailEnd/>
            </a:ln>
            <a:effectLst/>
          </p:spPr>
          <p:txBody>
            <a:bodyPr wrap="none" anchor="ctr"/>
            <a:lstStyle/>
            <a:p>
              <a:pPr fontAlgn="auto">
                <a:spcBef>
                  <a:spcPts val="0"/>
                </a:spcBef>
                <a:spcAft>
                  <a:spcPts val="0"/>
                </a:spcAft>
                <a:defRPr/>
              </a:pPr>
              <a:endParaRPr lang="en-NZ" dirty="0">
                <a:latin typeface="+mn-lt"/>
                <a:ea typeface="+mn-ea"/>
                <a:cs typeface="+mn-cs"/>
              </a:endParaRPr>
            </a:p>
          </p:txBody>
        </p:sp>
        <p:sp>
          <p:nvSpPr>
            <p:cNvPr id="15405" name="Rectangle 16"/>
            <p:cNvSpPr>
              <a:spLocks noChangeArrowheads="1"/>
            </p:cNvSpPr>
            <p:nvPr/>
          </p:nvSpPr>
          <p:spPr bwMode="auto">
            <a:xfrm>
              <a:off x="1650" y="2895"/>
              <a:ext cx="104" cy="681"/>
            </a:xfrm>
            <a:prstGeom prst="rect">
              <a:avLst/>
            </a:prstGeom>
            <a:solidFill>
              <a:schemeClr val="accent4">
                <a:lumMod val="75000"/>
              </a:schemeClr>
            </a:solidFill>
            <a:ln w="9525">
              <a:solidFill>
                <a:schemeClr val="tx1"/>
              </a:solidFill>
              <a:miter lim="800000"/>
              <a:headEnd/>
              <a:tailEnd/>
            </a:ln>
            <a:effectLst/>
          </p:spPr>
          <p:txBody>
            <a:bodyPr wrap="none" anchor="ctr"/>
            <a:lstStyle/>
            <a:p>
              <a:pPr fontAlgn="auto">
                <a:spcBef>
                  <a:spcPts val="0"/>
                </a:spcBef>
                <a:spcAft>
                  <a:spcPts val="0"/>
                </a:spcAft>
                <a:defRPr/>
              </a:pPr>
              <a:endParaRPr lang="en-NZ" dirty="0">
                <a:latin typeface="+mn-lt"/>
                <a:ea typeface="+mn-ea"/>
                <a:cs typeface="+mn-cs"/>
              </a:endParaRPr>
            </a:p>
          </p:txBody>
        </p:sp>
        <p:sp>
          <p:nvSpPr>
            <p:cNvPr id="15406" name="Rectangle 17"/>
            <p:cNvSpPr>
              <a:spLocks noChangeArrowheads="1"/>
            </p:cNvSpPr>
            <p:nvPr/>
          </p:nvSpPr>
          <p:spPr bwMode="auto">
            <a:xfrm>
              <a:off x="1800" y="3285"/>
              <a:ext cx="104" cy="291"/>
            </a:xfrm>
            <a:prstGeom prst="rect">
              <a:avLst/>
            </a:prstGeom>
            <a:solidFill>
              <a:schemeClr val="accent4">
                <a:lumMod val="75000"/>
              </a:schemeClr>
            </a:solidFill>
            <a:ln w="9525">
              <a:solidFill>
                <a:schemeClr val="tx1"/>
              </a:solidFill>
              <a:miter lim="800000"/>
              <a:headEnd/>
              <a:tailEnd/>
            </a:ln>
            <a:effectLst/>
          </p:spPr>
          <p:txBody>
            <a:bodyPr wrap="none" anchor="ctr"/>
            <a:lstStyle/>
            <a:p>
              <a:pPr fontAlgn="auto">
                <a:spcBef>
                  <a:spcPts val="0"/>
                </a:spcBef>
                <a:spcAft>
                  <a:spcPts val="0"/>
                </a:spcAft>
                <a:defRPr/>
              </a:pPr>
              <a:endParaRPr lang="en-NZ" dirty="0">
                <a:latin typeface="+mn-lt"/>
                <a:ea typeface="+mn-ea"/>
                <a:cs typeface="+mn-cs"/>
              </a:endParaRPr>
            </a:p>
          </p:txBody>
        </p:sp>
        <p:sp>
          <p:nvSpPr>
            <p:cNvPr id="15407" name="Rectangle 18"/>
            <p:cNvSpPr>
              <a:spLocks noChangeArrowheads="1"/>
            </p:cNvSpPr>
            <p:nvPr/>
          </p:nvSpPr>
          <p:spPr bwMode="auto">
            <a:xfrm>
              <a:off x="1947" y="3445"/>
              <a:ext cx="104" cy="131"/>
            </a:xfrm>
            <a:prstGeom prst="rect">
              <a:avLst/>
            </a:prstGeom>
            <a:solidFill>
              <a:schemeClr val="accent4">
                <a:lumMod val="75000"/>
              </a:schemeClr>
            </a:solidFill>
            <a:ln w="9525">
              <a:solidFill>
                <a:schemeClr val="tx1"/>
              </a:solidFill>
              <a:miter lim="800000"/>
              <a:headEnd/>
              <a:tailEnd/>
            </a:ln>
            <a:effectLst/>
          </p:spPr>
          <p:txBody>
            <a:bodyPr wrap="none" anchor="ctr"/>
            <a:lstStyle/>
            <a:p>
              <a:pPr fontAlgn="auto">
                <a:spcBef>
                  <a:spcPts val="0"/>
                </a:spcBef>
                <a:spcAft>
                  <a:spcPts val="0"/>
                </a:spcAft>
                <a:defRPr/>
              </a:pPr>
              <a:endParaRPr lang="en-NZ" dirty="0">
                <a:latin typeface="+mn-lt"/>
                <a:ea typeface="+mn-ea"/>
                <a:cs typeface="+mn-cs"/>
              </a:endParaRPr>
            </a:p>
          </p:txBody>
        </p:sp>
        <p:sp>
          <p:nvSpPr>
            <p:cNvPr id="15408" name="Rectangle 19"/>
            <p:cNvSpPr>
              <a:spLocks noChangeArrowheads="1"/>
            </p:cNvSpPr>
            <p:nvPr/>
          </p:nvSpPr>
          <p:spPr bwMode="auto">
            <a:xfrm>
              <a:off x="2099" y="3501"/>
              <a:ext cx="104" cy="75"/>
            </a:xfrm>
            <a:prstGeom prst="rect">
              <a:avLst/>
            </a:prstGeom>
            <a:solidFill>
              <a:schemeClr val="accent4">
                <a:lumMod val="75000"/>
              </a:schemeClr>
            </a:solidFill>
            <a:ln w="9525">
              <a:solidFill>
                <a:schemeClr val="tx1"/>
              </a:solidFill>
              <a:miter lim="800000"/>
              <a:headEnd/>
              <a:tailEnd/>
            </a:ln>
            <a:effectLst/>
          </p:spPr>
          <p:txBody>
            <a:bodyPr wrap="none" anchor="ctr"/>
            <a:lstStyle/>
            <a:p>
              <a:pPr fontAlgn="auto">
                <a:spcBef>
                  <a:spcPts val="0"/>
                </a:spcBef>
                <a:spcAft>
                  <a:spcPts val="0"/>
                </a:spcAft>
                <a:defRPr/>
              </a:pPr>
              <a:endParaRPr lang="en-NZ" dirty="0">
                <a:latin typeface="+mn-lt"/>
                <a:ea typeface="+mn-ea"/>
                <a:cs typeface="+mn-cs"/>
              </a:endParaRPr>
            </a:p>
          </p:txBody>
        </p:sp>
        <p:sp>
          <p:nvSpPr>
            <p:cNvPr id="15409" name="Rectangle 20"/>
            <p:cNvSpPr>
              <a:spLocks noChangeArrowheads="1"/>
            </p:cNvSpPr>
            <p:nvPr/>
          </p:nvSpPr>
          <p:spPr bwMode="auto">
            <a:xfrm>
              <a:off x="2245" y="3513"/>
              <a:ext cx="104" cy="63"/>
            </a:xfrm>
            <a:prstGeom prst="rect">
              <a:avLst/>
            </a:prstGeom>
            <a:solidFill>
              <a:schemeClr val="accent4">
                <a:lumMod val="75000"/>
              </a:schemeClr>
            </a:solidFill>
            <a:ln w="9525">
              <a:solidFill>
                <a:schemeClr val="tx1"/>
              </a:solidFill>
              <a:miter lim="800000"/>
              <a:headEnd/>
              <a:tailEnd/>
            </a:ln>
            <a:effectLst/>
          </p:spPr>
          <p:txBody>
            <a:bodyPr wrap="none" anchor="ctr"/>
            <a:lstStyle/>
            <a:p>
              <a:pPr fontAlgn="auto">
                <a:spcBef>
                  <a:spcPts val="0"/>
                </a:spcBef>
                <a:spcAft>
                  <a:spcPts val="0"/>
                </a:spcAft>
                <a:defRPr/>
              </a:pPr>
              <a:endParaRPr lang="en-NZ" dirty="0">
                <a:latin typeface="+mn-lt"/>
                <a:ea typeface="+mn-ea"/>
                <a:cs typeface="+mn-cs"/>
              </a:endParaRPr>
            </a:p>
          </p:txBody>
        </p:sp>
        <p:sp>
          <p:nvSpPr>
            <p:cNvPr id="15410" name="Rectangle 21"/>
            <p:cNvSpPr>
              <a:spLocks noChangeArrowheads="1"/>
            </p:cNvSpPr>
            <p:nvPr/>
          </p:nvSpPr>
          <p:spPr bwMode="auto">
            <a:xfrm>
              <a:off x="2397" y="3525"/>
              <a:ext cx="104" cy="51"/>
            </a:xfrm>
            <a:prstGeom prst="rect">
              <a:avLst/>
            </a:prstGeom>
            <a:solidFill>
              <a:schemeClr val="accent4">
                <a:lumMod val="75000"/>
              </a:schemeClr>
            </a:solidFill>
            <a:ln w="9525">
              <a:solidFill>
                <a:schemeClr val="tx1"/>
              </a:solidFill>
              <a:miter lim="800000"/>
              <a:headEnd/>
              <a:tailEnd/>
            </a:ln>
            <a:effectLst/>
          </p:spPr>
          <p:txBody>
            <a:bodyPr wrap="none" anchor="ctr"/>
            <a:lstStyle/>
            <a:p>
              <a:pPr fontAlgn="auto">
                <a:spcBef>
                  <a:spcPts val="0"/>
                </a:spcBef>
                <a:spcAft>
                  <a:spcPts val="0"/>
                </a:spcAft>
                <a:defRPr/>
              </a:pPr>
              <a:endParaRPr lang="en-NZ" dirty="0">
                <a:latin typeface="+mn-lt"/>
                <a:ea typeface="+mn-ea"/>
                <a:cs typeface="+mn-cs"/>
              </a:endParaRPr>
            </a:p>
          </p:txBody>
        </p:sp>
        <p:sp>
          <p:nvSpPr>
            <p:cNvPr id="33841" name="Rectangle 22"/>
            <p:cNvSpPr>
              <a:spLocks noChangeArrowheads="1"/>
            </p:cNvSpPr>
            <p:nvPr/>
          </p:nvSpPr>
          <p:spPr bwMode="auto">
            <a:xfrm>
              <a:off x="1006" y="357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0</a:t>
              </a:r>
            </a:p>
          </p:txBody>
        </p:sp>
        <p:sp>
          <p:nvSpPr>
            <p:cNvPr id="33842" name="Rectangle 23"/>
            <p:cNvSpPr>
              <a:spLocks noChangeArrowheads="1"/>
            </p:cNvSpPr>
            <p:nvPr/>
          </p:nvSpPr>
          <p:spPr bwMode="auto">
            <a:xfrm>
              <a:off x="1158" y="357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1</a:t>
              </a:r>
            </a:p>
          </p:txBody>
        </p:sp>
        <p:sp>
          <p:nvSpPr>
            <p:cNvPr id="33843" name="Rectangle 24"/>
            <p:cNvSpPr>
              <a:spLocks noChangeArrowheads="1"/>
            </p:cNvSpPr>
            <p:nvPr/>
          </p:nvSpPr>
          <p:spPr bwMode="auto">
            <a:xfrm>
              <a:off x="1309" y="357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2</a:t>
              </a:r>
            </a:p>
          </p:txBody>
        </p:sp>
        <p:sp>
          <p:nvSpPr>
            <p:cNvPr id="33844" name="Rectangle 25"/>
            <p:cNvSpPr>
              <a:spLocks noChangeArrowheads="1"/>
            </p:cNvSpPr>
            <p:nvPr/>
          </p:nvSpPr>
          <p:spPr bwMode="auto">
            <a:xfrm>
              <a:off x="1460" y="357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3</a:t>
              </a:r>
            </a:p>
          </p:txBody>
        </p:sp>
        <p:sp>
          <p:nvSpPr>
            <p:cNvPr id="33845" name="Rectangle 26"/>
            <p:cNvSpPr>
              <a:spLocks noChangeArrowheads="1"/>
            </p:cNvSpPr>
            <p:nvPr/>
          </p:nvSpPr>
          <p:spPr bwMode="auto">
            <a:xfrm>
              <a:off x="1611" y="357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4</a:t>
              </a:r>
            </a:p>
          </p:txBody>
        </p:sp>
        <p:sp>
          <p:nvSpPr>
            <p:cNvPr id="33846" name="Rectangle 27"/>
            <p:cNvSpPr>
              <a:spLocks noChangeArrowheads="1"/>
            </p:cNvSpPr>
            <p:nvPr/>
          </p:nvSpPr>
          <p:spPr bwMode="auto">
            <a:xfrm>
              <a:off x="1762" y="357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5</a:t>
              </a:r>
            </a:p>
          </p:txBody>
        </p:sp>
        <p:sp>
          <p:nvSpPr>
            <p:cNvPr id="33847" name="Rectangle 28"/>
            <p:cNvSpPr>
              <a:spLocks noChangeArrowheads="1"/>
            </p:cNvSpPr>
            <p:nvPr/>
          </p:nvSpPr>
          <p:spPr bwMode="auto">
            <a:xfrm>
              <a:off x="1913" y="357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6</a:t>
              </a:r>
            </a:p>
          </p:txBody>
        </p:sp>
        <p:sp>
          <p:nvSpPr>
            <p:cNvPr id="33848" name="Rectangle 29"/>
            <p:cNvSpPr>
              <a:spLocks noChangeArrowheads="1"/>
            </p:cNvSpPr>
            <p:nvPr/>
          </p:nvSpPr>
          <p:spPr bwMode="auto">
            <a:xfrm>
              <a:off x="2064" y="357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7</a:t>
              </a:r>
            </a:p>
          </p:txBody>
        </p:sp>
        <p:sp>
          <p:nvSpPr>
            <p:cNvPr id="33849" name="Rectangle 30"/>
            <p:cNvSpPr>
              <a:spLocks noChangeArrowheads="1"/>
            </p:cNvSpPr>
            <p:nvPr/>
          </p:nvSpPr>
          <p:spPr bwMode="auto">
            <a:xfrm>
              <a:off x="2215" y="357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8</a:t>
              </a:r>
            </a:p>
          </p:txBody>
        </p:sp>
        <p:sp>
          <p:nvSpPr>
            <p:cNvPr id="33850" name="Rectangle 31"/>
            <p:cNvSpPr>
              <a:spLocks noChangeArrowheads="1"/>
            </p:cNvSpPr>
            <p:nvPr/>
          </p:nvSpPr>
          <p:spPr bwMode="auto">
            <a:xfrm>
              <a:off x="2366" y="357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9</a:t>
              </a:r>
            </a:p>
          </p:txBody>
        </p:sp>
        <p:sp>
          <p:nvSpPr>
            <p:cNvPr id="33851" name="Rectangle 32"/>
            <p:cNvSpPr>
              <a:spLocks noChangeArrowheads="1"/>
            </p:cNvSpPr>
            <p:nvPr/>
          </p:nvSpPr>
          <p:spPr bwMode="auto">
            <a:xfrm>
              <a:off x="1086" y="3747"/>
              <a:ext cx="1276"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Distribution for </a:t>
              </a:r>
              <a:r>
                <a:rPr lang="en-US" sz="1600" i="1" dirty="0">
                  <a:sym typeface="Symbol" charset="0"/>
                </a:rPr>
                <a:t></a:t>
              </a:r>
              <a:r>
                <a:rPr lang="en-US" sz="1600" dirty="0">
                  <a:sym typeface="Symbol" charset="0"/>
                </a:rPr>
                <a:t> = 2</a:t>
              </a:r>
              <a:endParaRPr lang="en-US" sz="1600" dirty="0"/>
            </a:p>
          </p:txBody>
        </p:sp>
        <p:sp>
          <p:nvSpPr>
            <p:cNvPr id="33852" name="Rectangle 33"/>
            <p:cNvSpPr>
              <a:spLocks noChangeArrowheads="1"/>
            </p:cNvSpPr>
            <p:nvPr/>
          </p:nvSpPr>
          <p:spPr bwMode="auto">
            <a:xfrm>
              <a:off x="2546" y="3518"/>
              <a:ext cx="216"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i="1" dirty="0">
                  <a:latin typeface="Times New Roman" charset="0"/>
                  <a:cs typeface="Times New Roman" charset="0"/>
                </a:rPr>
                <a:t>x</a:t>
              </a:r>
            </a:p>
          </p:txBody>
        </p:sp>
        <p:sp>
          <p:nvSpPr>
            <p:cNvPr id="33853" name="Line 34"/>
            <p:cNvSpPr>
              <a:spLocks noChangeShapeType="1"/>
            </p:cNvSpPr>
            <p:nvPr/>
          </p:nvSpPr>
          <p:spPr bwMode="auto">
            <a:xfrm>
              <a:off x="968" y="3576"/>
              <a:ext cx="1656" cy="0"/>
            </a:xfrm>
            <a:prstGeom prst="line">
              <a:avLst/>
            </a:prstGeom>
            <a:noFill/>
            <a:ln w="38100">
              <a:solidFill>
                <a:schemeClr val="tx1"/>
              </a:solidFill>
              <a:round/>
              <a:headEnd/>
              <a:tailEnd type="triangle" w="med" len="sm"/>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37923" name="Group 35"/>
          <p:cNvGrpSpPr>
            <a:grpSpLocks/>
          </p:cNvGrpSpPr>
          <p:nvPr/>
        </p:nvGrpSpPr>
        <p:grpSpPr bwMode="auto">
          <a:xfrm>
            <a:off x="4349750" y="2133600"/>
            <a:ext cx="4251325" cy="4127500"/>
            <a:chOff x="2740" y="1368"/>
            <a:chExt cx="2678" cy="2600"/>
          </a:xfrm>
        </p:grpSpPr>
        <p:sp>
          <p:nvSpPr>
            <p:cNvPr id="15368" name="Rectangle 36"/>
            <p:cNvSpPr>
              <a:spLocks noChangeArrowheads="1"/>
            </p:cNvSpPr>
            <p:nvPr/>
          </p:nvSpPr>
          <p:spPr bwMode="auto">
            <a:xfrm>
              <a:off x="3324" y="1368"/>
              <a:ext cx="1928" cy="2216"/>
            </a:xfrm>
            <a:prstGeom prst="rect">
              <a:avLst/>
            </a:prstGeom>
            <a:solidFill>
              <a:schemeClr val="accent3"/>
            </a:solidFill>
            <a:ln w="19050" cmpd="sng">
              <a:solidFill>
                <a:schemeClr val="tx1"/>
              </a:solidFill>
              <a:miter lim="800000"/>
              <a:headEnd/>
              <a:tailEnd/>
            </a:ln>
            <a:effectLst/>
          </p:spPr>
          <p:txBody>
            <a:bodyPr wrap="none" anchor="ctr"/>
            <a:lstStyle/>
            <a:p>
              <a:pPr fontAlgn="auto">
                <a:spcBef>
                  <a:spcPts val="0"/>
                </a:spcBef>
                <a:spcAft>
                  <a:spcPts val="0"/>
                </a:spcAft>
                <a:defRPr/>
              </a:pPr>
              <a:endParaRPr lang="en-NZ" dirty="0">
                <a:latin typeface="+mn-lt"/>
                <a:ea typeface="+mn-ea"/>
                <a:cs typeface="+mn-cs"/>
              </a:endParaRPr>
            </a:p>
          </p:txBody>
        </p:sp>
        <p:sp>
          <p:nvSpPr>
            <p:cNvPr id="33799" name="Rectangle 37"/>
            <p:cNvSpPr>
              <a:spLocks noChangeArrowheads="1"/>
            </p:cNvSpPr>
            <p:nvPr/>
          </p:nvSpPr>
          <p:spPr bwMode="auto">
            <a:xfrm>
              <a:off x="2954" y="1439"/>
              <a:ext cx="512" cy="22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r">
                <a:lnSpc>
                  <a:spcPct val="240000"/>
                </a:lnSpc>
              </a:pPr>
              <a:r>
                <a:rPr lang="en-US" sz="1600" dirty="0"/>
                <a:t>0.25  –</a:t>
              </a:r>
            </a:p>
            <a:p>
              <a:pPr algn="r">
                <a:lnSpc>
                  <a:spcPct val="240000"/>
                </a:lnSpc>
              </a:pPr>
              <a:r>
                <a:rPr lang="en-US" sz="1600" dirty="0"/>
                <a:t>0.20  –</a:t>
              </a:r>
            </a:p>
            <a:p>
              <a:pPr algn="r">
                <a:lnSpc>
                  <a:spcPct val="240000"/>
                </a:lnSpc>
              </a:pPr>
              <a:r>
                <a:rPr lang="en-US" sz="1600" dirty="0"/>
                <a:t>0.15  –</a:t>
              </a:r>
            </a:p>
            <a:p>
              <a:pPr algn="r">
                <a:lnSpc>
                  <a:spcPct val="240000"/>
                </a:lnSpc>
              </a:pPr>
              <a:r>
                <a:rPr lang="en-US" sz="1600" dirty="0"/>
                <a:t>0.10  –</a:t>
              </a:r>
            </a:p>
            <a:p>
              <a:pPr algn="r">
                <a:lnSpc>
                  <a:spcPct val="240000"/>
                </a:lnSpc>
              </a:pPr>
              <a:r>
                <a:rPr lang="en-US" sz="1600" dirty="0"/>
                <a:t>0.05  –</a:t>
              </a:r>
            </a:p>
            <a:p>
              <a:pPr algn="r">
                <a:lnSpc>
                  <a:spcPct val="240000"/>
                </a:lnSpc>
              </a:pPr>
              <a:r>
                <a:rPr lang="en-US" sz="1600" dirty="0"/>
                <a:t>–</a:t>
              </a:r>
            </a:p>
          </p:txBody>
        </p:sp>
        <p:sp>
          <p:nvSpPr>
            <p:cNvPr id="33800" name="Rectangle 38"/>
            <p:cNvSpPr>
              <a:spLocks noChangeArrowheads="1"/>
            </p:cNvSpPr>
            <p:nvPr/>
          </p:nvSpPr>
          <p:spPr bwMode="auto">
            <a:xfrm rot="-5400000">
              <a:off x="2487" y="2329"/>
              <a:ext cx="720"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Probability</a:t>
              </a:r>
            </a:p>
          </p:txBody>
        </p:sp>
        <p:sp>
          <p:nvSpPr>
            <p:cNvPr id="33801" name="Rectangle 39"/>
            <p:cNvSpPr>
              <a:spLocks noChangeArrowheads="1"/>
            </p:cNvSpPr>
            <p:nvPr/>
          </p:nvSpPr>
          <p:spPr bwMode="auto">
            <a:xfrm>
              <a:off x="3407" y="3458"/>
              <a:ext cx="104" cy="126"/>
            </a:xfrm>
            <a:prstGeom prst="rect">
              <a:avLst/>
            </a:prstGeom>
            <a:solidFill>
              <a:srgbClr val="89B56E"/>
            </a:solidFill>
            <a:ln w="9525">
              <a:solidFill>
                <a:schemeClr val="tx1"/>
              </a:solidFill>
              <a:miter lim="800000"/>
              <a:headEnd/>
              <a:tailEnd/>
            </a:ln>
          </p:spPr>
          <p:txBody>
            <a:bodyPr wrap="none" anchor="ctr"/>
            <a:lstStyle/>
            <a:p>
              <a:endParaRPr lang="en-NZ" dirty="0"/>
            </a:p>
          </p:txBody>
        </p:sp>
        <p:sp>
          <p:nvSpPr>
            <p:cNvPr id="33802" name="Rectangle 40"/>
            <p:cNvSpPr>
              <a:spLocks noChangeArrowheads="1"/>
            </p:cNvSpPr>
            <p:nvPr/>
          </p:nvSpPr>
          <p:spPr bwMode="auto">
            <a:xfrm>
              <a:off x="3555" y="3059"/>
              <a:ext cx="104" cy="525"/>
            </a:xfrm>
            <a:prstGeom prst="rect">
              <a:avLst/>
            </a:prstGeom>
            <a:solidFill>
              <a:srgbClr val="89B56E"/>
            </a:solidFill>
            <a:ln w="9525">
              <a:solidFill>
                <a:schemeClr val="tx1"/>
              </a:solidFill>
              <a:miter lim="800000"/>
              <a:headEnd/>
              <a:tailEnd/>
            </a:ln>
          </p:spPr>
          <p:txBody>
            <a:bodyPr wrap="none" anchor="ctr"/>
            <a:lstStyle/>
            <a:p>
              <a:endParaRPr lang="en-NZ" dirty="0"/>
            </a:p>
          </p:txBody>
        </p:sp>
        <p:sp>
          <p:nvSpPr>
            <p:cNvPr id="33803" name="Rectangle 41"/>
            <p:cNvSpPr>
              <a:spLocks noChangeArrowheads="1"/>
            </p:cNvSpPr>
            <p:nvPr/>
          </p:nvSpPr>
          <p:spPr bwMode="auto">
            <a:xfrm>
              <a:off x="3704" y="2489"/>
              <a:ext cx="104" cy="1095"/>
            </a:xfrm>
            <a:prstGeom prst="rect">
              <a:avLst/>
            </a:prstGeom>
            <a:solidFill>
              <a:srgbClr val="89B56E"/>
            </a:solidFill>
            <a:ln w="9525">
              <a:solidFill>
                <a:schemeClr val="tx1"/>
              </a:solidFill>
              <a:miter lim="800000"/>
              <a:headEnd/>
              <a:tailEnd/>
            </a:ln>
          </p:spPr>
          <p:txBody>
            <a:bodyPr wrap="none" anchor="ctr"/>
            <a:lstStyle/>
            <a:p>
              <a:endParaRPr lang="en-NZ" dirty="0"/>
            </a:p>
          </p:txBody>
        </p:sp>
        <p:sp>
          <p:nvSpPr>
            <p:cNvPr id="33804" name="Rectangle 42"/>
            <p:cNvSpPr>
              <a:spLocks noChangeArrowheads="1"/>
            </p:cNvSpPr>
            <p:nvPr/>
          </p:nvSpPr>
          <p:spPr bwMode="auto">
            <a:xfrm>
              <a:off x="3853" y="2115"/>
              <a:ext cx="104" cy="1469"/>
            </a:xfrm>
            <a:prstGeom prst="rect">
              <a:avLst/>
            </a:prstGeom>
            <a:solidFill>
              <a:srgbClr val="89B56E"/>
            </a:solidFill>
            <a:ln w="9525">
              <a:solidFill>
                <a:schemeClr val="tx1"/>
              </a:solidFill>
              <a:miter lim="800000"/>
              <a:headEnd/>
              <a:tailEnd/>
            </a:ln>
          </p:spPr>
          <p:txBody>
            <a:bodyPr wrap="none" anchor="ctr"/>
            <a:lstStyle/>
            <a:p>
              <a:endParaRPr lang="en-NZ" dirty="0"/>
            </a:p>
          </p:txBody>
        </p:sp>
        <p:sp>
          <p:nvSpPr>
            <p:cNvPr id="33805" name="Rectangle 43"/>
            <p:cNvSpPr>
              <a:spLocks noChangeArrowheads="1"/>
            </p:cNvSpPr>
            <p:nvPr/>
          </p:nvSpPr>
          <p:spPr bwMode="auto">
            <a:xfrm>
              <a:off x="4000" y="2113"/>
              <a:ext cx="104" cy="1471"/>
            </a:xfrm>
            <a:prstGeom prst="rect">
              <a:avLst/>
            </a:prstGeom>
            <a:solidFill>
              <a:srgbClr val="89B56E"/>
            </a:solidFill>
            <a:ln w="9525">
              <a:solidFill>
                <a:schemeClr val="tx1"/>
              </a:solidFill>
              <a:miter lim="800000"/>
              <a:headEnd/>
              <a:tailEnd/>
            </a:ln>
          </p:spPr>
          <p:txBody>
            <a:bodyPr wrap="none" anchor="ctr"/>
            <a:lstStyle/>
            <a:p>
              <a:endParaRPr lang="en-NZ" dirty="0"/>
            </a:p>
          </p:txBody>
        </p:sp>
        <p:sp>
          <p:nvSpPr>
            <p:cNvPr id="33806" name="Rectangle 44"/>
            <p:cNvSpPr>
              <a:spLocks noChangeArrowheads="1"/>
            </p:cNvSpPr>
            <p:nvPr/>
          </p:nvSpPr>
          <p:spPr bwMode="auto">
            <a:xfrm>
              <a:off x="4151" y="2397"/>
              <a:ext cx="104" cy="1187"/>
            </a:xfrm>
            <a:prstGeom prst="rect">
              <a:avLst/>
            </a:prstGeom>
            <a:solidFill>
              <a:srgbClr val="89B56E"/>
            </a:solidFill>
            <a:ln w="9525">
              <a:solidFill>
                <a:schemeClr val="tx1"/>
              </a:solidFill>
              <a:miter lim="800000"/>
              <a:headEnd/>
              <a:tailEnd/>
            </a:ln>
          </p:spPr>
          <p:txBody>
            <a:bodyPr wrap="none" anchor="ctr"/>
            <a:lstStyle/>
            <a:p>
              <a:endParaRPr lang="en-NZ" dirty="0"/>
            </a:p>
          </p:txBody>
        </p:sp>
        <p:sp>
          <p:nvSpPr>
            <p:cNvPr id="33807" name="Rectangle 45"/>
            <p:cNvSpPr>
              <a:spLocks noChangeArrowheads="1"/>
            </p:cNvSpPr>
            <p:nvPr/>
          </p:nvSpPr>
          <p:spPr bwMode="auto">
            <a:xfrm>
              <a:off x="4449" y="3058"/>
              <a:ext cx="104" cy="523"/>
            </a:xfrm>
            <a:prstGeom prst="rect">
              <a:avLst/>
            </a:prstGeom>
            <a:solidFill>
              <a:srgbClr val="89B56E"/>
            </a:solidFill>
            <a:ln w="9525">
              <a:solidFill>
                <a:schemeClr val="tx1"/>
              </a:solidFill>
              <a:miter lim="800000"/>
              <a:headEnd/>
              <a:tailEnd/>
            </a:ln>
          </p:spPr>
          <p:txBody>
            <a:bodyPr wrap="none" anchor="ctr"/>
            <a:lstStyle/>
            <a:p>
              <a:endParaRPr lang="en-NZ" dirty="0"/>
            </a:p>
          </p:txBody>
        </p:sp>
        <p:sp>
          <p:nvSpPr>
            <p:cNvPr id="33808" name="Rectangle 46"/>
            <p:cNvSpPr>
              <a:spLocks noChangeArrowheads="1"/>
            </p:cNvSpPr>
            <p:nvPr/>
          </p:nvSpPr>
          <p:spPr bwMode="auto">
            <a:xfrm>
              <a:off x="4747" y="3493"/>
              <a:ext cx="104" cy="88"/>
            </a:xfrm>
            <a:prstGeom prst="rect">
              <a:avLst/>
            </a:prstGeom>
            <a:solidFill>
              <a:srgbClr val="89B56E"/>
            </a:solidFill>
            <a:ln w="9525">
              <a:solidFill>
                <a:schemeClr val="tx1"/>
              </a:solidFill>
              <a:miter lim="800000"/>
              <a:headEnd/>
              <a:tailEnd/>
            </a:ln>
          </p:spPr>
          <p:txBody>
            <a:bodyPr wrap="none" anchor="ctr"/>
            <a:lstStyle/>
            <a:p>
              <a:endParaRPr lang="en-NZ" dirty="0"/>
            </a:p>
          </p:txBody>
        </p:sp>
        <p:sp>
          <p:nvSpPr>
            <p:cNvPr id="33809" name="Rectangle 47"/>
            <p:cNvSpPr>
              <a:spLocks noChangeArrowheads="1"/>
            </p:cNvSpPr>
            <p:nvPr/>
          </p:nvSpPr>
          <p:spPr bwMode="auto">
            <a:xfrm>
              <a:off x="4896" y="3542"/>
              <a:ext cx="104" cy="39"/>
            </a:xfrm>
            <a:prstGeom prst="rect">
              <a:avLst/>
            </a:prstGeom>
            <a:solidFill>
              <a:srgbClr val="89B56E"/>
            </a:solidFill>
            <a:ln w="9525">
              <a:solidFill>
                <a:schemeClr val="tx1"/>
              </a:solidFill>
              <a:miter lim="800000"/>
              <a:headEnd/>
              <a:tailEnd/>
            </a:ln>
          </p:spPr>
          <p:txBody>
            <a:bodyPr wrap="none" anchor="ctr"/>
            <a:lstStyle/>
            <a:p>
              <a:endParaRPr lang="en-NZ" dirty="0"/>
            </a:p>
          </p:txBody>
        </p:sp>
        <p:sp>
          <p:nvSpPr>
            <p:cNvPr id="33810" name="Rectangle 48"/>
            <p:cNvSpPr>
              <a:spLocks noChangeArrowheads="1"/>
            </p:cNvSpPr>
            <p:nvPr/>
          </p:nvSpPr>
          <p:spPr bwMode="auto">
            <a:xfrm>
              <a:off x="5045" y="3544"/>
              <a:ext cx="104" cy="37"/>
            </a:xfrm>
            <a:prstGeom prst="rect">
              <a:avLst/>
            </a:prstGeom>
            <a:solidFill>
              <a:srgbClr val="89B56E"/>
            </a:solidFill>
            <a:ln w="9525">
              <a:solidFill>
                <a:schemeClr val="tx1"/>
              </a:solidFill>
              <a:miter lim="800000"/>
              <a:headEnd/>
              <a:tailEnd/>
            </a:ln>
          </p:spPr>
          <p:txBody>
            <a:bodyPr wrap="none" anchor="ctr"/>
            <a:lstStyle/>
            <a:p>
              <a:endParaRPr lang="en-NZ" dirty="0"/>
            </a:p>
          </p:txBody>
        </p:sp>
        <p:sp>
          <p:nvSpPr>
            <p:cNvPr id="33811" name="Rectangle 49"/>
            <p:cNvSpPr>
              <a:spLocks noChangeArrowheads="1"/>
            </p:cNvSpPr>
            <p:nvPr/>
          </p:nvSpPr>
          <p:spPr bwMode="auto">
            <a:xfrm>
              <a:off x="3367" y="358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0</a:t>
              </a:r>
            </a:p>
          </p:txBody>
        </p:sp>
        <p:sp>
          <p:nvSpPr>
            <p:cNvPr id="33812" name="Rectangle 50"/>
            <p:cNvSpPr>
              <a:spLocks noChangeArrowheads="1"/>
            </p:cNvSpPr>
            <p:nvPr/>
          </p:nvSpPr>
          <p:spPr bwMode="auto">
            <a:xfrm>
              <a:off x="3508" y="358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1</a:t>
              </a:r>
            </a:p>
          </p:txBody>
        </p:sp>
        <p:sp>
          <p:nvSpPr>
            <p:cNvPr id="33813" name="Rectangle 51"/>
            <p:cNvSpPr>
              <a:spLocks noChangeArrowheads="1"/>
            </p:cNvSpPr>
            <p:nvPr/>
          </p:nvSpPr>
          <p:spPr bwMode="auto">
            <a:xfrm>
              <a:off x="3663" y="358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2</a:t>
              </a:r>
            </a:p>
          </p:txBody>
        </p:sp>
        <p:sp>
          <p:nvSpPr>
            <p:cNvPr id="33814" name="Rectangle 52"/>
            <p:cNvSpPr>
              <a:spLocks noChangeArrowheads="1"/>
            </p:cNvSpPr>
            <p:nvPr/>
          </p:nvSpPr>
          <p:spPr bwMode="auto">
            <a:xfrm>
              <a:off x="3813" y="358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3</a:t>
              </a:r>
            </a:p>
          </p:txBody>
        </p:sp>
        <p:sp>
          <p:nvSpPr>
            <p:cNvPr id="33815" name="Rectangle 53"/>
            <p:cNvSpPr>
              <a:spLocks noChangeArrowheads="1"/>
            </p:cNvSpPr>
            <p:nvPr/>
          </p:nvSpPr>
          <p:spPr bwMode="auto">
            <a:xfrm>
              <a:off x="3962" y="358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4</a:t>
              </a:r>
            </a:p>
          </p:txBody>
        </p:sp>
        <p:sp>
          <p:nvSpPr>
            <p:cNvPr id="33816" name="Rectangle 54"/>
            <p:cNvSpPr>
              <a:spLocks noChangeArrowheads="1"/>
            </p:cNvSpPr>
            <p:nvPr/>
          </p:nvSpPr>
          <p:spPr bwMode="auto">
            <a:xfrm>
              <a:off x="4111" y="358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5</a:t>
              </a:r>
            </a:p>
          </p:txBody>
        </p:sp>
        <p:sp>
          <p:nvSpPr>
            <p:cNvPr id="33817" name="Rectangle 55"/>
            <p:cNvSpPr>
              <a:spLocks noChangeArrowheads="1"/>
            </p:cNvSpPr>
            <p:nvPr/>
          </p:nvSpPr>
          <p:spPr bwMode="auto">
            <a:xfrm>
              <a:off x="4258" y="358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6</a:t>
              </a:r>
            </a:p>
          </p:txBody>
        </p:sp>
        <p:sp>
          <p:nvSpPr>
            <p:cNvPr id="33818" name="Rectangle 56"/>
            <p:cNvSpPr>
              <a:spLocks noChangeArrowheads="1"/>
            </p:cNvSpPr>
            <p:nvPr/>
          </p:nvSpPr>
          <p:spPr bwMode="auto">
            <a:xfrm>
              <a:off x="4407" y="358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7</a:t>
              </a:r>
            </a:p>
          </p:txBody>
        </p:sp>
        <p:sp>
          <p:nvSpPr>
            <p:cNvPr id="33819" name="Rectangle 57"/>
            <p:cNvSpPr>
              <a:spLocks noChangeArrowheads="1"/>
            </p:cNvSpPr>
            <p:nvPr/>
          </p:nvSpPr>
          <p:spPr bwMode="auto">
            <a:xfrm>
              <a:off x="4559" y="358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8</a:t>
              </a:r>
            </a:p>
          </p:txBody>
        </p:sp>
        <p:sp>
          <p:nvSpPr>
            <p:cNvPr id="33820" name="Rectangle 58"/>
            <p:cNvSpPr>
              <a:spLocks noChangeArrowheads="1"/>
            </p:cNvSpPr>
            <p:nvPr/>
          </p:nvSpPr>
          <p:spPr bwMode="auto">
            <a:xfrm>
              <a:off x="4709" y="3589"/>
              <a:ext cx="17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9</a:t>
              </a:r>
            </a:p>
          </p:txBody>
        </p:sp>
        <p:sp>
          <p:nvSpPr>
            <p:cNvPr id="33821" name="Rectangle 59"/>
            <p:cNvSpPr>
              <a:spLocks noChangeArrowheads="1"/>
            </p:cNvSpPr>
            <p:nvPr/>
          </p:nvSpPr>
          <p:spPr bwMode="auto">
            <a:xfrm>
              <a:off x="3442" y="3755"/>
              <a:ext cx="1276"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Distribution for </a:t>
              </a:r>
              <a:r>
                <a:rPr lang="en-US" sz="1600" i="1" dirty="0">
                  <a:sym typeface="Symbol" charset="0"/>
                </a:rPr>
                <a:t></a:t>
              </a:r>
              <a:r>
                <a:rPr lang="en-US" sz="1600" dirty="0">
                  <a:sym typeface="Symbol" charset="0"/>
                </a:rPr>
                <a:t> = 4</a:t>
              </a:r>
              <a:endParaRPr lang="en-US" sz="1600" dirty="0"/>
            </a:p>
          </p:txBody>
        </p:sp>
        <p:sp>
          <p:nvSpPr>
            <p:cNvPr id="33822" name="Rectangle 60"/>
            <p:cNvSpPr>
              <a:spLocks noChangeArrowheads="1"/>
            </p:cNvSpPr>
            <p:nvPr/>
          </p:nvSpPr>
          <p:spPr bwMode="auto">
            <a:xfrm>
              <a:off x="5202" y="3526"/>
              <a:ext cx="216"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i="1" dirty="0">
                  <a:latin typeface="Times New Roman" charset="0"/>
                  <a:cs typeface="Times New Roman" charset="0"/>
                </a:rPr>
                <a:t>x</a:t>
              </a:r>
            </a:p>
          </p:txBody>
        </p:sp>
        <p:sp>
          <p:nvSpPr>
            <p:cNvPr id="33823" name="Line 61"/>
            <p:cNvSpPr>
              <a:spLocks noChangeShapeType="1"/>
            </p:cNvSpPr>
            <p:nvPr/>
          </p:nvSpPr>
          <p:spPr bwMode="auto">
            <a:xfrm>
              <a:off x="3324" y="3584"/>
              <a:ext cx="1925" cy="0"/>
            </a:xfrm>
            <a:prstGeom prst="line">
              <a:avLst/>
            </a:prstGeom>
            <a:noFill/>
            <a:ln w="38100">
              <a:solidFill>
                <a:schemeClr val="tx1"/>
              </a:solidFill>
              <a:round/>
              <a:headEnd/>
              <a:tailEnd type="triangle" w="med" len="sm"/>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3824" name="Rectangle 62"/>
            <p:cNvSpPr>
              <a:spLocks noChangeArrowheads="1"/>
            </p:cNvSpPr>
            <p:nvPr/>
          </p:nvSpPr>
          <p:spPr bwMode="auto">
            <a:xfrm>
              <a:off x="4834" y="3589"/>
              <a:ext cx="241"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10</a:t>
              </a:r>
            </a:p>
          </p:txBody>
        </p:sp>
        <p:sp>
          <p:nvSpPr>
            <p:cNvPr id="33825" name="Rectangle 63"/>
            <p:cNvSpPr>
              <a:spLocks noChangeArrowheads="1"/>
            </p:cNvSpPr>
            <p:nvPr/>
          </p:nvSpPr>
          <p:spPr bwMode="auto">
            <a:xfrm>
              <a:off x="4976" y="3589"/>
              <a:ext cx="241"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11</a:t>
              </a:r>
            </a:p>
          </p:txBody>
        </p:sp>
        <p:sp>
          <p:nvSpPr>
            <p:cNvPr id="33826" name="Rectangle 64"/>
            <p:cNvSpPr>
              <a:spLocks noChangeArrowheads="1"/>
            </p:cNvSpPr>
            <p:nvPr/>
          </p:nvSpPr>
          <p:spPr bwMode="auto">
            <a:xfrm>
              <a:off x="4598" y="3313"/>
              <a:ext cx="104" cy="265"/>
            </a:xfrm>
            <a:prstGeom prst="rect">
              <a:avLst/>
            </a:prstGeom>
            <a:solidFill>
              <a:srgbClr val="89B56E"/>
            </a:solidFill>
            <a:ln w="9525">
              <a:solidFill>
                <a:schemeClr val="tx1"/>
              </a:solidFill>
              <a:miter lim="800000"/>
              <a:headEnd/>
              <a:tailEnd/>
            </a:ln>
          </p:spPr>
          <p:txBody>
            <a:bodyPr wrap="none" anchor="ctr"/>
            <a:lstStyle/>
            <a:p>
              <a:endParaRPr lang="en-NZ" dirty="0"/>
            </a:p>
          </p:txBody>
        </p:sp>
        <p:sp>
          <p:nvSpPr>
            <p:cNvPr id="33827" name="Rectangle 65"/>
            <p:cNvSpPr>
              <a:spLocks noChangeArrowheads="1"/>
            </p:cNvSpPr>
            <p:nvPr/>
          </p:nvSpPr>
          <p:spPr bwMode="auto">
            <a:xfrm>
              <a:off x="4300" y="2810"/>
              <a:ext cx="104" cy="769"/>
            </a:xfrm>
            <a:prstGeom prst="rect">
              <a:avLst/>
            </a:prstGeom>
            <a:solidFill>
              <a:srgbClr val="89B56E"/>
            </a:solidFill>
            <a:ln w="9525">
              <a:solidFill>
                <a:schemeClr val="tx1"/>
              </a:solidFill>
              <a:miter lim="800000"/>
              <a:headEnd/>
              <a:tailEnd/>
            </a:ln>
          </p:spPr>
          <p:txBody>
            <a:bodyPr wrap="none" anchor="ctr"/>
            <a:lstStyle/>
            <a:p>
              <a:endParaRPr lang="en-NZ" dirty="0"/>
            </a:p>
          </p:txBody>
        </p:sp>
      </p:grpSp>
      <p:sp>
        <p:nvSpPr>
          <p:cNvPr id="37954" name="Rectangle 66"/>
          <p:cNvSpPr>
            <a:spLocks noChangeArrowheads="1"/>
          </p:cNvSpPr>
          <p:nvPr/>
        </p:nvSpPr>
        <p:spPr bwMode="auto">
          <a:xfrm>
            <a:off x="546100" y="1316038"/>
            <a:ext cx="11779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Figure </a:t>
            </a:r>
            <a:r>
              <a:rPr lang="en-US" sz="1600" dirty="0">
                <a:solidFill>
                  <a:srgbClr val="255898"/>
                </a:solidFill>
              </a:rPr>
              <a:t>D.2</a:t>
            </a:r>
          </a:p>
        </p:txBody>
      </p:sp>
    </p:spTree>
    <p:extLst>
      <p:ext uri="{BB962C8B-B14F-4D97-AF65-F5344CB8AC3E}">
        <p14:creationId xmlns:p14="http://schemas.microsoft.com/office/powerpoint/2010/main" val="623338287"/>
      </p:ext>
    </p:extLst>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37891"/>
                                        </p:tgtEl>
                                        <p:attrNameLst>
                                          <p:attrName>style.visibility</p:attrName>
                                        </p:attrNameLst>
                                      </p:cBhvr>
                                      <p:to>
                                        <p:strVal val="visible"/>
                                      </p:to>
                                    </p:set>
                                    <p:animEffect transition="in" filter="wipe(left)">
                                      <p:cBhvr>
                                        <p:cTn id="7" dur="1000"/>
                                        <p:tgtEl>
                                          <p:spTgt spid="37891"/>
                                        </p:tgtEl>
                                      </p:cBhvr>
                                    </p:animEffect>
                                  </p:childTnLst>
                                </p:cTn>
                              </p:par>
                            </p:childTnLst>
                          </p:cTn>
                        </p:par>
                        <p:par>
                          <p:cTn id="8" fill="hold" nodeType="afterGroup">
                            <p:stCondLst>
                              <p:cond delay="2000"/>
                            </p:stCondLst>
                            <p:childTnLst>
                              <p:par>
                                <p:cTn id="9" presetID="18" presetClass="entr" presetSubtype="3" fill="hold" nodeType="afterEffect">
                                  <p:stCondLst>
                                    <p:cond delay="1000"/>
                                  </p:stCondLst>
                                  <p:childTnLst>
                                    <p:set>
                                      <p:cBhvr>
                                        <p:cTn id="10" dur="1" fill="hold">
                                          <p:stCondLst>
                                            <p:cond delay="0"/>
                                          </p:stCondLst>
                                        </p:cTn>
                                        <p:tgtEl>
                                          <p:spTgt spid="37896"/>
                                        </p:tgtEl>
                                        <p:attrNameLst>
                                          <p:attrName>style.visibility</p:attrName>
                                        </p:attrNameLst>
                                      </p:cBhvr>
                                      <p:to>
                                        <p:strVal val="visible"/>
                                      </p:to>
                                    </p:set>
                                    <p:animEffect transition="in" filter="strips(upRight)">
                                      <p:cBhvr>
                                        <p:cTn id="11" dur="1000"/>
                                        <p:tgtEl>
                                          <p:spTgt spid="37896"/>
                                        </p:tgtEl>
                                      </p:cBhvr>
                                    </p:animEffect>
                                  </p:childTnLst>
                                </p:cTn>
                              </p:par>
                            </p:childTnLst>
                          </p:cTn>
                        </p:par>
                        <p:par>
                          <p:cTn id="12" fill="hold" nodeType="afterGroup">
                            <p:stCondLst>
                              <p:cond delay="4000"/>
                            </p:stCondLst>
                            <p:childTnLst>
                              <p:par>
                                <p:cTn id="13" presetID="18" presetClass="entr" presetSubtype="3" fill="hold" nodeType="afterEffect">
                                  <p:stCondLst>
                                    <p:cond delay="1000"/>
                                  </p:stCondLst>
                                  <p:childTnLst>
                                    <p:set>
                                      <p:cBhvr>
                                        <p:cTn id="14" dur="1" fill="hold">
                                          <p:stCondLst>
                                            <p:cond delay="0"/>
                                          </p:stCondLst>
                                        </p:cTn>
                                        <p:tgtEl>
                                          <p:spTgt spid="37923"/>
                                        </p:tgtEl>
                                        <p:attrNameLst>
                                          <p:attrName>style.visibility</p:attrName>
                                        </p:attrNameLst>
                                      </p:cBhvr>
                                      <p:to>
                                        <p:strVal val="visible"/>
                                      </p:to>
                                    </p:set>
                                    <p:animEffect transition="in" filter="strips(upRight)">
                                      <p:cBhvr>
                                        <p:cTn id="15" dur="1000"/>
                                        <p:tgtEl>
                                          <p:spTgt spid="37923"/>
                                        </p:tgtEl>
                                      </p:cBhvr>
                                    </p:animEffect>
                                  </p:childTnLst>
                                </p:cTn>
                              </p:par>
                            </p:childTnLst>
                          </p:cTn>
                        </p:par>
                        <p:par>
                          <p:cTn id="16" fill="hold" nodeType="afterGroup">
                            <p:stCondLst>
                              <p:cond delay="6000"/>
                            </p:stCondLst>
                            <p:childTnLst>
                              <p:par>
                                <p:cTn id="17" presetID="22" presetClass="entr" presetSubtype="8" fill="hold" grpId="0" nodeType="afterEffect">
                                  <p:stCondLst>
                                    <p:cond delay="0"/>
                                  </p:stCondLst>
                                  <p:childTnLst>
                                    <p:set>
                                      <p:cBhvr>
                                        <p:cTn id="18" dur="1" fill="hold">
                                          <p:stCondLst>
                                            <p:cond delay="0"/>
                                          </p:stCondLst>
                                        </p:cTn>
                                        <p:tgtEl>
                                          <p:spTgt spid="37954"/>
                                        </p:tgtEl>
                                        <p:attrNameLst>
                                          <p:attrName>style.visibility</p:attrName>
                                        </p:attrNameLst>
                                      </p:cBhvr>
                                      <p:to>
                                        <p:strVal val="visible"/>
                                      </p:to>
                                    </p:set>
                                    <p:animEffect transition="in" filter="wipe(left)">
                                      <p:cBhvr>
                                        <p:cTn id="19" dur="1000"/>
                                        <p:tgtEl>
                                          <p:spTgt spid="37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5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rtlCol="0">
            <a:normAutofit fontScale="90000"/>
          </a:bodyPr>
          <a:lstStyle/>
          <a:p>
            <a:pPr fontAlgn="auto">
              <a:spcAft>
                <a:spcPts val="0"/>
              </a:spcAft>
              <a:defRPr/>
            </a:pPr>
            <a:r>
              <a:rPr lang="en-US" dirty="0">
                <a:latin typeface="Arial" charset="0"/>
              </a:rPr>
              <a:t>Negative Exponential Distribution</a:t>
            </a:r>
          </a:p>
        </p:txBody>
      </p:sp>
      <p:sp>
        <p:nvSpPr>
          <p:cNvPr id="50179" name="Rectangle 3"/>
          <p:cNvSpPr>
            <a:spLocks noChangeArrowheads="1"/>
          </p:cNvSpPr>
          <p:nvPr/>
        </p:nvSpPr>
        <p:spPr bwMode="auto">
          <a:xfrm>
            <a:off x="485775" y="1249363"/>
            <a:ext cx="11779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Figure </a:t>
            </a:r>
            <a:r>
              <a:rPr lang="en-US" sz="1600" dirty="0">
                <a:solidFill>
                  <a:srgbClr val="255898"/>
                </a:solidFill>
              </a:rPr>
              <a:t>D.4</a:t>
            </a:r>
          </a:p>
        </p:txBody>
      </p:sp>
      <p:sp>
        <p:nvSpPr>
          <p:cNvPr id="50180" name="Freeform 4"/>
          <p:cNvSpPr>
            <a:spLocks/>
          </p:cNvSpPr>
          <p:nvPr/>
        </p:nvSpPr>
        <p:spPr bwMode="auto">
          <a:xfrm>
            <a:off x="1752600" y="2540000"/>
            <a:ext cx="5676900" cy="3060700"/>
          </a:xfrm>
          <a:custGeom>
            <a:avLst/>
            <a:gdLst>
              <a:gd name="T0" fmla="*/ 0 w 3576"/>
              <a:gd name="T1" fmla="*/ 0 h 1928"/>
              <a:gd name="T2" fmla="*/ 524192555 w 3576"/>
              <a:gd name="T3" fmla="*/ 887095172 h 1928"/>
              <a:gd name="T4" fmla="*/ 1330642533 w 3576"/>
              <a:gd name="T5" fmla="*/ 1854835324 h 1928"/>
              <a:gd name="T6" fmla="*/ 2147483647 w 3576"/>
              <a:gd name="T7" fmla="*/ 2147483647 h 1928"/>
              <a:gd name="T8" fmla="*/ 2147483647 w 3576"/>
              <a:gd name="T9" fmla="*/ 2147483647 h 1928"/>
              <a:gd name="T10" fmla="*/ 2147483647 w 3576"/>
              <a:gd name="T11" fmla="*/ 2147483647 h 1928"/>
              <a:gd name="T12" fmla="*/ 2147483647 w 3576"/>
              <a:gd name="T13" fmla="*/ 2147483647 h 1928"/>
              <a:gd name="T14" fmla="*/ 2147483647 w 3576"/>
              <a:gd name="T15" fmla="*/ 2147483647 h 1928"/>
              <a:gd name="T16" fmla="*/ 0 60000 65536"/>
              <a:gd name="T17" fmla="*/ 0 60000 65536"/>
              <a:gd name="T18" fmla="*/ 0 60000 65536"/>
              <a:gd name="T19" fmla="*/ 0 60000 65536"/>
              <a:gd name="T20" fmla="*/ 0 60000 65536"/>
              <a:gd name="T21" fmla="*/ 0 60000 65536"/>
              <a:gd name="T22" fmla="*/ 0 60000 65536"/>
              <a:gd name="T23" fmla="*/ 0 60000 65536"/>
              <a:gd name="T24" fmla="*/ 0 w 3576"/>
              <a:gd name="T25" fmla="*/ 0 h 1928"/>
              <a:gd name="T26" fmla="*/ 3576 w 3576"/>
              <a:gd name="T27" fmla="*/ 1928 h 19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76" h="1928">
                <a:moveTo>
                  <a:pt x="0" y="0"/>
                </a:moveTo>
                <a:cubicBezTo>
                  <a:pt x="60" y="114"/>
                  <a:pt x="120" y="229"/>
                  <a:pt x="208" y="352"/>
                </a:cubicBezTo>
                <a:cubicBezTo>
                  <a:pt x="296" y="475"/>
                  <a:pt x="389" y="596"/>
                  <a:pt x="528" y="736"/>
                </a:cubicBezTo>
                <a:cubicBezTo>
                  <a:pt x="667" y="876"/>
                  <a:pt x="856" y="1063"/>
                  <a:pt x="1040" y="1192"/>
                </a:cubicBezTo>
                <a:cubicBezTo>
                  <a:pt x="1224" y="1321"/>
                  <a:pt x="1424" y="1419"/>
                  <a:pt x="1632" y="1512"/>
                </a:cubicBezTo>
                <a:cubicBezTo>
                  <a:pt x="1840" y="1605"/>
                  <a:pt x="2071" y="1691"/>
                  <a:pt x="2288" y="1752"/>
                </a:cubicBezTo>
                <a:cubicBezTo>
                  <a:pt x="2505" y="1813"/>
                  <a:pt x="2721" y="1851"/>
                  <a:pt x="2936" y="1880"/>
                </a:cubicBezTo>
                <a:cubicBezTo>
                  <a:pt x="3151" y="1909"/>
                  <a:pt x="3363" y="1918"/>
                  <a:pt x="3576" y="1928"/>
                </a:cubicBezTo>
              </a:path>
            </a:pathLst>
          </a:custGeom>
          <a:noFill/>
          <a:ln w="76200" cmpd="sng">
            <a:solidFill>
              <a:schemeClr val="accent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sp>
        <p:nvSpPr>
          <p:cNvPr id="50181" name="Freeform 5"/>
          <p:cNvSpPr>
            <a:spLocks/>
          </p:cNvSpPr>
          <p:nvPr/>
        </p:nvSpPr>
        <p:spPr bwMode="auto">
          <a:xfrm>
            <a:off x="1752600" y="2590800"/>
            <a:ext cx="5689597" cy="3136900"/>
          </a:xfrm>
          <a:custGeom>
            <a:avLst/>
            <a:gdLst>
              <a:gd name="T0" fmla="*/ 0 w 1808"/>
              <a:gd name="T1" fmla="*/ 0 h 1976"/>
              <a:gd name="T2" fmla="*/ 221773789 w 1808"/>
              <a:gd name="T3" fmla="*/ 1048385138 h 1976"/>
              <a:gd name="T4" fmla="*/ 584676291 w 1808"/>
              <a:gd name="T5" fmla="*/ 2147483647 h 1976"/>
              <a:gd name="T6" fmla="*/ 1008062625 w 1808"/>
              <a:gd name="T7" fmla="*/ 2147483647 h 1976"/>
              <a:gd name="T8" fmla="*/ 1350803782 w 1808"/>
              <a:gd name="T9" fmla="*/ 2147483647 h 1976"/>
              <a:gd name="T10" fmla="*/ 1794351559 w 1808"/>
              <a:gd name="T11" fmla="*/ 2147483647 h 1976"/>
              <a:gd name="T12" fmla="*/ 2147483647 w 1808"/>
              <a:gd name="T13" fmla="*/ 2147483647 h 1976"/>
              <a:gd name="T14" fmla="*/ 2147483647 w 1808"/>
              <a:gd name="T15" fmla="*/ 2147483647 h 1976"/>
              <a:gd name="T16" fmla="*/ 2147483647 w 1808"/>
              <a:gd name="T17" fmla="*/ 2147483647 h 19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08"/>
              <a:gd name="T28" fmla="*/ 0 h 1976"/>
              <a:gd name="T29" fmla="*/ 1808 w 1808"/>
              <a:gd name="T30" fmla="*/ 1976 h 1976"/>
              <a:gd name="connsiteX0" fmla="*/ 0 w 19823"/>
              <a:gd name="connsiteY0" fmla="*/ 0 h 10000"/>
              <a:gd name="connsiteX1" fmla="*/ 487 w 19823"/>
              <a:gd name="connsiteY1" fmla="*/ 2105 h 10000"/>
              <a:gd name="connsiteX2" fmla="*/ 1283 w 19823"/>
              <a:gd name="connsiteY2" fmla="*/ 4413 h 10000"/>
              <a:gd name="connsiteX3" fmla="*/ 2212 w 19823"/>
              <a:gd name="connsiteY3" fmla="*/ 6599 h 10000"/>
              <a:gd name="connsiteX4" fmla="*/ 2965 w 19823"/>
              <a:gd name="connsiteY4" fmla="*/ 7692 h 10000"/>
              <a:gd name="connsiteX5" fmla="*/ 3938 w 19823"/>
              <a:gd name="connsiteY5" fmla="*/ 8502 h 10000"/>
              <a:gd name="connsiteX6" fmla="*/ 5442 w 19823"/>
              <a:gd name="connsiteY6" fmla="*/ 9312 h 10000"/>
              <a:gd name="connsiteX7" fmla="*/ 7301 w 19823"/>
              <a:gd name="connsiteY7" fmla="*/ 9798 h 10000"/>
              <a:gd name="connsiteX8" fmla="*/ 19823 w 19823"/>
              <a:gd name="connsiteY8"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3" h="10000">
                <a:moveTo>
                  <a:pt x="0" y="0"/>
                </a:moveTo>
                <a:cubicBezTo>
                  <a:pt x="133" y="683"/>
                  <a:pt x="271" y="1371"/>
                  <a:pt x="487" y="2105"/>
                </a:cubicBezTo>
                <a:cubicBezTo>
                  <a:pt x="702" y="2839"/>
                  <a:pt x="996" y="3664"/>
                  <a:pt x="1283" y="4413"/>
                </a:cubicBezTo>
                <a:cubicBezTo>
                  <a:pt x="1571" y="5162"/>
                  <a:pt x="1930" y="6053"/>
                  <a:pt x="2212" y="6599"/>
                </a:cubicBezTo>
                <a:cubicBezTo>
                  <a:pt x="2494" y="7146"/>
                  <a:pt x="2677" y="7373"/>
                  <a:pt x="2965" y="7692"/>
                </a:cubicBezTo>
                <a:cubicBezTo>
                  <a:pt x="3252" y="8011"/>
                  <a:pt x="3523" y="8234"/>
                  <a:pt x="3938" y="8502"/>
                </a:cubicBezTo>
                <a:cubicBezTo>
                  <a:pt x="4353" y="8770"/>
                  <a:pt x="4884" y="9094"/>
                  <a:pt x="5442" y="9312"/>
                </a:cubicBezTo>
                <a:cubicBezTo>
                  <a:pt x="6001" y="9529"/>
                  <a:pt x="6543" y="9681"/>
                  <a:pt x="7301" y="9798"/>
                </a:cubicBezTo>
                <a:cubicBezTo>
                  <a:pt x="8059" y="9914"/>
                  <a:pt x="18850" y="9954"/>
                  <a:pt x="19823" y="10000"/>
                </a:cubicBezTo>
              </a:path>
            </a:pathLst>
          </a:custGeom>
          <a:noFill/>
          <a:ln w="76200" cmpd="sng">
            <a:solidFill>
              <a:schemeClr val="tx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grpSp>
        <p:nvGrpSpPr>
          <p:cNvPr id="50182" name="Group 6"/>
          <p:cNvGrpSpPr>
            <a:grpSpLocks/>
          </p:cNvGrpSpPr>
          <p:nvPr/>
        </p:nvGrpSpPr>
        <p:grpSpPr bwMode="auto">
          <a:xfrm>
            <a:off x="846138" y="2070100"/>
            <a:ext cx="7281862" cy="4360863"/>
            <a:chOff x="597" y="1336"/>
            <a:chExt cx="4587" cy="2747"/>
          </a:xfrm>
        </p:grpSpPr>
        <p:sp>
          <p:nvSpPr>
            <p:cNvPr id="46095" name="Freeform 7"/>
            <p:cNvSpPr>
              <a:spLocks/>
            </p:cNvSpPr>
            <p:nvPr/>
          </p:nvSpPr>
          <p:spPr bwMode="auto">
            <a:xfrm>
              <a:off x="1152" y="1336"/>
              <a:ext cx="4032" cy="2320"/>
            </a:xfrm>
            <a:custGeom>
              <a:avLst/>
              <a:gdLst>
                <a:gd name="T0" fmla="*/ 0 w 4032"/>
                <a:gd name="T1" fmla="*/ 0 h 2320"/>
                <a:gd name="T2" fmla="*/ 0 w 4032"/>
                <a:gd name="T3" fmla="*/ 2320 h 2320"/>
                <a:gd name="T4" fmla="*/ 4032 w 4032"/>
                <a:gd name="T5" fmla="*/ 2320 h 2320"/>
                <a:gd name="T6" fmla="*/ 0 60000 65536"/>
                <a:gd name="T7" fmla="*/ 0 60000 65536"/>
                <a:gd name="T8" fmla="*/ 0 60000 65536"/>
                <a:gd name="T9" fmla="*/ 0 w 4032"/>
                <a:gd name="T10" fmla="*/ 0 h 2320"/>
                <a:gd name="T11" fmla="*/ 4032 w 4032"/>
                <a:gd name="T12" fmla="*/ 2320 h 2320"/>
              </a:gdLst>
              <a:ahLst/>
              <a:cxnLst>
                <a:cxn ang="T6">
                  <a:pos x="T0" y="T1"/>
                </a:cxn>
                <a:cxn ang="T7">
                  <a:pos x="T2" y="T3"/>
                </a:cxn>
                <a:cxn ang="T8">
                  <a:pos x="T4" y="T5"/>
                </a:cxn>
              </a:cxnLst>
              <a:rect l="T9" t="T10" r="T11" b="T12"/>
              <a:pathLst>
                <a:path w="4032" h="2320">
                  <a:moveTo>
                    <a:pt x="0" y="0"/>
                  </a:moveTo>
                  <a:lnTo>
                    <a:pt x="0" y="2320"/>
                  </a:lnTo>
                  <a:lnTo>
                    <a:pt x="4032" y="2320"/>
                  </a:lnTo>
                </a:path>
              </a:pathLst>
            </a:custGeom>
            <a:noFill/>
            <a:ln w="38100" cmpd="sng">
              <a:solidFill>
                <a:schemeClr val="tx1"/>
              </a:solidFill>
              <a:round/>
              <a:headEnd type="triangle" w="sm" len="sm"/>
              <a:tailEnd type="triangl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sp>
          <p:nvSpPr>
            <p:cNvPr id="46096" name="Rectangle 8"/>
            <p:cNvSpPr>
              <a:spLocks noChangeArrowheads="1"/>
            </p:cNvSpPr>
            <p:nvPr/>
          </p:nvSpPr>
          <p:spPr bwMode="auto">
            <a:xfrm>
              <a:off x="846" y="1470"/>
              <a:ext cx="436" cy="2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r">
                <a:lnSpc>
                  <a:spcPct val="132000"/>
                </a:lnSpc>
              </a:pPr>
              <a:r>
                <a:rPr lang="en-US" sz="1600" dirty="0"/>
                <a:t>1.0  –</a:t>
              </a:r>
            </a:p>
            <a:p>
              <a:pPr algn="r">
                <a:lnSpc>
                  <a:spcPct val="132000"/>
                </a:lnSpc>
              </a:pPr>
              <a:r>
                <a:rPr lang="en-US" sz="1600" dirty="0"/>
                <a:t>0.9  –</a:t>
              </a:r>
            </a:p>
            <a:p>
              <a:pPr algn="r">
                <a:lnSpc>
                  <a:spcPct val="132000"/>
                </a:lnSpc>
              </a:pPr>
              <a:r>
                <a:rPr lang="en-US" sz="1600" dirty="0"/>
                <a:t>0.8  –</a:t>
              </a:r>
            </a:p>
            <a:p>
              <a:pPr algn="r">
                <a:lnSpc>
                  <a:spcPct val="132000"/>
                </a:lnSpc>
              </a:pPr>
              <a:r>
                <a:rPr lang="en-US" sz="1600" dirty="0"/>
                <a:t>0.7  –</a:t>
              </a:r>
            </a:p>
            <a:p>
              <a:pPr algn="r">
                <a:lnSpc>
                  <a:spcPct val="132000"/>
                </a:lnSpc>
              </a:pPr>
              <a:r>
                <a:rPr lang="en-US" sz="1600" dirty="0"/>
                <a:t>0.6  –</a:t>
              </a:r>
            </a:p>
            <a:p>
              <a:pPr algn="r">
                <a:lnSpc>
                  <a:spcPct val="132000"/>
                </a:lnSpc>
              </a:pPr>
              <a:r>
                <a:rPr lang="en-US" sz="1600" dirty="0"/>
                <a:t>0.5  –</a:t>
              </a:r>
            </a:p>
            <a:p>
              <a:pPr algn="r">
                <a:lnSpc>
                  <a:spcPct val="132000"/>
                </a:lnSpc>
              </a:pPr>
              <a:r>
                <a:rPr lang="en-US" sz="1600" dirty="0"/>
                <a:t>0.4  –</a:t>
              </a:r>
            </a:p>
            <a:p>
              <a:pPr algn="r">
                <a:lnSpc>
                  <a:spcPct val="132000"/>
                </a:lnSpc>
              </a:pPr>
              <a:r>
                <a:rPr lang="en-US" sz="1600" dirty="0"/>
                <a:t>0.3  –</a:t>
              </a:r>
            </a:p>
            <a:p>
              <a:pPr algn="r">
                <a:lnSpc>
                  <a:spcPct val="132000"/>
                </a:lnSpc>
              </a:pPr>
              <a:r>
                <a:rPr lang="en-US" sz="1600" dirty="0"/>
                <a:t>0.2  –</a:t>
              </a:r>
            </a:p>
            <a:p>
              <a:pPr algn="r">
                <a:lnSpc>
                  <a:spcPct val="132000"/>
                </a:lnSpc>
              </a:pPr>
              <a:r>
                <a:rPr lang="en-US" sz="1600" dirty="0"/>
                <a:t>0.1  –</a:t>
              </a:r>
            </a:p>
            <a:p>
              <a:pPr algn="r">
                <a:lnSpc>
                  <a:spcPct val="132000"/>
                </a:lnSpc>
              </a:pPr>
              <a:r>
                <a:rPr lang="en-US" sz="1600" dirty="0"/>
                <a:t>0.0  –</a:t>
              </a:r>
            </a:p>
          </p:txBody>
        </p:sp>
        <p:sp>
          <p:nvSpPr>
            <p:cNvPr id="46097" name="Rectangle 9"/>
            <p:cNvSpPr>
              <a:spLocks noChangeArrowheads="1"/>
            </p:cNvSpPr>
            <p:nvPr/>
          </p:nvSpPr>
          <p:spPr bwMode="auto">
            <a:xfrm rot="-5400000">
              <a:off x="-252" y="2453"/>
              <a:ext cx="1911"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Probability that service time ≥ 1</a:t>
              </a:r>
            </a:p>
          </p:txBody>
        </p:sp>
        <p:sp>
          <p:nvSpPr>
            <p:cNvPr id="46098" name="Rectangle 10"/>
            <p:cNvSpPr>
              <a:spLocks noChangeArrowheads="1"/>
            </p:cNvSpPr>
            <p:nvPr/>
          </p:nvSpPr>
          <p:spPr bwMode="auto">
            <a:xfrm>
              <a:off x="862" y="3499"/>
              <a:ext cx="4081" cy="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120000"/>
                </a:lnSpc>
                <a:tabLst>
                  <a:tab pos="381000" algn="ctr"/>
                  <a:tab pos="863600" algn="ctr"/>
                  <a:tab pos="1333500" algn="ctr"/>
                  <a:tab pos="1816100" algn="ctr"/>
                  <a:tab pos="2286000" algn="ctr"/>
                  <a:tab pos="2768600" algn="ctr"/>
                  <a:tab pos="3238500" algn="ctr"/>
                  <a:tab pos="3721100" algn="ctr"/>
                  <a:tab pos="4191000" algn="ctr"/>
                  <a:tab pos="4673600" algn="ctr"/>
                  <a:tab pos="5143500" algn="ctr"/>
                  <a:tab pos="5626100" algn="ctr"/>
                  <a:tab pos="6096000" algn="ctr"/>
                </a:tabLst>
              </a:pPr>
              <a:r>
                <a:rPr lang="en-US" sz="1200" dirty="0"/>
                <a:t>	|	|	|	|	|	|	|	|	|	|	|	|	|</a:t>
              </a:r>
            </a:p>
            <a:p>
              <a:pPr>
                <a:lnSpc>
                  <a:spcPct val="120000"/>
                </a:lnSpc>
                <a:tabLst>
                  <a:tab pos="381000" algn="ctr"/>
                  <a:tab pos="863600" algn="ctr"/>
                  <a:tab pos="1333500" algn="ctr"/>
                  <a:tab pos="1816100" algn="ctr"/>
                  <a:tab pos="2286000" algn="ctr"/>
                  <a:tab pos="2768600" algn="ctr"/>
                  <a:tab pos="3238500" algn="ctr"/>
                  <a:tab pos="3721100" algn="ctr"/>
                  <a:tab pos="4191000" algn="ctr"/>
                  <a:tab pos="4673600" algn="ctr"/>
                  <a:tab pos="5143500" algn="ctr"/>
                  <a:tab pos="5626100" algn="ctr"/>
                  <a:tab pos="6096000" algn="ctr"/>
                </a:tabLst>
              </a:pPr>
              <a:r>
                <a:rPr lang="en-US" sz="1600" dirty="0"/>
                <a:t>	0.00	0.25	0.50	0.75	1.00	1.25	1.50	1.75	2.00	2.25	2.50	2.75	3.00</a:t>
              </a:r>
            </a:p>
          </p:txBody>
        </p:sp>
        <p:sp>
          <p:nvSpPr>
            <p:cNvPr id="46099" name="Rectangle 11"/>
            <p:cNvSpPr>
              <a:spLocks noChangeArrowheads="1"/>
            </p:cNvSpPr>
            <p:nvPr/>
          </p:nvSpPr>
          <p:spPr bwMode="auto">
            <a:xfrm>
              <a:off x="2582" y="3870"/>
              <a:ext cx="916"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Time </a:t>
              </a:r>
              <a:r>
                <a:rPr lang="en-US" sz="1600" i="1" dirty="0">
                  <a:latin typeface="Times New Roman" charset="0"/>
                  <a:cs typeface="Times New Roman" charset="0"/>
                </a:rPr>
                <a:t>t</a:t>
              </a:r>
              <a:r>
                <a:rPr lang="en-US" sz="1600" dirty="0"/>
                <a:t> (hours)</a:t>
              </a:r>
            </a:p>
          </p:txBody>
        </p:sp>
      </p:grpSp>
      <p:grpSp>
        <p:nvGrpSpPr>
          <p:cNvPr id="50188" name="Group 12"/>
          <p:cNvGrpSpPr>
            <a:grpSpLocks/>
          </p:cNvGrpSpPr>
          <p:nvPr/>
        </p:nvGrpSpPr>
        <p:grpSpPr bwMode="auto">
          <a:xfrm>
            <a:off x="2092325" y="1814513"/>
            <a:ext cx="6094413" cy="960437"/>
            <a:chOff x="1382" y="1175"/>
            <a:chExt cx="3839" cy="605"/>
          </a:xfrm>
        </p:grpSpPr>
        <p:sp>
          <p:nvSpPr>
            <p:cNvPr id="46093" name="Rectangle 13"/>
            <p:cNvSpPr>
              <a:spLocks noChangeArrowheads="1"/>
            </p:cNvSpPr>
            <p:nvPr/>
          </p:nvSpPr>
          <p:spPr bwMode="auto">
            <a:xfrm>
              <a:off x="1382" y="1175"/>
              <a:ext cx="3839" cy="2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dirty="0"/>
                <a:t>Probability that service time is greater than </a:t>
              </a:r>
              <a:r>
                <a:rPr lang="en-US" i="1" dirty="0">
                  <a:latin typeface="Times New Roman" charset="0"/>
                  <a:cs typeface="Times New Roman" charset="0"/>
                </a:rPr>
                <a:t>t</a:t>
              </a:r>
              <a:r>
                <a:rPr lang="en-US" dirty="0"/>
                <a:t> = </a:t>
              </a:r>
              <a:r>
                <a:rPr lang="en-US" i="1" dirty="0">
                  <a:latin typeface="Times New Roman" charset="0"/>
                  <a:cs typeface="Times New Roman" charset="0"/>
                </a:rPr>
                <a:t>e</a:t>
              </a:r>
              <a:r>
                <a:rPr lang="en-US" baseline="30000" dirty="0"/>
                <a:t>-µ</a:t>
              </a:r>
              <a:r>
                <a:rPr lang="en-US" i="1" baseline="30000" dirty="0">
                  <a:latin typeface="Times New Roman" charset="0"/>
                  <a:cs typeface="Times New Roman" charset="0"/>
                </a:rPr>
                <a:t>t</a:t>
              </a:r>
              <a:r>
                <a:rPr lang="en-US" dirty="0"/>
                <a:t> for </a:t>
              </a:r>
              <a:r>
                <a:rPr lang="en-US" i="1" dirty="0">
                  <a:latin typeface="Times New Roman" charset="0"/>
                  <a:cs typeface="Times New Roman" charset="0"/>
                </a:rPr>
                <a:t>t</a:t>
              </a:r>
              <a:r>
                <a:rPr lang="en-US" dirty="0"/>
                <a:t> ≥ 0</a:t>
              </a:r>
            </a:p>
          </p:txBody>
        </p:sp>
        <p:sp>
          <p:nvSpPr>
            <p:cNvPr id="46094" name="Rectangle 14"/>
            <p:cNvSpPr>
              <a:spLocks noChangeArrowheads="1"/>
            </p:cNvSpPr>
            <p:nvPr/>
          </p:nvSpPr>
          <p:spPr bwMode="auto">
            <a:xfrm>
              <a:off x="2270" y="1405"/>
              <a:ext cx="1689" cy="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90000"/>
                </a:lnSpc>
              </a:pPr>
              <a:r>
                <a:rPr lang="en-US" i="1" dirty="0"/>
                <a:t>µ</a:t>
              </a:r>
              <a:r>
                <a:rPr lang="en-US" dirty="0"/>
                <a:t> = Average service rate</a:t>
              </a:r>
            </a:p>
            <a:p>
              <a:pPr>
                <a:lnSpc>
                  <a:spcPct val="90000"/>
                </a:lnSpc>
              </a:pPr>
              <a:r>
                <a:rPr lang="en-US" i="1" dirty="0">
                  <a:latin typeface="Times New Roman" charset="0"/>
                  <a:cs typeface="Times New Roman" charset="0"/>
                </a:rPr>
                <a:t>e</a:t>
              </a:r>
              <a:r>
                <a:rPr lang="en-US" dirty="0"/>
                <a:t> = 2.7183</a:t>
              </a:r>
            </a:p>
          </p:txBody>
        </p:sp>
      </p:grpSp>
      <p:grpSp>
        <p:nvGrpSpPr>
          <p:cNvPr id="50191" name="Group 15"/>
          <p:cNvGrpSpPr>
            <a:grpSpLocks/>
          </p:cNvGrpSpPr>
          <p:nvPr/>
        </p:nvGrpSpPr>
        <p:grpSpPr bwMode="auto">
          <a:xfrm>
            <a:off x="4737100" y="4402138"/>
            <a:ext cx="3251200" cy="639762"/>
            <a:chOff x="3048" y="2805"/>
            <a:chExt cx="2048" cy="403"/>
          </a:xfrm>
        </p:grpSpPr>
        <p:sp>
          <p:nvSpPr>
            <p:cNvPr id="46091" name="Rectangle 16"/>
            <p:cNvSpPr>
              <a:spLocks noChangeArrowheads="1"/>
            </p:cNvSpPr>
            <p:nvPr/>
          </p:nvSpPr>
          <p:spPr bwMode="auto">
            <a:xfrm>
              <a:off x="3294" y="2805"/>
              <a:ext cx="1802" cy="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90000"/>
                </a:lnSpc>
              </a:pPr>
              <a:r>
                <a:rPr lang="en-US" dirty="0"/>
                <a:t>Average service rate (</a:t>
              </a:r>
              <a:r>
                <a:rPr lang="en-US" i="1" dirty="0"/>
                <a:t>µ</a:t>
              </a:r>
              <a:r>
                <a:rPr lang="en-US" dirty="0"/>
                <a:t>) = </a:t>
              </a:r>
            </a:p>
            <a:p>
              <a:pPr>
                <a:lnSpc>
                  <a:spcPct val="90000"/>
                </a:lnSpc>
              </a:pPr>
              <a:r>
                <a:rPr lang="en-US" dirty="0"/>
                <a:t>1 customer per hour</a:t>
              </a:r>
            </a:p>
          </p:txBody>
        </p:sp>
        <p:sp>
          <p:nvSpPr>
            <p:cNvPr id="46092" name="Line 17"/>
            <p:cNvSpPr>
              <a:spLocks noChangeShapeType="1"/>
            </p:cNvSpPr>
            <p:nvPr/>
          </p:nvSpPr>
          <p:spPr bwMode="auto">
            <a:xfrm flipH="1">
              <a:off x="3048" y="3008"/>
              <a:ext cx="232" cy="200"/>
            </a:xfrm>
            <a:prstGeom prst="line">
              <a:avLst/>
            </a:prstGeom>
            <a:noFill/>
            <a:ln w="38100">
              <a:solidFill>
                <a:schemeClr val="tx1"/>
              </a:solidFill>
              <a:round/>
              <a:headEnd/>
              <a:tailEnd type="triangle" w="med" len="sm"/>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50194" name="Group 18"/>
          <p:cNvGrpSpPr>
            <a:grpSpLocks/>
          </p:cNvGrpSpPr>
          <p:nvPr/>
        </p:nvGrpSpPr>
        <p:grpSpPr bwMode="auto">
          <a:xfrm>
            <a:off x="2146300" y="2865438"/>
            <a:ext cx="6045200" cy="906462"/>
            <a:chOff x="1416" y="1837"/>
            <a:chExt cx="3808" cy="571"/>
          </a:xfrm>
        </p:grpSpPr>
        <p:sp>
          <p:nvSpPr>
            <p:cNvPr id="46089" name="Rectangle 19"/>
            <p:cNvSpPr>
              <a:spLocks noChangeArrowheads="1"/>
            </p:cNvSpPr>
            <p:nvPr/>
          </p:nvSpPr>
          <p:spPr bwMode="auto">
            <a:xfrm>
              <a:off x="1790" y="1837"/>
              <a:ext cx="3434" cy="5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nSpc>
                  <a:spcPct val="90000"/>
                </a:lnSpc>
              </a:pPr>
              <a:r>
                <a:rPr lang="en-US" dirty="0"/>
                <a:t>Average service rate (</a:t>
              </a:r>
              <a:r>
                <a:rPr lang="en-US" i="1" dirty="0"/>
                <a:t>µ</a:t>
              </a:r>
              <a:r>
                <a:rPr lang="en-US" dirty="0"/>
                <a:t>) = 3 customers per hour</a:t>
              </a:r>
            </a:p>
            <a:p>
              <a:pPr>
                <a:lnSpc>
                  <a:spcPct val="90000"/>
                </a:lnSpc>
              </a:pPr>
              <a:r>
                <a:rPr lang="en-US" dirty="0">
                  <a:sym typeface="Symbol" charset="0"/>
                </a:rPr>
                <a:t> Average service time = 20 minutes (or 1/3 hour) per customer</a:t>
              </a:r>
              <a:endParaRPr lang="en-US" dirty="0"/>
            </a:p>
          </p:txBody>
        </p:sp>
        <p:sp>
          <p:nvSpPr>
            <p:cNvPr id="46090" name="Line 20"/>
            <p:cNvSpPr>
              <a:spLocks noChangeShapeType="1"/>
            </p:cNvSpPr>
            <p:nvPr/>
          </p:nvSpPr>
          <p:spPr bwMode="auto">
            <a:xfrm flipH="1">
              <a:off x="1416" y="2104"/>
              <a:ext cx="336" cy="304"/>
            </a:xfrm>
            <a:prstGeom prst="line">
              <a:avLst/>
            </a:prstGeom>
            <a:noFill/>
            <a:ln w="38100">
              <a:solidFill>
                <a:schemeClr val="tx1"/>
              </a:solidFill>
              <a:round/>
              <a:headEnd/>
              <a:tailEnd type="triangle" w="med" len="sm"/>
            </a:ln>
            <a:extLst>
              <a:ext uri="{909E8E84-426E-40dd-AFC4-6F175D3DCCD1}">
                <a14:hiddenFill xmlns="" xmlns:a14="http://schemas.microsoft.com/office/drawing/2010/main">
                  <a:noFill/>
                </a14:hiddenFill>
              </a:ext>
            </a:extLst>
          </p:spPr>
          <p:txBody>
            <a:bodyPr wrap="none" anchor="ctr"/>
            <a:lstStyle/>
            <a:p>
              <a:endParaRPr lang="en-US" dirty="0"/>
            </a:p>
          </p:txBody>
        </p:sp>
      </p:grpSp>
    </p:spTree>
    <p:extLst>
      <p:ext uri="{BB962C8B-B14F-4D97-AF65-F5344CB8AC3E}">
        <p14:creationId xmlns:p14="http://schemas.microsoft.com/office/powerpoint/2010/main" val="1092998812"/>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1000"/>
                                  </p:stCondLst>
                                  <p:childTnLst>
                                    <p:set>
                                      <p:cBhvr>
                                        <p:cTn id="6" dur="1" fill="hold">
                                          <p:stCondLst>
                                            <p:cond delay="0"/>
                                          </p:stCondLst>
                                        </p:cTn>
                                        <p:tgtEl>
                                          <p:spTgt spid="50182"/>
                                        </p:tgtEl>
                                        <p:attrNameLst>
                                          <p:attrName>style.visibility</p:attrName>
                                        </p:attrNameLst>
                                      </p:cBhvr>
                                      <p:to>
                                        <p:strVal val="visible"/>
                                      </p:to>
                                    </p:set>
                                    <p:animEffect transition="in" filter="strips(upRight)">
                                      <p:cBhvr>
                                        <p:cTn id="7" dur="1000"/>
                                        <p:tgtEl>
                                          <p:spTgt spid="50182"/>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50188"/>
                                        </p:tgtEl>
                                        <p:attrNameLst>
                                          <p:attrName>style.visibility</p:attrName>
                                        </p:attrNameLst>
                                      </p:cBhvr>
                                      <p:to>
                                        <p:strVal val="visible"/>
                                      </p:to>
                                    </p:set>
                                    <p:animEffect transition="in" filter="wipe(left)">
                                      <p:cBhvr>
                                        <p:cTn id="11" dur="1000"/>
                                        <p:tgtEl>
                                          <p:spTgt spid="50188"/>
                                        </p:tgtEl>
                                      </p:cBhvr>
                                    </p:animEffect>
                                  </p:childTnLst>
                                </p:cTn>
                              </p:par>
                            </p:childTnLst>
                          </p:cTn>
                        </p:par>
                        <p:par>
                          <p:cTn id="12" fill="hold" nodeType="afterGroup">
                            <p:stCondLst>
                              <p:cond delay="4000"/>
                            </p:stCondLst>
                            <p:childTnLst>
                              <p:par>
                                <p:cTn id="13" presetID="22" presetClass="entr" presetSubtype="8" fill="hold" grpId="0" nodeType="afterEffect">
                                  <p:stCondLst>
                                    <p:cond delay="1000"/>
                                  </p:stCondLst>
                                  <p:childTnLst>
                                    <p:set>
                                      <p:cBhvr>
                                        <p:cTn id="14" dur="1" fill="hold">
                                          <p:stCondLst>
                                            <p:cond delay="0"/>
                                          </p:stCondLst>
                                        </p:cTn>
                                        <p:tgtEl>
                                          <p:spTgt spid="50180"/>
                                        </p:tgtEl>
                                        <p:attrNameLst>
                                          <p:attrName>style.visibility</p:attrName>
                                        </p:attrNameLst>
                                      </p:cBhvr>
                                      <p:to>
                                        <p:strVal val="visible"/>
                                      </p:to>
                                    </p:set>
                                    <p:animEffect transition="in" filter="wipe(left)">
                                      <p:cBhvr>
                                        <p:cTn id="15" dur="1000"/>
                                        <p:tgtEl>
                                          <p:spTgt spid="50180"/>
                                        </p:tgtEl>
                                      </p:cBhvr>
                                    </p:animEffect>
                                  </p:childTnLst>
                                </p:cTn>
                              </p:par>
                            </p:childTnLst>
                          </p:cTn>
                        </p:par>
                        <p:par>
                          <p:cTn id="16" fill="hold" nodeType="afterGroup">
                            <p:stCondLst>
                              <p:cond delay="6000"/>
                            </p:stCondLst>
                            <p:childTnLst>
                              <p:par>
                                <p:cTn id="17" presetID="22" presetClass="entr" presetSubtype="2" fill="hold" nodeType="afterEffect">
                                  <p:stCondLst>
                                    <p:cond delay="1000"/>
                                  </p:stCondLst>
                                  <p:childTnLst>
                                    <p:set>
                                      <p:cBhvr>
                                        <p:cTn id="18" dur="1" fill="hold">
                                          <p:stCondLst>
                                            <p:cond delay="0"/>
                                          </p:stCondLst>
                                        </p:cTn>
                                        <p:tgtEl>
                                          <p:spTgt spid="50191"/>
                                        </p:tgtEl>
                                        <p:attrNameLst>
                                          <p:attrName>style.visibility</p:attrName>
                                        </p:attrNameLst>
                                      </p:cBhvr>
                                      <p:to>
                                        <p:strVal val="visible"/>
                                      </p:to>
                                    </p:set>
                                    <p:animEffect transition="in" filter="wipe(right)">
                                      <p:cBhvr>
                                        <p:cTn id="19" dur="1000"/>
                                        <p:tgtEl>
                                          <p:spTgt spid="5019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0181"/>
                                        </p:tgtEl>
                                        <p:attrNameLst>
                                          <p:attrName>style.visibility</p:attrName>
                                        </p:attrNameLst>
                                      </p:cBhvr>
                                      <p:to>
                                        <p:strVal val="visible"/>
                                      </p:to>
                                    </p:set>
                                    <p:animEffect transition="in" filter="wipe(left)">
                                      <p:cBhvr>
                                        <p:cTn id="24" dur="1000"/>
                                        <p:tgtEl>
                                          <p:spTgt spid="50181"/>
                                        </p:tgtEl>
                                      </p:cBhvr>
                                    </p:animEffect>
                                  </p:childTnLst>
                                </p:cTn>
                              </p:par>
                            </p:childTnLst>
                          </p:cTn>
                        </p:par>
                        <p:par>
                          <p:cTn id="25" fill="hold" nodeType="afterGroup">
                            <p:stCondLst>
                              <p:cond delay="1000"/>
                            </p:stCondLst>
                            <p:childTnLst>
                              <p:par>
                                <p:cTn id="26" presetID="22" presetClass="entr" presetSubtype="2" fill="hold" nodeType="afterEffect">
                                  <p:stCondLst>
                                    <p:cond delay="1000"/>
                                  </p:stCondLst>
                                  <p:childTnLst>
                                    <p:set>
                                      <p:cBhvr>
                                        <p:cTn id="27" dur="1" fill="hold">
                                          <p:stCondLst>
                                            <p:cond delay="0"/>
                                          </p:stCondLst>
                                        </p:cTn>
                                        <p:tgtEl>
                                          <p:spTgt spid="50194"/>
                                        </p:tgtEl>
                                        <p:attrNameLst>
                                          <p:attrName>style.visibility</p:attrName>
                                        </p:attrNameLst>
                                      </p:cBhvr>
                                      <p:to>
                                        <p:strVal val="visible"/>
                                      </p:to>
                                    </p:set>
                                    <p:animEffect transition="in" filter="wipe(right)">
                                      <p:cBhvr>
                                        <p:cTn id="28" dur="1000"/>
                                        <p:tgtEl>
                                          <p:spTgt spid="50194"/>
                                        </p:tgtEl>
                                      </p:cBhvr>
                                    </p:animEffect>
                                  </p:childTnLst>
                                </p:cTn>
                              </p:par>
                            </p:childTnLst>
                          </p:cTn>
                        </p:par>
                        <p:par>
                          <p:cTn id="29" fill="hold" nodeType="afterGroup">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50179"/>
                                        </p:tgtEl>
                                        <p:attrNameLst>
                                          <p:attrName>style.visibility</p:attrName>
                                        </p:attrNameLst>
                                      </p:cBhvr>
                                      <p:to>
                                        <p:strVal val="visible"/>
                                      </p:to>
                                    </p:set>
                                    <p:animEffect transition="in" filter="wipe(left)">
                                      <p:cBhvr>
                                        <p:cTn id="32" dur="1000"/>
                                        <p:tgtEl>
                                          <p:spTgt spid="50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autoUpdateAnimBg="0"/>
      <p:bldP spid="50180" grpId="0" animBg="1"/>
      <p:bldP spid="5018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rtlCol="0">
            <a:normAutofit fontScale="90000"/>
          </a:bodyPr>
          <a:lstStyle/>
          <a:p>
            <a:pPr fontAlgn="auto">
              <a:spcAft>
                <a:spcPts val="0"/>
              </a:spcAft>
              <a:defRPr/>
            </a:pPr>
            <a:r>
              <a:rPr lang="en-US" dirty="0">
                <a:latin typeface="Arial" charset="0"/>
              </a:rPr>
              <a:t>Measuring Queue Performance</a:t>
            </a:r>
          </a:p>
        </p:txBody>
      </p:sp>
      <p:sp>
        <p:nvSpPr>
          <p:cNvPr id="48130" name="Content Placeholder 1"/>
          <p:cNvSpPr>
            <a:spLocks noGrp="1"/>
          </p:cNvSpPr>
          <p:nvPr>
            <p:ph idx="1"/>
          </p:nvPr>
        </p:nvSpPr>
        <p:spPr>
          <a:xfrm>
            <a:off x="698500" y="1612900"/>
            <a:ext cx="7759700" cy="4525963"/>
          </a:xfrm>
        </p:spPr>
        <p:txBody>
          <a:bodyPr/>
          <a:lstStyle/>
          <a:p>
            <a:pPr marL="482600" indent="-482600">
              <a:spcAft>
                <a:spcPct val="40000"/>
              </a:spcAft>
              <a:buClr>
                <a:schemeClr val="tx1"/>
              </a:buClr>
              <a:buFont typeface="Times" charset="0"/>
              <a:buAutoNum type="arabicPeriod"/>
            </a:pPr>
            <a:r>
              <a:rPr lang="en-US" sz="2400" dirty="0">
                <a:latin typeface="Arial" charset="0"/>
                <a:cs typeface="Arial" charset="0"/>
              </a:rPr>
              <a:t>Average time that each customer or object spends in the queue</a:t>
            </a:r>
          </a:p>
          <a:p>
            <a:pPr marL="482600" indent="-482600">
              <a:spcAft>
                <a:spcPct val="40000"/>
              </a:spcAft>
              <a:buClr>
                <a:schemeClr val="tx1"/>
              </a:buClr>
              <a:buFont typeface="Times" charset="0"/>
              <a:buAutoNum type="arabicPeriod"/>
            </a:pPr>
            <a:r>
              <a:rPr lang="en-US" sz="2400" dirty="0">
                <a:latin typeface="Arial" charset="0"/>
                <a:cs typeface="Arial" charset="0"/>
              </a:rPr>
              <a:t>Average queue length</a:t>
            </a:r>
          </a:p>
          <a:p>
            <a:pPr marL="482600" indent="-482600">
              <a:spcAft>
                <a:spcPct val="40000"/>
              </a:spcAft>
              <a:buClr>
                <a:schemeClr val="tx1"/>
              </a:buClr>
              <a:buFont typeface="Times" charset="0"/>
              <a:buAutoNum type="arabicPeriod"/>
            </a:pPr>
            <a:r>
              <a:rPr lang="en-US" sz="2400" dirty="0">
                <a:latin typeface="Arial" charset="0"/>
                <a:cs typeface="Arial" charset="0"/>
              </a:rPr>
              <a:t>Average time each customer spends in the system</a:t>
            </a:r>
          </a:p>
          <a:p>
            <a:pPr marL="482600" indent="-482600">
              <a:spcAft>
                <a:spcPct val="40000"/>
              </a:spcAft>
              <a:buClr>
                <a:schemeClr val="tx1"/>
              </a:buClr>
              <a:buFont typeface="Times" charset="0"/>
              <a:buAutoNum type="arabicPeriod"/>
            </a:pPr>
            <a:r>
              <a:rPr lang="en-US" sz="2400" dirty="0">
                <a:latin typeface="Arial" charset="0"/>
                <a:cs typeface="Arial" charset="0"/>
              </a:rPr>
              <a:t>Average number of customers in the system</a:t>
            </a:r>
          </a:p>
          <a:p>
            <a:pPr marL="482600" indent="-482600">
              <a:spcAft>
                <a:spcPct val="40000"/>
              </a:spcAft>
              <a:buClr>
                <a:schemeClr val="tx1"/>
              </a:buClr>
              <a:buFont typeface="Times" charset="0"/>
              <a:buAutoNum type="arabicPeriod"/>
            </a:pPr>
            <a:r>
              <a:rPr lang="en-US" sz="2400" dirty="0">
                <a:latin typeface="Arial" charset="0"/>
                <a:cs typeface="Arial" charset="0"/>
              </a:rPr>
              <a:t>Probability that the service facility will be idle</a:t>
            </a:r>
          </a:p>
          <a:p>
            <a:pPr marL="482600" indent="-482600">
              <a:spcAft>
                <a:spcPct val="40000"/>
              </a:spcAft>
              <a:buClr>
                <a:schemeClr val="tx1"/>
              </a:buClr>
              <a:buFont typeface="Times" charset="0"/>
              <a:buAutoNum type="arabicPeriod"/>
            </a:pPr>
            <a:r>
              <a:rPr lang="en-US" sz="2400" dirty="0">
                <a:latin typeface="Arial" charset="0"/>
                <a:cs typeface="Arial" charset="0"/>
              </a:rPr>
              <a:t>Utilization factor for the system</a:t>
            </a:r>
          </a:p>
          <a:p>
            <a:pPr marL="482600" indent="-482600">
              <a:spcAft>
                <a:spcPct val="40000"/>
              </a:spcAft>
              <a:buClr>
                <a:schemeClr val="tx1"/>
              </a:buClr>
              <a:buFont typeface="Times" charset="0"/>
              <a:buAutoNum type="arabicPeriod"/>
            </a:pPr>
            <a:r>
              <a:rPr lang="en-US" sz="2400" dirty="0">
                <a:latin typeface="Arial" charset="0"/>
                <a:cs typeface="Arial" charset="0"/>
              </a:rPr>
              <a:t>Probability of a specific number of customers in the system</a:t>
            </a:r>
          </a:p>
        </p:txBody>
      </p:sp>
    </p:spTree>
    <p:extLst>
      <p:ext uri="{BB962C8B-B14F-4D97-AF65-F5344CB8AC3E}">
        <p14:creationId xmlns:p14="http://schemas.microsoft.com/office/powerpoint/2010/main" val="366967577"/>
      </p:ext>
    </p:extLst>
  </p:cSld>
  <p:clrMapOvr>
    <a:masterClrMapping/>
  </p:clrMapOvr>
  <p:transition>
    <p:pull dir="l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lstStyle/>
          <a:p>
            <a:r>
              <a:rPr lang="en-US" dirty="0">
                <a:latin typeface="Arial" charset="0"/>
                <a:ea typeface="MS PGothic" charset="0"/>
                <a:cs typeface="MS PGothic" charset="0"/>
              </a:rPr>
              <a:t>Queuing Models</a:t>
            </a:r>
          </a:p>
        </p:txBody>
      </p:sp>
      <p:sp>
        <p:nvSpPr>
          <p:cNvPr id="56323" name="Text Box 3"/>
          <p:cNvSpPr txBox="1">
            <a:spLocks noChangeArrowheads="1"/>
          </p:cNvSpPr>
          <p:nvPr/>
        </p:nvSpPr>
        <p:spPr bwMode="auto">
          <a:xfrm>
            <a:off x="517525" y="1914525"/>
            <a:ext cx="7789187"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2800" dirty="0">
                <a:ea typeface="MS PGothic" charset="0"/>
                <a:cs typeface="MS PGothic" charset="0"/>
              </a:rPr>
              <a:t>The four queuing models that follow all assume:</a:t>
            </a:r>
          </a:p>
        </p:txBody>
      </p:sp>
      <p:sp>
        <p:nvSpPr>
          <p:cNvPr id="56324" name="Text Box 4"/>
          <p:cNvSpPr txBox="1">
            <a:spLocks noChangeArrowheads="1"/>
          </p:cNvSpPr>
          <p:nvPr/>
        </p:nvSpPr>
        <p:spPr bwMode="auto">
          <a:xfrm>
            <a:off x="1831975" y="3071813"/>
            <a:ext cx="5083175" cy="16081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514350" indent="-514350">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nSpc>
                <a:spcPct val="90000"/>
              </a:lnSpc>
              <a:spcAft>
                <a:spcPct val="40000"/>
              </a:spcAft>
              <a:buClr>
                <a:schemeClr val="tx1"/>
              </a:buClr>
              <a:buSzPct val="100000"/>
              <a:buFont typeface="Arial" charset="0"/>
              <a:buAutoNum type="arabicPeriod"/>
            </a:pPr>
            <a:r>
              <a:rPr lang="en-US" sz="2800" dirty="0">
                <a:ea typeface="MS PGothic" charset="0"/>
                <a:cs typeface="MS PGothic" charset="0"/>
              </a:rPr>
              <a:t>Poisson distribution arrivals</a:t>
            </a:r>
          </a:p>
          <a:p>
            <a:pPr>
              <a:lnSpc>
                <a:spcPct val="90000"/>
              </a:lnSpc>
              <a:spcAft>
                <a:spcPct val="40000"/>
              </a:spcAft>
              <a:buClr>
                <a:schemeClr val="tx1"/>
              </a:buClr>
              <a:buSzPct val="100000"/>
              <a:buFont typeface="Arial" charset="0"/>
              <a:buAutoNum type="arabicPeriod"/>
            </a:pPr>
            <a:r>
              <a:rPr lang="en-US" sz="2800" dirty="0">
                <a:ea typeface="MS PGothic" charset="0"/>
                <a:cs typeface="MS PGothic" charset="0"/>
              </a:rPr>
              <a:t>FIFO discipline</a:t>
            </a:r>
          </a:p>
          <a:p>
            <a:pPr>
              <a:lnSpc>
                <a:spcPct val="90000"/>
              </a:lnSpc>
              <a:spcAft>
                <a:spcPct val="40000"/>
              </a:spcAft>
              <a:buClr>
                <a:schemeClr val="tx1"/>
              </a:buClr>
              <a:buSzPct val="100000"/>
              <a:buFont typeface="Arial" charset="0"/>
              <a:buAutoNum type="arabicPeriod"/>
            </a:pPr>
            <a:r>
              <a:rPr lang="en-US" sz="2800" dirty="0">
                <a:ea typeface="MS PGothic" charset="0"/>
                <a:cs typeface="MS PGothic" charset="0"/>
              </a:rPr>
              <a:t>A single-service phase</a:t>
            </a:r>
          </a:p>
        </p:txBody>
      </p:sp>
    </p:spTree>
    <p:extLst>
      <p:ext uri="{BB962C8B-B14F-4D97-AF65-F5344CB8AC3E}">
        <p14:creationId xmlns:p14="http://schemas.microsoft.com/office/powerpoint/2010/main" val="2541816132"/>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56323"/>
                                        </p:tgtEl>
                                        <p:attrNameLst>
                                          <p:attrName>style.visibility</p:attrName>
                                        </p:attrNameLst>
                                      </p:cBhvr>
                                      <p:to>
                                        <p:strVal val="visible"/>
                                      </p:to>
                                    </p:set>
                                    <p:animEffect transition="in" filter="wipe(left)">
                                      <p:cBhvr>
                                        <p:cTn id="7" dur="1000"/>
                                        <p:tgtEl>
                                          <p:spTgt spid="56323"/>
                                        </p:tgtEl>
                                      </p:cBhvr>
                                    </p:animEffect>
                                  </p:childTnLst>
                                </p:cTn>
                              </p:par>
                            </p:childTnLst>
                          </p:cTn>
                        </p:par>
                        <p:par>
                          <p:cTn id="8" fill="hold" nodeType="afterGroup">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56324"/>
                                        </p:tgtEl>
                                        <p:attrNameLst>
                                          <p:attrName>style.visibility</p:attrName>
                                        </p:attrNameLst>
                                      </p:cBhvr>
                                      <p:to>
                                        <p:strVal val="visible"/>
                                      </p:to>
                                    </p:set>
                                    <p:animEffect transition="in" filter="strips(downRight)">
                                      <p:cBhvr>
                                        <p:cTn id="11" dur="1000"/>
                                        <p:tgtEl>
                                          <p:spTgt spid="56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p:bldP spid="563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dirty="0">
                <a:latin typeface="Arial" charset="0"/>
                <a:ea typeface="MS PGothic" charset="0"/>
                <a:cs typeface="MS PGothic" charset="0"/>
              </a:rPr>
              <a:t>Queuing Models</a:t>
            </a:r>
          </a:p>
        </p:txBody>
      </p:sp>
      <p:graphicFrame>
        <p:nvGraphicFramePr>
          <p:cNvPr id="2" name="Table 1"/>
          <p:cNvGraphicFramePr>
            <a:graphicFrameLocks noGrp="1"/>
          </p:cNvGraphicFramePr>
          <p:nvPr>
            <p:extLst>
              <p:ext uri="{D42A27DB-BD31-4B8C-83A1-F6EECF244321}">
                <p14:modId xmlns:p14="http://schemas.microsoft.com/office/powerpoint/2010/main" val="572919969"/>
              </p:ext>
            </p:extLst>
          </p:nvPr>
        </p:nvGraphicFramePr>
        <p:xfrm>
          <a:off x="527050" y="2184400"/>
          <a:ext cx="8089901" cy="3154680"/>
        </p:xfrm>
        <a:graphic>
          <a:graphicData uri="http://schemas.openxmlformats.org/drawingml/2006/table">
            <a:tbl>
              <a:tblPr firstRow="1" bandRow="1">
                <a:tableStyleId>{2D5ABB26-0587-4C30-8999-92F81FD0307C}</a:tableStyleId>
              </a:tblPr>
              <a:tblGrid>
                <a:gridCol w="1111251">
                  <a:extLst>
                    <a:ext uri="{9D8B030D-6E8A-4147-A177-3AD203B41FA5}">
                      <a16:colId xmlns:a16="http://schemas.microsoft.com/office/drawing/2014/main" val="20000"/>
                    </a:ext>
                  </a:extLst>
                </a:gridCol>
                <a:gridCol w="279400">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1140460">
                  <a:extLst>
                    <a:ext uri="{9D8B030D-6E8A-4147-A177-3AD203B41FA5}">
                      <a16:colId xmlns:a16="http://schemas.microsoft.com/office/drawing/2014/main" val="20003"/>
                    </a:ext>
                  </a:extLst>
                </a:gridCol>
                <a:gridCol w="5842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1346200">
                  <a:extLst>
                    <a:ext uri="{9D8B030D-6E8A-4147-A177-3AD203B41FA5}">
                      <a16:colId xmlns:a16="http://schemas.microsoft.com/office/drawing/2014/main" val="20006"/>
                    </a:ext>
                  </a:extLst>
                </a:gridCol>
                <a:gridCol w="977899">
                  <a:extLst>
                    <a:ext uri="{9D8B030D-6E8A-4147-A177-3AD203B41FA5}">
                      <a16:colId xmlns:a16="http://schemas.microsoft.com/office/drawing/2014/main" val="20007"/>
                    </a:ext>
                  </a:extLst>
                </a:gridCol>
                <a:gridCol w="368302">
                  <a:extLst>
                    <a:ext uri="{9D8B030D-6E8A-4147-A177-3AD203B41FA5}">
                      <a16:colId xmlns:a16="http://schemas.microsoft.com/office/drawing/2014/main" val="20008"/>
                    </a:ext>
                  </a:extLst>
                </a:gridCol>
                <a:gridCol w="177799">
                  <a:extLst>
                    <a:ext uri="{9D8B030D-6E8A-4147-A177-3AD203B41FA5}">
                      <a16:colId xmlns:a16="http://schemas.microsoft.com/office/drawing/2014/main" val="20009"/>
                    </a:ext>
                  </a:extLst>
                </a:gridCol>
                <a:gridCol w="222250">
                  <a:extLst>
                    <a:ext uri="{9D8B030D-6E8A-4147-A177-3AD203B41FA5}">
                      <a16:colId xmlns:a16="http://schemas.microsoft.com/office/drawing/2014/main" val="20010"/>
                    </a:ext>
                  </a:extLst>
                </a:gridCol>
                <a:gridCol w="1155700">
                  <a:extLst>
                    <a:ext uri="{9D8B030D-6E8A-4147-A177-3AD203B41FA5}">
                      <a16:colId xmlns:a16="http://schemas.microsoft.com/office/drawing/2014/main" val="20011"/>
                    </a:ext>
                  </a:extLst>
                </a:gridCol>
              </a:tblGrid>
              <a:tr h="370840">
                <a:tc gridSpan="2">
                  <a:txBody>
                    <a:bodyPr/>
                    <a:lstStyle/>
                    <a:p>
                      <a:pPr algn="ctr"/>
                      <a:r>
                        <a:rPr lang="en-US" sz="1600" dirty="0">
                          <a:solidFill>
                            <a:schemeClr val="bg1"/>
                          </a:solidFill>
                          <a:latin typeface="Arial"/>
                          <a:cs typeface="Arial"/>
                        </a:rPr>
                        <a:t>TABLE</a:t>
                      </a:r>
                      <a:r>
                        <a:rPr lang="en-US" sz="1600" baseline="0" dirty="0">
                          <a:solidFill>
                            <a:schemeClr val="bg1"/>
                          </a:solidFill>
                          <a:latin typeface="Arial"/>
                          <a:cs typeface="Arial"/>
                        </a:rPr>
                        <a:t> D.2</a:t>
                      </a:r>
                      <a:endParaRPr lang="en-US" sz="1600" dirty="0">
                        <a:solidFill>
                          <a:schemeClr val="bg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tx1"/>
                    </a:solidFill>
                  </a:tcPr>
                </a:tc>
                <a:tc hMerge="1">
                  <a:txBody>
                    <a:bodyPr/>
                    <a:lstStyle/>
                    <a:p>
                      <a:endParaRPr lang="en-US"/>
                    </a:p>
                  </a:txBody>
                  <a:tcPr/>
                </a:tc>
                <a:tc gridSpan="6">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latin typeface="Arial"/>
                          <a:cs typeface="Arial"/>
                        </a:rPr>
                        <a:t>Queuing Models Described in This Chapter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4">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1600" b="1" dirty="0">
                          <a:solidFill>
                            <a:srgbClr val="FFFFFF"/>
                          </a:solidFill>
                          <a:latin typeface="Arial"/>
                          <a:cs typeface="Arial"/>
                        </a:rPr>
                        <a:t>MODEL</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gridSpan="4">
                  <a:txBody>
                    <a:bodyPr/>
                    <a:lstStyle/>
                    <a:p>
                      <a:pPr algn="ctr"/>
                      <a:r>
                        <a:rPr lang="en-US" sz="1600" b="1" dirty="0">
                          <a:solidFill>
                            <a:srgbClr val="FFFFFF"/>
                          </a:solidFill>
                          <a:latin typeface="Arial"/>
                          <a:cs typeface="Arial"/>
                        </a:rPr>
                        <a:t>NAME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3">
                  <a:txBody>
                    <a:bodyPr/>
                    <a:lstStyle/>
                    <a:p>
                      <a:pPr algn="ctr"/>
                      <a:r>
                        <a:rPr lang="en-US" sz="1600" b="1" dirty="0">
                          <a:solidFill>
                            <a:srgbClr val="FFFFFF"/>
                          </a:solidFill>
                          <a:latin typeface="Arial"/>
                          <a:cs typeface="Arial"/>
                        </a:rPr>
                        <a:t>EXAMPLE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endParaRPr lang="en-US" sz="18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algn="ctr"/>
                      <a:r>
                        <a:rPr lang="en-US" sz="1600" dirty="0">
                          <a:latin typeface="Arial"/>
                          <a:cs typeface="Arial"/>
                        </a:rPr>
                        <a:t>A</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4">
                  <a:txBody>
                    <a:bodyPr/>
                    <a:lstStyle/>
                    <a:p>
                      <a:r>
                        <a:rPr lang="en-US" sz="1800" dirty="0">
                          <a:latin typeface="Arial"/>
                          <a:cs typeface="Arial"/>
                        </a:rPr>
                        <a:t>Single-server system</a:t>
                      </a:r>
                      <a:r>
                        <a:rPr lang="en-US" sz="1800" baseline="0" dirty="0">
                          <a:latin typeface="Arial"/>
                          <a:cs typeface="Arial"/>
                        </a:rPr>
                        <a:t> </a:t>
                      </a:r>
                      <a:r>
                        <a:rPr lang="en-US" sz="1800" dirty="0">
                          <a:latin typeface="Arial"/>
                          <a:cs typeface="Arial"/>
                        </a:rPr>
                        <a:t>(M/M/1)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3">
                  <a:txBody>
                    <a:bodyPr/>
                    <a:lstStyle/>
                    <a:p>
                      <a:r>
                        <a:rPr lang="en-US" sz="1600" dirty="0">
                          <a:latin typeface="Arial"/>
                          <a:cs typeface="Arial"/>
                        </a:rPr>
                        <a:t>Information counter</a:t>
                      </a:r>
                      <a:r>
                        <a:rPr lang="en-US" sz="1600" baseline="0" dirty="0">
                          <a:latin typeface="Arial"/>
                          <a:cs typeface="Arial"/>
                        </a:rPr>
                        <a:t> </a:t>
                      </a:r>
                      <a:r>
                        <a:rPr lang="en-US" sz="1600" dirty="0">
                          <a:latin typeface="Arial"/>
                          <a:cs typeface="Arial"/>
                        </a:rPr>
                        <a:t>at</a:t>
                      </a:r>
                      <a:r>
                        <a:rPr lang="en-US" sz="1600" baseline="0" dirty="0">
                          <a:latin typeface="Arial"/>
                          <a:cs typeface="Arial"/>
                        </a:rPr>
                        <a:t> </a:t>
                      </a:r>
                      <a:r>
                        <a:rPr lang="en-US" sz="1600" dirty="0">
                          <a:latin typeface="Arial"/>
                          <a:cs typeface="Arial"/>
                        </a:rPr>
                        <a:t>department store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endParaRPr lang="en-US" sz="18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370840">
                <a:tc gridSpan="12">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822960">
                <a:tc gridSpan="3">
                  <a:txBody>
                    <a:bodyPr/>
                    <a:lstStyle/>
                    <a:p>
                      <a:pPr algn="ctr"/>
                      <a:r>
                        <a:rPr lang="en-US" sz="1600" b="1" dirty="0">
                          <a:solidFill>
                            <a:srgbClr val="FFFFFF"/>
                          </a:solidFill>
                          <a:latin typeface="Arial"/>
                          <a:cs typeface="Arial"/>
                        </a:rPr>
                        <a:t>NUMBER OF SERVERS</a:t>
                      </a:r>
                      <a:r>
                        <a:rPr lang="en-US" sz="1600" b="1" baseline="0" dirty="0">
                          <a:solidFill>
                            <a:srgbClr val="FFFFFF"/>
                          </a:solidFill>
                          <a:latin typeface="Arial"/>
                          <a:cs typeface="Arial"/>
                        </a:rPr>
                        <a:t> (CHANNELS)</a:t>
                      </a:r>
                      <a:endParaRPr lang="en-US" sz="1600" b="1" dirty="0">
                        <a:solidFill>
                          <a:srgbClr val="FFFFFF"/>
                        </a:solidFill>
                        <a:latin typeface="Arial"/>
                        <a:cs typeface="Arial"/>
                      </a:endParaRP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b="1" dirty="0">
                          <a:solidFill>
                            <a:srgbClr val="FFFFFF"/>
                          </a:solidFill>
                          <a:latin typeface="Arial"/>
                          <a:cs typeface="Arial"/>
                        </a:rPr>
                        <a:t>NUMBER OF PHASES</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gridSpan="2">
                  <a:txBody>
                    <a:bodyPr/>
                    <a:lstStyle/>
                    <a:p>
                      <a:pPr algn="ctr"/>
                      <a:r>
                        <a:rPr lang="en-US" sz="1600" b="1" dirty="0">
                          <a:solidFill>
                            <a:srgbClr val="FFFFFF"/>
                          </a:solidFill>
                          <a:latin typeface="Arial"/>
                          <a:cs typeface="Arial"/>
                        </a:rPr>
                        <a:t>ARRIVAL RATE PATTERN</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a:p>
                  </a:txBody>
                  <a:tcPr/>
                </a:tc>
                <a:tc>
                  <a:txBody>
                    <a:bodyPr/>
                    <a:lstStyle/>
                    <a:p>
                      <a:pPr algn="ctr"/>
                      <a:r>
                        <a:rPr lang="en-US" sz="1600" b="1" dirty="0">
                          <a:solidFill>
                            <a:srgbClr val="FFFFFF"/>
                          </a:solidFill>
                          <a:latin typeface="Arial"/>
                          <a:cs typeface="Arial"/>
                        </a:rPr>
                        <a:t>SERVICE TIME PATTERN</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gridSpan="3">
                  <a:txBody>
                    <a:bodyPr/>
                    <a:lstStyle/>
                    <a:p>
                      <a:pPr algn="ctr"/>
                      <a:r>
                        <a:rPr lang="en-US" sz="1600" b="1" dirty="0">
                          <a:solidFill>
                            <a:srgbClr val="FFFFFF"/>
                          </a:solidFill>
                          <a:latin typeface="Arial"/>
                          <a:cs typeface="Arial"/>
                        </a:rPr>
                        <a:t>POPULATION SIZE</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2">
                  <a:txBody>
                    <a:bodyPr/>
                    <a:lstStyle/>
                    <a:p>
                      <a:pPr algn="ctr"/>
                      <a:r>
                        <a:rPr lang="en-US" sz="1600" b="1" dirty="0">
                          <a:solidFill>
                            <a:srgbClr val="FFFFFF"/>
                          </a:solidFill>
                          <a:latin typeface="Arial"/>
                          <a:cs typeface="Arial"/>
                        </a:rPr>
                        <a:t>QUEUE DISCIPLINE</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r h="370840">
                <a:tc gridSpan="3">
                  <a:txBody>
                    <a:bodyPr/>
                    <a:lstStyle/>
                    <a:p>
                      <a:r>
                        <a:rPr lang="en-US" sz="1600" dirty="0">
                          <a:latin typeface="Arial"/>
                          <a:cs typeface="Arial"/>
                        </a:rPr>
                        <a:t>Single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r>
                        <a:rPr lang="en-US" sz="1600" dirty="0">
                          <a:latin typeface="Arial"/>
                          <a:cs typeface="Arial"/>
                        </a:rPr>
                        <a:t>Single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2">
                  <a:txBody>
                    <a:bodyPr/>
                    <a:lstStyle/>
                    <a:p>
                      <a:r>
                        <a:rPr lang="en-US" sz="1800" dirty="0">
                          <a:latin typeface="Arial"/>
                          <a:cs typeface="Arial"/>
                        </a:rPr>
                        <a:t>Poisson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r>
                        <a:rPr lang="en-US" sz="1600" dirty="0">
                          <a:latin typeface="Arial"/>
                          <a:cs typeface="Arial"/>
                        </a:rPr>
                        <a:t>Negative exponential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3">
                  <a:txBody>
                    <a:bodyPr/>
                    <a:lstStyle/>
                    <a:p>
                      <a:r>
                        <a:rPr lang="en-US" sz="1800" dirty="0">
                          <a:latin typeface="Arial"/>
                          <a:cs typeface="Arial"/>
                        </a:rPr>
                        <a:t>Unlimited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2">
                  <a:txBody>
                    <a:bodyPr/>
                    <a:lstStyle/>
                    <a:p>
                      <a:r>
                        <a:rPr lang="en-US" sz="1800" dirty="0">
                          <a:latin typeface="Arial"/>
                          <a:cs typeface="Arial"/>
                        </a:rPr>
                        <a:t>FIFO</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66283594"/>
      </p:ext>
    </p:extLst>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r>
              <a:rPr lang="en-US" dirty="0">
                <a:latin typeface="Arial" charset="0"/>
                <a:ea typeface="MS PGothic" charset="0"/>
                <a:cs typeface="MS PGothic" charset="0"/>
              </a:rPr>
              <a:t>Queuing Models</a:t>
            </a:r>
          </a:p>
        </p:txBody>
      </p:sp>
      <p:graphicFrame>
        <p:nvGraphicFramePr>
          <p:cNvPr id="2" name="Table 1"/>
          <p:cNvGraphicFramePr>
            <a:graphicFrameLocks noGrp="1"/>
          </p:cNvGraphicFramePr>
          <p:nvPr>
            <p:extLst>
              <p:ext uri="{D42A27DB-BD31-4B8C-83A1-F6EECF244321}">
                <p14:modId xmlns:p14="http://schemas.microsoft.com/office/powerpoint/2010/main" val="3216545315"/>
              </p:ext>
            </p:extLst>
          </p:nvPr>
        </p:nvGraphicFramePr>
        <p:xfrm>
          <a:off x="527050" y="2184400"/>
          <a:ext cx="8089901" cy="3154680"/>
        </p:xfrm>
        <a:graphic>
          <a:graphicData uri="http://schemas.openxmlformats.org/drawingml/2006/table">
            <a:tbl>
              <a:tblPr firstRow="1" bandRow="1">
                <a:tableStyleId>{2D5ABB26-0587-4C30-8999-92F81FD0307C}</a:tableStyleId>
              </a:tblPr>
              <a:tblGrid>
                <a:gridCol w="1111251">
                  <a:extLst>
                    <a:ext uri="{9D8B030D-6E8A-4147-A177-3AD203B41FA5}">
                      <a16:colId xmlns:a16="http://schemas.microsoft.com/office/drawing/2014/main" val="20000"/>
                    </a:ext>
                  </a:extLst>
                </a:gridCol>
                <a:gridCol w="279400">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1140460">
                  <a:extLst>
                    <a:ext uri="{9D8B030D-6E8A-4147-A177-3AD203B41FA5}">
                      <a16:colId xmlns:a16="http://schemas.microsoft.com/office/drawing/2014/main" val="20003"/>
                    </a:ext>
                  </a:extLst>
                </a:gridCol>
                <a:gridCol w="5842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1346200">
                  <a:extLst>
                    <a:ext uri="{9D8B030D-6E8A-4147-A177-3AD203B41FA5}">
                      <a16:colId xmlns:a16="http://schemas.microsoft.com/office/drawing/2014/main" val="20006"/>
                    </a:ext>
                  </a:extLst>
                </a:gridCol>
                <a:gridCol w="977899">
                  <a:extLst>
                    <a:ext uri="{9D8B030D-6E8A-4147-A177-3AD203B41FA5}">
                      <a16:colId xmlns:a16="http://schemas.microsoft.com/office/drawing/2014/main" val="20007"/>
                    </a:ext>
                  </a:extLst>
                </a:gridCol>
                <a:gridCol w="368302">
                  <a:extLst>
                    <a:ext uri="{9D8B030D-6E8A-4147-A177-3AD203B41FA5}">
                      <a16:colId xmlns:a16="http://schemas.microsoft.com/office/drawing/2014/main" val="20008"/>
                    </a:ext>
                  </a:extLst>
                </a:gridCol>
                <a:gridCol w="177799">
                  <a:extLst>
                    <a:ext uri="{9D8B030D-6E8A-4147-A177-3AD203B41FA5}">
                      <a16:colId xmlns:a16="http://schemas.microsoft.com/office/drawing/2014/main" val="20009"/>
                    </a:ext>
                  </a:extLst>
                </a:gridCol>
                <a:gridCol w="222250">
                  <a:extLst>
                    <a:ext uri="{9D8B030D-6E8A-4147-A177-3AD203B41FA5}">
                      <a16:colId xmlns:a16="http://schemas.microsoft.com/office/drawing/2014/main" val="20010"/>
                    </a:ext>
                  </a:extLst>
                </a:gridCol>
                <a:gridCol w="1155700">
                  <a:extLst>
                    <a:ext uri="{9D8B030D-6E8A-4147-A177-3AD203B41FA5}">
                      <a16:colId xmlns:a16="http://schemas.microsoft.com/office/drawing/2014/main" val="20011"/>
                    </a:ext>
                  </a:extLst>
                </a:gridCol>
              </a:tblGrid>
              <a:tr h="370840">
                <a:tc gridSpan="2">
                  <a:txBody>
                    <a:bodyPr/>
                    <a:lstStyle/>
                    <a:p>
                      <a:pPr algn="ctr"/>
                      <a:r>
                        <a:rPr lang="en-US" sz="1600" dirty="0">
                          <a:solidFill>
                            <a:schemeClr val="bg1"/>
                          </a:solidFill>
                          <a:latin typeface="Arial"/>
                          <a:cs typeface="Arial"/>
                        </a:rPr>
                        <a:t>TABLE</a:t>
                      </a:r>
                      <a:r>
                        <a:rPr lang="en-US" sz="1600" baseline="0" dirty="0">
                          <a:solidFill>
                            <a:schemeClr val="bg1"/>
                          </a:solidFill>
                          <a:latin typeface="Arial"/>
                          <a:cs typeface="Arial"/>
                        </a:rPr>
                        <a:t> D.2</a:t>
                      </a:r>
                      <a:endParaRPr lang="en-US" sz="1600" dirty="0">
                        <a:solidFill>
                          <a:schemeClr val="bg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tx1"/>
                    </a:solidFill>
                  </a:tcPr>
                </a:tc>
                <a:tc hMerge="1">
                  <a:txBody>
                    <a:bodyPr/>
                    <a:lstStyle/>
                    <a:p>
                      <a:endParaRPr lang="en-US"/>
                    </a:p>
                  </a:txBody>
                  <a:tcPr/>
                </a:tc>
                <a:tc gridSpan="6">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latin typeface="Arial"/>
                          <a:cs typeface="Arial"/>
                        </a:rPr>
                        <a:t>Queuing Models Described in This Chapter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4">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1600" b="1" dirty="0">
                          <a:solidFill>
                            <a:srgbClr val="FFFFFF"/>
                          </a:solidFill>
                          <a:latin typeface="Arial"/>
                          <a:cs typeface="Arial"/>
                        </a:rPr>
                        <a:t>MODEL</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gridSpan="4">
                  <a:txBody>
                    <a:bodyPr/>
                    <a:lstStyle/>
                    <a:p>
                      <a:pPr algn="ctr"/>
                      <a:r>
                        <a:rPr lang="en-US" sz="1600" b="1" dirty="0">
                          <a:solidFill>
                            <a:srgbClr val="FFFFFF"/>
                          </a:solidFill>
                          <a:latin typeface="Arial"/>
                          <a:cs typeface="Arial"/>
                        </a:rPr>
                        <a:t>NAME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3">
                  <a:txBody>
                    <a:bodyPr/>
                    <a:lstStyle/>
                    <a:p>
                      <a:pPr algn="ctr"/>
                      <a:r>
                        <a:rPr lang="en-US" sz="1600" b="1" dirty="0">
                          <a:solidFill>
                            <a:srgbClr val="FFFFFF"/>
                          </a:solidFill>
                          <a:latin typeface="Arial"/>
                          <a:cs typeface="Arial"/>
                        </a:rPr>
                        <a:t>EXAMPLE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endParaRPr lang="en-US" sz="18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algn="ctr"/>
                      <a:r>
                        <a:rPr lang="en-US" sz="1600" dirty="0">
                          <a:latin typeface="Arial"/>
                          <a:cs typeface="Arial"/>
                        </a:rPr>
                        <a:t>B</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4">
                  <a:txBody>
                    <a:bodyPr/>
                    <a:lstStyle/>
                    <a:p>
                      <a:r>
                        <a:rPr lang="en-US" sz="1800" dirty="0">
                          <a:latin typeface="Arial"/>
                          <a:cs typeface="Arial"/>
                        </a:rPr>
                        <a:t>Multiple-server </a:t>
                      </a:r>
                    </a:p>
                    <a:p>
                      <a:r>
                        <a:rPr lang="en-US" sz="1800" dirty="0">
                          <a:latin typeface="Arial"/>
                          <a:cs typeface="Arial"/>
                        </a:rPr>
                        <a:t>(M/M/S)</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3">
                  <a:txBody>
                    <a:bodyPr/>
                    <a:lstStyle/>
                    <a:p>
                      <a:r>
                        <a:rPr lang="en-US" sz="1600" dirty="0">
                          <a:latin typeface="Arial"/>
                          <a:cs typeface="Arial"/>
                        </a:rPr>
                        <a:t>Airline ticket counter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endParaRPr lang="en-US" sz="18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370840">
                <a:tc gridSpan="12">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822960">
                <a:tc gridSpan="3">
                  <a:txBody>
                    <a:bodyPr/>
                    <a:lstStyle/>
                    <a:p>
                      <a:pPr algn="ctr"/>
                      <a:r>
                        <a:rPr lang="en-US" sz="1600" b="1" dirty="0">
                          <a:solidFill>
                            <a:srgbClr val="FFFFFF"/>
                          </a:solidFill>
                          <a:latin typeface="Arial"/>
                          <a:cs typeface="Arial"/>
                        </a:rPr>
                        <a:t>NUMBER OF SERVERS</a:t>
                      </a:r>
                      <a:r>
                        <a:rPr lang="en-US" sz="1600" b="1" baseline="0" dirty="0">
                          <a:solidFill>
                            <a:srgbClr val="FFFFFF"/>
                          </a:solidFill>
                          <a:latin typeface="Arial"/>
                          <a:cs typeface="Arial"/>
                        </a:rPr>
                        <a:t> (CHANNELS)</a:t>
                      </a:r>
                      <a:endParaRPr lang="en-US" sz="1600" b="1" dirty="0">
                        <a:solidFill>
                          <a:srgbClr val="FFFFFF"/>
                        </a:solidFill>
                        <a:latin typeface="Arial"/>
                        <a:cs typeface="Arial"/>
                      </a:endParaRP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b="1" dirty="0">
                          <a:solidFill>
                            <a:srgbClr val="FFFFFF"/>
                          </a:solidFill>
                          <a:latin typeface="Arial"/>
                          <a:cs typeface="Arial"/>
                        </a:rPr>
                        <a:t>NUMBER OF PHASES</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gridSpan="2">
                  <a:txBody>
                    <a:bodyPr/>
                    <a:lstStyle/>
                    <a:p>
                      <a:pPr algn="ctr"/>
                      <a:r>
                        <a:rPr lang="en-US" sz="1600" b="1" dirty="0">
                          <a:solidFill>
                            <a:srgbClr val="FFFFFF"/>
                          </a:solidFill>
                          <a:latin typeface="Arial"/>
                          <a:cs typeface="Arial"/>
                        </a:rPr>
                        <a:t>ARRIVAL RATE PATTERN</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a:p>
                  </a:txBody>
                  <a:tcPr/>
                </a:tc>
                <a:tc>
                  <a:txBody>
                    <a:bodyPr/>
                    <a:lstStyle/>
                    <a:p>
                      <a:pPr algn="ctr"/>
                      <a:r>
                        <a:rPr lang="en-US" sz="1600" b="1" dirty="0">
                          <a:solidFill>
                            <a:srgbClr val="FFFFFF"/>
                          </a:solidFill>
                          <a:latin typeface="Arial"/>
                          <a:cs typeface="Arial"/>
                        </a:rPr>
                        <a:t>SERVICE TIME PATTERN</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gridSpan="3">
                  <a:txBody>
                    <a:bodyPr/>
                    <a:lstStyle/>
                    <a:p>
                      <a:pPr algn="ctr"/>
                      <a:r>
                        <a:rPr lang="en-US" sz="1600" b="1" dirty="0">
                          <a:solidFill>
                            <a:srgbClr val="FFFFFF"/>
                          </a:solidFill>
                          <a:latin typeface="Arial"/>
                          <a:cs typeface="Arial"/>
                        </a:rPr>
                        <a:t>POPULATION SIZE</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2">
                  <a:txBody>
                    <a:bodyPr/>
                    <a:lstStyle/>
                    <a:p>
                      <a:pPr algn="ctr"/>
                      <a:r>
                        <a:rPr lang="en-US" sz="1600" b="1" dirty="0">
                          <a:solidFill>
                            <a:srgbClr val="FFFFFF"/>
                          </a:solidFill>
                          <a:latin typeface="Arial"/>
                          <a:cs typeface="Arial"/>
                        </a:rPr>
                        <a:t>QUEUE DISCIPLINE</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r h="370840">
                <a:tc gridSpan="3">
                  <a:txBody>
                    <a:bodyPr/>
                    <a:lstStyle/>
                    <a:p>
                      <a:r>
                        <a:rPr lang="en-US" sz="1600" dirty="0">
                          <a:latin typeface="Arial"/>
                          <a:cs typeface="Arial"/>
                        </a:rPr>
                        <a:t>Multi-server</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r>
                        <a:rPr lang="en-US" sz="1600" dirty="0">
                          <a:latin typeface="Arial"/>
                          <a:cs typeface="Arial"/>
                        </a:rPr>
                        <a:t>Single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2">
                  <a:txBody>
                    <a:bodyPr/>
                    <a:lstStyle/>
                    <a:p>
                      <a:r>
                        <a:rPr lang="en-US" sz="1800" dirty="0">
                          <a:latin typeface="Arial"/>
                          <a:cs typeface="Arial"/>
                        </a:rPr>
                        <a:t>Poisson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r>
                        <a:rPr lang="en-US" sz="1600" dirty="0">
                          <a:latin typeface="Arial"/>
                          <a:cs typeface="Arial"/>
                        </a:rPr>
                        <a:t>Negative exponential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3">
                  <a:txBody>
                    <a:bodyPr/>
                    <a:lstStyle/>
                    <a:p>
                      <a:r>
                        <a:rPr lang="en-US" sz="1800" dirty="0">
                          <a:latin typeface="Arial"/>
                          <a:cs typeface="Arial"/>
                        </a:rPr>
                        <a:t>Unlimited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2">
                  <a:txBody>
                    <a:bodyPr/>
                    <a:lstStyle/>
                    <a:p>
                      <a:r>
                        <a:rPr lang="en-US" sz="1800" dirty="0">
                          <a:latin typeface="Arial"/>
                          <a:cs typeface="Arial"/>
                        </a:rPr>
                        <a:t>FIFO</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39687843"/>
      </p:ext>
    </p:extLst>
  </p:cSld>
  <p:clrMapOvr>
    <a:masterClrMapping/>
  </p:clrMapOvr>
  <p:transition spd="slow">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p:txBody>
          <a:bodyPr/>
          <a:lstStyle/>
          <a:p>
            <a:r>
              <a:rPr lang="en-US" dirty="0">
                <a:latin typeface="Arial" charset="0"/>
                <a:ea typeface="MS PGothic" charset="0"/>
                <a:cs typeface="MS PGothic" charset="0"/>
              </a:rPr>
              <a:t>Queuing Models</a:t>
            </a:r>
          </a:p>
        </p:txBody>
      </p:sp>
      <p:graphicFrame>
        <p:nvGraphicFramePr>
          <p:cNvPr id="2" name="Table 1"/>
          <p:cNvGraphicFramePr>
            <a:graphicFrameLocks noGrp="1"/>
          </p:cNvGraphicFramePr>
          <p:nvPr>
            <p:extLst>
              <p:ext uri="{D42A27DB-BD31-4B8C-83A1-F6EECF244321}">
                <p14:modId xmlns:p14="http://schemas.microsoft.com/office/powerpoint/2010/main" val="3780172483"/>
              </p:ext>
            </p:extLst>
          </p:nvPr>
        </p:nvGraphicFramePr>
        <p:xfrm>
          <a:off x="527050" y="2184400"/>
          <a:ext cx="8089901" cy="2946400"/>
        </p:xfrm>
        <a:graphic>
          <a:graphicData uri="http://schemas.openxmlformats.org/drawingml/2006/table">
            <a:tbl>
              <a:tblPr firstRow="1" bandRow="1">
                <a:tableStyleId>{2D5ABB26-0587-4C30-8999-92F81FD0307C}</a:tableStyleId>
              </a:tblPr>
              <a:tblGrid>
                <a:gridCol w="1111251">
                  <a:extLst>
                    <a:ext uri="{9D8B030D-6E8A-4147-A177-3AD203B41FA5}">
                      <a16:colId xmlns:a16="http://schemas.microsoft.com/office/drawing/2014/main" val="20000"/>
                    </a:ext>
                  </a:extLst>
                </a:gridCol>
                <a:gridCol w="279400">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1140460">
                  <a:extLst>
                    <a:ext uri="{9D8B030D-6E8A-4147-A177-3AD203B41FA5}">
                      <a16:colId xmlns:a16="http://schemas.microsoft.com/office/drawing/2014/main" val="20003"/>
                    </a:ext>
                  </a:extLst>
                </a:gridCol>
                <a:gridCol w="5842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1346200">
                  <a:extLst>
                    <a:ext uri="{9D8B030D-6E8A-4147-A177-3AD203B41FA5}">
                      <a16:colId xmlns:a16="http://schemas.microsoft.com/office/drawing/2014/main" val="20006"/>
                    </a:ext>
                  </a:extLst>
                </a:gridCol>
                <a:gridCol w="990599">
                  <a:extLst>
                    <a:ext uri="{9D8B030D-6E8A-4147-A177-3AD203B41FA5}">
                      <a16:colId xmlns:a16="http://schemas.microsoft.com/office/drawing/2014/main" val="20007"/>
                    </a:ext>
                  </a:extLst>
                </a:gridCol>
                <a:gridCol w="355602">
                  <a:extLst>
                    <a:ext uri="{9D8B030D-6E8A-4147-A177-3AD203B41FA5}">
                      <a16:colId xmlns:a16="http://schemas.microsoft.com/office/drawing/2014/main" val="20008"/>
                    </a:ext>
                  </a:extLst>
                </a:gridCol>
                <a:gridCol w="177799">
                  <a:extLst>
                    <a:ext uri="{9D8B030D-6E8A-4147-A177-3AD203B41FA5}">
                      <a16:colId xmlns:a16="http://schemas.microsoft.com/office/drawing/2014/main" val="20009"/>
                    </a:ext>
                  </a:extLst>
                </a:gridCol>
                <a:gridCol w="222250">
                  <a:extLst>
                    <a:ext uri="{9D8B030D-6E8A-4147-A177-3AD203B41FA5}">
                      <a16:colId xmlns:a16="http://schemas.microsoft.com/office/drawing/2014/main" val="20010"/>
                    </a:ext>
                  </a:extLst>
                </a:gridCol>
                <a:gridCol w="1155700">
                  <a:extLst>
                    <a:ext uri="{9D8B030D-6E8A-4147-A177-3AD203B41FA5}">
                      <a16:colId xmlns:a16="http://schemas.microsoft.com/office/drawing/2014/main" val="20011"/>
                    </a:ext>
                  </a:extLst>
                </a:gridCol>
              </a:tblGrid>
              <a:tr h="370840">
                <a:tc gridSpan="2">
                  <a:txBody>
                    <a:bodyPr/>
                    <a:lstStyle/>
                    <a:p>
                      <a:pPr algn="ctr"/>
                      <a:r>
                        <a:rPr lang="en-US" sz="1600" dirty="0">
                          <a:solidFill>
                            <a:schemeClr val="bg1"/>
                          </a:solidFill>
                          <a:latin typeface="Arial"/>
                          <a:cs typeface="Arial"/>
                        </a:rPr>
                        <a:t>TABLE</a:t>
                      </a:r>
                      <a:r>
                        <a:rPr lang="en-US" sz="1600" baseline="0" dirty="0">
                          <a:solidFill>
                            <a:schemeClr val="bg1"/>
                          </a:solidFill>
                          <a:latin typeface="Arial"/>
                          <a:cs typeface="Arial"/>
                        </a:rPr>
                        <a:t> D.2</a:t>
                      </a:r>
                      <a:endParaRPr lang="en-US" sz="1600" dirty="0">
                        <a:solidFill>
                          <a:schemeClr val="bg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tx1"/>
                    </a:solidFill>
                  </a:tcPr>
                </a:tc>
                <a:tc hMerge="1">
                  <a:txBody>
                    <a:bodyPr/>
                    <a:lstStyle/>
                    <a:p>
                      <a:endParaRPr lang="en-US"/>
                    </a:p>
                  </a:txBody>
                  <a:tcPr/>
                </a:tc>
                <a:tc gridSpan="6">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latin typeface="Arial"/>
                          <a:cs typeface="Arial"/>
                        </a:rPr>
                        <a:t>Queuing Models Described in This Chapter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4">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1600" b="1" dirty="0">
                          <a:solidFill>
                            <a:srgbClr val="FFFFFF"/>
                          </a:solidFill>
                          <a:latin typeface="Arial"/>
                          <a:cs typeface="Arial"/>
                        </a:rPr>
                        <a:t>MODEL</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gridSpan="4">
                  <a:txBody>
                    <a:bodyPr/>
                    <a:lstStyle/>
                    <a:p>
                      <a:pPr algn="ctr"/>
                      <a:r>
                        <a:rPr lang="en-US" sz="1600" b="1" dirty="0">
                          <a:solidFill>
                            <a:srgbClr val="FFFFFF"/>
                          </a:solidFill>
                          <a:latin typeface="Arial"/>
                          <a:cs typeface="Arial"/>
                        </a:rPr>
                        <a:t>NAME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3">
                  <a:txBody>
                    <a:bodyPr/>
                    <a:lstStyle/>
                    <a:p>
                      <a:pPr algn="ctr"/>
                      <a:r>
                        <a:rPr lang="en-US" sz="1600" b="1" dirty="0">
                          <a:solidFill>
                            <a:srgbClr val="FFFFFF"/>
                          </a:solidFill>
                          <a:latin typeface="Arial"/>
                          <a:cs typeface="Arial"/>
                        </a:rPr>
                        <a:t>EXAMPLE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endParaRPr lang="en-US" sz="18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algn="ctr"/>
                      <a:r>
                        <a:rPr lang="en-US" sz="1600" dirty="0">
                          <a:latin typeface="Arial"/>
                          <a:cs typeface="Arial"/>
                        </a:rPr>
                        <a:t>C</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4">
                  <a:txBody>
                    <a:bodyPr/>
                    <a:lstStyle/>
                    <a:p>
                      <a:r>
                        <a:rPr lang="en-US" sz="1800" dirty="0">
                          <a:latin typeface="Arial"/>
                          <a:cs typeface="Arial"/>
                        </a:rPr>
                        <a:t>Constant-service</a:t>
                      </a:r>
                      <a:r>
                        <a:rPr lang="en-US" sz="1800" baseline="0" dirty="0">
                          <a:latin typeface="Arial"/>
                          <a:cs typeface="Arial"/>
                        </a:rPr>
                        <a:t> </a:t>
                      </a:r>
                      <a:r>
                        <a:rPr lang="en-US" sz="1800" dirty="0">
                          <a:latin typeface="Arial"/>
                          <a:cs typeface="Arial"/>
                        </a:rPr>
                        <a:t>(M/D/1)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3">
                  <a:txBody>
                    <a:bodyPr/>
                    <a:lstStyle/>
                    <a:p>
                      <a:r>
                        <a:rPr lang="en-US" sz="1600" dirty="0">
                          <a:latin typeface="Arial"/>
                          <a:cs typeface="Arial"/>
                        </a:rPr>
                        <a:t>Automated car wash</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endParaRPr lang="en-US" sz="18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370840">
                <a:tc gridSpan="12">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822960">
                <a:tc gridSpan="3">
                  <a:txBody>
                    <a:bodyPr/>
                    <a:lstStyle/>
                    <a:p>
                      <a:pPr algn="ctr"/>
                      <a:r>
                        <a:rPr lang="en-US" sz="1600" b="1" dirty="0">
                          <a:solidFill>
                            <a:srgbClr val="FFFFFF"/>
                          </a:solidFill>
                          <a:latin typeface="Arial"/>
                          <a:cs typeface="Arial"/>
                        </a:rPr>
                        <a:t>NUMBER OF SERVERS</a:t>
                      </a:r>
                      <a:r>
                        <a:rPr lang="en-US" sz="1600" b="1" baseline="0" dirty="0">
                          <a:solidFill>
                            <a:srgbClr val="FFFFFF"/>
                          </a:solidFill>
                          <a:latin typeface="Arial"/>
                          <a:cs typeface="Arial"/>
                        </a:rPr>
                        <a:t> (CHANNELS)</a:t>
                      </a:r>
                      <a:endParaRPr lang="en-US" sz="1600" b="1" dirty="0">
                        <a:solidFill>
                          <a:srgbClr val="FFFFFF"/>
                        </a:solidFill>
                        <a:latin typeface="Arial"/>
                        <a:cs typeface="Arial"/>
                      </a:endParaRP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b="1" dirty="0">
                          <a:solidFill>
                            <a:srgbClr val="FFFFFF"/>
                          </a:solidFill>
                          <a:latin typeface="Arial"/>
                          <a:cs typeface="Arial"/>
                        </a:rPr>
                        <a:t>NUMBER OF PHASES</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gridSpan="2">
                  <a:txBody>
                    <a:bodyPr/>
                    <a:lstStyle/>
                    <a:p>
                      <a:pPr algn="ctr"/>
                      <a:r>
                        <a:rPr lang="en-US" sz="1600" b="1" dirty="0">
                          <a:solidFill>
                            <a:srgbClr val="FFFFFF"/>
                          </a:solidFill>
                          <a:latin typeface="Arial"/>
                          <a:cs typeface="Arial"/>
                        </a:rPr>
                        <a:t>ARRIVAL RATE PATTERN</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a:p>
                  </a:txBody>
                  <a:tcPr/>
                </a:tc>
                <a:tc>
                  <a:txBody>
                    <a:bodyPr/>
                    <a:lstStyle/>
                    <a:p>
                      <a:pPr algn="ctr"/>
                      <a:r>
                        <a:rPr lang="en-US" sz="1600" b="1" dirty="0">
                          <a:solidFill>
                            <a:srgbClr val="FFFFFF"/>
                          </a:solidFill>
                          <a:latin typeface="Arial"/>
                          <a:cs typeface="Arial"/>
                        </a:rPr>
                        <a:t>SERVICE TIME PATTERN</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gridSpan="3">
                  <a:txBody>
                    <a:bodyPr/>
                    <a:lstStyle/>
                    <a:p>
                      <a:pPr algn="ctr"/>
                      <a:r>
                        <a:rPr lang="en-US" sz="1600" b="1" dirty="0">
                          <a:solidFill>
                            <a:srgbClr val="FFFFFF"/>
                          </a:solidFill>
                          <a:latin typeface="Arial"/>
                          <a:cs typeface="Arial"/>
                        </a:rPr>
                        <a:t>POPULATION SIZE</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2">
                  <a:txBody>
                    <a:bodyPr/>
                    <a:lstStyle/>
                    <a:p>
                      <a:pPr algn="ctr"/>
                      <a:r>
                        <a:rPr lang="en-US" sz="1600" b="1" dirty="0">
                          <a:solidFill>
                            <a:srgbClr val="FFFFFF"/>
                          </a:solidFill>
                          <a:latin typeface="Arial"/>
                          <a:cs typeface="Arial"/>
                        </a:rPr>
                        <a:t>QUEUE DISCIPLINE</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r h="370840">
                <a:tc gridSpan="3">
                  <a:txBody>
                    <a:bodyPr/>
                    <a:lstStyle/>
                    <a:p>
                      <a:r>
                        <a:rPr lang="en-US" sz="1600" dirty="0">
                          <a:latin typeface="Arial"/>
                          <a:cs typeface="Arial"/>
                        </a:rPr>
                        <a:t>Single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r>
                        <a:rPr lang="en-US" sz="1600" dirty="0">
                          <a:latin typeface="Arial"/>
                          <a:cs typeface="Arial"/>
                        </a:rPr>
                        <a:t>Single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2">
                  <a:txBody>
                    <a:bodyPr/>
                    <a:lstStyle/>
                    <a:p>
                      <a:r>
                        <a:rPr lang="en-US" sz="1800" dirty="0">
                          <a:latin typeface="Arial"/>
                          <a:cs typeface="Arial"/>
                        </a:rPr>
                        <a:t>Poisson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r>
                        <a:rPr lang="en-US" sz="1600" dirty="0">
                          <a:latin typeface="Arial"/>
                          <a:cs typeface="Arial"/>
                        </a:rPr>
                        <a:t>Constant</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3">
                  <a:txBody>
                    <a:bodyPr/>
                    <a:lstStyle/>
                    <a:p>
                      <a:r>
                        <a:rPr lang="en-US" sz="1800" dirty="0">
                          <a:latin typeface="Arial"/>
                          <a:cs typeface="Arial"/>
                        </a:rPr>
                        <a:t>Unlimited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2">
                  <a:txBody>
                    <a:bodyPr/>
                    <a:lstStyle/>
                    <a:p>
                      <a:r>
                        <a:rPr lang="en-US" sz="1800" dirty="0">
                          <a:latin typeface="Arial"/>
                          <a:cs typeface="Arial"/>
                        </a:rPr>
                        <a:t>FIFO</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25096442"/>
      </p:ext>
    </p:extLst>
  </p:cSld>
  <p:clrMapOvr>
    <a:masterClrMapping/>
  </p:clrMapOvr>
  <p:transition spd="slow">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r>
              <a:rPr lang="en-US" dirty="0">
                <a:latin typeface="Arial" charset="0"/>
                <a:ea typeface="MS PGothic" charset="0"/>
                <a:cs typeface="MS PGothic" charset="0"/>
              </a:rPr>
              <a:t>Queuing Models</a:t>
            </a:r>
          </a:p>
        </p:txBody>
      </p:sp>
      <p:graphicFrame>
        <p:nvGraphicFramePr>
          <p:cNvPr id="2" name="Table 1"/>
          <p:cNvGraphicFramePr>
            <a:graphicFrameLocks noGrp="1"/>
          </p:cNvGraphicFramePr>
          <p:nvPr>
            <p:extLst>
              <p:ext uri="{D42A27DB-BD31-4B8C-83A1-F6EECF244321}">
                <p14:modId xmlns:p14="http://schemas.microsoft.com/office/powerpoint/2010/main" val="2265818119"/>
              </p:ext>
            </p:extLst>
          </p:nvPr>
        </p:nvGraphicFramePr>
        <p:xfrm>
          <a:off x="527050" y="2184400"/>
          <a:ext cx="8089901" cy="3429000"/>
        </p:xfrm>
        <a:graphic>
          <a:graphicData uri="http://schemas.openxmlformats.org/drawingml/2006/table">
            <a:tbl>
              <a:tblPr firstRow="1" bandRow="1">
                <a:tableStyleId>{2D5ABB26-0587-4C30-8999-92F81FD0307C}</a:tableStyleId>
              </a:tblPr>
              <a:tblGrid>
                <a:gridCol w="1111251">
                  <a:extLst>
                    <a:ext uri="{9D8B030D-6E8A-4147-A177-3AD203B41FA5}">
                      <a16:colId xmlns:a16="http://schemas.microsoft.com/office/drawing/2014/main" val="20000"/>
                    </a:ext>
                  </a:extLst>
                </a:gridCol>
                <a:gridCol w="279400">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1140460">
                  <a:extLst>
                    <a:ext uri="{9D8B030D-6E8A-4147-A177-3AD203B41FA5}">
                      <a16:colId xmlns:a16="http://schemas.microsoft.com/office/drawing/2014/main" val="20003"/>
                    </a:ext>
                  </a:extLst>
                </a:gridCol>
                <a:gridCol w="5842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1346200">
                  <a:extLst>
                    <a:ext uri="{9D8B030D-6E8A-4147-A177-3AD203B41FA5}">
                      <a16:colId xmlns:a16="http://schemas.microsoft.com/office/drawing/2014/main" val="20006"/>
                    </a:ext>
                  </a:extLst>
                </a:gridCol>
                <a:gridCol w="990599">
                  <a:extLst>
                    <a:ext uri="{9D8B030D-6E8A-4147-A177-3AD203B41FA5}">
                      <a16:colId xmlns:a16="http://schemas.microsoft.com/office/drawing/2014/main" val="20007"/>
                    </a:ext>
                  </a:extLst>
                </a:gridCol>
                <a:gridCol w="355602">
                  <a:extLst>
                    <a:ext uri="{9D8B030D-6E8A-4147-A177-3AD203B41FA5}">
                      <a16:colId xmlns:a16="http://schemas.microsoft.com/office/drawing/2014/main" val="20008"/>
                    </a:ext>
                  </a:extLst>
                </a:gridCol>
                <a:gridCol w="177799">
                  <a:extLst>
                    <a:ext uri="{9D8B030D-6E8A-4147-A177-3AD203B41FA5}">
                      <a16:colId xmlns:a16="http://schemas.microsoft.com/office/drawing/2014/main" val="20009"/>
                    </a:ext>
                  </a:extLst>
                </a:gridCol>
                <a:gridCol w="222250">
                  <a:extLst>
                    <a:ext uri="{9D8B030D-6E8A-4147-A177-3AD203B41FA5}">
                      <a16:colId xmlns:a16="http://schemas.microsoft.com/office/drawing/2014/main" val="20010"/>
                    </a:ext>
                  </a:extLst>
                </a:gridCol>
                <a:gridCol w="1155700">
                  <a:extLst>
                    <a:ext uri="{9D8B030D-6E8A-4147-A177-3AD203B41FA5}">
                      <a16:colId xmlns:a16="http://schemas.microsoft.com/office/drawing/2014/main" val="20011"/>
                    </a:ext>
                  </a:extLst>
                </a:gridCol>
              </a:tblGrid>
              <a:tr h="370840">
                <a:tc gridSpan="2">
                  <a:txBody>
                    <a:bodyPr/>
                    <a:lstStyle/>
                    <a:p>
                      <a:pPr algn="ctr"/>
                      <a:r>
                        <a:rPr lang="en-US" sz="1600" dirty="0">
                          <a:solidFill>
                            <a:schemeClr val="bg1"/>
                          </a:solidFill>
                          <a:latin typeface="Arial"/>
                          <a:cs typeface="Arial"/>
                        </a:rPr>
                        <a:t>TABLE</a:t>
                      </a:r>
                      <a:r>
                        <a:rPr lang="en-US" sz="1600" baseline="0" dirty="0">
                          <a:solidFill>
                            <a:schemeClr val="bg1"/>
                          </a:solidFill>
                          <a:latin typeface="Arial"/>
                          <a:cs typeface="Arial"/>
                        </a:rPr>
                        <a:t> D.2</a:t>
                      </a:r>
                      <a:endParaRPr lang="en-US" sz="1600" dirty="0">
                        <a:solidFill>
                          <a:schemeClr val="bg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tx1"/>
                    </a:solidFill>
                  </a:tcPr>
                </a:tc>
                <a:tc hMerge="1">
                  <a:txBody>
                    <a:bodyPr/>
                    <a:lstStyle/>
                    <a:p>
                      <a:endParaRPr lang="en-US"/>
                    </a:p>
                  </a:txBody>
                  <a:tcPr/>
                </a:tc>
                <a:tc gridSpan="6">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latin typeface="Arial"/>
                          <a:cs typeface="Arial"/>
                        </a:rPr>
                        <a:t>Queuing Models Described in This Chapter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4">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1600" b="1" dirty="0">
                          <a:solidFill>
                            <a:srgbClr val="FFFFFF"/>
                          </a:solidFill>
                          <a:latin typeface="Arial"/>
                          <a:cs typeface="Arial"/>
                        </a:rPr>
                        <a:t>MODEL</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gridSpan="4">
                  <a:txBody>
                    <a:bodyPr/>
                    <a:lstStyle/>
                    <a:p>
                      <a:pPr algn="ctr"/>
                      <a:r>
                        <a:rPr lang="en-US" sz="1600" b="1" dirty="0">
                          <a:solidFill>
                            <a:srgbClr val="FFFFFF"/>
                          </a:solidFill>
                          <a:latin typeface="Arial"/>
                          <a:cs typeface="Arial"/>
                        </a:rPr>
                        <a:t>NAME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3">
                  <a:txBody>
                    <a:bodyPr/>
                    <a:lstStyle/>
                    <a:p>
                      <a:pPr algn="ctr"/>
                      <a:r>
                        <a:rPr lang="en-US" sz="1600" b="1" dirty="0">
                          <a:solidFill>
                            <a:srgbClr val="FFFFFF"/>
                          </a:solidFill>
                          <a:latin typeface="Arial"/>
                          <a:cs typeface="Arial"/>
                        </a:rPr>
                        <a:t>EXAMPLE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endParaRPr lang="en-US" sz="18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algn="ctr"/>
                      <a:r>
                        <a:rPr lang="en-US" sz="1600" dirty="0">
                          <a:latin typeface="Arial"/>
                          <a:cs typeface="Arial"/>
                        </a:rPr>
                        <a:t>D</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4">
                  <a:txBody>
                    <a:bodyPr/>
                    <a:lstStyle/>
                    <a:p>
                      <a:r>
                        <a:rPr lang="en-US" sz="1800" dirty="0">
                          <a:latin typeface="Arial"/>
                          <a:cs typeface="Arial"/>
                        </a:rPr>
                        <a:t>Finite population</a:t>
                      </a:r>
                      <a:r>
                        <a:rPr lang="en-US" sz="1800" baseline="0" dirty="0">
                          <a:latin typeface="Arial"/>
                          <a:cs typeface="Arial"/>
                        </a:rPr>
                        <a:t> </a:t>
                      </a:r>
                      <a:r>
                        <a:rPr lang="en-US" sz="1800" dirty="0">
                          <a:latin typeface="Arial"/>
                          <a:cs typeface="Arial"/>
                        </a:rPr>
                        <a:t>(M/M/1 with finite source)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3">
                  <a:txBody>
                    <a:bodyPr/>
                    <a:lstStyle/>
                    <a:p>
                      <a:r>
                        <a:rPr lang="en-US" sz="1600" dirty="0">
                          <a:latin typeface="Arial"/>
                          <a:cs typeface="Arial"/>
                        </a:rPr>
                        <a:t>Shop with only a dozen machines that might break</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endParaRPr lang="en-US" sz="18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370840">
                <a:tc gridSpan="12">
                  <a:txBody>
                    <a:bodyPr/>
                    <a:lstStyle/>
                    <a:p>
                      <a:endParaRPr lang="en-US" sz="1600" dirty="0">
                        <a:latin typeface="Arial"/>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822960">
                <a:tc gridSpan="3">
                  <a:txBody>
                    <a:bodyPr/>
                    <a:lstStyle/>
                    <a:p>
                      <a:pPr algn="ctr"/>
                      <a:r>
                        <a:rPr lang="en-US" sz="1600" b="1" dirty="0">
                          <a:solidFill>
                            <a:srgbClr val="FFFFFF"/>
                          </a:solidFill>
                          <a:latin typeface="Arial"/>
                          <a:cs typeface="Arial"/>
                        </a:rPr>
                        <a:t>NUMBER OF SERVERS</a:t>
                      </a:r>
                      <a:r>
                        <a:rPr lang="en-US" sz="1600" b="1" baseline="0" dirty="0">
                          <a:solidFill>
                            <a:srgbClr val="FFFFFF"/>
                          </a:solidFill>
                          <a:latin typeface="Arial"/>
                          <a:cs typeface="Arial"/>
                        </a:rPr>
                        <a:t> (CHANNELS)</a:t>
                      </a:r>
                      <a:endParaRPr lang="en-US" sz="1600" b="1" dirty="0">
                        <a:solidFill>
                          <a:srgbClr val="FFFFFF"/>
                        </a:solidFill>
                        <a:latin typeface="Arial"/>
                        <a:cs typeface="Arial"/>
                      </a:endParaRP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b="1" dirty="0">
                          <a:solidFill>
                            <a:srgbClr val="FFFFFF"/>
                          </a:solidFill>
                          <a:latin typeface="Arial"/>
                          <a:cs typeface="Arial"/>
                        </a:rPr>
                        <a:t>NUMBER OF PHASES</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gridSpan="2">
                  <a:txBody>
                    <a:bodyPr/>
                    <a:lstStyle/>
                    <a:p>
                      <a:pPr algn="ctr"/>
                      <a:r>
                        <a:rPr lang="en-US" sz="1600" b="1" dirty="0">
                          <a:solidFill>
                            <a:srgbClr val="FFFFFF"/>
                          </a:solidFill>
                          <a:latin typeface="Arial"/>
                          <a:cs typeface="Arial"/>
                        </a:rPr>
                        <a:t>ARRIVAL RATE PATTERN</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a:p>
                  </a:txBody>
                  <a:tcPr/>
                </a:tc>
                <a:tc>
                  <a:txBody>
                    <a:bodyPr/>
                    <a:lstStyle/>
                    <a:p>
                      <a:pPr algn="ctr"/>
                      <a:r>
                        <a:rPr lang="en-US" sz="1600" b="1" dirty="0">
                          <a:solidFill>
                            <a:srgbClr val="FFFFFF"/>
                          </a:solidFill>
                          <a:latin typeface="Arial"/>
                          <a:cs typeface="Arial"/>
                        </a:rPr>
                        <a:t>SERVICE TIME PATTERN</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gridSpan="3">
                  <a:txBody>
                    <a:bodyPr/>
                    <a:lstStyle/>
                    <a:p>
                      <a:pPr algn="ctr"/>
                      <a:r>
                        <a:rPr lang="en-US" sz="1600" b="1" dirty="0">
                          <a:solidFill>
                            <a:srgbClr val="FFFFFF"/>
                          </a:solidFill>
                          <a:latin typeface="Arial"/>
                          <a:cs typeface="Arial"/>
                        </a:rPr>
                        <a:t>POPULATION SIZE</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2">
                  <a:txBody>
                    <a:bodyPr/>
                    <a:lstStyle/>
                    <a:p>
                      <a:pPr algn="ctr"/>
                      <a:r>
                        <a:rPr lang="en-US" sz="1600" b="1" dirty="0">
                          <a:solidFill>
                            <a:srgbClr val="FFFFFF"/>
                          </a:solidFill>
                          <a:latin typeface="Arial"/>
                          <a:cs typeface="Arial"/>
                        </a:rPr>
                        <a:t>QUEUE DISCIPLINE</a:t>
                      </a: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r h="370840">
                <a:tc gridSpan="3">
                  <a:txBody>
                    <a:bodyPr/>
                    <a:lstStyle/>
                    <a:p>
                      <a:r>
                        <a:rPr lang="en-US" sz="1600" dirty="0">
                          <a:latin typeface="Arial"/>
                          <a:cs typeface="Arial"/>
                        </a:rPr>
                        <a:t>Single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r>
                        <a:rPr lang="en-US" sz="1600" dirty="0">
                          <a:latin typeface="Arial"/>
                          <a:cs typeface="Arial"/>
                        </a:rPr>
                        <a:t>Single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2">
                  <a:txBody>
                    <a:bodyPr/>
                    <a:lstStyle/>
                    <a:p>
                      <a:r>
                        <a:rPr lang="en-US" sz="1800" dirty="0">
                          <a:latin typeface="Arial"/>
                          <a:cs typeface="Arial"/>
                        </a:rPr>
                        <a:t>Poisson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a:txBody>
                    <a:bodyPr/>
                    <a:lstStyle/>
                    <a:p>
                      <a:r>
                        <a:rPr lang="en-US" sz="1600" dirty="0">
                          <a:latin typeface="Arial"/>
                          <a:cs typeface="Arial"/>
                        </a:rPr>
                        <a:t>Negative exponential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gridSpan="3">
                  <a:txBody>
                    <a:bodyPr/>
                    <a:lstStyle/>
                    <a:p>
                      <a:r>
                        <a:rPr lang="en-US" sz="1800" dirty="0">
                          <a:latin typeface="Arial"/>
                          <a:cs typeface="Arial"/>
                        </a:rPr>
                        <a:t>Limited </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gridSpan="2">
                  <a:txBody>
                    <a:bodyPr/>
                    <a:lstStyle/>
                    <a:p>
                      <a:r>
                        <a:rPr lang="en-US" sz="1800" dirty="0">
                          <a:latin typeface="Arial"/>
                          <a:cs typeface="Arial"/>
                        </a:rPr>
                        <a:t>FIFO</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31539308"/>
      </p:ext>
    </p:extLst>
  </p:cSld>
  <p:clrMapOvr>
    <a:masterClrMapping/>
  </p:clrMapOvr>
  <p:transition spd="slow">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Model A – Single-Server</a:t>
            </a:r>
          </a:p>
        </p:txBody>
      </p:sp>
      <p:sp>
        <p:nvSpPr>
          <p:cNvPr id="66563" name="Rectangle 3"/>
          <p:cNvSpPr>
            <a:spLocks noChangeArrowheads="1"/>
          </p:cNvSpPr>
          <p:nvPr/>
        </p:nvSpPr>
        <p:spPr bwMode="auto">
          <a:xfrm>
            <a:off x="885825" y="1871663"/>
            <a:ext cx="7372350" cy="406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482600" indent="-482600">
              <a:lnSpc>
                <a:spcPct val="90000"/>
              </a:lnSpc>
              <a:spcAft>
                <a:spcPct val="40000"/>
              </a:spcAft>
              <a:buClr>
                <a:schemeClr val="tx1"/>
              </a:buClr>
              <a:buFont typeface="Times" charset="0"/>
              <a:buAutoNum type="arabicPeriod"/>
            </a:pPr>
            <a:r>
              <a:rPr lang="en-US" sz="2800" dirty="0"/>
              <a:t>Arrivals are served on a FIFO basis, every arrival waits to be served regardless of the length of the queue</a:t>
            </a:r>
          </a:p>
          <a:p>
            <a:pPr marL="482600" indent="-482600">
              <a:lnSpc>
                <a:spcPct val="90000"/>
              </a:lnSpc>
              <a:spcAft>
                <a:spcPct val="40000"/>
              </a:spcAft>
              <a:buClr>
                <a:schemeClr val="tx1"/>
              </a:buClr>
              <a:buFont typeface="Times" charset="0"/>
              <a:buAutoNum type="arabicPeriod"/>
            </a:pPr>
            <a:r>
              <a:rPr lang="en-US" sz="2800" dirty="0"/>
              <a:t>Arrivals are independent of preceding arrivals, the average number of arrivals does not change over time</a:t>
            </a:r>
          </a:p>
          <a:p>
            <a:pPr marL="482600" indent="-482600">
              <a:lnSpc>
                <a:spcPct val="90000"/>
              </a:lnSpc>
              <a:spcAft>
                <a:spcPct val="40000"/>
              </a:spcAft>
              <a:buClr>
                <a:schemeClr val="tx1"/>
              </a:buClr>
              <a:buFont typeface="Times" charset="0"/>
              <a:buAutoNum type="arabicPeriod"/>
            </a:pPr>
            <a:r>
              <a:rPr lang="en-US" sz="2800" dirty="0"/>
              <a:t>Arrivals are described by a Poisson probability distribution and come from an infinite population</a:t>
            </a:r>
          </a:p>
        </p:txBody>
      </p:sp>
    </p:spTree>
    <p:extLst>
      <p:ext uri="{BB962C8B-B14F-4D97-AF65-F5344CB8AC3E}">
        <p14:creationId xmlns:p14="http://schemas.microsoft.com/office/powerpoint/2010/main" val="3076958081"/>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66563"/>
                                        </p:tgtEl>
                                        <p:attrNameLst>
                                          <p:attrName>style.visibility</p:attrName>
                                        </p:attrNameLst>
                                      </p:cBhvr>
                                      <p:to>
                                        <p:strVal val="visible"/>
                                      </p:to>
                                    </p:set>
                                    <p:animEffect transition="in" filter="strips(downRight)">
                                      <p:cBhvr>
                                        <p:cTn id="7" dur="1000"/>
                                        <p:tgtEl>
                                          <p:spTgt spid="66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Model A – Single-Server</a:t>
            </a:r>
          </a:p>
        </p:txBody>
      </p:sp>
      <p:sp>
        <p:nvSpPr>
          <p:cNvPr id="68611" name="Rectangle 3"/>
          <p:cNvSpPr>
            <a:spLocks noChangeArrowheads="1"/>
          </p:cNvSpPr>
          <p:nvPr/>
        </p:nvSpPr>
        <p:spPr bwMode="auto">
          <a:xfrm>
            <a:off x="885825" y="1871663"/>
            <a:ext cx="7372350" cy="3159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482600" indent="-482600">
              <a:lnSpc>
                <a:spcPct val="90000"/>
              </a:lnSpc>
              <a:spcAft>
                <a:spcPct val="40000"/>
              </a:spcAft>
              <a:buClr>
                <a:schemeClr val="tx1"/>
              </a:buClr>
              <a:buFont typeface="Times" charset="0"/>
              <a:buAutoNum type="arabicPeriod" startAt="4"/>
            </a:pPr>
            <a:r>
              <a:rPr lang="en-US" sz="2800" dirty="0"/>
              <a:t>Service times vary from one customer to the next and are independent of one another, but their average rate is known</a:t>
            </a:r>
          </a:p>
          <a:p>
            <a:pPr marL="482600" indent="-482600">
              <a:lnSpc>
                <a:spcPct val="90000"/>
              </a:lnSpc>
              <a:spcAft>
                <a:spcPct val="40000"/>
              </a:spcAft>
              <a:buClr>
                <a:schemeClr val="tx1"/>
              </a:buClr>
              <a:buFont typeface="Times" charset="0"/>
              <a:buAutoNum type="arabicPeriod" startAt="4"/>
            </a:pPr>
            <a:r>
              <a:rPr lang="en-US" sz="2800" dirty="0"/>
              <a:t>Service times occur according to the negative exponential distribution</a:t>
            </a:r>
          </a:p>
          <a:p>
            <a:pPr marL="482600" indent="-482600">
              <a:lnSpc>
                <a:spcPct val="90000"/>
              </a:lnSpc>
              <a:spcAft>
                <a:spcPct val="40000"/>
              </a:spcAft>
              <a:buClr>
                <a:schemeClr val="tx1"/>
              </a:buClr>
              <a:buFont typeface="Times" charset="0"/>
              <a:buAutoNum type="arabicPeriod" startAt="4"/>
            </a:pPr>
            <a:r>
              <a:rPr lang="en-US" sz="2800" dirty="0"/>
              <a:t>The service rate is faster than the arrival rate</a:t>
            </a:r>
          </a:p>
        </p:txBody>
      </p:sp>
    </p:spTree>
    <p:extLst>
      <p:ext uri="{BB962C8B-B14F-4D97-AF65-F5344CB8AC3E}">
        <p14:creationId xmlns:p14="http://schemas.microsoft.com/office/powerpoint/2010/main" val="1585806380"/>
      </p:ext>
    </p:extLst>
  </p:cSld>
  <p:clrMapOvr>
    <a:masterClrMapping/>
  </p:clrMapOvr>
  <p:transition spd="slow">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68611"/>
                                        </p:tgtEl>
                                        <p:attrNameLst>
                                          <p:attrName>style.visibility</p:attrName>
                                        </p:attrNameLst>
                                      </p:cBhvr>
                                      <p:to>
                                        <p:strVal val="visible"/>
                                      </p:to>
                                    </p:set>
                                    <p:animEffect transition="in" filter="strips(downRight)">
                                      <p:cBhvr>
                                        <p:cTn id="7" dur="1000"/>
                                        <p:tgtEl>
                                          <p:spTgt spid="68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C6634-0652-5493-2DD6-68F8FE89C7F2}"/>
              </a:ext>
            </a:extLst>
          </p:cNvPr>
          <p:cNvSpPr>
            <a:spLocks noGrp="1"/>
          </p:cNvSpPr>
          <p:nvPr>
            <p:ph type="title"/>
          </p:nvPr>
        </p:nvSpPr>
        <p:spPr/>
        <p:txBody>
          <a:bodyPr/>
          <a:lstStyle/>
          <a:p>
            <a:r>
              <a:rPr lang="en-US" dirty="0"/>
              <a:t>M/M/1 Example</a:t>
            </a:r>
          </a:p>
        </p:txBody>
      </p:sp>
      <p:sp>
        <p:nvSpPr>
          <p:cNvPr id="3" name="Text Placeholder 2">
            <a:extLst>
              <a:ext uri="{FF2B5EF4-FFF2-40B4-BE49-F238E27FC236}">
                <a16:creationId xmlns:a16="http://schemas.microsoft.com/office/drawing/2014/main" id="{7DB4C5D3-A9A5-7B06-04EB-C3700B0FFE70}"/>
              </a:ext>
            </a:extLst>
          </p:cNvPr>
          <p:cNvSpPr>
            <a:spLocks noGrp="1"/>
          </p:cNvSpPr>
          <p:nvPr>
            <p:ph type="body" idx="1"/>
          </p:nvPr>
        </p:nvSpPr>
        <p:spPr/>
        <p:txBody>
          <a:bodyPr/>
          <a:lstStyle/>
          <a:p>
            <a:r>
              <a:rPr lang="en-US" dirty="0"/>
              <a:t>A Clinic</a:t>
            </a:r>
          </a:p>
        </p:txBody>
      </p:sp>
    </p:spTree>
    <p:extLst>
      <p:ext uri="{BB962C8B-B14F-4D97-AF65-F5344CB8AC3E}">
        <p14:creationId xmlns:p14="http://schemas.microsoft.com/office/powerpoint/2010/main" val="3157785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Repair Shop</a:t>
            </a:r>
          </a:p>
        </p:txBody>
      </p:sp>
      <p:sp>
        <p:nvSpPr>
          <p:cNvPr id="3" name="Content Placeholder 2"/>
          <p:cNvSpPr>
            <a:spLocks noGrp="1"/>
          </p:cNvSpPr>
          <p:nvPr>
            <p:ph idx="1"/>
          </p:nvPr>
        </p:nvSpPr>
        <p:spPr/>
        <p:txBody>
          <a:bodyPr>
            <a:normAutofit/>
          </a:bodyPr>
          <a:lstStyle/>
          <a:p>
            <a:pPr>
              <a:buNone/>
            </a:pPr>
            <a:r>
              <a:rPr lang="en-US" dirty="0"/>
              <a:t>	On average cars arrive at a repair shop at the rate of 2 per hour; a single mechanic is able to see on average 3 cars an hour.</a:t>
            </a:r>
          </a:p>
          <a:p>
            <a:pPr>
              <a:buNone/>
            </a:pPr>
            <a:r>
              <a:rPr lang="en-US" dirty="0"/>
              <a:t>	</a:t>
            </a:r>
          </a:p>
          <a:p>
            <a:pPr>
              <a:buNone/>
            </a:pPr>
            <a:r>
              <a:rPr lang="en-US" dirty="0"/>
              <a:t>	Construct an Excel model to estimate how long an average car has to wait to see a mechanic. </a:t>
            </a:r>
          </a:p>
          <a:p>
            <a:pPr>
              <a:buNone/>
            </a:pPr>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5D0CF32-3150-004C-91F2-50B1E76F0E0B}"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Repair Shop</a:t>
            </a:r>
          </a:p>
        </p:txBody>
      </p:sp>
      <p:sp>
        <p:nvSpPr>
          <p:cNvPr id="3" name="Content Placeholder 2"/>
          <p:cNvSpPr>
            <a:spLocks noGrp="1"/>
          </p:cNvSpPr>
          <p:nvPr>
            <p:ph idx="1"/>
          </p:nvPr>
        </p:nvSpPr>
        <p:spPr/>
        <p:txBody>
          <a:bodyPr>
            <a:normAutofit fontScale="70000" lnSpcReduction="20000"/>
          </a:bodyPr>
          <a:lstStyle/>
          <a:p>
            <a:pPr>
              <a:buNone/>
            </a:pPr>
            <a:r>
              <a:rPr lang="en-US" u="sng" dirty="0"/>
              <a:t>Simulation Setup Using Excel Spreadsheet:</a:t>
            </a:r>
          </a:p>
          <a:p>
            <a:pPr marL="514350" indent="-514350">
              <a:buFont typeface="Courier New"/>
              <a:buChar char="o"/>
            </a:pPr>
            <a:r>
              <a:rPr lang="en-US" dirty="0"/>
              <a:t>(col B) Car interarrival times=-(60/λ) </a:t>
            </a:r>
            <a:r>
              <a:rPr lang="en-US" dirty="0">
                <a:latin typeface="Zapf Dingbats"/>
                <a:ea typeface="Zapf Dingbats"/>
                <a:cs typeface="Zapf Dingbats"/>
              </a:rPr>
              <a:t>✕</a:t>
            </a:r>
            <a:r>
              <a:rPr lang="en-US" dirty="0"/>
              <a:t> Ln(Rand())</a:t>
            </a:r>
          </a:p>
          <a:p>
            <a:pPr marL="514350" indent="-514350">
              <a:buFont typeface="Courier New"/>
              <a:buChar char="o"/>
            </a:pPr>
            <a:r>
              <a:rPr lang="en-US" dirty="0"/>
              <a:t>(col C) Car arrival time = arrival time of the prev. patient + </a:t>
            </a:r>
            <a:r>
              <a:rPr lang="en-US" dirty="0" err="1"/>
              <a:t>interarrival</a:t>
            </a:r>
            <a:r>
              <a:rPr lang="en-US" dirty="0"/>
              <a:t> time</a:t>
            </a:r>
          </a:p>
          <a:p>
            <a:pPr marL="514350" indent="-514350">
              <a:buFont typeface="Courier New"/>
              <a:buChar char="o"/>
            </a:pPr>
            <a:r>
              <a:rPr lang="en-US" dirty="0"/>
              <a:t>(col D) Time at which car is seen by a mechanic = car arrival time + MAX(prev. car exit time – car arrival time, 0)</a:t>
            </a:r>
          </a:p>
          <a:p>
            <a:pPr marL="514350" indent="-514350">
              <a:buFont typeface="Courier New"/>
              <a:buChar char="o"/>
            </a:pPr>
            <a:r>
              <a:rPr lang="en-US" dirty="0"/>
              <a:t>(col E) Length of the service visit=-(60/μ) </a:t>
            </a:r>
            <a:r>
              <a:rPr lang="en-US" dirty="0">
                <a:latin typeface="Zapf Dingbats"/>
                <a:ea typeface="Zapf Dingbats"/>
                <a:cs typeface="Zapf Dingbats"/>
              </a:rPr>
              <a:t>✕</a:t>
            </a:r>
            <a:r>
              <a:rPr lang="en-US" dirty="0"/>
              <a:t> Ln(Rand())</a:t>
            </a:r>
          </a:p>
          <a:p>
            <a:pPr marL="514350" indent="-514350">
              <a:buFont typeface="Courier New"/>
              <a:buChar char="o"/>
            </a:pPr>
            <a:r>
              <a:rPr lang="en-US" dirty="0"/>
              <a:t>(col F) Car exit time = Time at which car is seen by a mechanic + length of mechanic’s service</a:t>
            </a:r>
          </a:p>
          <a:p>
            <a:pPr marL="514350" indent="-514350">
              <a:buFont typeface="Courier New"/>
              <a:buChar char="o"/>
            </a:pPr>
            <a:r>
              <a:rPr lang="en-US" dirty="0"/>
              <a:t>(col G) Car wait time = Time at which car is seen by a mechanic - car arrival time  </a:t>
            </a:r>
          </a:p>
          <a:p>
            <a:pPr marL="514350" indent="-514350">
              <a:buFont typeface="Courier New"/>
              <a:buChar char="o"/>
            </a:pPr>
            <a:r>
              <a:rPr lang="en-US" dirty="0"/>
              <a:t>(col I) Avg. car wait = sample average of wait times for </a:t>
            </a:r>
            <a:r>
              <a:rPr lang="en-US" i="1" dirty="0"/>
              <a:t>n</a:t>
            </a:r>
            <a:r>
              <a:rPr lang="en-US" dirty="0"/>
              <a:t> cars</a:t>
            </a:r>
          </a:p>
          <a:p>
            <a:pPr marL="514350" indent="-514350">
              <a:buNone/>
            </a:pPr>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5D0CF32-3150-004C-91F2-50B1E76F0E0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Model A – Single-Server</a:t>
            </a:r>
          </a:p>
        </p:txBody>
      </p:sp>
      <p:graphicFrame>
        <p:nvGraphicFramePr>
          <p:cNvPr id="2" name="Table 1"/>
          <p:cNvGraphicFramePr>
            <a:graphicFrameLocks noGrp="1"/>
          </p:cNvGraphicFramePr>
          <p:nvPr>
            <p:extLst>
              <p:ext uri="{D42A27DB-BD31-4B8C-83A1-F6EECF244321}">
                <p14:modId xmlns:p14="http://schemas.microsoft.com/office/powerpoint/2010/main" val="1297610141"/>
              </p:ext>
            </p:extLst>
          </p:nvPr>
        </p:nvGraphicFramePr>
        <p:xfrm>
          <a:off x="736600" y="1820863"/>
          <a:ext cx="7659052" cy="4400550"/>
        </p:xfrm>
        <a:graphic>
          <a:graphicData uri="http://schemas.openxmlformats.org/drawingml/2006/table">
            <a:tbl>
              <a:tblPr/>
              <a:tblGrid>
                <a:gridCol w="558800">
                  <a:extLst>
                    <a:ext uri="{9D8B030D-6E8A-4147-A177-3AD203B41FA5}">
                      <a16:colId xmlns:a16="http://schemas.microsoft.com/office/drawing/2014/main" val="20000"/>
                    </a:ext>
                  </a:extLst>
                </a:gridCol>
                <a:gridCol w="342900">
                  <a:extLst>
                    <a:ext uri="{9D8B030D-6E8A-4147-A177-3AD203B41FA5}">
                      <a16:colId xmlns:a16="http://schemas.microsoft.com/office/drawing/2014/main" val="20001"/>
                    </a:ext>
                  </a:extLst>
                </a:gridCol>
                <a:gridCol w="638175">
                  <a:extLst>
                    <a:ext uri="{9D8B030D-6E8A-4147-A177-3AD203B41FA5}">
                      <a16:colId xmlns:a16="http://schemas.microsoft.com/office/drawing/2014/main" val="20002"/>
                    </a:ext>
                  </a:extLst>
                </a:gridCol>
                <a:gridCol w="116840">
                  <a:extLst>
                    <a:ext uri="{9D8B030D-6E8A-4147-A177-3AD203B41FA5}">
                      <a16:colId xmlns:a16="http://schemas.microsoft.com/office/drawing/2014/main" val="20003"/>
                    </a:ext>
                  </a:extLst>
                </a:gridCol>
                <a:gridCol w="6002337">
                  <a:extLst>
                    <a:ext uri="{9D8B030D-6E8A-4147-A177-3AD203B41FA5}">
                      <a16:colId xmlns:a16="http://schemas.microsoft.com/office/drawing/2014/main" val="20004"/>
                    </a:ext>
                  </a:extLst>
                </a:gridCol>
              </a:tblGrid>
              <a:tr h="371475">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FFFF"/>
                          </a:solidFill>
                          <a:effectLst/>
                          <a:latin typeface="Arial" charset="0"/>
                          <a:ea typeface="ＭＳ Ｐゴシック" charset="0"/>
                          <a:cs typeface="Arial" charset="0"/>
                        </a:rPr>
                        <a:t>TABLE D.3</a:t>
                      </a: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tx1"/>
                    </a:solidFill>
                  </a:tcPr>
                </a:tc>
                <a:tc hMerge="1">
                  <a:txBody>
                    <a:bodyPr/>
                    <a:lstStyle/>
                    <a:p>
                      <a:endParaRPr lang="en-US"/>
                    </a:p>
                  </a:txBody>
                  <a:tcPr/>
                </a:tc>
                <a:tc hMerge="1">
                  <a:txBody>
                    <a:bodyPr/>
                    <a:lstStyle/>
                    <a:p>
                      <a:endParaRPr lang="en-US"/>
                    </a:p>
                  </a:txBody>
                  <a:tcPr/>
                </a:tc>
                <a:tc gridSpan="2">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Queuing Formulas for Model A: Single-Server System, also Called M/M/1</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714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p>
                  </a:txBody>
                  <a:tcPr horzOverflow="overflow">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gridSpan="4">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	average number of arrivals per time period</a:t>
                      </a:r>
                    </a:p>
                  </a:txBody>
                  <a:tcPr horzOverflow="overflow">
                    <a:lnL>
                      <a:noFill/>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14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μ</a:t>
                      </a:r>
                    </a:p>
                  </a:txBody>
                  <a:tcPr horzOverflow="overflow">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gridSpan="4">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	average number of people or items served per time period (average service rate)</a:t>
                      </a:r>
                    </a:p>
                  </a:txBody>
                  <a:tcPr horzOverflow="overflow">
                    <a:lnL>
                      <a:noFill/>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71475">
                <a:tc rowSpan="3">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L</a:t>
                      </a:r>
                      <a:r>
                        <a:rPr kumimoji="0" lang="en-US" sz="1800" b="0" i="1" u="none" strike="noStrike" cap="none" normalizeH="0" baseline="-25000" dirty="0">
                          <a:ln>
                            <a:noFill/>
                          </a:ln>
                          <a:solidFill>
                            <a:schemeClr val="tx1"/>
                          </a:solidFill>
                          <a:effectLst/>
                          <a:latin typeface="Arial" charset="0"/>
                          <a:ea typeface="ＭＳ Ｐゴシック" charset="0"/>
                          <a:cs typeface="Arial" charset="0"/>
                        </a:rPr>
                        <a:t>s</a:t>
                      </a:r>
                      <a:endParaRPr kumimoji="0" lang="en-US" sz="1800" b="0" i="1"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gridSpan="4">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	average number of units (customers) in the system (waiting and being served)</a:t>
                      </a:r>
                    </a:p>
                  </a:txBody>
                  <a:tcPr horzOverflow="overflow">
                    <a:lnL>
                      <a:noFill/>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a:noFill/>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155575">
                <a:tc vMerge="1">
                  <a:txBody>
                    <a:bodyPr/>
                    <a:lstStyle/>
                    <a:p>
                      <a:endParaRPr lang="en-US"/>
                    </a:p>
                  </a:txBody>
                  <a:tcPr/>
                </a:tc>
                <a:tc rowSpan="2">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a:t>
                      </a:r>
                    </a:p>
                  </a:txBody>
                  <a:tcPr anchor="ctr" horzOverflow="overflow">
                    <a:lnL>
                      <a:noFill/>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w="12700" cap="flat" cmpd="sng" algn="ctr">
                      <a:solidFill>
                        <a:srgbClr val="BFBFBF"/>
                      </a:solidFill>
                      <a:prstDash val="solid"/>
                      <a:round/>
                      <a:headEnd type="none" w="med" len="med"/>
                      <a:tailEnd type="none" w="med" len="med"/>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extLst>
                  <a:ext uri="{0D108BD9-81ED-4DB2-BD59-A6C34878D82A}">
                    <a16:rowId xmlns:a16="http://schemas.microsoft.com/office/drawing/2014/main" val="10004"/>
                  </a:ext>
                </a:extLst>
              </a:tr>
              <a:tr h="139700">
                <a:tc vMerge="1">
                  <a:txBody>
                    <a:bodyPr/>
                    <a:lstStyle/>
                    <a:p>
                      <a:endParaRPr lang="en-US"/>
                    </a:p>
                  </a:txBody>
                  <a:tcPr/>
                </a:tc>
                <a:tc v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μ</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 </a:t>
                      </a: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5"/>
                  </a:ext>
                </a:extLst>
              </a:tr>
              <a:tr h="371475">
                <a:tc rowSpan="3">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W</a:t>
                      </a:r>
                      <a:r>
                        <a:rPr kumimoji="0" lang="en-US" sz="1800" b="0" i="1" u="none" strike="noStrike" cap="none" normalizeH="0" baseline="-25000" dirty="0">
                          <a:ln>
                            <a:noFill/>
                          </a:ln>
                          <a:solidFill>
                            <a:schemeClr val="tx1"/>
                          </a:solidFill>
                          <a:effectLst/>
                          <a:latin typeface="Arial" charset="0"/>
                          <a:ea typeface="ＭＳ Ｐゴシック" charset="0"/>
                          <a:cs typeface="Arial" charset="0"/>
                        </a:rPr>
                        <a:t>s</a:t>
                      </a:r>
                      <a:endParaRPr kumimoji="0" lang="en-US" sz="1800" b="0" i="1"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gridSpan="4">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	average time a unit spends in the system (waiting time plus service time)</a:t>
                      </a:r>
                    </a:p>
                  </a:txBody>
                  <a:tcPr horzOverflow="overflow">
                    <a:lnL>
                      <a:noFill/>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a:noFill/>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142875">
                <a:tc vMerge="1">
                  <a:txBody>
                    <a:bodyPr/>
                    <a:lstStyle/>
                    <a:p>
                      <a:endParaRPr lang="en-US"/>
                    </a:p>
                  </a:txBody>
                  <a:tcPr/>
                </a:tc>
                <a:tc rowSpan="2">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a:t>
                      </a:r>
                    </a:p>
                  </a:txBody>
                  <a:tcPr anchor="ctr" horzOverflow="overflow">
                    <a:lnL>
                      <a:noFill/>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1</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w="12700" cap="flat" cmpd="sng" algn="ctr">
                      <a:solidFill>
                        <a:srgbClr val="BFBFBF"/>
                      </a:solidFill>
                      <a:prstDash val="solid"/>
                      <a:round/>
                      <a:headEnd type="none" w="med" len="med"/>
                      <a:tailEnd type="none" w="med" len="med"/>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extLst>
                  <a:ext uri="{0D108BD9-81ED-4DB2-BD59-A6C34878D82A}">
                    <a16:rowId xmlns:a16="http://schemas.microsoft.com/office/drawing/2014/main" val="10007"/>
                  </a:ext>
                </a:extLst>
              </a:tr>
              <a:tr h="371475">
                <a:tc vMerge="1">
                  <a:txBody>
                    <a:bodyPr/>
                    <a:lstStyle/>
                    <a:p>
                      <a:endParaRPr lang="en-US"/>
                    </a:p>
                  </a:txBody>
                  <a:tcPr/>
                </a:tc>
                <a:tc v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μ</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 </a:t>
                      </a: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59624780"/>
      </p:ext>
    </p:extLst>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Model A – Single-Server</a:t>
            </a:r>
          </a:p>
        </p:txBody>
      </p:sp>
      <p:graphicFrame>
        <p:nvGraphicFramePr>
          <p:cNvPr id="19" name="Table 18"/>
          <p:cNvGraphicFramePr>
            <a:graphicFrameLocks noGrp="1"/>
          </p:cNvGraphicFramePr>
          <p:nvPr>
            <p:extLst>
              <p:ext uri="{D42A27DB-BD31-4B8C-83A1-F6EECF244321}">
                <p14:modId xmlns:p14="http://schemas.microsoft.com/office/powerpoint/2010/main" val="3299341302"/>
              </p:ext>
            </p:extLst>
          </p:nvPr>
        </p:nvGraphicFramePr>
        <p:xfrm>
          <a:off x="736600" y="1820863"/>
          <a:ext cx="7658100" cy="3971925"/>
        </p:xfrm>
        <a:graphic>
          <a:graphicData uri="http://schemas.openxmlformats.org/drawingml/2006/table">
            <a:tbl>
              <a:tblPr/>
              <a:tblGrid>
                <a:gridCol w="558800">
                  <a:extLst>
                    <a:ext uri="{9D8B030D-6E8A-4147-A177-3AD203B41FA5}">
                      <a16:colId xmlns:a16="http://schemas.microsoft.com/office/drawing/2014/main" val="20000"/>
                    </a:ext>
                  </a:extLst>
                </a:gridCol>
                <a:gridCol w="342900">
                  <a:extLst>
                    <a:ext uri="{9D8B030D-6E8A-4147-A177-3AD203B41FA5}">
                      <a16:colId xmlns:a16="http://schemas.microsoft.com/office/drawing/2014/main" val="20001"/>
                    </a:ext>
                  </a:extLst>
                </a:gridCol>
                <a:gridCol w="444500">
                  <a:extLst>
                    <a:ext uri="{9D8B030D-6E8A-4147-A177-3AD203B41FA5}">
                      <a16:colId xmlns:a16="http://schemas.microsoft.com/office/drawing/2014/main" val="20002"/>
                    </a:ext>
                  </a:extLst>
                </a:gridCol>
                <a:gridCol w="193675">
                  <a:extLst>
                    <a:ext uri="{9D8B030D-6E8A-4147-A177-3AD203B41FA5}">
                      <a16:colId xmlns:a16="http://schemas.microsoft.com/office/drawing/2014/main" val="20003"/>
                    </a:ext>
                  </a:extLst>
                </a:gridCol>
                <a:gridCol w="352425">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4813300">
                  <a:extLst>
                    <a:ext uri="{9D8B030D-6E8A-4147-A177-3AD203B41FA5}">
                      <a16:colId xmlns:a16="http://schemas.microsoft.com/office/drawing/2014/main" val="20007"/>
                    </a:ext>
                  </a:extLst>
                </a:gridCol>
              </a:tblGrid>
              <a:tr h="371475">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FFFF"/>
                          </a:solidFill>
                          <a:effectLst/>
                          <a:latin typeface="Arial" charset="0"/>
                          <a:ea typeface="ＭＳ Ｐゴシック" charset="0"/>
                          <a:cs typeface="Arial" charset="0"/>
                        </a:rPr>
                        <a:t>TABLE D.3</a:t>
                      </a: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Queuing Formulas for Model A: Single-Server System, also Called M/M/1</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14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L</a:t>
                      </a:r>
                      <a:r>
                        <a:rPr kumimoji="0" lang="en-US" sz="1800" b="0" i="1" u="none" strike="noStrike" cap="none" normalizeH="0" baseline="-25000" dirty="0">
                          <a:ln>
                            <a:noFill/>
                          </a:ln>
                          <a:solidFill>
                            <a:schemeClr val="tx1"/>
                          </a:solidFill>
                          <a:effectLst/>
                          <a:latin typeface="Arial" charset="0"/>
                          <a:ea typeface="ＭＳ Ｐゴシック" charset="0"/>
                          <a:cs typeface="Arial" charset="0"/>
                        </a:rPr>
                        <a:t>q</a:t>
                      </a:r>
                      <a:endParaRPr kumimoji="0" lang="en-US" sz="1800" b="0" i="1"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a:noFill/>
                    </a:lnB>
                    <a:lnTlToBr>
                      <a:noFill/>
                    </a:lnTlToBr>
                    <a:lnBlToTr>
                      <a:noFill/>
                    </a:lnBlToTr>
                    <a:solidFill>
                      <a:srgbClr val="D9DEE9"/>
                    </a:solidFill>
                  </a:tcPr>
                </a:tc>
                <a:tc gridSpan="7">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	average number of units waiting in the queue</a:t>
                      </a:r>
                    </a:p>
                  </a:txBody>
                  <a:tcPr horzOverflow="overflow">
                    <a:lnL>
                      <a:noFill/>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a:noFill/>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1475">
                <a:tc rowSpan="2">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rowSpan="2">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a:t>
                      </a:r>
                    </a:p>
                  </a:txBody>
                  <a:tcPr anchor="ctr" horzOverflow="overflow">
                    <a:lnL>
                      <a:noFill/>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r>
                        <a:rPr kumimoji="0" lang="en-US" sz="1800" b="0" i="0" u="none" strike="noStrike" cap="none" normalizeH="0" baseline="30000" dirty="0">
                          <a:ln>
                            <a:noFill/>
                          </a:ln>
                          <a:solidFill>
                            <a:schemeClr val="tx1"/>
                          </a:solidFill>
                          <a:effectLst/>
                          <a:latin typeface="Arial" charset="0"/>
                          <a:ea typeface="ＭＳ Ｐゴシック" charset="0"/>
                          <a:cs typeface="Arial" charset="0"/>
                        </a:rPr>
                        <a:t>2</a:t>
                      </a: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rowSpan="2" gridSpan="3">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w="12700" cap="flat" cmpd="sng" algn="ctr">
                      <a:solidFill>
                        <a:srgbClr val="BFBFBF"/>
                      </a:solidFill>
                      <a:prstDash val="solid"/>
                      <a:round/>
                      <a:headEnd type="none" w="med" len="med"/>
                      <a:tailEnd type="none" w="med" len="med"/>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10002"/>
                  </a:ext>
                </a:extLst>
              </a:tr>
              <a:tr h="371475">
                <a:tc vMerge="1">
                  <a:txBody>
                    <a:bodyPr/>
                    <a:lstStyle/>
                    <a:p>
                      <a:endParaRPr lang="en-US"/>
                    </a:p>
                  </a:txBody>
                  <a:tcPr/>
                </a:tc>
                <a:tc vMerge="1">
                  <a:txBody>
                    <a:bodyPr/>
                    <a:lstStyle/>
                    <a:p>
                      <a:endParaRPr 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μ</a:t>
                      </a:r>
                      <a:r>
                        <a:rPr kumimoji="0" lang="en-US" sz="1800" b="0" i="0" u="none" strike="noStrike" cap="none" normalizeH="0" baseline="0" dirty="0">
                          <a:ln>
                            <a:noFill/>
                          </a:ln>
                          <a:solidFill>
                            <a:schemeClr val="tx1"/>
                          </a:solidFill>
                          <a:effectLst/>
                          <a:latin typeface="Arial" charset="0"/>
                          <a:ea typeface="ＭＳ Ｐゴシック" charset="0"/>
                          <a:cs typeface="Arial" charset="0"/>
                        </a:rPr>
                        <a:t>(</a:t>
                      </a:r>
                      <a:r>
                        <a:rPr kumimoji="0" lang="en-US" sz="1800" b="0" i="1" u="none" strike="noStrike" cap="none" normalizeH="0" baseline="0" dirty="0">
                          <a:ln>
                            <a:noFill/>
                          </a:ln>
                          <a:solidFill>
                            <a:schemeClr val="tx1"/>
                          </a:solidFill>
                          <a:effectLst/>
                          <a:latin typeface="Arial" charset="0"/>
                          <a:ea typeface="ＭＳ Ｐゴシック" charset="0"/>
                          <a:cs typeface="Arial" charset="0"/>
                        </a:rPr>
                        <a:t>μ</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 </a:t>
                      </a: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r>
                        <a:rPr kumimoji="0" lang="en-US" sz="1800" b="0" i="0" u="none" strike="noStrike" cap="none" normalizeH="0" baseline="0" dirty="0">
                          <a:ln>
                            <a:noFill/>
                          </a:ln>
                          <a:solidFill>
                            <a:schemeClr val="tx1"/>
                          </a:solidFill>
                          <a:effectLst/>
                          <a:latin typeface="Arial" charset="0"/>
                          <a:ea typeface="ＭＳ Ｐゴシック" charset="0"/>
                          <a:cs typeface="Arial" charset="0"/>
                        </a:rPr>
                        <a:t>)</a:t>
                      </a: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3"/>
                  </a:ext>
                </a:extLst>
              </a:tr>
              <a:tr h="3714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W</a:t>
                      </a:r>
                      <a:r>
                        <a:rPr kumimoji="0" lang="en-US" sz="1800" b="0" i="1" u="none" strike="noStrike" cap="none" normalizeH="0" baseline="-25000" dirty="0">
                          <a:ln>
                            <a:noFill/>
                          </a:ln>
                          <a:solidFill>
                            <a:schemeClr val="tx1"/>
                          </a:solidFill>
                          <a:effectLst/>
                          <a:latin typeface="Arial" charset="0"/>
                          <a:ea typeface="ＭＳ Ｐゴシック" charset="0"/>
                          <a:cs typeface="Arial" charset="0"/>
                        </a:rPr>
                        <a:t>q</a:t>
                      </a:r>
                      <a:endParaRPr kumimoji="0" lang="en-US" sz="1800" b="0" i="1"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a:noFill/>
                    </a:lnB>
                    <a:lnTlToBr>
                      <a:noFill/>
                    </a:lnTlToBr>
                    <a:lnBlToTr>
                      <a:noFill/>
                    </a:lnBlToTr>
                    <a:solidFill>
                      <a:srgbClr val="D9DEE9"/>
                    </a:solidFill>
                  </a:tcPr>
                </a:tc>
                <a:tc gridSpan="7">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	average time a unit spends waiting in the queue</a:t>
                      </a:r>
                    </a:p>
                  </a:txBody>
                  <a:tcPr horzOverflow="overflow">
                    <a:lnL>
                      <a:noFill/>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a:noFill/>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371475">
                <a:tc rowSpan="2">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1"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rowSpan="2">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a:t>
                      </a:r>
                    </a:p>
                  </a:txBody>
                  <a:tcPr anchor="ctr" horzOverflow="overflow">
                    <a:lnL>
                      <a:noFill/>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a:t>
                      </a:r>
                    </a:p>
                  </a:txBody>
                  <a:tcPr anchor="ctr" horzOverflow="overflow">
                    <a:lnL>
                      <a:noFill/>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L</a:t>
                      </a:r>
                      <a:r>
                        <a:rPr kumimoji="0" lang="en-US" sz="1800" b="0" i="1" u="none" strike="noStrike" cap="none" normalizeH="0" baseline="-25000" dirty="0">
                          <a:ln>
                            <a:noFill/>
                          </a:ln>
                          <a:solidFill>
                            <a:schemeClr val="tx1"/>
                          </a:solidFill>
                          <a:effectLst/>
                          <a:latin typeface="Arial" charset="0"/>
                          <a:ea typeface="ＭＳ Ｐゴシック" charset="0"/>
                          <a:cs typeface="Arial" charset="0"/>
                        </a:rPr>
                        <a:t>q</a:t>
                      </a:r>
                      <a:endParaRPr kumimoji="0" lang="en-US" sz="1800" b="0" i="1"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D9DEE9"/>
                    </a:solid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w="12700" cap="flat" cmpd="sng" algn="ctr">
                      <a:solidFill>
                        <a:srgbClr val="BFBFBF"/>
                      </a:solidFill>
                      <a:prstDash val="solid"/>
                      <a:round/>
                      <a:headEnd type="none" w="med" len="med"/>
                      <a:tailEnd type="none" w="med" len="med"/>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extLst>
                  <a:ext uri="{0D108BD9-81ED-4DB2-BD59-A6C34878D82A}">
                    <a16:rowId xmlns:a16="http://schemas.microsoft.com/office/drawing/2014/main" val="10005"/>
                  </a:ext>
                </a:extLst>
              </a:tr>
              <a:tr h="371475">
                <a:tc vMerge="1">
                  <a:txBody>
                    <a:bodyPr/>
                    <a:lstStyle/>
                    <a:p>
                      <a:endParaRPr lang="en-US"/>
                    </a:p>
                  </a:txBody>
                  <a:tcPr/>
                </a:tc>
                <a:tc vMerge="1">
                  <a:txBody>
                    <a:bodyPr/>
                    <a:lstStyle/>
                    <a:p>
                      <a:endParaRPr 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μ</a:t>
                      </a:r>
                      <a:r>
                        <a:rPr kumimoji="0" lang="en-US" sz="1800" b="0" i="0" u="none" strike="noStrike" cap="none" normalizeH="0" baseline="0" dirty="0">
                          <a:ln>
                            <a:noFill/>
                          </a:ln>
                          <a:solidFill>
                            <a:schemeClr val="tx1"/>
                          </a:solidFill>
                          <a:effectLst/>
                          <a:latin typeface="Arial" charset="0"/>
                          <a:ea typeface="ＭＳ Ｐゴシック" charset="0"/>
                          <a:cs typeface="Arial" charset="0"/>
                        </a:rPr>
                        <a:t>(</a:t>
                      </a:r>
                      <a:r>
                        <a:rPr kumimoji="0" lang="en-US" sz="1800" b="0" i="1" u="none" strike="noStrike" cap="none" normalizeH="0" baseline="0" dirty="0">
                          <a:ln>
                            <a:noFill/>
                          </a:ln>
                          <a:solidFill>
                            <a:schemeClr val="tx1"/>
                          </a:solidFill>
                          <a:effectLst/>
                          <a:latin typeface="Arial" charset="0"/>
                          <a:ea typeface="ＭＳ Ｐゴシック" charset="0"/>
                          <a:cs typeface="Arial" charset="0"/>
                        </a:rPr>
                        <a:t>μ –</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a:t>
                      </a: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r>
                        <a:rPr kumimoji="0" lang="en-US" sz="1800" b="0" i="0" u="none" strike="noStrike" cap="none" normalizeH="0" baseline="0" dirty="0">
                          <a:ln>
                            <a:noFill/>
                          </a:ln>
                          <a:solidFill>
                            <a:schemeClr val="tx1"/>
                          </a:solidFill>
                          <a:effectLst/>
                          <a:latin typeface="Arial" charset="0"/>
                          <a:ea typeface="ＭＳ Ｐゴシック" charset="0"/>
                          <a:cs typeface="Arial" charset="0"/>
                        </a:rPr>
                        <a:t>)</a:t>
                      </a: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vMerge="1">
                  <a:txBody>
                    <a:bodyPr/>
                    <a:lstStyle/>
                    <a:p>
                      <a:endParaRPr lang="en-US"/>
                    </a:p>
                  </a:txBody>
                  <a:tcPr/>
                </a:tc>
                <a:extLst>
                  <a:ext uri="{0D108BD9-81ED-4DB2-BD59-A6C34878D82A}">
                    <a16:rowId xmlns:a16="http://schemas.microsoft.com/office/drawing/2014/main" val="10006"/>
                  </a:ext>
                </a:extLst>
              </a:tr>
              <a:tr h="371475">
                <a:tc rowSpan="3">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ρ</a:t>
                      </a:r>
                    </a:p>
                  </a:txBody>
                  <a:tcPr horzOverflow="overflow">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gridSpan="7">
                  <a:txBody>
                    <a:bodyPr/>
                    <a:lstStyle/>
                    <a:p>
                      <a:pPr marL="266700" marR="0" lvl="0" indent="-26670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	utilization factor for the system</a:t>
                      </a:r>
                    </a:p>
                  </a:txBody>
                  <a:tcPr horzOverflow="overflow">
                    <a:lnL>
                      <a:noFill/>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a:noFill/>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55575">
                <a:tc vMerge="1">
                  <a:txBody>
                    <a:bodyPr/>
                    <a:lstStyle/>
                    <a:p>
                      <a:endParaRPr lang="en-US"/>
                    </a:p>
                  </a:txBody>
                  <a:tcPr/>
                </a:tc>
                <a:tc rowSpan="2">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a:t>
                      </a:r>
                    </a:p>
                  </a:txBody>
                  <a:tcPr anchor="ctr" horzOverflow="overflow">
                    <a:lnL>
                      <a:noFill/>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D9DEE9"/>
                    </a:solidFill>
                  </a:tcPr>
                </a:tc>
                <a:tc rowSpan="2"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w="12700" cap="flat" cmpd="sng" algn="ctr">
                      <a:solidFill>
                        <a:srgbClr val="BFBFBF"/>
                      </a:solidFill>
                      <a:prstDash val="solid"/>
                      <a:round/>
                      <a:headEnd type="none" w="med" len="med"/>
                      <a:tailEnd type="none" w="med" len="med"/>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10008"/>
                  </a:ext>
                </a:extLst>
              </a:tr>
              <a:tr h="13970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μ</a:t>
                      </a: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gridSpan="5"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151379695"/>
      </p:ext>
    </p:extLst>
  </p:cSld>
  <p:clrMapOvr>
    <a:masterClrMapping/>
  </p:clrMapOvr>
  <p:transition spd="slow">
    <p:dissolv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6"/>
          <p:cNvGraphicFramePr>
            <a:graphicFrameLocks noGrp="1"/>
          </p:cNvGraphicFramePr>
          <p:nvPr>
            <p:extLst>
              <p:ext uri="{D42A27DB-BD31-4B8C-83A1-F6EECF244321}">
                <p14:modId xmlns:p14="http://schemas.microsoft.com/office/powerpoint/2010/main" val="1827974968"/>
              </p:ext>
            </p:extLst>
          </p:nvPr>
        </p:nvGraphicFramePr>
        <p:xfrm>
          <a:off x="736600" y="1820863"/>
          <a:ext cx="7668577" cy="3809365"/>
        </p:xfrm>
        <a:graphic>
          <a:graphicData uri="http://schemas.openxmlformats.org/drawingml/2006/table">
            <a:tbl>
              <a:tblPr/>
              <a:tblGrid>
                <a:gridCol w="666750">
                  <a:extLst>
                    <a:ext uri="{9D8B030D-6E8A-4147-A177-3AD203B41FA5}">
                      <a16:colId xmlns:a16="http://schemas.microsoft.com/office/drawing/2014/main" val="20000"/>
                    </a:ext>
                  </a:extLst>
                </a:gridCol>
                <a:gridCol w="346075">
                  <a:extLst>
                    <a:ext uri="{9D8B030D-6E8A-4147-A177-3AD203B41FA5}">
                      <a16:colId xmlns:a16="http://schemas.microsoft.com/office/drawing/2014/main" val="20001"/>
                    </a:ext>
                  </a:extLst>
                </a:gridCol>
                <a:gridCol w="342900">
                  <a:extLst>
                    <a:ext uri="{9D8B030D-6E8A-4147-A177-3AD203B41FA5}">
                      <a16:colId xmlns:a16="http://schemas.microsoft.com/office/drawing/2014/main" val="20002"/>
                    </a:ext>
                  </a:extLst>
                </a:gridCol>
                <a:gridCol w="117475">
                  <a:extLst>
                    <a:ext uri="{9D8B030D-6E8A-4147-A177-3AD203B41FA5}">
                      <a16:colId xmlns:a16="http://schemas.microsoft.com/office/drawing/2014/main" val="20003"/>
                    </a:ext>
                  </a:extLst>
                </a:gridCol>
                <a:gridCol w="116840">
                  <a:extLst>
                    <a:ext uri="{9D8B030D-6E8A-4147-A177-3AD203B41FA5}">
                      <a16:colId xmlns:a16="http://schemas.microsoft.com/office/drawing/2014/main" val="20004"/>
                    </a:ext>
                  </a:extLst>
                </a:gridCol>
                <a:gridCol w="222250">
                  <a:extLst>
                    <a:ext uri="{9D8B030D-6E8A-4147-A177-3AD203B41FA5}">
                      <a16:colId xmlns:a16="http://schemas.microsoft.com/office/drawing/2014/main" val="20005"/>
                    </a:ext>
                  </a:extLst>
                </a:gridCol>
                <a:gridCol w="312737">
                  <a:extLst>
                    <a:ext uri="{9D8B030D-6E8A-4147-A177-3AD203B41FA5}">
                      <a16:colId xmlns:a16="http://schemas.microsoft.com/office/drawing/2014/main" val="20006"/>
                    </a:ext>
                  </a:extLst>
                </a:gridCol>
                <a:gridCol w="527050">
                  <a:extLst>
                    <a:ext uri="{9D8B030D-6E8A-4147-A177-3AD203B41FA5}">
                      <a16:colId xmlns:a16="http://schemas.microsoft.com/office/drawing/2014/main" val="20007"/>
                    </a:ext>
                  </a:extLst>
                </a:gridCol>
                <a:gridCol w="5016500">
                  <a:extLst>
                    <a:ext uri="{9D8B030D-6E8A-4147-A177-3AD203B41FA5}">
                      <a16:colId xmlns:a16="http://schemas.microsoft.com/office/drawing/2014/main" val="20008"/>
                    </a:ext>
                  </a:extLst>
                </a:gridCol>
              </a:tblGrid>
              <a:tr h="371475">
                <a:tc grid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FFFF"/>
                          </a:solidFill>
                          <a:effectLst/>
                          <a:latin typeface="Arial" charset="0"/>
                          <a:ea typeface="ＭＳ Ｐゴシック" charset="0"/>
                          <a:cs typeface="Arial" charset="0"/>
                        </a:rPr>
                        <a:t>TABLE D.3</a:t>
                      </a: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Queuing Formulas for Model A: Single-Server System, Also Called M/M/1</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14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P</a:t>
                      </a:r>
                      <a:r>
                        <a:rPr kumimoji="0" lang="en-US" sz="1800" b="0" i="0" u="none" strike="noStrike" cap="none" normalizeH="0" baseline="-25000" dirty="0">
                          <a:ln>
                            <a:noFill/>
                          </a:ln>
                          <a:solidFill>
                            <a:schemeClr val="tx1"/>
                          </a:solidFill>
                          <a:effectLst/>
                          <a:latin typeface="Arial" charset="0"/>
                          <a:ea typeface="ＭＳ Ｐゴシック" charset="0"/>
                          <a:cs typeface="Arial" charset="0"/>
                        </a:rPr>
                        <a:t>0</a:t>
                      </a:r>
                      <a:endParaRPr kumimoji="0" lang="en-US" sz="1800" b="0" i="1"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a:noFill/>
                    </a:lnB>
                    <a:lnTlToBr>
                      <a:noFill/>
                    </a:lnTlToBr>
                    <a:lnBlToTr>
                      <a:noFill/>
                    </a:lnBlToTr>
                    <a:solidFill>
                      <a:srgbClr val="D9DEE9"/>
                    </a:solidFill>
                  </a:tcPr>
                </a:tc>
                <a:tc gridSpan="8">
                  <a:txBody>
                    <a:bodyPr/>
                    <a:lstStyle/>
                    <a:p>
                      <a:pPr marL="266700" marR="0" lvl="0" indent="-26670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	Probability of 0 units in the system (that is, the service unit is idle)</a:t>
                      </a:r>
                    </a:p>
                  </a:txBody>
                  <a:tcPr horzOverflow="overflow">
                    <a:lnL>
                      <a:noFill/>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a:noFill/>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1475">
                <a:tc rowSpan="2">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rowSpan="2" gridSpan="3">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 1 –</a:t>
                      </a:r>
                    </a:p>
                  </a:txBody>
                  <a:tcPr anchor="ctr" horzOverflow="overflow">
                    <a:lnL>
                      <a:noFill/>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rowSpan="2" hMerge="1">
                  <a:txBody>
                    <a:bodyPr/>
                    <a:lstStyle/>
                    <a:p>
                      <a:endParaRPr lang="en-US"/>
                    </a:p>
                  </a:txBody>
                  <a:tcPr/>
                </a:tc>
                <a:tc rowSpan="2" hMerge="1">
                  <a:txBody>
                    <a:bodyPr/>
                    <a:lstStyle/>
                    <a:p>
                      <a:endParaRPr 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rowSpan="2"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w="12700" cap="flat" cmpd="sng" algn="ctr">
                      <a:solidFill>
                        <a:srgbClr val="BFBFBF"/>
                      </a:solidFill>
                      <a:prstDash val="solid"/>
                      <a:round/>
                      <a:headEnd type="none" w="med" len="med"/>
                      <a:tailEnd type="none" w="med" len="med"/>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rowSpan="2" hMerge="1">
                  <a:txBody>
                    <a:bodyPr/>
                    <a:lstStyle/>
                    <a:p>
                      <a:endParaRPr lang="en-US"/>
                    </a:p>
                  </a:txBody>
                  <a:tcPr/>
                </a:tc>
                <a:extLst>
                  <a:ext uri="{0D108BD9-81ED-4DB2-BD59-A6C34878D82A}">
                    <a16:rowId xmlns:a16="http://schemas.microsoft.com/office/drawing/2014/main" val="10002"/>
                  </a:ext>
                </a:extLst>
              </a:tr>
              <a:tr h="371475">
                <a:tc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μ</a:t>
                      </a: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3"/>
                  </a:ext>
                </a:extLst>
              </a:tr>
              <a:tr h="3714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P</a:t>
                      </a:r>
                      <a:r>
                        <a:rPr kumimoji="0" lang="en-US" sz="1800" b="0" i="1" u="none" strike="noStrike" cap="none" normalizeH="0" baseline="-25000" dirty="0">
                          <a:ln>
                            <a:noFill/>
                          </a:ln>
                          <a:solidFill>
                            <a:schemeClr val="tx1"/>
                          </a:solidFill>
                          <a:effectLst/>
                          <a:latin typeface="Arial" charset="0"/>
                          <a:ea typeface="ＭＳ Ｐゴシック" charset="0"/>
                          <a:cs typeface="Arial" charset="0"/>
                        </a:rPr>
                        <a:t>n&gt;k</a:t>
                      </a:r>
                      <a:endParaRPr kumimoji="0" lang="en-US" sz="1800" b="0" i="1"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a:noFill/>
                    </a:lnB>
                    <a:lnTlToBr>
                      <a:noFill/>
                    </a:lnTlToBr>
                    <a:lnBlToTr>
                      <a:noFill/>
                    </a:lnBlToTr>
                    <a:solidFill>
                      <a:srgbClr val="D9DEE9"/>
                    </a:solidFill>
                  </a:tcPr>
                </a:tc>
                <a:tc gridSpan="8">
                  <a:txBody>
                    <a:bodyPr/>
                    <a:lstStyle/>
                    <a:p>
                      <a:pPr marL="266700" marR="0" lvl="0" indent="-26670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	probability of more than </a:t>
                      </a:r>
                      <a:r>
                        <a:rPr kumimoji="0" lang="en-US" sz="1800" b="0" i="1" u="none" strike="noStrike" cap="none" normalizeH="0" baseline="0" dirty="0">
                          <a:ln>
                            <a:noFill/>
                          </a:ln>
                          <a:solidFill>
                            <a:schemeClr val="tx1"/>
                          </a:solidFill>
                          <a:effectLst/>
                          <a:latin typeface="Arial" charset="0"/>
                          <a:ea typeface="ＭＳ Ｐゴシック" charset="0"/>
                          <a:cs typeface="Arial" charset="0"/>
                        </a:rPr>
                        <a:t>k</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units in the system, where </a:t>
                      </a:r>
                      <a:r>
                        <a:rPr kumimoji="0" lang="en-US" sz="1800" b="0" i="1" u="none" strike="noStrike" cap="none" normalizeH="0" baseline="0" dirty="0">
                          <a:ln>
                            <a:noFill/>
                          </a:ln>
                          <a:solidFill>
                            <a:schemeClr val="tx1"/>
                          </a:solidFill>
                          <a:effectLst/>
                          <a:latin typeface="Arial" charset="0"/>
                          <a:ea typeface="ＭＳ Ｐゴシック" charset="0"/>
                          <a:cs typeface="Arial" charset="0"/>
                        </a:rPr>
                        <a:t>n</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is the number of units in the system</a:t>
                      </a:r>
                    </a:p>
                  </a:txBody>
                  <a:tcPr horzOverflow="overflow">
                    <a:lnL>
                      <a:noFill/>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a:noFill/>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371475">
                <a:tc rowSpan="3">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1"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rowSpan="3">
                  <a:txBody>
                    <a:bodyPr/>
                    <a:lstStyle/>
                    <a:p>
                      <a:pPr marL="266700" marR="0" lvl="0" indent="-2667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 </a:t>
                      </a:r>
                    </a:p>
                  </a:txBody>
                  <a:tcPr anchor="ctr" horzOverflow="overflow">
                    <a:lnL>
                      <a:noFill/>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5600" b="0" i="0" u="none" strike="noStrike" cap="none" normalizeH="0" baseline="0" dirty="0">
                          <a:ln>
                            <a:noFill/>
                          </a:ln>
                          <a:solidFill>
                            <a:schemeClr val="tx1"/>
                          </a:solidFill>
                          <a:effectLst/>
                          <a:latin typeface="Times New Roman" charset="0"/>
                          <a:ea typeface="ＭＳ Ｐゴシック" charset="0"/>
                          <a:cs typeface="Times New Roman" charset="0"/>
                        </a:rPr>
                        <a:t>(</a:t>
                      </a:r>
                    </a:p>
                  </a:txBody>
                  <a:tcPr horzOverflow="overflow">
                    <a:lnL>
                      <a:noFill/>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rowSpan="2"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λ</a:t>
                      </a: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D9DEE9"/>
                    </a:solidFill>
                  </a:tcPr>
                </a:tc>
                <a:tc rowSpan="2" hMerge="1">
                  <a:txBody>
                    <a:bodyPr/>
                    <a:lstStyle/>
                    <a:p>
                      <a:endParaRPr lang="en-US"/>
                    </a:p>
                  </a:txBody>
                  <a:tcPr/>
                </a:tc>
                <a:tc rowSpan="2" hMerge="1">
                  <a:txBody>
                    <a:bodyPr/>
                    <a:lstStyle/>
                    <a:p>
                      <a:endParaRPr lang="en-US"/>
                    </a:p>
                  </a:txBody>
                  <a:tcPr/>
                </a:tc>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5600" b="0" i="0" u="none" strike="noStrike" cap="none" normalizeH="0" baseline="0" dirty="0">
                          <a:ln>
                            <a:noFill/>
                          </a:ln>
                          <a:solidFill>
                            <a:schemeClr val="tx1"/>
                          </a:solidFill>
                          <a:effectLst/>
                          <a:latin typeface="Times New Roman" charset="0"/>
                          <a:ea typeface="ＭＳ Ｐゴシック" charset="0"/>
                          <a:cs typeface="Times New Roman" charset="0"/>
                        </a:rPr>
                        <a:t>)</a:t>
                      </a:r>
                    </a:p>
                  </a:txBody>
                  <a:tcPr horzOverflow="overflow">
                    <a:lnL>
                      <a:noFill/>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30000" dirty="0">
                          <a:ln>
                            <a:noFill/>
                          </a:ln>
                          <a:solidFill>
                            <a:schemeClr val="tx1"/>
                          </a:solidFill>
                          <a:effectLst/>
                          <a:latin typeface="Arial" charset="0"/>
                          <a:ea typeface="ＭＳ Ｐゴシック" charset="0"/>
                          <a:cs typeface="Arial" charset="0"/>
                        </a:rPr>
                        <a:t>k </a:t>
                      </a:r>
                      <a:r>
                        <a:rPr kumimoji="0" lang="en-US" sz="1800" b="0" i="0" u="none" strike="noStrike" cap="none" normalizeH="0" baseline="30000" dirty="0">
                          <a:ln>
                            <a:noFill/>
                          </a:ln>
                          <a:solidFill>
                            <a:schemeClr val="tx1"/>
                          </a:solidFill>
                          <a:effectLst/>
                          <a:latin typeface="Arial" charset="0"/>
                          <a:ea typeface="ＭＳ Ｐゴシック" charset="0"/>
                          <a:cs typeface="Arial" charset="0"/>
                        </a:rPr>
                        <a:t>+ 1</a:t>
                      </a:r>
                    </a:p>
                  </a:txBody>
                  <a:tcPr anchor="b" horzOverflow="overflow">
                    <a:lnL>
                      <a:noFill/>
                    </a:lnL>
                    <a:lnR>
                      <a:noFill/>
                    </a:lnR>
                    <a:lnT>
                      <a:noFill/>
                    </a:lnT>
                    <a:lnB>
                      <a:noFill/>
                    </a:lnB>
                    <a:lnTlToBr>
                      <a:noFill/>
                    </a:lnTlToBr>
                    <a:lnBlToTr>
                      <a:noFill/>
                    </a:lnBlToTr>
                    <a:solidFill>
                      <a:srgbClr val="D9DEE9"/>
                    </a:solidFill>
                  </a:tcPr>
                </a:tc>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5600" b="0" i="0" u="none" strike="noStrike" cap="none" normalizeH="0" baseline="0" dirty="0">
                        <a:ln>
                          <a:noFill/>
                        </a:ln>
                        <a:solidFill>
                          <a:schemeClr val="tx1"/>
                        </a:solidFill>
                        <a:effectLst/>
                        <a:latin typeface="Times New Roman" charset="0"/>
                        <a:ea typeface="ＭＳ Ｐゴシック" charset="0"/>
                        <a:cs typeface="Times New Roman" charset="0"/>
                      </a:endParaRPr>
                    </a:p>
                  </a:txBody>
                  <a:tcPr anchor="ctr" horzOverflow="overflow">
                    <a:lnL>
                      <a:noFill/>
                    </a:lnL>
                    <a:lnR w="12700" cap="flat" cmpd="sng" algn="ctr">
                      <a:solidFill>
                        <a:srgbClr val="BFBFBF"/>
                      </a:solidFill>
                      <a:prstDash val="solid"/>
                      <a:round/>
                      <a:headEnd type="none" w="med" len="med"/>
                      <a:tailEnd type="none" w="med" len="med"/>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extLst>
                  <a:ext uri="{0D108BD9-81ED-4DB2-BD59-A6C34878D82A}">
                    <a16:rowId xmlns:a16="http://schemas.microsoft.com/office/drawing/2014/main" val="10005"/>
                  </a:ext>
                </a:extLst>
              </a:tr>
              <a:tr h="222250">
                <a:tc vMerge="1">
                  <a:txBody>
                    <a:bodyPr/>
                    <a:lstStyle/>
                    <a:p>
                      <a:endParaRPr lang="en-US"/>
                    </a:p>
                  </a:txBody>
                  <a:tcPr/>
                </a:tc>
                <a:tc vMerge="1">
                  <a:txBody>
                    <a:bodyPr/>
                    <a:lstStyle/>
                    <a:p>
                      <a:endParaRPr lang="en-US"/>
                    </a:p>
                  </a:txBody>
                  <a:tcPr/>
                </a:tc>
                <a:tc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vMerge="1">
                  <a:txBody>
                    <a:bodyPr/>
                    <a:lstStyle/>
                    <a:p>
                      <a:endParaRPr lang="en-US"/>
                    </a:p>
                  </a:txBody>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a:noFill/>
                    </a:lnR>
                    <a:lnT>
                      <a:noFill/>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vMerge="1">
                  <a:txBody>
                    <a:bodyPr/>
                    <a:lstStyle/>
                    <a:p>
                      <a:endParaRPr lang="en-US"/>
                    </a:p>
                  </a:txBody>
                  <a:tcPr/>
                </a:tc>
                <a:extLst>
                  <a:ext uri="{0D108BD9-81ED-4DB2-BD59-A6C34878D82A}">
                    <a16:rowId xmlns:a16="http://schemas.microsoft.com/office/drawing/2014/main" val="10006"/>
                  </a:ext>
                </a:extLst>
              </a:tr>
              <a:tr h="552450">
                <a:tc vMerge="1">
                  <a:txBody>
                    <a:bodyPr/>
                    <a:lstStyle/>
                    <a:p>
                      <a:endParaRPr lang="en-US"/>
                    </a:p>
                  </a:txBody>
                  <a:tcPr/>
                </a:tc>
                <a:tc vMerge="1">
                  <a:txBody>
                    <a:bodyPr/>
                    <a:lstStyle/>
                    <a:p>
                      <a:endParaRPr lang="en-US"/>
                    </a:p>
                  </a:txBody>
                  <a:tcPr/>
                </a:tc>
                <a:tc vMerge="1">
                  <a:txBody>
                    <a:bodyPr/>
                    <a:lstStyle/>
                    <a:p>
                      <a:endParaRPr 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Arial" charset="0"/>
                          <a:ea typeface="ＭＳ Ｐゴシック" charset="0"/>
                          <a:cs typeface="Arial" charset="0"/>
                        </a:rPr>
                        <a:t>μ</a:t>
                      </a: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9DEE9"/>
                    </a:solidFill>
                  </a:tcPr>
                </a:tc>
                <a:tc hMerge="1">
                  <a:txBody>
                    <a:bodyPr/>
                    <a:lstStyle/>
                    <a:p>
                      <a:endParaRPr lang="en-US"/>
                    </a:p>
                  </a:txBody>
                  <a:tcPr/>
                </a:tc>
                <a:tc h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7"/>
                  </a:ext>
                </a:extLst>
              </a:tr>
            </a:tbl>
          </a:graphicData>
        </a:graphic>
      </p:graphicFrame>
      <p:sp>
        <p:nvSpPr>
          <p:cNvPr id="70687"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Model A – Single-Server</a:t>
            </a:r>
          </a:p>
        </p:txBody>
      </p:sp>
    </p:spTree>
    <p:extLst>
      <p:ext uri="{BB962C8B-B14F-4D97-AF65-F5344CB8AC3E}">
        <p14:creationId xmlns:p14="http://schemas.microsoft.com/office/powerpoint/2010/main" val="1521326680"/>
      </p:ext>
    </p:extLst>
  </p:cSld>
  <p:clrMapOvr>
    <a:masterClrMapping/>
  </p:clrMapOvr>
  <p:transition spd="slow">
    <p:dissolv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4"/>
          <p:cNvSpPr>
            <a:spLocks noChangeArrowheads="1"/>
          </p:cNvSpPr>
          <p:nvPr/>
        </p:nvSpPr>
        <p:spPr bwMode="auto">
          <a:xfrm>
            <a:off x="457200" y="1782763"/>
            <a:ext cx="8255000"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3314700" indent="-3314700">
              <a:spcAft>
                <a:spcPts val="3600"/>
              </a:spcAft>
              <a:tabLst>
                <a:tab pos="381000" algn="r"/>
                <a:tab pos="482600" algn="l"/>
                <a:tab pos="762000" algn="l"/>
                <a:tab pos="4381500" algn="l"/>
                <a:tab pos="4673600" algn="l"/>
              </a:tabLst>
            </a:pPr>
            <a:r>
              <a:rPr lang="en-US" sz="2400" dirty="0">
                <a:sym typeface="Symbol" charset="0"/>
              </a:rPr>
              <a:t>	</a:t>
            </a:r>
            <a:r>
              <a:rPr lang="en-US" sz="2400" i="1" dirty="0">
                <a:sym typeface="Symbol" charset="0"/>
              </a:rPr>
              <a:t></a:t>
            </a:r>
            <a:r>
              <a:rPr lang="en-US" sz="2400" dirty="0">
                <a:sym typeface="Symbol" charset="0"/>
              </a:rPr>
              <a:t>	=	2 cars arriving/hour	</a:t>
            </a:r>
            <a:r>
              <a:rPr lang="en-US" sz="2400" i="1" dirty="0">
                <a:latin typeface="Times New Roman" charset="0"/>
                <a:cs typeface="Times New Roman" charset="0"/>
                <a:sym typeface="Symbol" charset="0"/>
              </a:rPr>
              <a:t>µ</a:t>
            </a:r>
            <a:r>
              <a:rPr lang="en-US" sz="2400" dirty="0">
                <a:sym typeface="Symbol" charset="0"/>
              </a:rPr>
              <a:t>	= 3 cars serviced/hour</a:t>
            </a:r>
          </a:p>
        </p:txBody>
      </p:sp>
      <p:sp>
        <p:nvSpPr>
          <p:cNvPr id="75777"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Single-Server Example</a:t>
            </a:r>
          </a:p>
        </p:txBody>
      </p:sp>
      <p:grpSp>
        <p:nvGrpSpPr>
          <p:cNvPr id="6" name="Group 5"/>
          <p:cNvGrpSpPr>
            <a:grpSpLocks/>
          </p:cNvGrpSpPr>
          <p:nvPr/>
        </p:nvGrpSpPr>
        <p:grpSpPr bwMode="auto">
          <a:xfrm>
            <a:off x="457200" y="2460625"/>
            <a:ext cx="8255000" cy="3106738"/>
            <a:chOff x="457200" y="2460625"/>
            <a:chExt cx="8255000" cy="3106738"/>
          </a:xfrm>
        </p:grpSpPr>
        <p:sp>
          <p:nvSpPr>
            <p:cNvPr id="75779" name="Rectangle 16"/>
            <p:cNvSpPr>
              <a:spLocks noChangeArrowheads="1"/>
            </p:cNvSpPr>
            <p:nvPr/>
          </p:nvSpPr>
          <p:spPr bwMode="auto">
            <a:xfrm>
              <a:off x="469900" y="4737100"/>
              <a:ext cx="7962900"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3048000" indent="-3048000">
                <a:tabLst>
                  <a:tab pos="482600" algn="r"/>
                  <a:tab pos="673100" algn="l"/>
                </a:tabLst>
              </a:pPr>
              <a:r>
                <a:rPr lang="en-US" sz="2400" dirty="0">
                  <a:sym typeface="Symbol" charset="0"/>
                </a:rPr>
                <a:t>	</a:t>
              </a:r>
              <a:r>
                <a:rPr lang="en-US" sz="2400" i="1" dirty="0">
                  <a:sym typeface="Symbol" charset="0"/>
                </a:rPr>
                <a:t>P</a:t>
              </a:r>
              <a:r>
                <a:rPr lang="en-US" sz="2400" baseline="-25000" dirty="0">
                  <a:sym typeface="Symbol" charset="0"/>
                </a:rPr>
                <a:t>0</a:t>
              </a:r>
              <a:r>
                <a:rPr lang="en-US" sz="2400" dirty="0">
                  <a:sym typeface="Symbol" charset="0"/>
                </a:rPr>
                <a:t>	=  1 –    </a:t>
              </a:r>
              <a:r>
                <a:rPr lang="en-US" sz="2400" i="1" dirty="0">
                  <a:sym typeface="Symbol" charset="0"/>
                </a:rPr>
                <a:t> </a:t>
              </a:r>
              <a:r>
                <a:rPr lang="en-US" sz="2400" dirty="0">
                  <a:sym typeface="Symbol" charset="0"/>
                </a:rPr>
                <a:t>    =  .33 probability there are 0 cars in the system </a:t>
              </a:r>
            </a:p>
          </p:txBody>
        </p:sp>
        <p:sp>
          <p:nvSpPr>
            <p:cNvPr id="75780" name="Rectangle 4"/>
            <p:cNvSpPr>
              <a:spLocks noChangeArrowheads="1"/>
            </p:cNvSpPr>
            <p:nvPr/>
          </p:nvSpPr>
          <p:spPr bwMode="auto">
            <a:xfrm>
              <a:off x="457200" y="2735263"/>
              <a:ext cx="8255000" cy="21852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4208463" indent="-4208463">
                <a:spcAft>
                  <a:spcPts val="2400"/>
                </a:spcAft>
                <a:tabLst>
                  <a:tab pos="482600" algn="r"/>
                  <a:tab pos="673100" algn="l"/>
                </a:tabLst>
              </a:pPr>
              <a:r>
                <a:rPr lang="en-US" sz="2400" dirty="0">
                  <a:sym typeface="Symbol" charset="0"/>
                </a:rPr>
                <a:t>	</a:t>
              </a:r>
              <a:r>
                <a:rPr lang="en-US" sz="2400" i="1" dirty="0">
                  <a:sym typeface="Symbol" charset="0"/>
                </a:rPr>
                <a:t>W</a:t>
              </a:r>
              <a:r>
                <a:rPr lang="en-US" sz="2400" i="1" baseline="-25000" dirty="0">
                  <a:sym typeface="Symbol" charset="0"/>
                </a:rPr>
                <a:t>q</a:t>
              </a:r>
              <a:r>
                <a:rPr lang="en-US" sz="2400" dirty="0">
                  <a:sym typeface="Symbol" charset="0"/>
                </a:rPr>
                <a:t>	=                =                 =  2/3 hour = 40 minute average waiting time</a:t>
              </a:r>
            </a:p>
            <a:p>
              <a:pPr marL="4208463" indent="-4208463">
                <a:spcAft>
                  <a:spcPts val="2400"/>
                </a:spcAft>
                <a:tabLst>
                  <a:tab pos="482600" algn="r"/>
                  <a:tab pos="673100" algn="l"/>
                </a:tabLst>
              </a:pPr>
              <a:r>
                <a:rPr lang="en-US" sz="2400" dirty="0">
                  <a:sym typeface="Symbol" charset="0"/>
                </a:rPr>
                <a:t>	</a:t>
              </a:r>
              <a:r>
                <a:rPr lang="en-US" sz="2400" i="1" dirty="0">
                  <a:sym typeface="Symbol" charset="0"/>
                </a:rPr>
                <a:t></a:t>
              </a:r>
              <a:r>
                <a:rPr lang="en-US" sz="2400" dirty="0">
                  <a:sym typeface="Symbol" charset="0"/>
                </a:rPr>
                <a:t>	=        =       =  66.6% of time mechanic is busy</a:t>
              </a:r>
            </a:p>
            <a:p>
              <a:pPr marL="4208463" indent="-4208463">
                <a:spcAft>
                  <a:spcPts val="2400"/>
                </a:spcAft>
                <a:tabLst>
                  <a:tab pos="482600" algn="r"/>
                  <a:tab pos="673100" algn="l"/>
                </a:tabLst>
              </a:pPr>
              <a:r>
                <a:rPr lang="en-US" sz="2400" dirty="0">
                  <a:sym typeface="Symbol" charset="0"/>
                </a:rPr>
                <a:t>	</a:t>
              </a:r>
            </a:p>
          </p:txBody>
        </p:sp>
        <p:sp>
          <p:nvSpPr>
            <p:cNvPr id="75781" name="Rectangle 7"/>
            <p:cNvSpPr>
              <a:spLocks noChangeArrowheads="1"/>
            </p:cNvSpPr>
            <p:nvPr/>
          </p:nvSpPr>
          <p:spPr bwMode="auto">
            <a:xfrm>
              <a:off x="1449410" y="2495550"/>
              <a:ext cx="1281070" cy="9079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spcAft>
                  <a:spcPts val="600"/>
                </a:spcAft>
              </a:pPr>
              <a:r>
                <a:rPr lang="en-US" sz="2400" i="1" dirty="0">
                  <a:sym typeface="Symbol" charset="0"/>
                </a:rPr>
                <a:t></a:t>
              </a:r>
            </a:p>
            <a:p>
              <a:pPr algn="ctr">
                <a:spcAft>
                  <a:spcPts val="600"/>
                </a:spcAft>
              </a:pPr>
              <a:r>
                <a:rPr lang="en-US" sz="2400" i="1" dirty="0">
                  <a:sym typeface="Symbol" charset="0"/>
                </a:rPr>
                <a:t>µ</a:t>
              </a:r>
              <a:r>
                <a:rPr lang="en-US" sz="2400" dirty="0">
                  <a:sym typeface="Symbol" charset="0"/>
                </a:rPr>
                <a:t>(</a:t>
              </a:r>
              <a:r>
                <a:rPr lang="en-US" sz="2400" i="1" dirty="0">
                  <a:sym typeface="Symbol" charset="0"/>
                </a:rPr>
                <a:t>µ </a:t>
              </a:r>
              <a:r>
                <a:rPr lang="en-US" sz="2400" dirty="0">
                  <a:sym typeface="Symbol" charset="0"/>
                </a:rPr>
                <a:t>–</a:t>
              </a:r>
              <a:r>
                <a:rPr lang="en-US" sz="2400" i="1" dirty="0">
                  <a:sym typeface="Symbol" charset="0"/>
                </a:rPr>
                <a:t> </a:t>
              </a:r>
              <a:r>
                <a:rPr lang="en-US" sz="2400" dirty="0">
                  <a:sym typeface="Symbol" charset="0"/>
                </a:rPr>
                <a:t>)</a:t>
              </a:r>
              <a:endParaRPr lang="en-US" sz="2400" dirty="0"/>
            </a:p>
          </p:txBody>
        </p:sp>
        <p:sp>
          <p:nvSpPr>
            <p:cNvPr id="75782" name="Line 8"/>
            <p:cNvSpPr>
              <a:spLocks noChangeShapeType="1"/>
            </p:cNvSpPr>
            <p:nvPr/>
          </p:nvSpPr>
          <p:spPr bwMode="auto">
            <a:xfrm>
              <a:off x="1531938" y="2955131"/>
              <a:ext cx="10795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75783" name="Rectangle 10"/>
            <p:cNvSpPr>
              <a:spLocks noChangeArrowheads="1"/>
            </p:cNvSpPr>
            <p:nvPr/>
          </p:nvSpPr>
          <p:spPr bwMode="auto">
            <a:xfrm>
              <a:off x="3000794" y="2460625"/>
              <a:ext cx="1245353" cy="9756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110000"/>
                </a:lnSpc>
                <a:spcAft>
                  <a:spcPts val="600"/>
                </a:spcAft>
              </a:pPr>
              <a:r>
                <a:rPr lang="en-US" sz="2400" dirty="0"/>
                <a:t>2</a:t>
              </a:r>
            </a:p>
            <a:p>
              <a:pPr algn="ctr">
                <a:lnSpc>
                  <a:spcPct val="110000"/>
                </a:lnSpc>
                <a:spcAft>
                  <a:spcPts val="600"/>
                </a:spcAft>
              </a:pPr>
              <a:r>
                <a:rPr lang="en-US" sz="2400" dirty="0"/>
                <a:t>3(3 – 2)</a:t>
              </a:r>
            </a:p>
          </p:txBody>
        </p:sp>
        <p:sp>
          <p:nvSpPr>
            <p:cNvPr id="75784" name="Line 11"/>
            <p:cNvSpPr>
              <a:spLocks noChangeShapeType="1"/>
            </p:cNvSpPr>
            <p:nvPr/>
          </p:nvSpPr>
          <p:spPr bwMode="auto">
            <a:xfrm>
              <a:off x="3124201" y="2955131"/>
              <a:ext cx="10414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75785" name="Rectangle 14"/>
            <p:cNvSpPr>
              <a:spLocks noChangeArrowheads="1"/>
            </p:cNvSpPr>
            <p:nvPr/>
          </p:nvSpPr>
          <p:spPr bwMode="auto">
            <a:xfrm>
              <a:off x="2099561" y="4508500"/>
              <a:ext cx="447492" cy="9079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spcAft>
                  <a:spcPts val="600"/>
                </a:spcAft>
              </a:pPr>
              <a:r>
                <a:rPr lang="en-US" sz="2400" i="1" dirty="0">
                  <a:sym typeface="Symbol" charset="0"/>
                </a:rPr>
                <a:t></a:t>
              </a:r>
            </a:p>
            <a:p>
              <a:pPr algn="ctr">
                <a:spcAft>
                  <a:spcPts val="600"/>
                </a:spcAft>
              </a:pPr>
              <a:r>
                <a:rPr lang="en-US" sz="2400" i="1" dirty="0">
                  <a:sym typeface="Symbol" charset="0"/>
                </a:rPr>
                <a:t>µ</a:t>
              </a:r>
              <a:endParaRPr lang="en-US" sz="2400" i="1" dirty="0"/>
            </a:p>
          </p:txBody>
        </p:sp>
        <p:sp>
          <p:nvSpPr>
            <p:cNvPr id="75786" name="Line 15"/>
            <p:cNvSpPr>
              <a:spLocks noChangeShapeType="1"/>
            </p:cNvSpPr>
            <p:nvPr/>
          </p:nvSpPr>
          <p:spPr bwMode="auto">
            <a:xfrm>
              <a:off x="2133600" y="4989513"/>
              <a:ext cx="3556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nvGrpSpPr>
            <p:cNvPr id="75788" name="Group 3"/>
            <p:cNvGrpSpPr>
              <a:grpSpLocks/>
            </p:cNvGrpSpPr>
            <p:nvPr/>
          </p:nvGrpSpPr>
          <p:grpSpPr bwMode="auto">
            <a:xfrm>
              <a:off x="1563710" y="3524359"/>
              <a:ext cx="389850" cy="907941"/>
              <a:chOff x="1449410" y="3575159"/>
              <a:chExt cx="389850" cy="907941"/>
            </a:xfrm>
          </p:grpSpPr>
          <p:sp>
            <p:nvSpPr>
              <p:cNvPr id="75791" name="TextBox 2"/>
              <p:cNvSpPr txBox="1">
                <a:spLocks noChangeArrowheads="1"/>
              </p:cNvSpPr>
              <p:nvPr/>
            </p:nvSpPr>
            <p:spPr bwMode="auto">
              <a:xfrm>
                <a:off x="1449410" y="3575159"/>
                <a:ext cx="389850" cy="9079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spcAft>
                    <a:spcPts val="600"/>
                  </a:spcAft>
                </a:pPr>
                <a:r>
                  <a:rPr lang="en-US" sz="2400" i="1" dirty="0">
                    <a:solidFill>
                      <a:srgbClr val="000000"/>
                    </a:solidFill>
                    <a:sym typeface="Symbol" charset="0"/>
                  </a:rPr>
                  <a:t></a:t>
                </a:r>
                <a:endParaRPr lang="en-US" sz="2400" dirty="0">
                  <a:solidFill>
                    <a:srgbClr val="000000"/>
                  </a:solidFill>
                  <a:sym typeface="Symbol" charset="0"/>
                </a:endParaRPr>
              </a:p>
              <a:p>
                <a:pPr>
                  <a:spcAft>
                    <a:spcPts val="600"/>
                  </a:spcAft>
                </a:pPr>
                <a:r>
                  <a:rPr lang="en-US" sz="2400" i="1" dirty="0">
                    <a:solidFill>
                      <a:srgbClr val="000000"/>
                    </a:solidFill>
                    <a:sym typeface="Symbol" charset="0"/>
                  </a:rPr>
                  <a:t>µ</a:t>
                </a:r>
                <a:r>
                  <a:rPr lang="en-US" sz="2400" dirty="0">
                    <a:solidFill>
                      <a:srgbClr val="000000"/>
                    </a:solidFill>
                    <a:sym typeface="Symbol" charset="0"/>
                  </a:rPr>
                  <a:t> </a:t>
                </a:r>
                <a:endParaRPr lang="en-US" dirty="0"/>
              </a:p>
            </p:txBody>
          </p:sp>
          <p:sp>
            <p:nvSpPr>
              <p:cNvPr id="75792" name="Line 15"/>
              <p:cNvSpPr>
                <a:spLocks noChangeShapeType="1"/>
              </p:cNvSpPr>
              <p:nvPr/>
            </p:nvSpPr>
            <p:spPr bwMode="auto">
              <a:xfrm>
                <a:off x="1466535" y="4054529"/>
                <a:ext cx="3556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75789" name="TextBox 4"/>
            <p:cNvSpPr txBox="1">
              <a:spLocks noChangeArrowheads="1"/>
            </p:cNvSpPr>
            <p:nvPr/>
          </p:nvSpPr>
          <p:spPr bwMode="auto">
            <a:xfrm>
              <a:off x="2400280" y="3549758"/>
              <a:ext cx="355837" cy="9079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spcAft>
                  <a:spcPts val="600"/>
                </a:spcAft>
              </a:pPr>
              <a:r>
                <a:rPr lang="en-US" sz="2400" dirty="0">
                  <a:solidFill>
                    <a:srgbClr val="000000"/>
                  </a:solidFill>
                  <a:sym typeface="Symbol" charset="0"/>
                </a:rPr>
                <a:t>2</a:t>
              </a:r>
            </a:p>
            <a:p>
              <a:pPr>
                <a:spcAft>
                  <a:spcPts val="600"/>
                </a:spcAft>
              </a:pPr>
              <a:r>
                <a:rPr lang="en-US" sz="2400" dirty="0">
                  <a:solidFill>
                    <a:srgbClr val="000000"/>
                  </a:solidFill>
                  <a:sym typeface="Symbol" charset="0"/>
                </a:rPr>
                <a:t>3</a:t>
              </a:r>
              <a:endParaRPr lang="en-US" dirty="0"/>
            </a:p>
          </p:txBody>
        </p:sp>
        <p:sp>
          <p:nvSpPr>
            <p:cNvPr id="75790" name="Line 15"/>
            <p:cNvSpPr>
              <a:spLocks noChangeShapeType="1"/>
            </p:cNvSpPr>
            <p:nvPr/>
          </p:nvSpPr>
          <p:spPr bwMode="auto">
            <a:xfrm>
              <a:off x="2400280" y="4003729"/>
              <a:ext cx="3556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Tree>
    <p:extLst>
      <p:ext uri="{BB962C8B-B14F-4D97-AF65-F5344CB8AC3E}">
        <p14:creationId xmlns:p14="http://schemas.microsoft.com/office/powerpoint/2010/main" val="2672718200"/>
      </p:ext>
    </p:extLst>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Single-Server Example</a:t>
            </a:r>
          </a:p>
        </p:txBody>
      </p:sp>
      <p:sp>
        <p:nvSpPr>
          <p:cNvPr id="34821" name="Rectangle 4"/>
          <p:cNvSpPr>
            <a:spLocks noChangeArrowheads="1"/>
          </p:cNvSpPr>
          <p:nvPr/>
        </p:nvSpPr>
        <p:spPr bwMode="auto">
          <a:xfrm>
            <a:off x="457200" y="1782763"/>
            <a:ext cx="8255000"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3314700" indent="-3314700">
              <a:spcAft>
                <a:spcPts val="3600"/>
              </a:spcAft>
              <a:tabLst>
                <a:tab pos="381000" algn="r"/>
                <a:tab pos="482600" algn="l"/>
                <a:tab pos="762000" algn="l"/>
                <a:tab pos="4381500" algn="l"/>
                <a:tab pos="4673600" algn="l"/>
              </a:tabLst>
            </a:pPr>
            <a:r>
              <a:rPr lang="en-US" sz="2400" dirty="0">
                <a:sym typeface="Symbol" charset="0"/>
              </a:rPr>
              <a:t>	</a:t>
            </a:r>
            <a:r>
              <a:rPr lang="en-US" sz="2400" i="1" dirty="0">
                <a:sym typeface="Symbol" charset="0"/>
              </a:rPr>
              <a:t></a:t>
            </a:r>
            <a:r>
              <a:rPr lang="en-US" sz="2400" dirty="0">
                <a:sym typeface="Symbol" charset="0"/>
              </a:rPr>
              <a:t>	=	2 cars arriving/hour	</a:t>
            </a:r>
            <a:r>
              <a:rPr lang="en-US" sz="2400" i="1" dirty="0">
                <a:latin typeface="Times New Roman" charset="0"/>
                <a:cs typeface="Times New Roman" charset="0"/>
                <a:sym typeface="Symbol" charset="0"/>
              </a:rPr>
              <a:t>µ</a:t>
            </a:r>
            <a:r>
              <a:rPr lang="en-US" sz="2400" dirty="0">
                <a:sym typeface="Symbol" charset="0"/>
              </a:rPr>
              <a:t>	= 3 cars serviced/hour</a:t>
            </a:r>
          </a:p>
        </p:txBody>
      </p:sp>
      <p:graphicFrame>
        <p:nvGraphicFramePr>
          <p:cNvPr id="3" name="Object 27"/>
          <p:cNvGraphicFramePr>
            <a:graphicFrameLocks noChangeAspect="1"/>
          </p:cNvGraphicFramePr>
          <p:nvPr/>
        </p:nvGraphicFramePr>
        <p:xfrm>
          <a:off x="1028700" y="2633663"/>
          <a:ext cx="7086600" cy="863600"/>
        </p:xfrm>
        <a:graphic>
          <a:graphicData uri="http://schemas.openxmlformats.org/presentationml/2006/ole">
            <mc:AlternateContent xmlns:mc="http://schemas.openxmlformats.org/markup-compatibility/2006">
              <mc:Choice xmlns:v="urn:schemas-microsoft-com:vml" Requires="v">
                <p:oleObj name="Equation" r:id="rId3" imgW="7076520" imgH="849960" progId="Equation.3">
                  <p:embed/>
                </p:oleObj>
              </mc:Choice>
              <mc:Fallback>
                <p:oleObj name="Equation" r:id="rId3" imgW="7076520" imgH="849960" progId="Equation.3">
                  <p:embed/>
                  <p:pic>
                    <p:nvPicPr>
                      <p:cNvPr id="3"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700" y="2633663"/>
                        <a:ext cx="7086600" cy="863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28"/>
          <p:cNvGraphicFramePr>
            <a:graphicFrameLocks noChangeAspect="1"/>
          </p:cNvGraphicFramePr>
          <p:nvPr/>
        </p:nvGraphicFramePr>
        <p:xfrm>
          <a:off x="368300" y="3886200"/>
          <a:ext cx="8407400" cy="863600"/>
        </p:xfrm>
        <a:graphic>
          <a:graphicData uri="http://schemas.openxmlformats.org/presentationml/2006/ole">
            <mc:AlternateContent xmlns:mc="http://schemas.openxmlformats.org/markup-compatibility/2006">
              <mc:Choice xmlns:v="urn:schemas-microsoft-com:vml" Requires="v">
                <p:oleObj name="Equation" r:id="rId5" imgW="8393040" imgH="849960" progId="Equation.3">
                  <p:embed/>
                </p:oleObj>
              </mc:Choice>
              <mc:Fallback>
                <p:oleObj name="Equation" r:id="rId5" imgW="8393040" imgH="849960" progId="Equation.3">
                  <p:embed/>
                  <p:pic>
                    <p:nvPicPr>
                      <p:cNvPr id="18"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8300" y="3886200"/>
                        <a:ext cx="8407400" cy="863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29"/>
          <p:cNvGraphicFramePr>
            <a:graphicFrameLocks noChangeAspect="1"/>
          </p:cNvGraphicFramePr>
          <p:nvPr/>
        </p:nvGraphicFramePr>
        <p:xfrm>
          <a:off x="1117600" y="5138738"/>
          <a:ext cx="6680200" cy="889000"/>
        </p:xfrm>
        <a:graphic>
          <a:graphicData uri="http://schemas.openxmlformats.org/presentationml/2006/ole">
            <mc:AlternateContent xmlns:mc="http://schemas.openxmlformats.org/markup-compatibility/2006">
              <mc:Choice xmlns:v="urn:schemas-microsoft-com:vml" Requires="v">
                <p:oleObj name="Equation" r:id="rId7" imgW="6665040" imgH="877680" progId="Equation.3">
                  <p:embed/>
                </p:oleObj>
              </mc:Choice>
              <mc:Fallback>
                <p:oleObj name="Equation" r:id="rId7" imgW="6665040" imgH="877680" progId="Equation.3">
                  <p:embed/>
                  <p:pic>
                    <p:nvPicPr>
                      <p:cNvPr id="19"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7600" y="5138738"/>
                        <a:ext cx="6680200" cy="889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62318063"/>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34821"/>
                                        </p:tgtEl>
                                        <p:attrNameLst>
                                          <p:attrName>style.visibility</p:attrName>
                                        </p:attrNameLst>
                                      </p:cBhvr>
                                      <p:to>
                                        <p:strVal val="visible"/>
                                      </p:to>
                                    </p:set>
                                    <p:animEffect transition="in" filter="wipe(left)">
                                      <p:cBhvr>
                                        <p:cTn id="7" dur="1000"/>
                                        <p:tgtEl>
                                          <p:spTgt spid="34821"/>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1000"/>
                                        <p:tgtEl>
                                          <p:spTgt spid="3"/>
                                        </p:tgtEl>
                                      </p:cBhvr>
                                    </p:animEffect>
                                  </p:childTnLst>
                                </p:cTn>
                              </p:par>
                            </p:childTnLst>
                          </p:cTn>
                        </p:par>
                        <p:par>
                          <p:cTn id="12" fill="hold" nodeType="afterGroup">
                            <p:stCondLst>
                              <p:cond delay="4000"/>
                            </p:stCondLst>
                            <p:childTnLst>
                              <p:par>
                                <p:cTn id="13" presetID="22" presetClass="entr" presetSubtype="8" fill="hold" nodeType="afterEffect">
                                  <p:stCondLst>
                                    <p:cond delay="100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1000"/>
                                        <p:tgtEl>
                                          <p:spTgt spid="18"/>
                                        </p:tgtEl>
                                      </p:cBhvr>
                                    </p:animEffect>
                                  </p:childTnLst>
                                </p:cTn>
                              </p:par>
                            </p:childTnLst>
                          </p:cTn>
                        </p:par>
                        <p:par>
                          <p:cTn id="16" fill="hold" nodeType="afterGroup">
                            <p:stCondLst>
                              <p:cond delay="6000"/>
                            </p:stCondLst>
                            <p:childTnLst>
                              <p:par>
                                <p:cTn id="17" presetID="22" presetClass="entr" presetSubtype="8" fill="hold" nodeType="afterEffect">
                                  <p:stCondLst>
                                    <p:cond delay="100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Single-Server Example</a:t>
            </a:r>
          </a:p>
        </p:txBody>
      </p:sp>
      <p:sp>
        <p:nvSpPr>
          <p:cNvPr id="80899" name="Rectangle 3"/>
          <p:cNvSpPr>
            <a:spLocks noChangeArrowheads="1"/>
          </p:cNvSpPr>
          <p:nvPr/>
        </p:nvSpPr>
        <p:spPr bwMode="auto">
          <a:xfrm>
            <a:off x="444500" y="1644650"/>
            <a:ext cx="8255000" cy="461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952500" indent="-952500" algn="ctr">
              <a:spcBef>
                <a:spcPct val="70000"/>
              </a:spcBef>
              <a:spcAft>
                <a:spcPct val="20000"/>
              </a:spcAft>
              <a:tabLst>
                <a:tab pos="482600" algn="r"/>
                <a:tab pos="673100" algn="l"/>
                <a:tab pos="4191000" algn="l"/>
                <a:tab pos="4483100" algn="l"/>
              </a:tabLst>
            </a:pPr>
            <a:r>
              <a:rPr lang="en-US" sz="2400" dirty="0">
                <a:sym typeface="Symbol" charset="0"/>
              </a:rPr>
              <a:t>Probability of more than </a:t>
            </a:r>
            <a:r>
              <a:rPr lang="en-US" sz="2400" i="1" dirty="0">
                <a:sym typeface="Symbol" charset="0"/>
              </a:rPr>
              <a:t>k</a:t>
            </a:r>
            <a:r>
              <a:rPr lang="en-US" sz="2400" dirty="0">
                <a:sym typeface="Symbol" charset="0"/>
              </a:rPr>
              <a:t> Cars in the System</a:t>
            </a:r>
          </a:p>
        </p:txBody>
      </p:sp>
      <p:graphicFrame>
        <p:nvGraphicFramePr>
          <p:cNvPr id="2" name="Table 1"/>
          <p:cNvGraphicFramePr>
            <a:graphicFrameLocks noGrp="1"/>
          </p:cNvGraphicFramePr>
          <p:nvPr>
            <p:extLst>
              <p:ext uri="{D42A27DB-BD31-4B8C-83A1-F6EECF244321}">
                <p14:modId xmlns:p14="http://schemas.microsoft.com/office/powerpoint/2010/main" val="1635436123"/>
              </p:ext>
            </p:extLst>
          </p:nvPr>
        </p:nvGraphicFramePr>
        <p:xfrm>
          <a:off x="1035050" y="2371725"/>
          <a:ext cx="7067550" cy="3611880"/>
        </p:xfrm>
        <a:graphic>
          <a:graphicData uri="http://schemas.openxmlformats.org/drawingml/2006/table">
            <a:tbl>
              <a:tblPr/>
              <a:tblGrid>
                <a:gridCol w="860425">
                  <a:extLst>
                    <a:ext uri="{9D8B030D-6E8A-4147-A177-3AD203B41FA5}">
                      <a16:colId xmlns:a16="http://schemas.microsoft.com/office/drawing/2014/main" val="20000"/>
                    </a:ext>
                  </a:extLst>
                </a:gridCol>
                <a:gridCol w="6207125">
                  <a:extLst>
                    <a:ext uri="{9D8B030D-6E8A-4147-A177-3AD203B41FA5}">
                      <a16:colId xmlns:a16="http://schemas.microsoft.com/office/drawing/2014/main" val="20001"/>
                    </a:ext>
                  </a:extLst>
                </a:gridCol>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1" u="none" strike="noStrike" cap="none" normalizeH="0" baseline="0" dirty="0">
                          <a:ln>
                            <a:noFill/>
                          </a:ln>
                          <a:solidFill>
                            <a:srgbClr val="FFFFFF"/>
                          </a:solidFill>
                          <a:effectLst/>
                          <a:latin typeface="Arial" charset="0"/>
                          <a:ea typeface="ＭＳ Ｐゴシック" charset="0"/>
                          <a:cs typeface="Arial" charset="0"/>
                        </a:rPr>
                        <a:t>K</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1" u="none" strike="noStrike" cap="none" normalizeH="0" baseline="0" dirty="0">
                          <a:ln>
                            <a:noFill/>
                          </a:ln>
                          <a:solidFill>
                            <a:srgbClr val="FFFFFF"/>
                          </a:solidFill>
                          <a:effectLst/>
                          <a:latin typeface="Arial" charset="0"/>
                          <a:ea typeface="MS PGothic" charset="0"/>
                          <a:cs typeface="MS PGothic" charset="0"/>
                        </a:rPr>
                        <a:t>P</a:t>
                      </a:r>
                      <a:r>
                        <a:rPr kumimoji="0" lang="en-US" sz="1800" b="1" i="1" u="none" strike="noStrike" cap="none" normalizeH="0" baseline="-25000" dirty="0">
                          <a:ln>
                            <a:noFill/>
                          </a:ln>
                          <a:solidFill>
                            <a:srgbClr val="FFFFFF"/>
                          </a:solidFill>
                          <a:effectLst/>
                          <a:latin typeface="Arial" charset="0"/>
                          <a:ea typeface="MS PGothic" charset="0"/>
                          <a:cs typeface="MS PGothic" charset="0"/>
                        </a:rPr>
                        <a:t>n</a:t>
                      </a:r>
                      <a:r>
                        <a:rPr kumimoji="0" lang="en-US" sz="1800" b="1" i="0" u="none" strike="noStrike" cap="none" normalizeH="0" baseline="-25000" dirty="0">
                          <a:ln>
                            <a:noFill/>
                          </a:ln>
                          <a:solidFill>
                            <a:srgbClr val="FFFFFF"/>
                          </a:solidFill>
                          <a:effectLst/>
                          <a:latin typeface="Arial" charset="0"/>
                          <a:ea typeface="MS PGothic" charset="0"/>
                          <a:cs typeface="MS PGothic" charset="0"/>
                        </a:rPr>
                        <a:t> &gt; </a:t>
                      </a:r>
                      <a:r>
                        <a:rPr kumimoji="0" lang="en-US" sz="1800" b="1" i="1" u="none" strike="noStrike" cap="none" normalizeH="0" baseline="-25000" dirty="0">
                          <a:ln>
                            <a:noFill/>
                          </a:ln>
                          <a:solidFill>
                            <a:srgbClr val="FFFFFF"/>
                          </a:solidFill>
                          <a:effectLst/>
                          <a:latin typeface="Arial" charset="0"/>
                          <a:ea typeface="MS PGothic" charset="0"/>
                          <a:cs typeface="MS PGothic" charset="0"/>
                        </a:rPr>
                        <a:t>k</a:t>
                      </a:r>
                      <a:r>
                        <a:rPr kumimoji="0" lang="en-US" sz="1800" b="1" i="0" u="none" strike="noStrike" cap="none" normalizeH="0" baseline="0" dirty="0">
                          <a:ln>
                            <a:noFill/>
                          </a:ln>
                          <a:solidFill>
                            <a:srgbClr val="FFFFFF"/>
                          </a:solidFill>
                          <a:effectLst/>
                          <a:latin typeface="Arial" charset="0"/>
                          <a:ea typeface="MS PGothic" charset="0"/>
                          <a:cs typeface="MS PGothic" charset="0"/>
                        </a:rPr>
                        <a:t>  = (2/3)</a:t>
                      </a:r>
                      <a:r>
                        <a:rPr kumimoji="0" lang="en-US" sz="1800" b="1" i="1" u="none" strike="noStrike" cap="none" normalizeH="0" baseline="30000" dirty="0">
                          <a:ln>
                            <a:noFill/>
                          </a:ln>
                          <a:solidFill>
                            <a:srgbClr val="FFFFFF"/>
                          </a:solidFill>
                          <a:effectLst/>
                          <a:latin typeface="Arial" charset="0"/>
                          <a:ea typeface="MS PGothic" charset="0"/>
                          <a:cs typeface="MS PGothic" charset="0"/>
                        </a:rPr>
                        <a:t>k</a:t>
                      </a:r>
                      <a:r>
                        <a:rPr kumimoji="0" lang="en-US" sz="1800" b="1" i="0" u="none" strike="noStrike" cap="none" normalizeH="0" baseline="30000" dirty="0">
                          <a:ln>
                            <a:noFill/>
                          </a:ln>
                          <a:solidFill>
                            <a:srgbClr val="FFFFFF"/>
                          </a:solidFill>
                          <a:effectLst/>
                          <a:latin typeface="Arial" charset="0"/>
                          <a:ea typeface="MS PGothic" charset="0"/>
                          <a:cs typeface="MS PGothic" charset="0"/>
                        </a:rPr>
                        <a:t> + 1</a:t>
                      </a:r>
                      <a:endParaRPr kumimoji="0" lang="en-US" sz="1800" b="1" i="0" u="none" strike="noStrike" cap="none" normalizeH="0" baseline="0" dirty="0">
                        <a:ln>
                          <a:noFill/>
                        </a:ln>
                        <a:solidFill>
                          <a:srgbClr val="FFFFFF"/>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0</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812800" marR="0" lvl="0" indent="-8128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.667 </a:t>
                      </a:r>
                      <a:r>
                        <a:rPr kumimoji="0" lang="en-US" sz="1800" b="0" i="0" u="none" strike="noStrike" cap="none" normalizeH="0" baseline="0" dirty="0">
                          <a:ln>
                            <a:noFill/>
                          </a:ln>
                          <a:solidFill>
                            <a:schemeClr val="tx1"/>
                          </a:solidFill>
                          <a:effectLst/>
                          <a:latin typeface="Arial" charset="0"/>
                          <a:ea typeface="ＭＳ Ｐゴシック" charset="0"/>
                          <a:cs typeface="Arial" charset="0"/>
                          <a:sym typeface="Wingdings"/>
                        </a:rPr>
                        <a:t></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Note that this is equal to 1 – </a:t>
                      </a:r>
                      <a:r>
                        <a:rPr kumimoji="0" lang="en-US" sz="1800" b="0" i="1" u="none" strike="noStrike" cap="none" normalizeH="0" baseline="0" dirty="0">
                          <a:ln>
                            <a:noFill/>
                          </a:ln>
                          <a:solidFill>
                            <a:schemeClr val="tx1"/>
                          </a:solidFill>
                          <a:effectLst/>
                          <a:latin typeface="Arial" charset="0"/>
                          <a:ea typeface="ＭＳ Ｐゴシック" charset="0"/>
                          <a:cs typeface="Arial" charset="0"/>
                        </a:rPr>
                        <a:t>P</a:t>
                      </a:r>
                      <a:r>
                        <a:rPr kumimoji="0" lang="en-US" sz="1800" b="0" i="0" u="none" strike="noStrike" cap="none" normalizeH="0" baseline="-25000" dirty="0">
                          <a:ln>
                            <a:noFill/>
                          </a:ln>
                          <a:solidFill>
                            <a:schemeClr val="tx1"/>
                          </a:solidFill>
                          <a:effectLst/>
                          <a:latin typeface="Arial" charset="0"/>
                          <a:ea typeface="ＭＳ Ｐゴシック" charset="0"/>
                          <a:cs typeface="Arial" charset="0"/>
                        </a:rPr>
                        <a:t>0</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 1 – .33</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1</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.444</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2</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.296</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3</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812800" marR="0" lvl="0" indent="-81280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.198 </a:t>
                      </a:r>
                      <a:r>
                        <a:rPr kumimoji="0" lang="en-US" sz="1800" b="0" i="0" u="none" strike="noStrike" cap="none" normalizeH="0" baseline="0" dirty="0">
                          <a:ln>
                            <a:noFill/>
                          </a:ln>
                          <a:solidFill>
                            <a:schemeClr val="tx1"/>
                          </a:solidFill>
                          <a:effectLst/>
                          <a:latin typeface="Arial" charset="0"/>
                          <a:ea typeface="ＭＳ Ｐゴシック" charset="0"/>
                          <a:cs typeface="Arial" charset="0"/>
                          <a:sym typeface="Wingdings"/>
                        </a:rPr>
                        <a:t></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Implies that there is a 19.8% chance that more than 3 cars are in the system</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4</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.132</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5</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.088</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6</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.058</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7</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.039</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62066235"/>
      </p:ext>
    </p:extLst>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80899"/>
                                        </p:tgtEl>
                                        <p:attrNameLst>
                                          <p:attrName>style.visibility</p:attrName>
                                        </p:attrNameLst>
                                      </p:cBhvr>
                                      <p:to>
                                        <p:strVal val="visible"/>
                                      </p:to>
                                    </p:set>
                                    <p:animEffect transition="in" filter="wipe(left)">
                                      <p:cBhvr>
                                        <p:cTn id="7" dur="1000"/>
                                        <p:tgtEl>
                                          <p:spTgt spid="80899"/>
                                        </p:tgtEl>
                                      </p:cBhvr>
                                    </p:animEffect>
                                  </p:childTnLst>
                                </p:cTn>
                              </p:par>
                            </p:childTnLst>
                          </p:cTn>
                        </p:par>
                        <p:par>
                          <p:cTn id="8" fill="hold" nodeType="afterGroup">
                            <p:stCondLst>
                              <p:cond delay="2000"/>
                            </p:stCondLst>
                            <p:childTnLst>
                              <p:par>
                                <p:cTn id="9" presetID="23" presetClass="entr" presetSubtype="272"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strVal val="2/3*#ppt_w"/>
                                          </p:val>
                                        </p:tav>
                                        <p:tav tm="100000">
                                          <p:val>
                                            <p:strVal val="#ppt_w"/>
                                          </p:val>
                                        </p:tav>
                                      </p:tavLst>
                                    </p:anim>
                                    <p:anim calcmode="lin" valueType="num">
                                      <p:cBhvr>
                                        <p:cTn id="12"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Single-Channel Economics</a:t>
            </a:r>
          </a:p>
        </p:txBody>
      </p:sp>
      <p:sp>
        <p:nvSpPr>
          <p:cNvPr id="82947" name="Rectangle 3"/>
          <p:cNvSpPr>
            <a:spLocks noChangeArrowheads="1"/>
          </p:cNvSpPr>
          <p:nvPr/>
        </p:nvSpPr>
        <p:spPr bwMode="auto">
          <a:xfrm>
            <a:off x="1333500" y="1671638"/>
            <a:ext cx="5207000" cy="166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nSpc>
                <a:spcPct val="90000"/>
              </a:lnSpc>
              <a:spcAft>
                <a:spcPct val="20000"/>
              </a:spcAft>
              <a:tabLst>
                <a:tab pos="2959100" algn="r"/>
                <a:tab pos="3149600" algn="l"/>
              </a:tabLst>
            </a:pPr>
            <a:r>
              <a:rPr lang="en-US" sz="2000" dirty="0">
                <a:sym typeface="Symbol" charset="0"/>
              </a:rPr>
              <a:t>	Customer dissatisfaction</a:t>
            </a:r>
            <a:br>
              <a:rPr lang="en-US" sz="2000" dirty="0">
                <a:sym typeface="Symbol" charset="0"/>
              </a:rPr>
            </a:br>
            <a:r>
              <a:rPr lang="en-US" sz="2000" dirty="0">
                <a:sym typeface="Symbol" charset="0"/>
              </a:rPr>
              <a:t>	   and lost goodwill	= $15 per hour</a:t>
            </a:r>
          </a:p>
          <a:p>
            <a:pPr>
              <a:lnSpc>
                <a:spcPct val="90000"/>
              </a:lnSpc>
              <a:spcAft>
                <a:spcPct val="20000"/>
              </a:spcAft>
              <a:tabLst>
                <a:tab pos="2959100" algn="r"/>
                <a:tab pos="3149600" algn="l"/>
              </a:tabLst>
            </a:pPr>
            <a:r>
              <a:rPr lang="en-US" sz="2000" dirty="0">
                <a:sym typeface="Symbol" charset="0"/>
              </a:rPr>
              <a:t>	</a:t>
            </a:r>
            <a:r>
              <a:rPr lang="en-US" sz="2000" i="1" dirty="0">
                <a:sym typeface="Symbol" charset="0"/>
              </a:rPr>
              <a:t>W</a:t>
            </a:r>
            <a:r>
              <a:rPr lang="en-US" sz="2000" i="1" baseline="-25000" dirty="0">
                <a:sym typeface="Symbol" charset="0"/>
              </a:rPr>
              <a:t>q</a:t>
            </a:r>
            <a:r>
              <a:rPr lang="en-US" sz="2000" dirty="0">
                <a:sym typeface="Symbol" charset="0"/>
              </a:rPr>
              <a:t>	= 2/3 hour</a:t>
            </a:r>
          </a:p>
          <a:p>
            <a:pPr>
              <a:lnSpc>
                <a:spcPct val="90000"/>
              </a:lnSpc>
              <a:spcAft>
                <a:spcPct val="20000"/>
              </a:spcAft>
              <a:tabLst>
                <a:tab pos="2959100" algn="r"/>
                <a:tab pos="3149600" algn="l"/>
              </a:tabLst>
            </a:pPr>
            <a:r>
              <a:rPr lang="en-US" sz="2000" dirty="0">
                <a:sym typeface="Symbol" charset="0"/>
              </a:rPr>
              <a:t>	Total arrivals		= 16 per day</a:t>
            </a:r>
          </a:p>
          <a:p>
            <a:pPr>
              <a:lnSpc>
                <a:spcPct val="90000"/>
              </a:lnSpc>
              <a:spcAft>
                <a:spcPct val="20000"/>
              </a:spcAft>
              <a:tabLst>
                <a:tab pos="2959100" algn="r"/>
                <a:tab pos="3149600" algn="l"/>
              </a:tabLst>
            </a:pPr>
            <a:r>
              <a:rPr lang="en-US" sz="2000" dirty="0">
                <a:sym typeface="Symbol" charset="0"/>
              </a:rPr>
              <a:t>	Mechanic</a:t>
            </a:r>
            <a:r>
              <a:rPr lang="en-AU" sz="2000" dirty="0">
                <a:sym typeface="Symbol" charset="0"/>
              </a:rPr>
              <a:t>'</a:t>
            </a:r>
            <a:r>
              <a:rPr lang="en-US" sz="2000" dirty="0">
                <a:sym typeface="Symbol" charset="0"/>
              </a:rPr>
              <a:t>s salary	= $88 per day</a:t>
            </a:r>
          </a:p>
        </p:txBody>
      </p:sp>
      <p:grpSp>
        <p:nvGrpSpPr>
          <p:cNvPr id="82948" name="Group 4"/>
          <p:cNvGrpSpPr>
            <a:grpSpLocks/>
          </p:cNvGrpSpPr>
          <p:nvPr/>
        </p:nvGrpSpPr>
        <p:grpSpPr bwMode="auto">
          <a:xfrm>
            <a:off x="1804988" y="3424238"/>
            <a:ext cx="5757862" cy="796925"/>
            <a:chOff x="646" y="2237"/>
            <a:chExt cx="3627" cy="502"/>
          </a:xfrm>
        </p:grpSpPr>
        <p:sp>
          <p:nvSpPr>
            <p:cNvPr id="79883" name="Rectangle 5"/>
            <p:cNvSpPr>
              <a:spLocks noChangeArrowheads="1"/>
            </p:cNvSpPr>
            <p:nvPr/>
          </p:nvSpPr>
          <p:spPr bwMode="auto">
            <a:xfrm>
              <a:off x="646" y="2297"/>
              <a:ext cx="1765" cy="4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nSpc>
                  <a:spcPct val="90000"/>
                </a:lnSpc>
              </a:pPr>
              <a:r>
                <a:rPr lang="en-US" sz="2000" dirty="0"/>
                <a:t>Total hours customers spend waiting per day</a:t>
              </a:r>
            </a:p>
          </p:txBody>
        </p:sp>
        <p:sp>
          <p:nvSpPr>
            <p:cNvPr id="79884" name="Rectangle 6"/>
            <p:cNvSpPr>
              <a:spLocks noChangeArrowheads="1"/>
            </p:cNvSpPr>
            <p:nvPr/>
          </p:nvSpPr>
          <p:spPr bwMode="auto">
            <a:xfrm>
              <a:off x="2334" y="2377"/>
              <a:ext cx="1939"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        (16) = 10       hours</a:t>
              </a:r>
            </a:p>
          </p:txBody>
        </p:sp>
        <p:grpSp>
          <p:nvGrpSpPr>
            <p:cNvPr id="79885" name="Group 7"/>
            <p:cNvGrpSpPr>
              <a:grpSpLocks/>
            </p:cNvGrpSpPr>
            <p:nvPr/>
          </p:nvGrpSpPr>
          <p:grpSpPr bwMode="auto">
            <a:xfrm>
              <a:off x="2568" y="2237"/>
              <a:ext cx="232" cy="494"/>
              <a:chOff x="3319" y="2905"/>
              <a:chExt cx="232" cy="494"/>
            </a:xfrm>
          </p:grpSpPr>
          <p:sp>
            <p:nvSpPr>
              <p:cNvPr id="79889" name="Rectangle 8"/>
              <p:cNvSpPr>
                <a:spLocks noChangeArrowheads="1"/>
              </p:cNvSpPr>
              <p:nvPr/>
            </p:nvSpPr>
            <p:spPr bwMode="auto">
              <a:xfrm>
                <a:off x="3331" y="2905"/>
                <a:ext cx="206" cy="4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spcAft>
                    <a:spcPts val="600"/>
                  </a:spcAft>
                </a:pPr>
                <a:r>
                  <a:rPr lang="en-US" sz="2000" dirty="0"/>
                  <a:t>2</a:t>
                </a:r>
              </a:p>
              <a:p>
                <a:pPr algn="ctr">
                  <a:spcAft>
                    <a:spcPts val="600"/>
                  </a:spcAft>
                </a:pPr>
                <a:r>
                  <a:rPr lang="en-US" sz="2000" dirty="0"/>
                  <a:t>3</a:t>
                </a:r>
              </a:p>
            </p:txBody>
          </p:sp>
          <p:sp>
            <p:nvSpPr>
              <p:cNvPr id="79890" name="Line 9"/>
              <p:cNvSpPr>
                <a:spLocks noChangeShapeType="1"/>
              </p:cNvSpPr>
              <p:nvPr/>
            </p:nvSpPr>
            <p:spPr bwMode="auto">
              <a:xfrm>
                <a:off x="3319" y="3168"/>
                <a:ext cx="232"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79886" name="Group 10"/>
            <p:cNvGrpSpPr>
              <a:grpSpLocks/>
            </p:cNvGrpSpPr>
            <p:nvPr/>
          </p:nvGrpSpPr>
          <p:grpSpPr bwMode="auto">
            <a:xfrm>
              <a:off x="3511" y="2245"/>
              <a:ext cx="232" cy="494"/>
              <a:chOff x="3183" y="2913"/>
              <a:chExt cx="232" cy="494"/>
            </a:xfrm>
          </p:grpSpPr>
          <p:sp>
            <p:nvSpPr>
              <p:cNvPr id="79887" name="Rectangle 11"/>
              <p:cNvSpPr>
                <a:spLocks noChangeArrowheads="1"/>
              </p:cNvSpPr>
              <p:nvPr/>
            </p:nvSpPr>
            <p:spPr bwMode="auto">
              <a:xfrm>
                <a:off x="3195" y="2913"/>
                <a:ext cx="206" cy="4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spcAft>
                    <a:spcPts val="600"/>
                  </a:spcAft>
                </a:pPr>
                <a:r>
                  <a:rPr lang="en-US" sz="2000" dirty="0"/>
                  <a:t>2</a:t>
                </a:r>
              </a:p>
              <a:p>
                <a:pPr algn="ctr">
                  <a:spcAft>
                    <a:spcPts val="600"/>
                  </a:spcAft>
                </a:pPr>
                <a:r>
                  <a:rPr lang="en-US" sz="2000" dirty="0"/>
                  <a:t>3</a:t>
                </a:r>
              </a:p>
            </p:txBody>
          </p:sp>
          <p:sp>
            <p:nvSpPr>
              <p:cNvPr id="79888" name="Line 12"/>
              <p:cNvSpPr>
                <a:spLocks noChangeShapeType="1"/>
              </p:cNvSpPr>
              <p:nvPr/>
            </p:nvSpPr>
            <p:spPr bwMode="auto">
              <a:xfrm>
                <a:off x="3183" y="3176"/>
                <a:ext cx="232"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grpSp>
        <p:nvGrpSpPr>
          <p:cNvPr id="82957" name="Group 13"/>
          <p:cNvGrpSpPr>
            <a:grpSpLocks/>
          </p:cNvGrpSpPr>
          <p:nvPr/>
        </p:nvGrpSpPr>
        <p:grpSpPr bwMode="auto">
          <a:xfrm>
            <a:off x="1222375" y="4535488"/>
            <a:ext cx="6929438" cy="784225"/>
            <a:chOff x="426" y="2857"/>
            <a:chExt cx="4365" cy="494"/>
          </a:xfrm>
        </p:grpSpPr>
        <p:sp>
          <p:nvSpPr>
            <p:cNvPr id="79878" name="Rectangle 14"/>
            <p:cNvSpPr>
              <a:spLocks noChangeArrowheads="1"/>
            </p:cNvSpPr>
            <p:nvPr/>
          </p:nvSpPr>
          <p:spPr bwMode="auto">
            <a:xfrm>
              <a:off x="426" y="2977"/>
              <a:ext cx="4365"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Customer waiting-time cost   =  $15 10         = $160 per day</a:t>
              </a:r>
            </a:p>
          </p:txBody>
        </p:sp>
        <p:grpSp>
          <p:nvGrpSpPr>
            <p:cNvPr id="79879" name="Group 15"/>
            <p:cNvGrpSpPr>
              <a:grpSpLocks/>
            </p:cNvGrpSpPr>
            <p:nvPr/>
          </p:nvGrpSpPr>
          <p:grpSpPr bwMode="auto">
            <a:xfrm>
              <a:off x="3243" y="2857"/>
              <a:ext cx="232" cy="494"/>
              <a:chOff x="2775" y="3057"/>
              <a:chExt cx="232" cy="494"/>
            </a:xfrm>
          </p:grpSpPr>
          <p:sp>
            <p:nvSpPr>
              <p:cNvPr id="79881" name="Rectangle 16"/>
              <p:cNvSpPr>
                <a:spLocks noChangeArrowheads="1"/>
              </p:cNvSpPr>
              <p:nvPr/>
            </p:nvSpPr>
            <p:spPr bwMode="auto">
              <a:xfrm>
                <a:off x="2787" y="3057"/>
                <a:ext cx="206" cy="4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spcAft>
                    <a:spcPts val="600"/>
                  </a:spcAft>
                </a:pPr>
                <a:r>
                  <a:rPr lang="en-US" sz="2000" dirty="0"/>
                  <a:t>2</a:t>
                </a:r>
              </a:p>
              <a:p>
                <a:pPr algn="ctr">
                  <a:spcAft>
                    <a:spcPts val="600"/>
                  </a:spcAft>
                </a:pPr>
                <a:r>
                  <a:rPr lang="en-US" sz="2000" dirty="0"/>
                  <a:t>3</a:t>
                </a:r>
              </a:p>
            </p:txBody>
          </p:sp>
          <p:sp>
            <p:nvSpPr>
              <p:cNvPr id="79882" name="Line 17"/>
              <p:cNvSpPr>
                <a:spLocks noChangeShapeType="1"/>
              </p:cNvSpPr>
              <p:nvPr/>
            </p:nvSpPr>
            <p:spPr bwMode="auto">
              <a:xfrm>
                <a:off x="2775" y="3312"/>
                <a:ext cx="232"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79880" name="AutoShape 18"/>
            <p:cNvSpPr>
              <a:spLocks noChangeArrowheads="1"/>
            </p:cNvSpPr>
            <p:nvPr/>
          </p:nvSpPr>
          <p:spPr bwMode="auto">
            <a:xfrm>
              <a:off x="3020" y="2896"/>
              <a:ext cx="508" cy="448"/>
            </a:xfrm>
            <a:prstGeom prst="bracketPair">
              <a:avLst>
                <a:gd name="adj" fmla="val 16667"/>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NZ" sz="2000" dirty="0"/>
            </a:p>
          </p:txBody>
        </p:sp>
      </p:grpSp>
      <p:sp>
        <p:nvSpPr>
          <p:cNvPr id="82963" name="Rectangle 19"/>
          <p:cNvSpPr>
            <a:spLocks noChangeArrowheads="1"/>
          </p:cNvSpPr>
          <p:nvPr/>
        </p:nvSpPr>
        <p:spPr bwMode="auto">
          <a:xfrm>
            <a:off x="2038350" y="5640388"/>
            <a:ext cx="6165850" cy="400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Total expected costs  =  $160 + $88  =  $248 per day</a:t>
            </a:r>
          </a:p>
        </p:txBody>
      </p:sp>
    </p:spTree>
    <p:extLst>
      <p:ext uri="{BB962C8B-B14F-4D97-AF65-F5344CB8AC3E}">
        <p14:creationId xmlns:p14="http://schemas.microsoft.com/office/powerpoint/2010/main" val="2978124676"/>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82947"/>
                                        </p:tgtEl>
                                        <p:attrNameLst>
                                          <p:attrName>style.visibility</p:attrName>
                                        </p:attrNameLst>
                                      </p:cBhvr>
                                      <p:to>
                                        <p:strVal val="visible"/>
                                      </p:to>
                                    </p:set>
                                    <p:animEffect transition="in" filter="wipe(left)">
                                      <p:cBhvr>
                                        <p:cTn id="7" dur="1000"/>
                                        <p:tgtEl>
                                          <p:spTgt spid="82947"/>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82948"/>
                                        </p:tgtEl>
                                        <p:attrNameLst>
                                          <p:attrName>style.visibility</p:attrName>
                                        </p:attrNameLst>
                                      </p:cBhvr>
                                      <p:to>
                                        <p:strVal val="visible"/>
                                      </p:to>
                                    </p:set>
                                    <p:animEffect transition="in" filter="wipe(left)">
                                      <p:cBhvr>
                                        <p:cTn id="11" dur="1000"/>
                                        <p:tgtEl>
                                          <p:spTgt spid="8294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82957"/>
                                        </p:tgtEl>
                                        <p:attrNameLst>
                                          <p:attrName>style.visibility</p:attrName>
                                        </p:attrNameLst>
                                      </p:cBhvr>
                                      <p:to>
                                        <p:strVal val="visible"/>
                                      </p:to>
                                    </p:set>
                                    <p:animEffect transition="in" filter="wipe(left)">
                                      <p:cBhvr>
                                        <p:cTn id="16" dur="1000"/>
                                        <p:tgtEl>
                                          <p:spTgt spid="8295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2963"/>
                                        </p:tgtEl>
                                        <p:attrNameLst>
                                          <p:attrName>style.visibility</p:attrName>
                                        </p:attrNameLst>
                                      </p:cBhvr>
                                      <p:to>
                                        <p:strVal val="visible"/>
                                      </p:to>
                                    </p:set>
                                    <p:animEffect transition="in" filter="wipe(left)">
                                      <p:cBhvr>
                                        <p:cTn id="21" dur="1000"/>
                                        <p:tgtEl>
                                          <p:spTgt spid="829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autoUpdateAnimBg="0"/>
      <p:bldP spid="8296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Multiple-Server Model</a:t>
            </a:r>
          </a:p>
        </p:txBody>
      </p:sp>
      <p:grpSp>
        <p:nvGrpSpPr>
          <p:cNvPr id="4" name="Group 3"/>
          <p:cNvGrpSpPr/>
          <p:nvPr/>
        </p:nvGrpSpPr>
        <p:grpSpPr>
          <a:xfrm>
            <a:off x="660400" y="1858963"/>
            <a:ext cx="7829550" cy="3589337"/>
            <a:chOff x="660400" y="1858963"/>
            <a:chExt cx="7829550" cy="3589337"/>
          </a:xfrm>
        </p:grpSpPr>
        <p:grpSp>
          <p:nvGrpSpPr>
            <p:cNvPr id="11" name="Group 10"/>
            <p:cNvGrpSpPr>
              <a:grpSpLocks/>
            </p:cNvGrpSpPr>
            <p:nvPr/>
          </p:nvGrpSpPr>
          <p:grpSpPr bwMode="auto">
            <a:xfrm>
              <a:off x="660400" y="1858963"/>
              <a:ext cx="7829550" cy="3589337"/>
              <a:chOff x="660400" y="1859545"/>
              <a:chExt cx="7829550" cy="3588754"/>
            </a:xfrm>
          </p:grpSpPr>
          <p:sp>
            <p:nvSpPr>
              <p:cNvPr id="10" name="Rectangle 9"/>
              <p:cNvSpPr/>
              <p:nvPr/>
            </p:nvSpPr>
            <p:spPr>
              <a:xfrm>
                <a:off x="676275" y="2508727"/>
                <a:ext cx="7797800" cy="2939572"/>
              </a:xfrm>
              <a:prstGeom prst="rect">
                <a:avLst/>
              </a:prstGeom>
              <a:solidFill>
                <a:schemeClr val="accent2">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1071" name="Group 7"/>
              <p:cNvGrpSpPr>
                <a:grpSpLocks/>
              </p:cNvGrpSpPr>
              <p:nvPr/>
            </p:nvGrpSpPr>
            <p:grpSpPr bwMode="auto">
              <a:xfrm>
                <a:off x="660400" y="1859545"/>
                <a:ext cx="7829550" cy="2080667"/>
                <a:chOff x="711200" y="1973845"/>
                <a:chExt cx="7829550" cy="2080667"/>
              </a:xfrm>
            </p:grpSpPr>
            <p:grpSp>
              <p:nvGrpSpPr>
                <p:cNvPr id="1072" name="Group 3"/>
                <p:cNvGrpSpPr>
                  <a:grpSpLocks/>
                </p:cNvGrpSpPr>
                <p:nvPr/>
              </p:nvGrpSpPr>
              <p:grpSpPr bwMode="auto">
                <a:xfrm>
                  <a:off x="711200" y="1973845"/>
                  <a:ext cx="7813675" cy="655055"/>
                  <a:chOff x="727075" y="2930525"/>
                  <a:chExt cx="7813675" cy="655055"/>
                </a:xfrm>
              </p:grpSpPr>
              <p:sp>
                <p:nvSpPr>
                  <p:cNvPr id="1074" name="TextBox 1"/>
                  <p:cNvSpPr txBox="1">
                    <a:spLocks noChangeArrowheads="1"/>
                  </p:cNvSpPr>
                  <p:nvPr/>
                </p:nvSpPr>
                <p:spPr bwMode="auto">
                  <a:xfrm>
                    <a:off x="727075" y="2930525"/>
                    <a:ext cx="1646403" cy="655055"/>
                  </a:xfrm>
                  <a:prstGeom prst="rect">
                    <a:avLst/>
                  </a:prstGeom>
                  <a:solidFill>
                    <a:schemeClr val="tx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252000" tIns="187200" rIns="252000" bIns="187200">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dirty="0">
                        <a:solidFill>
                          <a:srgbClr val="FFFFFF"/>
                        </a:solidFill>
                      </a:rPr>
                      <a:t>TABLE D.4</a:t>
                    </a:r>
                  </a:p>
                </p:txBody>
              </p:sp>
              <p:sp>
                <p:nvSpPr>
                  <p:cNvPr id="3" name="TextBox 2"/>
                  <p:cNvSpPr txBox="1"/>
                  <p:nvPr/>
                </p:nvSpPr>
                <p:spPr>
                  <a:xfrm>
                    <a:off x="2378075" y="2933699"/>
                    <a:ext cx="6162675" cy="647595"/>
                  </a:xfrm>
                  <a:prstGeom prst="rect">
                    <a:avLst/>
                  </a:prstGeom>
                  <a:noFill/>
                  <a:ln>
                    <a:solidFill>
                      <a:schemeClr val="bg1">
                        <a:lumMod val="75000"/>
                      </a:schemeClr>
                    </a:solidFill>
                  </a:ln>
                </p:spPr>
                <p:txBody>
                  <a:bodyPr>
                    <a:spAutoFit/>
                  </a:bodyPr>
                  <a:lstStyle/>
                  <a:p>
                    <a:pPr fontAlgn="auto">
                      <a:spcBef>
                        <a:spcPts val="0"/>
                      </a:spcBef>
                      <a:spcAft>
                        <a:spcPts val="0"/>
                      </a:spcAft>
                      <a:defRPr/>
                    </a:pPr>
                    <a:r>
                      <a:rPr lang="en-US" dirty="0">
                        <a:latin typeface="Arial"/>
                        <a:ea typeface="+mn-ea"/>
                        <a:cs typeface="Arial"/>
                      </a:rPr>
                      <a:t>Queuing Formulas for Model B: Multiple-Server System, Also Called M/M/S </a:t>
                    </a:r>
                  </a:p>
                </p:txBody>
              </p:sp>
            </p:grpSp>
            <p:sp>
              <p:nvSpPr>
                <p:cNvPr id="1073" name="TextBox 4"/>
                <p:cNvSpPr txBox="1">
                  <a:spLocks noChangeArrowheads="1"/>
                </p:cNvSpPr>
                <p:nvPr/>
              </p:nvSpPr>
              <p:spPr bwMode="auto">
                <a:xfrm>
                  <a:off x="727075" y="2623351"/>
                  <a:ext cx="7813675" cy="14311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tabLst>
                      <a:tab pos="266700" algn="l"/>
                    </a:tabLst>
                    <a:defRPr>
                      <a:solidFill>
                        <a:schemeClr val="tx1"/>
                      </a:solidFill>
                      <a:latin typeface="Arial" charset="0"/>
                      <a:ea typeface="ＭＳ Ｐゴシック" charset="0"/>
                      <a:cs typeface="Arial" charset="0"/>
                    </a:defRPr>
                  </a:lvl1pPr>
                  <a:lvl2pPr marL="742950" indent="-285750">
                    <a:tabLst>
                      <a:tab pos="266700" algn="l"/>
                    </a:tabLst>
                    <a:defRPr>
                      <a:solidFill>
                        <a:schemeClr val="tx1"/>
                      </a:solidFill>
                      <a:latin typeface="Arial" charset="0"/>
                      <a:ea typeface="Arial" charset="0"/>
                      <a:cs typeface="Arial" charset="0"/>
                    </a:defRPr>
                  </a:lvl2pPr>
                  <a:lvl3pPr marL="1143000" indent="-228600">
                    <a:tabLst>
                      <a:tab pos="266700" algn="l"/>
                    </a:tabLst>
                    <a:defRPr>
                      <a:solidFill>
                        <a:schemeClr val="tx1"/>
                      </a:solidFill>
                      <a:latin typeface="Arial" charset="0"/>
                      <a:ea typeface="Arial" charset="0"/>
                      <a:cs typeface="Arial" charset="0"/>
                    </a:defRPr>
                  </a:lvl3pPr>
                  <a:lvl4pPr marL="1600200" indent="-228600">
                    <a:tabLst>
                      <a:tab pos="266700" algn="l"/>
                    </a:tabLst>
                    <a:defRPr>
                      <a:solidFill>
                        <a:schemeClr val="tx1"/>
                      </a:solidFill>
                      <a:latin typeface="Arial" charset="0"/>
                      <a:ea typeface="Arial" charset="0"/>
                      <a:cs typeface="Arial" charset="0"/>
                    </a:defRPr>
                  </a:lvl4pPr>
                  <a:lvl5pPr marL="2057400" indent="-228600">
                    <a:tabLst>
                      <a:tab pos="266700" algn="l"/>
                    </a:tabLst>
                    <a:defRPr>
                      <a:solidFill>
                        <a:schemeClr val="tx1"/>
                      </a:solidFill>
                      <a:latin typeface="Arial" charset="0"/>
                      <a:ea typeface="Arial" charset="0"/>
                      <a:cs typeface="Arial" charset="0"/>
                    </a:defRPr>
                  </a:lvl5pPr>
                  <a:lvl6pPr marL="2514600" indent="-228600" fontAlgn="base">
                    <a:spcBef>
                      <a:spcPct val="0"/>
                    </a:spcBef>
                    <a:spcAft>
                      <a:spcPct val="0"/>
                    </a:spcAft>
                    <a:tabLst>
                      <a:tab pos="266700" algn="l"/>
                    </a:tabLst>
                    <a:defRPr>
                      <a:solidFill>
                        <a:schemeClr val="tx1"/>
                      </a:solidFill>
                      <a:latin typeface="Arial" charset="0"/>
                      <a:ea typeface="Arial" charset="0"/>
                      <a:cs typeface="Arial" charset="0"/>
                    </a:defRPr>
                  </a:lvl6pPr>
                  <a:lvl7pPr marL="2971800" indent="-228600" fontAlgn="base">
                    <a:spcBef>
                      <a:spcPct val="0"/>
                    </a:spcBef>
                    <a:spcAft>
                      <a:spcPct val="0"/>
                    </a:spcAft>
                    <a:tabLst>
                      <a:tab pos="266700" algn="l"/>
                    </a:tabLst>
                    <a:defRPr>
                      <a:solidFill>
                        <a:schemeClr val="tx1"/>
                      </a:solidFill>
                      <a:latin typeface="Arial" charset="0"/>
                      <a:ea typeface="Arial" charset="0"/>
                      <a:cs typeface="Arial" charset="0"/>
                    </a:defRPr>
                  </a:lvl7pPr>
                  <a:lvl8pPr marL="3429000" indent="-228600" fontAlgn="base">
                    <a:spcBef>
                      <a:spcPct val="0"/>
                    </a:spcBef>
                    <a:spcAft>
                      <a:spcPct val="0"/>
                    </a:spcAft>
                    <a:tabLst>
                      <a:tab pos="266700" algn="l"/>
                    </a:tabLst>
                    <a:defRPr>
                      <a:solidFill>
                        <a:schemeClr val="tx1"/>
                      </a:solidFill>
                      <a:latin typeface="Arial" charset="0"/>
                      <a:ea typeface="Arial" charset="0"/>
                      <a:cs typeface="Arial" charset="0"/>
                    </a:defRPr>
                  </a:lvl8pPr>
                  <a:lvl9pPr marL="3886200" indent="-228600" fontAlgn="base">
                    <a:spcBef>
                      <a:spcPct val="0"/>
                    </a:spcBef>
                    <a:spcAft>
                      <a:spcPct val="0"/>
                    </a:spcAft>
                    <a:tabLst>
                      <a:tab pos="266700" algn="l"/>
                    </a:tabLst>
                    <a:defRPr>
                      <a:solidFill>
                        <a:schemeClr val="tx1"/>
                      </a:solidFill>
                      <a:latin typeface="Arial" charset="0"/>
                      <a:ea typeface="Arial" charset="0"/>
                      <a:cs typeface="Arial" charset="0"/>
                    </a:defRPr>
                  </a:lvl9pPr>
                </a:lstStyle>
                <a:p>
                  <a:pPr>
                    <a:spcAft>
                      <a:spcPts val="600"/>
                    </a:spcAft>
                  </a:pPr>
                  <a:r>
                    <a:rPr lang="en-US" i="1" dirty="0"/>
                    <a:t>M</a:t>
                  </a:r>
                  <a:r>
                    <a:rPr lang="en-US" dirty="0"/>
                    <a:t>	=	number of servers (channels) open</a:t>
                  </a:r>
                </a:p>
                <a:p>
                  <a:pPr>
                    <a:spcAft>
                      <a:spcPts val="600"/>
                    </a:spcAft>
                  </a:pPr>
                  <a:r>
                    <a:rPr lang="en-US" i="1" dirty="0">
                      <a:latin typeface="Symbol" charset="0"/>
                    </a:rPr>
                    <a:t>l</a:t>
                  </a:r>
                  <a:r>
                    <a:rPr lang="en-US" dirty="0"/>
                    <a:t>	=	average arrival rate</a:t>
                  </a:r>
                </a:p>
                <a:p>
                  <a:pPr>
                    <a:spcAft>
                      <a:spcPts val="600"/>
                    </a:spcAft>
                  </a:pPr>
                  <a:r>
                    <a:rPr lang="en-US" i="1" dirty="0">
                      <a:latin typeface="Times New Roman" charset="0"/>
                      <a:cs typeface="Times New Roman" charset="0"/>
                    </a:rPr>
                    <a:t>µ</a:t>
                  </a:r>
                  <a:r>
                    <a:rPr lang="en-US" dirty="0"/>
                    <a:t>	=	average service rate at each server (channel)</a:t>
                  </a:r>
                </a:p>
                <a:p>
                  <a:pPr>
                    <a:spcAft>
                      <a:spcPts val="600"/>
                    </a:spcAft>
                  </a:pPr>
                  <a:r>
                    <a:rPr lang="en-US" dirty="0"/>
                    <a:t>The probability that there are zero people or units in the system is:</a:t>
                  </a:r>
                </a:p>
              </p:txBody>
            </p:sp>
          </p:grpSp>
        </p:grpSp>
        <p:pic>
          <p:nvPicPr>
            <p:cNvPr id="2" name="Picture 1" descr="md-34.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6208" y="4085334"/>
              <a:ext cx="4927600" cy="1219200"/>
            </a:xfrm>
            <a:prstGeom prst="rect">
              <a:avLst/>
            </a:prstGeom>
          </p:spPr>
        </p:pic>
      </p:grpSp>
    </p:spTree>
    <p:extLst>
      <p:ext uri="{BB962C8B-B14F-4D97-AF65-F5344CB8AC3E}">
        <p14:creationId xmlns:p14="http://schemas.microsoft.com/office/powerpoint/2010/main" val="3291333812"/>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2/3*#ppt_w"/>
                                          </p:val>
                                        </p:tav>
                                        <p:tav tm="100000">
                                          <p:val>
                                            <p:strVal val="#ppt_w"/>
                                          </p:val>
                                        </p:tav>
                                      </p:tavLst>
                                    </p:anim>
                                    <p:anim calcmode="lin" valueType="num">
                                      <p:cBhvr>
                                        <p:cTn id="8" dur="1000" fill="hold"/>
                                        <p:tgtEl>
                                          <p:spTgt spid="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4"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Multiple-Server Model</a:t>
            </a:r>
          </a:p>
        </p:txBody>
      </p:sp>
      <p:grpSp>
        <p:nvGrpSpPr>
          <p:cNvPr id="8" name="Group 7"/>
          <p:cNvGrpSpPr/>
          <p:nvPr/>
        </p:nvGrpSpPr>
        <p:grpSpPr>
          <a:xfrm>
            <a:off x="660400" y="1858963"/>
            <a:ext cx="7829550" cy="4376737"/>
            <a:chOff x="660400" y="1858963"/>
            <a:chExt cx="7829550" cy="4376737"/>
          </a:xfrm>
        </p:grpSpPr>
        <p:grpSp>
          <p:nvGrpSpPr>
            <p:cNvPr id="2125" name="Group 2"/>
            <p:cNvGrpSpPr>
              <a:grpSpLocks/>
            </p:cNvGrpSpPr>
            <p:nvPr/>
          </p:nvGrpSpPr>
          <p:grpSpPr bwMode="auto">
            <a:xfrm>
              <a:off x="660400" y="1858963"/>
              <a:ext cx="7829550" cy="4376737"/>
              <a:chOff x="660400" y="1859545"/>
              <a:chExt cx="7829550" cy="4376155"/>
            </a:xfrm>
          </p:grpSpPr>
          <p:sp>
            <p:nvSpPr>
              <p:cNvPr id="34" name="Rectangle 33"/>
              <p:cNvSpPr/>
              <p:nvPr/>
            </p:nvSpPr>
            <p:spPr>
              <a:xfrm>
                <a:off x="676275" y="2508746"/>
                <a:ext cx="7797800" cy="3726954"/>
              </a:xfrm>
              <a:prstGeom prst="rect">
                <a:avLst/>
              </a:prstGeom>
              <a:solidFill>
                <a:schemeClr val="accent2">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27" name="TextBox 39"/>
              <p:cNvSpPr txBox="1">
                <a:spLocks noChangeArrowheads="1"/>
              </p:cNvSpPr>
              <p:nvPr/>
            </p:nvSpPr>
            <p:spPr bwMode="auto">
              <a:xfrm>
                <a:off x="660400" y="1859545"/>
                <a:ext cx="1646403" cy="655055"/>
              </a:xfrm>
              <a:prstGeom prst="rect">
                <a:avLst/>
              </a:prstGeom>
              <a:solidFill>
                <a:schemeClr val="tx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252000" tIns="187200" rIns="252000" bIns="187200">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dirty="0">
                    <a:solidFill>
                      <a:srgbClr val="FFFFFF"/>
                    </a:solidFill>
                  </a:rPr>
                  <a:t>TABLE D.4</a:t>
                </a:r>
              </a:p>
            </p:txBody>
          </p:sp>
          <p:sp>
            <p:nvSpPr>
              <p:cNvPr id="41" name="TextBox 40"/>
              <p:cNvSpPr txBox="1"/>
              <p:nvPr/>
            </p:nvSpPr>
            <p:spPr>
              <a:xfrm>
                <a:off x="2311400" y="1862720"/>
                <a:ext cx="6162675" cy="646026"/>
              </a:xfrm>
              <a:prstGeom prst="rect">
                <a:avLst/>
              </a:prstGeom>
              <a:noFill/>
              <a:ln>
                <a:solidFill>
                  <a:schemeClr val="bg1">
                    <a:lumMod val="75000"/>
                  </a:schemeClr>
                </a:solidFill>
              </a:ln>
            </p:spPr>
            <p:txBody>
              <a:bodyPr>
                <a:spAutoFit/>
              </a:bodyPr>
              <a:lstStyle/>
              <a:p>
                <a:pPr fontAlgn="auto">
                  <a:spcBef>
                    <a:spcPts val="0"/>
                  </a:spcBef>
                  <a:spcAft>
                    <a:spcPts val="0"/>
                  </a:spcAft>
                  <a:defRPr/>
                </a:pPr>
                <a:r>
                  <a:rPr lang="en-US" dirty="0">
                    <a:latin typeface="Arial"/>
                    <a:ea typeface="+mn-ea"/>
                    <a:cs typeface="Arial"/>
                  </a:rPr>
                  <a:t>Queuing Formulas for Model B: Multiple-Server System, also Called M/M/S </a:t>
                </a:r>
              </a:p>
            </p:txBody>
          </p:sp>
          <p:sp>
            <p:nvSpPr>
              <p:cNvPr id="2129" name="TextBox 38"/>
              <p:cNvSpPr txBox="1">
                <a:spLocks noChangeArrowheads="1"/>
              </p:cNvSpPr>
              <p:nvPr/>
            </p:nvSpPr>
            <p:spPr bwMode="auto">
              <a:xfrm>
                <a:off x="676275" y="2509051"/>
                <a:ext cx="7813675" cy="24160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spcAft>
                    <a:spcPts val="600"/>
                  </a:spcAft>
                </a:pPr>
                <a:r>
                  <a:rPr lang="en-US" dirty="0"/>
                  <a:t>The average number of people or units in the system is:</a:t>
                </a:r>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r>
                  <a:rPr lang="en-US" dirty="0"/>
                  <a:t>The average time a unit spends in the waiting line and being serviced (namely, in the system) is: </a:t>
                </a:r>
              </a:p>
            </p:txBody>
          </p:sp>
        </p:grpSp>
        <mc:AlternateContent xmlns:mc="http://schemas.openxmlformats.org/markup-compatibility/2006" xmlns:a14="http://schemas.microsoft.com/office/drawing/2010/main">
          <mc:Choice Requires="a14">
            <p:sp>
              <p:nvSpPr>
                <p:cNvPr id="6" name="TextBox 5"/>
                <p:cNvSpPr txBox="1">
                  <a:spLocks noChangeAspect="1"/>
                </p:cNvSpPr>
                <p:nvPr/>
              </p:nvSpPr>
              <p:spPr>
                <a:xfrm>
                  <a:off x="2799207" y="3161034"/>
                  <a:ext cx="3545586" cy="6659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Z" sz="2000" i="1" smtClean="0">
                                <a:latin typeface="Cambria Math" panose="02040503050406030204" pitchFamily="18" charset="0"/>
                              </a:rPr>
                            </m:ctrlPr>
                          </m:sSubPr>
                          <m:e>
                            <m:r>
                              <a:rPr lang="en-NZ" sz="2000" b="0" i="1" smtClean="0">
                                <a:latin typeface="Cambria Math" panose="02040503050406030204" pitchFamily="18" charset="0"/>
                              </a:rPr>
                              <m:t>𝐿</m:t>
                            </m:r>
                          </m:e>
                          <m:sub>
                            <m:r>
                              <a:rPr lang="en-NZ" sz="2000" b="0" i="1" smtClean="0">
                                <a:latin typeface="Cambria Math" panose="02040503050406030204" pitchFamily="18" charset="0"/>
                              </a:rPr>
                              <m:t>𝑆</m:t>
                            </m:r>
                          </m:sub>
                        </m:sSub>
                        <m:r>
                          <a:rPr lang="en-NZ" sz="2000" b="0" i="1" smtClean="0">
                            <a:latin typeface="Cambria Math" panose="02040503050406030204" pitchFamily="18" charset="0"/>
                          </a:rPr>
                          <m:t>=</m:t>
                        </m:r>
                        <m:f>
                          <m:fPr>
                            <m:ctrlPr>
                              <a:rPr lang="en-NZ" sz="2000" b="0" i="1" smtClean="0">
                                <a:latin typeface="Cambria Math" panose="02040503050406030204" pitchFamily="18" charset="0"/>
                              </a:rPr>
                            </m:ctrlPr>
                          </m:fPr>
                          <m:num>
                            <m:sSup>
                              <m:sSupPr>
                                <m:ctrlPr>
                                  <a:rPr lang="en-NZ" sz="2000" b="0" i="1" smtClean="0">
                                    <a:latin typeface="Cambria Math" panose="02040503050406030204" pitchFamily="18" charset="0"/>
                                  </a:rPr>
                                </m:ctrlPr>
                              </m:sSupPr>
                              <m:e>
                                <m:r>
                                  <a:rPr lang="en-NZ" sz="2000" b="0" i="1" smtClean="0">
                                    <a:latin typeface="Cambria Math" panose="02040503050406030204" pitchFamily="18" charset="0"/>
                                    <a:ea typeface="Cambria Math" panose="02040503050406030204" pitchFamily="18" charset="0"/>
                                  </a:rPr>
                                  <m:t>𝜆𝜇</m:t>
                                </m:r>
                                <m:d>
                                  <m:dPr>
                                    <m:ctrlPr>
                                      <a:rPr lang="en-NZ" sz="2000" b="0" i="1" smtClean="0">
                                        <a:latin typeface="Cambria Math" panose="02040503050406030204" pitchFamily="18" charset="0"/>
                                        <a:ea typeface="Cambria Math" panose="02040503050406030204" pitchFamily="18" charset="0"/>
                                      </a:rPr>
                                    </m:ctrlPr>
                                  </m:dPr>
                                  <m:e>
                                    <m:r>
                                      <a:rPr lang="en-NZ" sz="2000" b="0" i="1" smtClean="0">
                                        <a:latin typeface="Cambria Math" panose="02040503050406030204" pitchFamily="18" charset="0"/>
                                        <a:ea typeface="Cambria Math" panose="02040503050406030204" pitchFamily="18" charset="0"/>
                                      </a:rPr>
                                      <m:t>𝜆</m:t>
                                    </m:r>
                                    <m:r>
                                      <a:rPr lang="en-NZ" sz="2000" b="0" i="1" smtClean="0">
                                        <a:latin typeface="Cambria Math" panose="02040503050406030204" pitchFamily="18" charset="0"/>
                                        <a:ea typeface="Cambria Math" panose="02040503050406030204" pitchFamily="18" charset="0"/>
                                      </a:rPr>
                                      <m:t>/</m:t>
                                    </m:r>
                                    <m:r>
                                      <a:rPr lang="en-NZ" sz="2000" b="0" i="1" smtClean="0">
                                        <a:latin typeface="Cambria Math" panose="02040503050406030204" pitchFamily="18" charset="0"/>
                                        <a:ea typeface="Cambria Math" panose="02040503050406030204" pitchFamily="18" charset="0"/>
                                      </a:rPr>
                                      <m:t>𝜇</m:t>
                                    </m:r>
                                  </m:e>
                                </m:d>
                              </m:e>
                              <m:sup>
                                <m:r>
                                  <a:rPr lang="en-NZ" sz="2000" b="0" i="1" smtClean="0">
                                    <a:latin typeface="Cambria Math" panose="02040503050406030204" pitchFamily="18" charset="0"/>
                                  </a:rPr>
                                  <m:t>𝑀</m:t>
                                </m:r>
                              </m:sup>
                            </m:sSup>
                          </m:num>
                          <m:den>
                            <m:sSup>
                              <m:sSupPr>
                                <m:ctrlPr>
                                  <a:rPr lang="en-NZ" sz="2000" b="0" i="1" smtClean="0">
                                    <a:latin typeface="Cambria Math" panose="02040503050406030204" pitchFamily="18" charset="0"/>
                                  </a:rPr>
                                </m:ctrlPr>
                              </m:sSupPr>
                              <m:e>
                                <m:d>
                                  <m:dPr>
                                    <m:ctrlPr>
                                      <a:rPr lang="en-NZ" sz="2000" b="0" i="1" smtClean="0">
                                        <a:latin typeface="Cambria Math" panose="02040503050406030204" pitchFamily="18" charset="0"/>
                                      </a:rPr>
                                    </m:ctrlPr>
                                  </m:dPr>
                                  <m:e>
                                    <m:r>
                                      <a:rPr lang="en-NZ" sz="2000" b="0" i="1" smtClean="0">
                                        <a:latin typeface="Cambria Math" panose="02040503050406030204" pitchFamily="18" charset="0"/>
                                      </a:rPr>
                                      <m:t>𝑀</m:t>
                                    </m:r>
                                    <m:r>
                                      <a:rPr lang="en-NZ" sz="2000" b="0" i="1" smtClean="0">
                                        <a:latin typeface="Cambria Math" panose="02040503050406030204" pitchFamily="18" charset="0"/>
                                      </a:rPr>
                                      <m:t>−1</m:t>
                                    </m:r>
                                  </m:e>
                                </m:d>
                                <m:r>
                                  <a:rPr lang="en-NZ" sz="2000" b="0" i="1" smtClean="0">
                                    <a:latin typeface="Cambria Math" panose="02040503050406030204" pitchFamily="18" charset="0"/>
                                  </a:rPr>
                                  <m:t>!</m:t>
                                </m:r>
                                <m:d>
                                  <m:dPr>
                                    <m:ctrlPr>
                                      <a:rPr lang="en-NZ" sz="2000" b="0" i="1" smtClean="0">
                                        <a:latin typeface="Cambria Math" panose="02040503050406030204" pitchFamily="18" charset="0"/>
                                      </a:rPr>
                                    </m:ctrlPr>
                                  </m:dPr>
                                  <m:e>
                                    <m:r>
                                      <a:rPr lang="en-NZ" sz="2000" b="0" i="1" smtClean="0">
                                        <a:latin typeface="Cambria Math" panose="02040503050406030204" pitchFamily="18" charset="0"/>
                                      </a:rPr>
                                      <m:t>𝑀</m:t>
                                    </m:r>
                                    <m:r>
                                      <a:rPr lang="en-NZ" sz="2000" b="0" i="1" smtClean="0">
                                        <a:latin typeface="Cambria Math" panose="02040503050406030204" pitchFamily="18" charset="0"/>
                                        <a:ea typeface="Cambria Math" panose="02040503050406030204" pitchFamily="18" charset="0"/>
                                      </a:rPr>
                                      <m:t>𝜇</m:t>
                                    </m:r>
                                    <m:r>
                                      <a:rPr lang="en-NZ" sz="2000" b="0" i="1" smtClean="0">
                                        <a:latin typeface="Cambria Math" panose="02040503050406030204" pitchFamily="18" charset="0"/>
                                        <a:ea typeface="Cambria Math" panose="02040503050406030204" pitchFamily="18" charset="0"/>
                                      </a:rPr>
                                      <m:t>−</m:t>
                                    </m:r>
                                    <m:r>
                                      <a:rPr lang="en-NZ" sz="2000" b="0" i="1" smtClean="0">
                                        <a:latin typeface="Cambria Math" panose="02040503050406030204" pitchFamily="18" charset="0"/>
                                        <a:ea typeface="Cambria Math" panose="02040503050406030204" pitchFamily="18" charset="0"/>
                                      </a:rPr>
                                      <m:t>𝜆</m:t>
                                    </m:r>
                                  </m:e>
                                </m:d>
                              </m:e>
                              <m:sup>
                                <m:r>
                                  <a:rPr lang="en-NZ" sz="2000" b="0" i="1" smtClean="0">
                                    <a:latin typeface="Cambria Math" panose="02040503050406030204" pitchFamily="18" charset="0"/>
                                  </a:rPr>
                                  <m:t>2</m:t>
                                </m:r>
                              </m:sup>
                            </m:sSup>
                          </m:den>
                        </m:f>
                        <m:sSub>
                          <m:sSubPr>
                            <m:ctrlPr>
                              <a:rPr lang="en-NZ" sz="2000" b="0" i="1" smtClean="0">
                                <a:latin typeface="Cambria Math" panose="02040503050406030204" pitchFamily="18" charset="0"/>
                              </a:rPr>
                            </m:ctrlPr>
                          </m:sSubPr>
                          <m:e>
                            <m:r>
                              <a:rPr lang="en-NZ" sz="2000" b="0" i="1" smtClean="0">
                                <a:latin typeface="Cambria Math" panose="02040503050406030204" pitchFamily="18" charset="0"/>
                              </a:rPr>
                              <m:t>𝑃</m:t>
                            </m:r>
                          </m:e>
                          <m:sub>
                            <m:r>
                              <a:rPr lang="en-NZ" sz="2000" b="0" i="1" smtClean="0">
                                <a:latin typeface="Cambria Math" panose="02040503050406030204" pitchFamily="18" charset="0"/>
                              </a:rPr>
                              <m:t>0</m:t>
                            </m:r>
                          </m:sub>
                        </m:sSub>
                        <m:r>
                          <a:rPr lang="en-NZ" sz="2000" b="0" i="1" smtClean="0">
                            <a:latin typeface="Cambria Math" panose="02040503050406030204" pitchFamily="18" charset="0"/>
                          </a:rPr>
                          <m:t>+</m:t>
                        </m:r>
                        <m:f>
                          <m:fPr>
                            <m:ctrlPr>
                              <a:rPr lang="en-NZ" sz="2000" b="0" i="1" smtClean="0">
                                <a:latin typeface="Cambria Math" panose="02040503050406030204" pitchFamily="18" charset="0"/>
                              </a:rPr>
                            </m:ctrlPr>
                          </m:fPr>
                          <m:num>
                            <m:r>
                              <a:rPr lang="en-NZ" sz="2000" b="0" i="1" smtClean="0">
                                <a:latin typeface="Cambria Math" panose="02040503050406030204" pitchFamily="18" charset="0"/>
                                <a:ea typeface="Cambria Math" panose="02040503050406030204" pitchFamily="18" charset="0"/>
                              </a:rPr>
                              <m:t>𝜆</m:t>
                            </m:r>
                          </m:num>
                          <m:den>
                            <m:r>
                              <a:rPr lang="en-NZ" sz="2000" b="0" i="1" smtClean="0">
                                <a:latin typeface="Cambria Math" panose="02040503050406030204" pitchFamily="18" charset="0"/>
                                <a:ea typeface="Cambria Math" panose="02040503050406030204" pitchFamily="18" charset="0"/>
                              </a:rPr>
                              <m:t>𝜇</m:t>
                            </m:r>
                          </m:den>
                        </m:f>
                      </m:oMath>
                    </m:oMathPara>
                  </a14:m>
                  <a:endParaRPr lang="en-NZ" sz="2000" dirty="0"/>
                </a:p>
              </p:txBody>
            </p:sp>
          </mc:Choice>
          <mc:Fallback xmlns="">
            <p:sp>
              <p:nvSpPr>
                <p:cNvPr id="6" name="TextBox 5"/>
                <p:cNvSpPr txBox="1">
                  <a:spLocks noRot="1" noChangeAspect="1" noMove="1" noResize="1" noEditPoints="1" noAdjustHandles="1" noChangeArrowheads="1" noChangeShapeType="1" noTextEdit="1"/>
                </p:cNvSpPr>
                <p:nvPr/>
              </p:nvSpPr>
              <p:spPr>
                <a:xfrm>
                  <a:off x="2799207" y="3161034"/>
                  <a:ext cx="3545586" cy="665952"/>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Box 13"/>
                <p:cNvSpPr txBox="1">
                  <a:spLocks noChangeAspect="1"/>
                </p:cNvSpPr>
                <p:nvPr/>
              </p:nvSpPr>
              <p:spPr>
                <a:xfrm>
                  <a:off x="2482504" y="5108683"/>
                  <a:ext cx="4201215" cy="6659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Z" sz="2000" i="1" smtClean="0">
                                <a:latin typeface="Cambria Math" panose="02040503050406030204" pitchFamily="18" charset="0"/>
                              </a:rPr>
                            </m:ctrlPr>
                          </m:sSubPr>
                          <m:e>
                            <m:r>
                              <a:rPr lang="en-NZ" sz="2000" b="0" i="1" smtClean="0">
                                <a:latin typeface="Cambria Math" panose="02040503050406030204" pitchFamily="18" charset="0"/>
                              </a:rPr>
                              <m:t>𝑊</m:t>
                            </m:r>
                          </m:e>
                          <m:sub>
                            <m:r>
                              <a:rPr lang="en-NZ" sz="2000" b="0" i="1" smtClean="0">
                                <a:latin typeface="Cambria Math" panose="02040503050406030204" pitchFamily="18" charset="0"/>
                              </a:rPr>
                              <m:t>𝑆</m:t>
                            </m:r>
                          </m:sub>
                        </m:sSub>
                        <m:r>
                          <a:rPr lang="en-NZ" sz="2000" b="0" i="1" smtClean="0">
                            <a:latin typeface="Cambria Math" panose="02040503050406030204" pitchFamily="18" charset="0"/>
                          </a:rPr>
                          <m:t>=</m:t>
                        </m:r>
                        <m:f>
                          <m:fPr>
                            <m:ctrlPr>
                              <a:rPr lang="en-NZ" sz="2000" b="0" i="1" smtClean="0">
                                <a:latin typeface="Cambria Math" panose="02040503050406030204" pitchFamily="18" charset="0"/>
                              </a:rPr>
                            </m:ctrlPr>
                          </m:fPr>
                          <m:num>
                            <m:sSup>
                              <m:sSupPr>
                                <m:ctrlPr>
                                  <a:rPr lang="en-NZ" sz="2000" b="0" i="1" smtClean="0">
                                    <a:latin typeface="Cambria Math" panose="02040503050406030204" pitchFamily="18" charset="0"/>
                                  </a:rPr>
                                </m:ctrlPr>
                              </m:sSupPr>
                              <m:e>
                                <m:r>
                                  <a:rPr lang="en-NZ" sz="2000" b="0" i="1" smtClean="0">
                                    <a:latin typeface="Cambria Math" panose="02040503050406030204" pitchFamily="18" charset="0"/>
                                    <a:ea typeface="Cambria Math" panose="02040503050406030204" pitchFamily="18" charset="0"/>
                                  </a:rPr>
                                  <m:t>𝜇</m:t>
                                </m:r>
                                <m:d>
                                  <m:dPr>
                                    <m:ctrlPr>
                                      <a:rPr lang="en-NZ" sz="2000" b="0" i="1" smtClean="0">
                                        <a:latin typeface="Cambria Math" panose="02040503050406030204" pitchFamily="18" charset="0"/>
                                        <a:ea typeface="Cambria Math" panose="02040503050406030204" pitchFamily="18" charset="0"/>
                                      </a:rPr>
                                    </m:ctrlPr>
                                  </m:dPr>
                                  <m:e>
                                    <m:r>
                                      <a:rPr lang="en-NZ" sz="2000" b="0" i="1" smtClean="0">
                                        <a:latin typeface="Cambria Math" panose="02040503050406030204" pitchFamily="18" charset="0"/>
                                        <a:ea typeface="Cambria Math" panose="02040503050406030204" pitchFamily="18" charset="0"/>
                                      </a:rPr>
                                      <m:t>𝜆</m:t>
                                    </m:r>
                                    <m:r>
                                      <a:rPr lang="en-NZ" sz="2000" b="0" i="1" smtClean="0">
                                        <a:latin typeface="Cambria Math" panose="02040503050406030204" pitchFamily="18" charset="0"/>
                                        <a:ea typeface="Cambria Math" panose="02040503050406030204" pitchFamily="18" charset="0"/>
                                      </a:rPr>
                                      <m:t>/</m:t>
                                    </m:r>
                                    <m:r>
                                      <a:rPr lang="en-NZ" sz="2000" b="0" i="1" smtClean="0">
                                        <a:latin typeface="Cambria Math" panose="02040503050406030204" pitchFamily="18" charset="0"/>
                                        <a:ea typeface="Cambria Math" panose="02040503050406030204" pitchFamily="18" charset="0"/>
                                      </a:rPr>
                                      <m:t>𝜇</m:t>
                                    </m:r>
                                  </m:e>
                                </m:d>
                              </m:e>
                              <m:sup>
                                <m:r>
                                  <a:rPr lang="en-NZ" sz="2000" b="0" i="1" smtClean="0">
                                    <a:latin typeface="Cambria Math" panose="02040503050406030204" pitchFamily="18" charset="0"/>
                                  </a:rPr>
                                  <m:t>𝑀</m:t>
                                </m:r>
                              </m:sup>
                            </m:sSup>
                          </m:num>
                          <m:den>
                            <m:sSup>
                              <m:sSupPr>
                                <m:ctrlPr>
                                  <a:rPr lang="en-NZ" sz="2000" b="0" i="1" smtClean="0">
                                    <a:latin typeface="Cambria Math" panose="02040503050406030204" pitchFamily="18" charset="0"/>
                                  </a:rPr>
                                </m:ctrlPr>
                              </m:sSupPr>
                              <m:e>
                                <m:d>
                                  <m:dPr>
                                    <m:ctrlPr>
                                      <a:rPr lang="en-NZ" sz="2000" b="0" i="1" smtClean="0">
                                        <a:latin typeface="Cambria Math" panose="02040503050406030204" pitchFamily="18" charset="0"/>
                                      </a:rPr>
                                    </m:ctrlPr>
                                  </m:dPr>
                                  <m:e>
                                    <m:r>
                                      <a:rPr lang="en-NZ" sz="2000" b="0" i="1" smtClean="0">
                                        <a:latin typeface="Cambria Math" panose="02040503050406030204" pitchFamily="18" charset="0"/>
                                      </a:rPr>
                                      <m:t>𝑀</m:t>
                                    </m:r>
                                    <m:r>
                                      <a:rPr lang="en-NZ" sz="2000" b="0" i="1" smtClean="0">
                                        <a:latin typeface="Cambria Math" panose="02040503050406030204" pitchFamily="18" charset="0"/>
                                      </a:rPr>
                                      <m:t>−1</m:t>
                                    </m:r>
                                  </m:e>
                                </m:d>
                                <m:r>
                                  <a:rPr lang="en-NZ" sz="2000" b="0" i="1" smtClean="0">
                                    <a:latin typeface="Cambria Math" panose="02040503050406030204" pitchFamily="18" charset="0"/>
                                  </a:rPr>
                                  <m:t>!</m:t>
                                </m:r>
                                <m:d>
                                  <m:dPr>
                                    <m:ctrlPr>
                                      <a:rPr lang="en-NZ" sz="2000" b="0" i="1" smtClean="0">
                                        <a:latin typeface="Cambria Math" panose="02040503050406030204" pitchFamily="18" charset="0"/>
                                      </a:rPr>
                                    </m:ctrlPr>
                                  </m:dPr>
                                  <m:e>
                                    <m:r>
                                      <a:rPr lang="en-NZ" sz="2000" b="0" i="1" smtClean="0">
                                        <a:latin typeface="Cambria Math" panose="02040503050406030204" pitchFamily="18" charset="0"/>
                                      </a:rPr>
                                      <m:t>𝑀</m:t>
                                    </m:r>
                                    <m:r>
                                      <a:rPr lang="en-NZ" sz="2000" b="0" i="1" smtClean="0">
                                        <a:latin typeface="Cambria Math" panose="02040503050406030204" pitchFamily="18" charset="0"/>
                                        <a:ea typeface="Cambria Math" panose="02040503050406030204" pitchFamily="18" charset="0"/>
                                      </a:rPr>
                                      <m:t>𝜇</m:t>
                                    </m:r>
                                    <m:r>
                                      <a:rPr lang="en-NZ" sz="2000" b="0" i="1" smtClean="0">
                                        <a:latin typeface="Cambria Math" panose="02040503050406030204" pitchFamily="18" charset="0"/>
                                        <a:ea typeface="Cambria Math" panose="02040503050406030204" pitchFamily="18" charset="0"/>
                                      </a:rPr>
                                      <m:t>−</m:t>
                                    </m:r>
                                    <m:r>
                                      <a:rPr lang="en-NZ" sz="2000" b="0" i="1" smtClean="0">
                                        <a:latin typeface="Cambria Math" panose="02040503050406030204" pitchFamily="18" charset="0"/>
                                        <a:ea typeface="Cambria Math" panose="02040503050406030204" pitchFamily="18" charset="0"/>
                                      </a:rPr>
                                      <m:t>𝜆</m:t>
                                    </m:r>
                                  </m:e>
                                </m:d>
                              </m:e>
                              <m:sup>
                                <m:r>
                                  <a:rPr lang="en-NZ" sz="2000" b="0" i="1" smtClean="0">
                                    <a:latin typeface="Cambria Math" panose="02040503050406030204" pitchFamily="18" charset="0"/>
                                  </a:rPr>
                                  <m:t>2</m:t>
                                </m:r>
                              </m:sup>
                            </m:sSup>
                          </m:den>
                        </m:f>
                        <m:sSub>
                          <m:sSubPr>
                            <m:ctrlPr>
                              <a:rPr lang="en-NZ" sz="2000" b="0" i="1" smtClean="0">
                                <a:latin typeface="Cambria Math" panose="02040503050406030204" pitchFamily="18" charset="0"/>
                              </a:rPr>
                            </m:ctrlPr>
                          </m:sSubPr>
                          <m:e>
                            <m:r>
                              <a:rPr lang="en-NZ" sz="2000" b="0" i="1" smtClean="0">
                                <a:latin typeface="Cambria Math" panose="02040503050406030204" pitchFamily="18" charset="0"/>
                              </a:rPr>
                              <m:t>𝑃</m:t>
                            </m:r>
                          </m:e>
                          <m:sub>
                            <m:r>
                              <a:rPr lang="en-NZ" sz="2000" b="0" i="1" smtClean="0">
                                <a:latin typeface="Cambria Math" panose="02040503050406030204" pitchFamily="18" charset="0"/>
                              </a:rPr>
                              <m:t>0</m:t>
                            </m:r>
                          </m:sub>
                        </m:sSub>
                        <m:r>
                          <a:rPr lang="en-NZ" sz="2000" b="0" i="1" smtClean="0">
                            <a:latin typeface="Cambria Math" panose="02040503050406030204" pitchFamily="18" charset="0"/>
                          </a:rPr>
                          <m:t>+</m:t>
                        </m:r>
                        <m:f>
                          <m:fPr>
                            <m:ctrlPr>
                              <a:rPr lang="en-NZ" sz="2000" b="0" i="1" smtClean="0">
                                <a:latin typeface="Cambria Math" panose="02040503050406030204" pitchFamily="18" charset="0"/>
                              </a:rPr>
                            </m:ctrlPr>
                          </m:fPr>
                          <m:num>
                            <m:r>
                              <a:rPr lang="en-NZ" sz="2000" b="0" i="1" smtClean="0">
                                <a:latin typeface="Cambria Math" panose="02040503050406030204" pitchFamily="18" charset="0"/>
                              </a:rPr>
                              <m:t>1</m:t>
                            </m:r>
                          </m:num>
                          <m:den>
                            <m:r>
                              <a:rPr lang="en-NZ" sz="2000" b="0" i="1" smtClean="0">
                                <a:latin typeface="Cambria Math" panose="02040503050406030204" pitchFamily="18" charset="0"/>
                                <a:ea typeface="Cambria Math" panose="02040503050406030204" pitchFamily="18" charset="0"/>
                              </a:rPr>
                              <m:t>𝜇</m:t>
                            </m:r>
                          </m:den>
                        </m:f>
                        <m:r>
                          <a:rPr lang="en-NZ" sz="2000" b="0" i="1" smtClean="0">
                            <a:latin typeface="Cambria Math" panose="02040503050406030204" pitchFamily="18" charset="0"/>
                          </a:rPr>
                          <m:t>=</m:t>
                        </m:r>
                        <m:f>
                          <m:fPr>
                            <m:ctrlPr>
                              <a:rPr lang="en-NZ" sz="2000" b="0" i="1" smtClean="0">
                                <a:latin typeface="Cambria Math" panose="02040503050406030204" pitchFamily="18" charset="0"/>
                              </a:rPr>
                            </m:ctrlPr>
                          </m:fPr>
                          <m:num>
                            <m:sSub>
                              <m:sSubPr>
                                <m:ctrlPr>
                                  <a:rPr lang="en-NZ" sz="2000" b="0" i="1" smtClean="0">
                                    <a:latin typeface="Cambria Math" panose="02040503050406030204" pitchFamily="18" charset="0"/>
                                  </a:rPr>
                                </m:ctrlPr>
                              </m:sSubPr>
                              <m:e>
                                <m:r>
                                  <a:rPr lang="en-NZ" sz="2000" b="0" i="1" smtClean="0">
                                    <a:latin typeface="Cambria Math" panose="02040503050406030204" pitchFamily="18" charset="0"/>
                                  </a:rPr>
                                  <m:t>𝐿</m:t>
                                </m:r>
                              </m:e>
                              <m:sub>
                                <m:r>
                                  <a:rPr lang="en-NZ" sz="2000" b="0" i="1" smtClean="0">
                                    <a:latin typeface="Cambria Math" panose="02040503050406030204" pitchFamily="18" charset="0"/>
                                  </a:rPr>
                                  <m:t>𝑆</m:t>
                                </m:r>
                              </m:sub>
                            </m:sSub>
                          </m:num>
                          <m:den>
                            <m:r>
                              <a:rPr lang="en-NZ" sz="2000" b="0" i="1" smtClean="0">
                                <a:latin typeface="Cambria Math" panose="02040503050406030204" pitchFamily="18" charset="0"/>
                                <a:ea typeface="Cambria Math" panose="02040503050406030204" pitchFamily="18" charset="0"/>
                              </a:rPr>
                              <m:t>𝜆</m:t>
                            </m:r>
                          </m:den>
                        </m:f>
                      </m:oMath>
                    </m:oMathPara>
                  </a14:m>
                  <a:endParaRPr lang="en-NZ" sz="2000" dirty="0"/>
                </a:p>
              </p:txBody>
            </p:sp>
          </mc:Choice>
          <mc:Fallback xmlns="">
            <p:sp>
              <p:nvSpPr>
                <p:cNvPr id="14" name="TextBox 13"/>
                <p:cNvSpPr txBox="1">
                  <a:spLocks noRot="1" noChangeAspect="1" noMove="1" noResize="1" noEditPoints="1" noAdjustHandles="1" noChangeArrowheads="1" noChangeShapeType="1" noTextEdit="1"/>
                </p:cNvSpPr>
                <p:nvPr/>
              </p:nvSpPr>
              <p:spPr>
                <a:xfrm>
                  <a:off x="2482504" y="5108683"/>
                  <a:ext cx="4201215" cy="665952"/>
                </a:xfrm>
                <a:prstGeom prst="rect">
                  <a:avLst/>
                </a:prstGeom>
                <a:blipFill>
                  <a:blip r:embed="rId4"/>
                  <a:stretch>
                    <a:fillRect/>
                  </a:stretch>
                </a:blipFill>
              </p:spPr>
              <p:txBody>
                <a:bodyPr/>
                <a:lstStyle/>
                <a:p>
                  <a:r>
                    <a:rPr lang="en-NZ">
                      <a:noFill/>
                    </a:rPr>
                    <a:t> </a:t>
                  </a:r>
                </a:p>
              </p:txBody>
            </p:sp>
          </mc:Fallback>
        </mc:AlternateContent>
      </p:grpSp>
    </p:spTree>
    <p:extLst>
      <p:ext uri="{BB962C8B-B14F-4D97-AF65-F5344CB8AC3E}">
        <p14:creationId xmlns:p14="http://schemas.microsoft.com/office/powerpoint/2010/main" val="3984942893"/>
      </p:ext>
    </p:extLst>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6"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Multiple-Server Model</a:t>
            </a:r>
          </a:p>
        </p:txBody>
      </p:sp>
      <p:grpSp>
        <p:nvGrpSpPr>
          <p:cNvPr id="7" name="Group 6"/>
          <p:cNvGrpSpPr/>
          <p:nvPr/>
        </p:nvGrpSpPr>
        <p:grpSpPr>
          <a:xfrm>
            <a:off x="644525" y="1858963"/>
            <a:ext cx="7829550" cy="3703637"/>
            <a:chOff x="644525" y="1858963"/>
            <a:chExt cx="7829550" cy="3703637"/>
          </a:xfrm>
        </p:grpSpPr>
        <p:grpSp>
          <p:nvGrpSpPr>
            <p:cNvPr id="3147" name="Group 1"/>
            <p:cNvGrpSpPr>
              <a:grpSpLocks/>
            </p:cNvGrpSpPr>
            <p:nvPr/>
          </p:nvGrpSpPr>
          <p:grpSpPr bwMode="auto">
            <a:xfrm>
              <a:off x="644525" y="1858963"/>
              <a:ext cx="7829550" cy="3703637"/>
              <a:chOff x="660400" y="1859545"/>
              <a:chExt cx="7829550" cy="3703055"/>
            </a:xfrm>
          </p:grpSpPr>
          <p:sp>
            <p:nvSpPr>
              <p:cNvPr id="34" name="Rectangle 33"/>
              <p:cNvSpPr/>
              <p:nvPr/>
            </p:nvSpPr>
            <p:spPr>
              <a:xfrm>
                <a:off x="676275" y="2508730"/>
                <a:ext cx="7797800" cy="3053870"/>
              </a:xfrm>
              <a:prstGeom prst="rect">
                <a:avLst/>
              </a:prstGeom>
              <a:solidFill>
                <a:schemeClr val="accent2">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149" name="TextBox 39"/>
              <p:cNvSpPr txBox="1">
                <a:spLocks noChangeArrowheads="1"/>
              </p:cNvSpPr>
              <p:nvPr/>
            </p:nvSpPr>
            <p:spPr bwMode="auto">
              <a:xfrm>
                <a:off x="660400" y="1859545"/>
                <a:ext cx="1646403" cy="655055"/>
              </a:xfrm>
              <a:prstGeom prst="rect">
                <a:avLst/>
              </a:prstGeom>
              <a:solidFill>
                <a:schemeClr val="tx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252000" tIns="187200" rIns="252000" bIns="187200">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dirty="0">
                    <a:solidFill>
                      <a:srgbClr val="FFFFFF"/>
                    </a:solidFill>
                  </a:rPr>
                  <a:t>TABLE D.4</a:t>
                </a:r>
              </a:p>
            </p:txBody>
          </p:sp>
          <p:sp>
            <p:nvSpPr>
              <p:cNvPr id="41" name="TextBox 40"/>
              <p:cNvSpPr txBox="1"/>
              <p:nvPr/>
            </p:nvSpPr>
            <p:spPr>
              <a:xfrm>
                <a:off x="2311400" y="1862720"/>
                <a:ext cx="6162675" cy="646010"/>
              </a:xfrm>
              <a:prstGeom prst="rect">
                <a:avLst/>
              </a:prstGeom>
              <a:noFill/>
              <a:ln>
                <a:solidFill>
                  <a:schemeClr val="bg1">
                    <a:lumMod val="75000"/>
                  </a:schemeClr>
                </a:solidFill>
              </a:ln>
            </p:spPr>
            <p:txBody>
              <a:bodyPr>
                <a:spAutoFit/>
              </a:bodyPr>
              <a:lstStyle/>
              <a:p>
                <a:pPr fontAlgn="auto">
                  <a:spcBef>
                    <a:spcPts val="0"/>
                  </a:spcBef>
                  <a:spcAft>
                    <a:spcPts val="0"/>
                  </a:spcAft>
                  <a:defRPr/>
                </a:pPr>
                <a:r>
                  <a:rPr lang="en-US" dirty="0">
                    <a:latin typeface="+mn-lt"/>
                    <a:ea typeface="+mn-ea"/>
                    <a:cs typeface="+mn-cs"/>
                  </a:rPr>
                  <a:t>Queuing Formulas for Model B: Multiple-Server System, also Called M/M/S </a:t>
                </a:r>
              </a:p>
            </p:txBody>
          </p:sp>
          <p:sp>
            <p:nvSpPr>
              <p:cNvPr id="3151" name="TextBox 38"/>
              <p:cNvSpPr txBox="1">
                <a:spLocks noChangeArrowheads="1"/>
              </p:cNvSpPr>
              <p:nvPr/>
            </p:nvSpPr>
            <p:spPr bwMode="auto">
              <a:xfrm>
                <a:off x="676275" y="2509051"/>
                <a:ext cx="7813675" cy="20621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spcAft>
                    <a:spcPts val="600"/>
                  </a:spcAft>
                </a:pPr>
                <a:r>
                  <a:rPr lang="en-US" dirty="0"/>
                  <a:t>The average number of people or units in line waiting for service is: </a:t>
                </a:r>
              </a:p>
              <a:p>
                <a:pPr>
                  <a:spcAft>
                    <a:spcPts val="600"/>
                  </a:spcAft>
                </a:pPr>
                <a:endParaRPr lang="en-US" dirty="0"/>
              </a:p>
              <a:p>
                <a:pPr>
                  <a:spcAft>
                    <a:spcPts val="600"/>
                  </a:spcAft>
                </a:pPr>
                <a:endParaRPr lang="en-US" dirty="0"/>
              </a:p>
              <a:p>
                <a:pPr>
                  <a:spcAft>
                    <a:spcPts val="600"/>
                  </a:spcAft>
                </a:pPr>
                <a:endParaRPr lang="en-US" dirty="0"/>
              </a:p>
              <a:p>
                <a:pPr>
                  <a:spcAft>
                    <a:spcPts val="600"/>
                  </a:spcAft>
                </a:pPr>
                <a:r>
                  <a:rPr lang="en-US" dirty="0"/>
                  <a:t>The average time a person or unit spends in the queue waiting for service is: </a:t>
                </a:r>
              </a:p>
            </p:txBody>
          </p:sp>
        </p:grpSp>
        <mc:AlternateContent xmlns:mc="http://schemas.openxmlformats.org/markup-compatibility/2006" xmlns:a14="http://schemas.microsoft.com/office/drawing/2010/main">
          <mc:Choice Requires="a14">
            <p:sp>
              <p:nvSpPr>
                <p:cNvPr id="5" name="TextBox 4"/>
                <p:cNvSpPr txBox="1"/>
                <p:nvPr/>
              </p:nvSpPr>
              <p:spPr>
                <a:xfrm>
                  <a:off x="3881312" y="3024052"/>
                  <a:ext cx="1371850" cy="6326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Z" sz="2000" i="1" smtClean="0">
                                <a:latin typeface="Cambria Math" panose="02040503050406030204" pitchFamily="18" charset="0"/>
                              </a:rPr>
                            </m:ctrlPr>
                          </m:sSubPr>
                          <m:e>
                            <m:r>
                              <a:rPr lang="en-NZ" sz="2000" b="0" i="1" smtClean="0">
                                <a:latin typeface="Cambria Math" panose="02040503050406030204" pitchFamily="18" charset="0"/>
                              </a:rPr>
                              <m:t>𝐿</m:t>
                            </m:r>
                          </m:e>
                          <m:sub>
                            <m:r>
                              <a:rPr lang="en-NZ" sz="2000" b="0" i="1" smtClean="0">
                                <a:latin typeface="Cambria Math" panose="02040503050406030204" pitchFamily="18" charset="0"/>
                              </a:rPr>
                              <m:t>𝑞</m:t>
                            </m:r>
                          </m:sub>
                        </m:sSub>
                        <m:r>
                          <a:rPr lang="en-NZ" sz="2000" b="0" i="1" smtClean="0">
                            <a:latin typeface="Cambria Math" panose="02040503050406030204" pitchFamily="18" charset="0"/>
                          </a:rPr>
                          <m:t>=</m:t>
                        </m:r>
                        <m:sSub>
                          <m:sSubPr>
                            <m:ctrlPr>
                              <a:rPr lang="en-NZ" sz="2000" b="0" i="1" smtClean="0">
                                <a:latin typeface="Cambria Math" panose="02040503050406030204" pitchFamily="18" charset="0"/>
                              </a:rPr>
                            </m:ctrlPr>
                          </m:sSubPr>
                          <m:e>
                            <m:r>
                              <a:rPr lang="en-NZ" sz="2000" b="0" i="1" smtClean="0">
                                <a:latin typeface="Cambria Math" panose="02040503050406030204" pitchFamily="18" charset="0"/>
                              </a:rPr>
                              <m:t>𝐿</m:t>
                            </m:r>
                          </m:e>
                          <m:sub>
                            <m:r>
                              <a:rPr lang="en-NZ" sz="2000" b="0" i="1" smtClean="0">
                                <a:latin typeface="Cambria Math" panose="02040503050406030204" pitchFamily="18" charset="0"/>
                              </a:rPr>
                              <m:t>𝑆</m:t>
                            </m:r>
                          </m:sub>
                        </m:sSub>
                        <m:r>
                          <a:rPr lang="en-NZ" sz="2000" b="0" i="1" smtClean="0">
                            <a:latin typeface="Cambria Math" panose="02040503050406030204" pitchFamily="18" charset="0"/>
                          </a:rPr>
                          <m:t>−</m:t>
                        </m:r>
                        <m:f>
                          <m:fPr>
                            <m:ctrlPr>
                              <a:rPr lang="en-NZ" sz="2000" b="0" i="1" smtClean="0">
                                <a:latin typeface="Cambria Math" panose="02040503050406030204" pitchFamily="18" charset="0"/>
                              </a:rPr>
                            </m:ctrlPr>
                          </m:fPr>
                          <m:num>
                            <m:r>
                              <a:rPr lang="en-NZ" sz="2000" b="0" i="1" smtClean="0">
                                <a:latin typeface="Cambria Math" panose="02040503050406030204" pitchFamily="18" charset="0"/>
                                <a:ea typeface="Cambria Math" panose="02040503050406030204" pitchFamily="18" charset="0"/>
                              </a:rPr>
                              <m:t>𝜆</m:t>
                            </m:r>
                          </m:num>
                          <m:den>
                            <m:r>
                              <a:rPr lang="en-NZ" sz="2000" b="0" i="1" smtClean="0">
                                <a:latin typeface="Cambria Math" panose="02040503050406030204" pitchFamily="18" charset="0"/>
                                <a:ea typeface="Cambria Math" panose="02040503050406030204" pitchFamily="18" charset="0"/>
                              </a:rPr>
                              <m:t>𝜇</m:t>
                            </m:r>
                          </m:den>
                        </m:f>
                      </m:oMath>
                    </m:oMathPara>
                  </a14:m>
                  <a:endParaRPr lang="en-NZ"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3881312" y="3024052"/>
                  <a:ext cx="1371850" cy="632674"/>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510743" y="4521749"/>
                  <a:ext cx="2097113" cy="6322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Z" sz="2000" i="1" smtClean="0">
                                <a:latin typeface="Cambria Math" panose="02040503050406030204" pitchFamily="18" charset="0"/>
                              </a:rPr>
                            </m:ctrlPr>
                          </m:sSubPr>
                          <m:e>
                            <m:r>
                              <a:rPr lang="en-NZ" sz="2000" b="0" i="1" smtClean="0">
                                <a:latin typeface="Cambria Math" panose="02040503050406030204" pitchFamily="18" charset="0"/>
                              </a:rPr>
                              <m:t>𝑊</m:t>
                            </m:r>
                          </m:e>
                          <m:sub>
                            <m:r>
                              <a:rPr lang="en-NZ" sz="2000" b="0" i="1" smtClean="0">
                                <a:latin typeface="Cambria Math" panose="02040503050406030204" pitchFamily="18" charset="0"/>
                              </a:rPr>
                              <m:t>𝑞</m:t>
                            </m:r>
                          </m:sub>
                        </m:sSub>
                        <m:r>
                          <a:rPr lang="en-NZ" sz="2000" b="0" i="1" smtClean="0">
                            <a:latin typeface="Cambria Math" panose="02040503050406030204" pitchFamily="18" charset="0"/>
                          </a:rPr>
                          <m:t>=</m:t>
                        </m:r>
                        <m:sSub>
                          <m:sSubPr>
                            <m:ctrlPr>
                              <a:rPr lang="en-NZ" sz="2000" b="0" i="1" smtClean="0">
                                <a:latin typeface="Cambria Math" panose="02040503050406030204" pitchFamily="18" charset="0"/>
                              </a:rPr>
                            </m:ctrlPr>
                          </m:sSubPr>
                          <m:e>
                            <m:r>
                              <a:rPr lang="en-NZ" sz="2000" b="0" i="1" smtClean="0">
                                <a:latin typeface="Cambria Math" panose="02040503050406030204" pitchFamily="18" charset="0"/>
                              </a:rPr>
                              <m:t>𝑊</m:t>
                            </m:r>
                          </m:e>
                          <m:sub>
                            <m:r>
                              <a:rPr lang="en-NZ" sz="2000" b="0" i="1" smtClean="0">
                                <a:latin typeface="Cambria Math" panose="02040503050406030204" pitchFamily="18" charset="0"/>
                              </a:rPr>
                              <m:t>𝑆</m:t>
                            </m:r>
                          </m:sub>
                        </m:sSub>
                        <m:r>
                          <a:rPr lang="en-NZ" sz="2000" b="0" i="1" smtClean="0">
                            <a:latin typeface="Cambria Math" panose="02040503050406030204" pitchFamily="18" charset="0"/>
                          </a:rPr>
                          <m:t>−</m:t>
                        </m:r>
                        <m:f>
                          <m:fPr>
                            <m:ctrlPr>
                              <a:rPr lang="en-NZ" sz="2000" b="0" i="1" smtClean="0">
                                <a:latin typeface="Cambria Math" panose="02040503050406030204" pitchFamily="18" charset="0"/>
                              </a:rPr>
                            </m:ctrlPr>
                          </m:fPr>
                          <m:num>
                            <m:r>
                              <a:rPr lang="en-NZ" sz="2000" b="0" i="1" smtClean="0">
                                <a:latin typeface="Cambria Math" panose="02040503050406030204" pitchFamily="18" charset="0"/>
                              </a:rPr>
                              <m:t>1</m:t>
                            </m:r>
                          </m:num>
                          <m:den>
                            <m:r>
                              <a:rPr lang="en-NZ" sz="2000" b="0" i="1" smtClean="0">
                                <a:latin typeface="Cambria Math" panose="02040503050406030204" pitchFamily="18" charset="0"/>
                                <a:ea typeface="Cambria Math" panose="02040503050406030204" pitchFamily="18" charset="0"/>
                              </a:rPr>
                              <m:t>𝜇</m:t>
                            </m:r>
                          </m:den>
                        </m:f>
                        <m:r>
                          <a:rPr lang="en-NZ" sz="2000" b="0" i="1" smtClean="0">
                            <a:latin typeface="Cambria Math" panose="02040503050406030204" pitchFamily="18" charset="0"/>
                          </a:rPr>
                          <m:t>=</m:t>
                        </m:r>
                        <m:f>
                          <m:fPr>
                            <m:ctrlPr>
                              <a:rPr lang="en-NZ" sz="2000" b="0" i="1" smtClean="0">
                                <a:latin typeface="Cambria Math" panose="02040503050406030204" pitchFamily="18" charset="0"/>
                              </a:rPr>
                            </m:ctrlPr>
                          </m:fPr>
                          <m:num>
                            <m:sSub>
                              <m:sSubPr>
                                <m:ctrlPr>
                                  <a:rPr lang="en-NZ" sz="2000" b="0" i="1" smtClean="0">
                                    <a:latin typeface="Cambria Math" panose="02040503050406030204" pitchFamily="18" charset="0"/>
                                  </a:rPr>
                                </m:ctrlPr>
                              </m:sSubPr>
                              <m:e>
                                <m:r>
                                  <a:rPr lang="en-NZ" sz="2000" b="0" i="1" smtClean="0">
                                    <a:latin typeface="Cambria Math" panose="02040503050406030204" pitchFamily="18" charset="0"/>
                                  </a:rPr>
                                  <m:t>𝐿</m:t>
                                </m:r>
                              </m:e>
                              <m:sub>
                                <m:r>
                                  <a:rPr lang="en-NZ" sz="2000" b="0" i="1" smtClean="0">
                                    <a:latin typeface="Cambria Math" panose="02040503050406030204" pitchFamily="18" charset="0"/>
                                  </a:rPr>
                                  <m:t>𝑞</m:t>
                                </m:r>
                              </m:sub>
                            </m:sSub>
                          </m:num>
                          <m:den>
                            <m:r>
                              <a:rPr lang="en-NZ" sz="2000" b="0" i="1" smtClean="0">
                                <a:latin typeface="Cambria Math" panose="02040503050406030204" pitchFamily="18" charset="0"/>
                                <a:ea typeface="Cambria Math" panose="02040503050406030204" pitchFamily="18" charset="0"/>
                              </a:rPr>
                              <m:t>𝜆</m:t>
                            </m:r>
                          </m:den>
                        </m:f>
                      </m:oMath>
                    </m:oMathPara>
                  </a14:m>
                  <a:endParaRPr lang="en-NZ" sz="2000" dirty="0"/>
                </a:p>
              </p:txBody>
            </p:sp>
          </mc:Choice>
          <mc:Fallback xmlns="">
            <p:sp>
              <p:nvSpPr>
                <p:cNvPr id="6" name="TextBox 5"/>
                <p:cNvSpPr txBox="1">
                  <a:spLocks noRot="1" noChangeAspect="1" noMove="1" noResize="1" noEditPoints="1" noAdjustHandles="1" noChangeArrowheads="1" noChangeShapeType="1" noTextEdit="1"/>
                </p:cNvSpPr>
                <p:nvPr/>
              </p:nvSpPr>
              <p:spPr>
                <a:xfrm>
                  <a:off x="3510743" y="4521749"/>
                  <a:ext cx="2097113" cy="632289"/>
                </a:xfrm>
                <a:prstGeom prst="rect">
                  <a:avLst/>
                </a:prstGeom>
                <a:blipFill>
                  <a:blip r:embed="rId4"/>
                  <a:stretch>
                    <a:fillRect/>
                  </a:stretch>
                </a:blipFill>
              </p:spPr>
              <p:txBody>
                <a:bodyPr/>
                <a:lstStyle/>
                <a:p>
                  <a:r>
                    <a:rPr lang="en-NZ">
                      <a:noFill/>
                    </a:rPr>
                    <a:t> </a:t>
                  </a:r>
                </a:p>
              </p:txBody>
            </p:sp>
          </mc:Fallback>
        </mc:AlternateContent>
      </p:grpSp>
    </p:spTree>
    <p:extLst>
      <p:ext uri="{BB962C8B-B14F-4D97-AF65-F5344CB8AC3E}">
        <p14:creationId xmlns:p14="http://schemas.microsoft.com/office/powerpoint/2010/main" val="255637497"/>
      </p:ext>
    </p:extLst>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d-37.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6190" y="2274398"/>
            <a:ext cx="5842000" cy="3327400"/>
          </a:xfrm>
          <a:prstGeom prst="rect">
            <a:avLst/>
          </a:prstGeom>
        </p:spPr>
      </p:pic>
      <p:sp>
        <p:nvSpPr>
          <p:cNvPr id="4135" name="Rectangle 2"/>
          <p:cNvSpPr>
            <a:spLocks noGrp="1" noChangeArrowheads="1"/>
          </p:cNvSpPr>
          <p:nvPr>
            <p:ph type="title"/>
          </p:nvPr>
        </p:nvSpPr>
        <p:spPr/>
        <p:txBody>
          <a:bodyPr/>
          <a:lstStyle/>
          <a:p>
            <a:r>
              <a:rPr lang="en-US" dirty="0">
                <a:latin typeface="Arial" charset="0"/>
                <a:ea typeface="MS PGothic" charset="0"/>
                <a:cs typeface="MS PGothic" charset="0"/>
              </a:rPr>
              <a:t>Multiple-Server Example</a:t>
            </a:r>
          </a:p>
        </p:txBody>
      </p:sp>
      <p:sp>
        <p:nvSpPr>
          <p:cNvPr id="89091" name="Rectangle 3"/>
          <p:cNvSpPr>
            <a:spLocks noChangeArrowheads="1"/>
          </p:cNvSpPr>
          <p:nvPr/>
        </p:nvSpPr>
        <p:spPr bwMode="auto">
          <a:xfrm>
            <a:off x="1595438" y="1452563"/>
            <a:ext cx="6864350"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1054100" indent="-1054100">
              <a:buFont typeface="Times" charset="0"/>
              <a:buNone/>
              <a:tabLst>
                <a:tab pos="482600" algn="r"/>
                <a:tab pos="673100" algn="l"/>
                <a:tab pos="1054100" algn="l"/>
              </a:tabLst>
            </a:pPr>
            <a:r>
              <a:rPr lang="en-US" sz="2400" i="1" dirty="0">
                <a:sym typeface="Symbol" charset="0"/>
              </a:rPr>
              <a:t></a:t>
            </a:r>
            <a:r>
              <a:rPr lang="en-US" sz="2400" dirty="0">
                <a:sym typeface="Symbol" charset="0"/>
              </a:rPr>
              <a:t>  =  2                  </a:t>
            </a:r>
            <a:r>
              <a:rPr lang="en-US" sz="2400" i="1" dirty="0">
                <a:sym typeface="Symbol" charset="0"/>
              </a:rPr>
              <a:t>µ</a:t>
            </a:r>
            <a:r>
              <a:rPr lang="en-US" sz="2400" dirty="0">
                <a:sym typeface="Symbol" charset="0"/>
              </a:rPr>
              <a:t>  =  3                  </a:t>
            </a:r>
            <a:r>
              <a:rPr lang="en-US" sz="2400" i="1" dirty="0"/>
              <a:t>M</a:t>
            </a:r>
            <a:r>
              <a:rPr lang="en-US" sz="2400" dirty="0"/>
              <a:t>  =  2</a:t>
            </a:r>
          </a:p>
        </p:txBody>
      </p:sp>
    </p:spTree>
    <p:extLst>
      <p:ext uri="{BB962C8B-B14F-4D97-AF65-F5344CB8AC3E}">
        <p14:creationId xmlns:p14="http://schemas.microsoft.com/office/powerpoint/2010/main" val="3621564743"/>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89091"/>
                                        </p:tgtEl>
                                        <p:attrNameLst>
                                          <p:attrName>style.visibility</p:attrName>
                                        </p:attrNameLst>
                                      </p:cBhvr>
                                      <p:to>
                                        <p:strVal val="visible"/>
                                      </p:to>
                                    </p:set>
                                    <p:animEffect transition="in" filter="strips(downRight)">
                                      <p:cBhvr>
                                        <p:cTn id="7" dur="1000"/>
                                        <p:tgtEl>
                                          <p:spTgt spid="89091"/>
                                        </p:tgtEl>
                                      </p:cBhvr>
                                    </p:animEffect>
                                  </p:childTnLst>
                                </p:cTn>
                              </p:par>
                            </p:childTnLst>
                          </p:cTn>
                        </p:par>
                        <p:par>
                          <p:cTn id="8" fill="hold">
                            <p:stCondLst>
                              <p:cond delay="2000"/>
                            </p:stCondLst>
                            <p:childTnLst>
                              <p:par>
                                <p:cTn id="9" presetID="18" presetClass="entr" presetSubtype="6"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strips(downRight)">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6" name="Rectangle 2"/>
          <p:cNvSpPr>
            <a:spLocks noGrp="1" noChangeArrowheads="1"/>
          </p:cNvSpPr>
          <p:nvPr>
            <p:ph type="title"/>
          </p:nvPr>
        </p:nvSpPr>
        <p:spPr/>
        <p:txBody>
          <a:bodyPr/>
          <a:lstStyle/>
          <a:p>
            <a:r>
              <a:rPr lang="en-US" dirty="0">
                <a:latin typeface="Arial" charset="0"/>
                <a:ea typeface="MS PGothic" charset="0"/>
                <a:cs typeface="MS PGothic" charset="0"/>
              </a:rPr>
              <a:t>Multiple-Server Example</a:t>
            </a:r>
          </a:p>
        </p:txBody>
      </p:sp>
      <p:grpSp>
        <p:nvGrpSpPr>
          <p:cNvPr id="12" name="Group 11"/>
          <p:cNvGrpSpPr/>
          <p:nvPr/>
        </p:nvGrpSpPr>
        <p:grpSpPr>
          <a:xfrm>
            <a:off x="1128690" y="2940105"/>
            <a:ext cx="6876991" cy="3206691"/>
            <a:chOff x="1691757" y="3068751"/>
            <a:chExt cx="6876991" cy="3206691"/>
          </a:xfrm>
        </p:grpSpPr>
        <p:sp>
          <p:nvSpPr>
            <p:cNvPr id="4" name="TextBox 3"/>
            <p:cNvSpPr txBox="1"/>
            <p:nvPr/>
          </p:nvSpPr>
          <p:spPr>
            <a:xfrm>
              <a:off x="2090686" y="3721321"/>
              <a:ext cx="5725926" cy="276999"/>
            </a:xfrm>
            <a:prstGeom prst="rect">
              <a:avLst/>
            </a:prstGeom>
            <a:noFill/>
          </p:spPr>
          <p:txBody>
            <a:bodyPr wrap="none" lIns="0" tIns="0" rIns="0" bIns="0" rtlCol="0">
              <a:spAutoFit/>
            </a:bodyPr>
            <a:lstStyle/>
            <a:p>
              <a:r>
                <a:rPr lang="en-NZ" dirty="0">
                  <a:latin typeface="Cambria Math" panose="02040503050406030204" pitchFamily="18" charset="0"/>
                  <a:ea typeface="Cambria Math" panose="02040503050406030204" pitchFamily="18" charset="0"/>
                </a:rPr>
                <a:t>=</a:t>
              </a:r>
              <a:r>
                <a:rPr lang="en-NZ" dirty="0"/>
                <a:t> 22.5 minutes average time a car spends in the system</a:t>
              </a:r>
            </a:p>
          </p:txBody>
        </p:sp>
        <mc:AlternateContent xmlns:mc="http://schemas.openxmlformats.org/markup-compatibility/2006" xmlns:a14="http://schemas.microsoft.com/office/drawing/2010/main">
          <mc:Choice Requires="a14">
            <p:sp>
              <p:nvSpPr>
                <p:cNvPr id="6" name="TextBox 5"/>
                <p:cNvSpPr txBox="1"/>
                <p:nvPr/>
              </p:nvSpPr>
              <p:spPr>
                <a:xfrm>
                  <a:off x="1691757" y="3068751"/>
                  <a:ext cx="2349553" cy="5337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Z" i="1" smtClean="0">
                                <a:latin typeface="Cambria Math" panose="02040503050406030204" pitchFamily="18" charset="0"/>
                              </a:rPr>
                            </m:ctrlPr>
                          </m:sSubPr>
                          <m:e>
                            <m:r>
                              <a:rPr lang="en-NZ" b="0" i="1" smtClean="0">
                                <a:latin typeface="Cambria Math" panose="02040503050406030204" pitchFamily="18" charset="0"/>
                              </a:rPr>
                              <m:t>𝑊</m:t>
                            </m:r>
                          </m:e>
                          <m:sub>
                            <m:r>
                              <a:rPr lang="en-NZ" b="0" i="1" smtClean="0">
                                <a:latin typeface="Cambria Math" panose="02040503050406030204" pitchFamily="18" charset="0"/>
                              </a:rPr>
                              <m:t>𝑆</m:t>
                            </m:r>
                          </m:sub>
                        </m:sSub>
                        <m:r>
                          <a:rPr lang="en-NZ" b="0" i="1" smtClean="0">
                            <a:latin typeface="Cambria Math" panose="02040503050406030204" pitchFamily="18" charset="0"/>
                          </a:rPr>
                          <m:t>=</m:t>
                        </m:r>
                        <m:f>
                          <m:fPr>
                            <m:ctrlPr>
                              <a:rPr lang="en-NZ" b="0" i="1" smtClean="0">
                                <a:latin typeface="Cambria Math" panose="02040503050406030204" pitchFamily="18" charset="0"/>
                              </a:rPr>
                            </m:ctrlPr>
                          </m:fPr>
                          <m:num>
                            <m:sSub>
                              <m:sSubPr>
                                <m:ctrlPr>
                                  <a:rPr lang="en-NZ" b="0" i="1" smtClean="0">
                                    <a:latin typeface="Cambria Math" panose="02040503050406030204" pitchFamily="18" charset="0"/>
                                  </a:rPr>
                                </m:ctrlPr>
                              </m:sSubPr>
                              <m:e>
                                <m:r>
                                  <a:rPr lang="en-NZ" b="0" i="1" smtClean="0">
                                    <a:latin typeface="Cambria Math" panose="02040503050406030204" pitchFamily="18" charset="0"/>
                                  </a:rPr>
                                  <m:t>𝐿</m:t>
                                </m:r>
                              </m:e>
                              <m:sub>
                                <m:r>
                                  <a:rPr lang="en-NZ" b="0" i="1" smtClean="0">
                                    <a:latin typeface="Cambria Math" panose="02040503050406030204" pitchFamily="18" charset="0"/>
                                  </a:rPr>
                                  <m:t>𝑆</m:t>
                                </m:r>
                              </m:sub>
                            </m:sSub>
                          </m:num>
                          <m:den>
                            <m:r>
                              <a:rPr lang="en-NZ" b="0" i="1" smtClean="0">
                                <a:latin typeface="Cambria Math" panose="02040503050406030204" pitchFamily="18" charset="0"/>
                                <a:ea typeface="Cambria Math" panose="02040503050406030204" pitchFamily="18" charset="0"/>
                              </a:rPr>
                              <m:t>𝜆</m:t>
                            </m:r>
                          </m:den>
                        </m:f>
                        <m:r>
                          <a:rPr lang="en-NZ" b="0" i="1" smtClean="0">
                            <a:latin typeface="Cambria Math" panose="02040503050406030204" pitchFamily="18" charset="0"/>
                          </a:rPr>
                          <m:t>=</m:t>
                        </m:r>
                        <m:f>
                          <m:fPr>
                            <m:ctrlPr>
                              <a:rPr lang="en-NZ" b="0" i="1" smtClean="0">
                                <a:latin typeface="Cambria Math" panose="02040503050406030204" pitchFamily="18" charset="0"/>
                              </a:rPr>
                            </m:ctrlPr>
                          </m:fPr>
                          <m:num>
                            <m:r>
                              <m:rPr>
                                <m:nor/>
                              </m:rPr>
                              <a:rPr lang="en-NZ" b="0" i="0" smtClean="0">
                                <a:latin typeface="Arial" panose="020B0604020202020204" pitchFamily="34" charset="0"/>
                              </a:rPr>
                              <m:t>3/4</m:t>
                            </m:r>
                          </m:num>
                          <m:den>
                            <m:r>
                              <m:rPr>
                                <m:nor/>
                              </m:rPr>
                              <a:rPr lang="en-NZ" b="0" i="0" smtClean="0">
                                <a:latin typeface="Arial" panose="020B0604020202020204" pitchFamily="34" charset="0"/>
                              </a:rPr>
                              <m:t>2</m:t>
                            </m:r>
                          </m:den>
                        </m:f>
                        <m:r>
                          <m:rPr>
                            <m:nor/>
                          </m:rPr>
                          <a:rPr lang="en-NZ" b="0" i="0" smtClean="0">
                            <a:latin typeface="Arial" panose="020B0604020202020204" pitchFamily="34" charset="0"/>
                          </a:rPr>
                          <m:t>=</m:t>
                        </m:r>
                        <m:f>
                          <m:fPr>
                            <m:ctrlPr>
                              <a:rPr lang="en-NZ" b="0" i="1" smtClean="0">
                                <a:latin typeface="Cambria Math" panose="02040503050406030204" pitchFamily="18" charset="0"/>
                              </a:rPr>
                            </m:ctrlPr>
                          </m:fPr>
                          <m:num>
                            <m:r>
                              <m:rPr>
                                <m:nor/>
                              </m:rPr>
                              <a:rPr lang="en-NZ" b="0" i="0" smtClean="0">
                                <a:latin typeface="Arial" panose="020B0604020202020204" pitchFamily="34" charset="0"/>
                              </a:rPr>
                              <m:t>3</m:t>
                            </m:r>
                          </m:num>
                          <m:den>
                            <m:r>
                              <m:rPr>
                                <m:nor/>
                              </m:rPr>
                              <a:rPr lang="en-NZ" b="0" i="0" smtClean="0">
                                <a:latin typeface="Arial" panose="020B0604020202020204" pitchFamily="34" charset="0"/>
                              </a:rPr>
                              <m:t>8</m:t>
                            </m:r>
                          </m:den>
                        </m:f>
                        <m:r>
                          <m:rPr>
                            <m:sty m:val="p"/>
                          </m:rPr>
                          <a:rPr lang="en-NZ" b="0" i="0" smtClean="0">
                            <a:latin typeface="Cambria Math" panose="02040503050406030204" pitchFamily="18" charset="0"/>
                          </a:rPr>
                          <m:t>hour</m:t>
                        </m:r>
                      </m:oMath>
                    </m:oMathPara>
                  </a14:m>
                  <a:endParaRPr lang="en-NZ" dirty="0"/>
                </a:p>
              </p:txBody>
            </p:sp>
          </mc:Choice>
          <mc:Fallback xmlns="">
            <p:sp>
              <p:nvSpPr>
                <p:cNvPr id="6" name="TextBox 5"/>
                <p:cNvSpPr txBox="1">
                  <a:spLocks noRot="1" noChangeAspect="1" noMove="1" noResize="1" noEditPoints="1" noAdjustHandles="1" noChangeArrowheads="1" noChangeShapeType="1" noTextEdit="1"/>
                </p:cNvSpPr>
                <p:nvPr/>
              </p:nvSpPr>
              <p:spPr>
                <a:xfrm>
                  <a:off x="1691757" y="3068751"/>
                  <a:ext cx="2349553" cy="533736"/>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732098" y="4184389"/>
                  <a:ext cx="3717236" cy="5876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Z" i="1" smtClean="0">
                                <a:latin typeface="Cambria Math" panose="02040503050406030204" pitchFamily="18" charset="0"/>
                              </a:rPr>
                            </m:ctrlPr>
                          </m:sSubPr>
                          <m:e>
                            <m:r>
                              <a:rPr lang="en-NZ" b="0" i="1" smtClean="0">
                                <a:latin typeface="Cambria Math" panose="02040503050406030204" pitchFamily="18" charset="0"/>
                              </a:rPr>
                              <m:t>𝐿</m:t>
                            </m:r>
                          </m:e>
                          <m:sub>
                            <m:r>
                              <a:rPr lang="en-NZ" b="0" i="1" smtClean="0">
                                <a:latin typeface="Cambria Math" panose="02040503050406030204" pitchFamily="18" charset="0"/>
                              </a:rPr>
                              <m:t>𝑞</m:t>
                            </m:r>
                          </m:sub>
                        </m:sSub>
                        <m:r>
                          <a:rPr lang="en-NZ" b="0" i="1" smtClean="0">
                            <a:latin typeface="Cambria Math" panose="02040503050406030204" pitchFamily="18" charset="0"/>
                          </a:rPr>
                          <m:t>=</m:t>
                        </m:r>
                        <m:sSub>
                          <m:sSubPr>
                            <m:ctrlPr>
                              <a:rPr lang="en-NZ" b="0" i="1" smtClean="0">
                                <a:latin typeface="Cambria Math" panose="02040503050406030204" pitchFamily="18" charset="0"/>
                              </a:rPr>
                            </m:ctrlPr>
                          </m:sSubPr>
                          <m:e>
                            <m:r>
                              <a:rPr lang="en-NZ" b="0" i="1" smtClean="0">
                                <a:latin typeface="Cambria Math" panose="02040503050406030204" pitchFamily="18" charset="0"/>
                              </a:rPr>
                              <m:t>𝐿</m:t>
                            </m:r>
                          </m:e>
                          <m:sub>
                            <m:r>
                              <a:rPr lang="en-NZ" b="0" i="1" smtClean="0">
                                <a:latin typeface="Cambria Math" panose="02040503050406030204" pitchFamily="18" charset="0"/>
                              </a:rPr>
                              <m:t>𝑆</m:t>
                            </m:r>
                          </m:sub>
                        </m:sSub>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ea typeface="Cambria Math" panose="02040503050406030204" pitchFamily="18" charset="0"/>
                              </a:rPr>
                              <m:t>𝜆</m:t>
                            </m:r>
                          </m:num>
                          <m:den>
                            <m:r>
                              <a:rPr lang="en-NZ" b="0" i="1" smtClean="0">
                                <a:latin typeface="Cambria Math" panose="02040503050406030204" pitchFamily="18" charset="0"/>
                                <a:ea typeface="Cambria Math" panose="02040503050406030204" pitchFamily="18" charset="0"/>
                              </a:rPr>
                              <m:t>𝜇</m:t>
                            </m:r>
                          </m:den>
                        </m:f>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3</m:t>
                            </m:r>
                          </m:num>
                          <m:den>
                            <m:r>
                              <a:rPr lang="en-NZ" b="0" i="1" smtClean="0">
                                <a:latin typeface="Cambria Math" panose="02040503050406030204" pitchFamily="18" charset="0"/>
                              </a:rPr>
                              <m:t>4</m:t>
                            </m:r>
                          </m:den>
                        </m:f>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2</m:t>
                            </m:r>
                          </m:num>
                          <m:den>
                            <m:r>
                              <a:rPr lang="en-NZ" b="0" i="1" smtClean="0">
                                <a:latin typeface="Cambria Math" panose="02040503050406030204" pitchFamily="18" charset="0"/>
                              </a:rPr>
                              <m:t>3</m:t>
                            </m:r>
                          </m:den>
                        </m:f>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9</m:t>
                            </m:r>
                          </m:num>
                          <m:den>
                            <m:r>
                              <a:rPr lang="en-NZ" b="0" i="1" smtClean="0">
                                <a:latin typeface="Cambria Math" panose="02040503050406030204" pitchFamily="18" charset="0"/>
                              </a:rPr>
                              <m:t>12</m:t>
                            </m:r>
                          </m:den>
                        </m:f>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8</m:t>
                            </m:r>
                          </m:num>
                          <m:den>
                            <m:r>
                              <a:rPr lang="en-NZ" b="0" i="1" smtClean="0">
                                <a:latin typeface="Cambria Math" panose="02040503050406030204" pitchFamily="18" charset="0"/>
                              </a:rPr>
                              <m:t>12</m:t>
                            </m:r>
                          </m:den>
                        </m:f>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1</m:t>
                            </m:r>
                          </m:num>
                          <m:den>
                            <m:r>
                              <a:rPr lang="en-NZ" b="0" i="1" smtClean="0">
                                <a:latin typeface="Cambria Math" panose="02040503050406030204" pitchFamily="18" charset="0"/>
                              </a:rPr>
                              <m:t>12</m:t>
                            </m:r>
                          </m:den>
                        </m:f>
                      </m:oMath>
                    </m:oMathPara>
                  </a14:m>
                  <a:endParaRPr lang="en-NZ" dirty="0"/>
                </a:p>
              </p:txBody>
            </p:sp>
          </mc:Choice>
          <mc:Fallback xmlns="">
            <p:sp>
              <p:nvSpPr>
                <p:cNvPr id="5" name="TextBox 4"/>
                <p:cNvSpPr txBox="1">
                  <a:spLocks noRot="1" noChangeAspect="1" noMove="1" noResize="1" noEditPoints="1" noAdjustHandles="1" noChangeArrowheads="1" noChangeShapeType="1" noTextEdit="1"/>
                </p:cNvSpPr>
                <p:nvPr/>
              </p:nvSpPr>
              <p:spPr>
                <a:xfrm>
                  <a:off x="1732098" y="4184389"/>
                  <a:ext cx="3717236" cy="587661"/>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691757" y="5353952"/>
                  <a:ext cx="3036857" cy="525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Z" i="1" smtClean="0">
                                <a:latin typeface="Cambria Math" panose="02040503050406030204" pitchFamily="18" charset="0"/>
                              </a:rPr>
                            </m:ctrlPr>
                          </m:sSubPr>
                          <m:e>
                            <m:r>
                              <a:rPr lang="en-NZ" b="0" i="1" smtClean="0">
                                <a:latin typeface="Cambria Math" panose="02040503050406030204" pitchFamily="18" charset="0"/>
                              </a:rPr>
                              <m:t>𝑊</m:t>
                            </m:r>
                          </m:e>
                          <m:sub>
                            <m:r>
                              <a:rPr lang="en-NZ" b="0" i="1" smtClean="0">
                                <a:latin typeface="Cambria Math" panose="02040503050406030204" pitchFamily="18" charset="0"/>
                              </a:rPr>
                              <m:t>𝑞</m:t>
                            </m:r>
                          </m:sub>
                        </m:sSub>
                        <m:r>
                          <a:rPr lang="en-NZ" b="0" i="1" smtClean="0">
                            <a:latin typeface="Cambria Math" panose="02040503050406030204" pitchFamily="18" charset="0"/>
                          </a:rPr>
                          <m:t>=</m:t>
                        </m:r>
                        <m:f>
                          <m:fPr>
                            <m:ctrlPr>
                              <a:rPr lang="en-NZ" b="0" i="1" smtClean="0">
                                <a:latin typeface="Cambria Math" panose="02040503050406030204" pitchFamily="18" charset="0"/>
                              </a:rPr>
                            </m:ctrlPr>
                          </m:fPr>
                          <m:num>
                            <m:sSub>
                              <m:sSubPr>
                                <m:ctrlPr>
                                  <a:rPr lang="en-NZ" b="0" i="1" smtClean="0">
                                    <a:latin typeface="Cambria Math" panose="02040503050406030204" pitchFamily="18" charset="0"/>
                                  </a:rPr>
                                </m:ctrlPr>
                              </m:sSubPr>
                              <m:e>
                                <m:r>
                                  <a:rPr lang="en-NZ" b="0" i="1" smtClean="0">
                                    <a:latin typeface="Cambria Math" panose="02040503050406030204" pitchFamily="18" charset="0"/>
                                  </a:rPr>
                                  <m:t>𝐿</m:t>
                                </m:r>
                              </m:e>
                              <m:sub>
                                <m:r>
                                  <a:rPr lang="en-NZ" b="0" i="1" smtClean="0">
                                    <a:latin typeface="Cambria Math" panose="02040503050406030204" pitchFamily="18" charset="0"/>
                                  </a:rPr>
                                  <m:t>𝑞</m:t>
                                </m:r>
                              </m:sub>
                            </m:sSub>
                          </m:num>
                          <m:den>
                            <m:r>
                              <a:rPr lang="en-NZ" b="0" i="1" smtClean="0">
                                <a:latin typeface="Cambria Math" panose="02040503050406030204" pitchFamily="18" charset="0"/>
                                <a:ea typeface="Cambria Math" panose="02040503050406030204" pitchFamily="18" charset="0"/>
                              </a:rPr>
                              <m:t>𝜆</m:t>
                            </m:r>
                          </m:den>
                        </m:f>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.083</m:t>
                            </m:r>
                          </m:num>
                          <m:den>
                            <m:r>
                              <a:rPr lang="en-NZ" b="0" i="1" smtClean="0">
                                <a:latin typeface="Cambria Math" panose="02040503050406030204" pitchFamily="18" charset="0"/>
                              </a:rPr>
                              <m:t>2</m:t>
                            </m:r>
                          </m:den>
                        </m:f>
                        <m:r>
                          <a:rPr lang="en-NZ" b="0" i="1" smtClean="0">
                            <a:latin typeface="Cambria Math" panose="02040503050406030204" pitchFamily="18" charset="0"/>
                          </a:rPr>
                          <m:t>=.0415 </m:t>
                        </m:r>
                        <m:r>
                          <m:rPr>
                            <m:nor/>
                          </m:rPr>
                          <a:rPr lang="en-NZ" b="0" i="0" smtClean="0">
                            <a:latin typeface="Cambria Math" panose="02040503050406030204" pitchFamily="18" charset="0"/>
                          </a:rPr>
                          <m:t>hour</m:t>
                        </m:r>
                      </m:oMath>
                    </m:oMathPara>
                  </a14:m>
                  <a:endParaRPr lang="en-NZ" dirty="0"/>
                </a:p>
              </p:txBody>
            </p:sp>
          </mc:Choice>
          <mc:Fallback xmlns="">
            <p:sp>
              <p:nvSpPr>
                <p:cNvPr id="7" name="TextBox 6"/>
                <p:cNvSpPr txBox="1">
                  <a:spLocks noRot="1" noChangeAspect="1" noMove="1" noResize="1" noEditPoints="1" noAdjustHandles="1" noChangeArrowheads="1" noChangeShapeType="1" noTextEdit="1"/>
                </p:cNvSpPr>
                <p:nvPr/>
              </p:nvSpPr>
              <p:spPr>
                <a:xfrm>
                  <a:off x="1691757" y="5353952"/>
                  <a:ext cx="3036857" cy="525657"/>
                </a:xfrm>
                <a:prstGeom prst="rect">
                  <a:avLst/>
                </a:prstGeom>
                <a:blipFill>
                  <a:blip r:embed="rId5"/>
                  <a:stretch>
                    <a:fillRect/>
                  </a:stretch>
                </a:blipFill>
              </p:spPr>
              <p:txBody>
                <a:bodyPr/>
                <a:lstStyle/>
                <a:p>
                  <a:r>
                    <a:rPr lang="en-NZ">
                      <a:noFill/>
                    </a:rPr>
                    <a:t> </a:t>
                  </a:r>
                </a:p>
              </p:txBody>
            </p:sp>
          </mc:Fallback>
        </mc:AlternateContent>
        <p:sp>
          <p:nvSpPr>
            <p:cNvPr id="9" name="TextBox 8"/>
            <p:cNvSpPr txBox="1"/>
            <p:nvPr/>
          </p:nvSpPr>
          <p:spPr>
            <a:xfrm>
              <a:off x="2081722" y="4890884"/>
              <a:ext cx="5456622" cy="276999"/>
            </a:xfrm>
            <a:prstGeom prst="rect">
              <a:avLst/>
            </a:prstGeom>
            <a:noFill/>
          </p:spPr>
          <p:txBody>
            <a:bodyPr wrap="none" lIns="0" tIns="0" rIns="0" bIns="0" rtlCol="0">
              <a:spAutoFit/>
            </a:bodyPr>
            <a:lstStyle/>
            <a:p>
              <a:r>
                <a:rPr lang="en-NZ" dirty="0">
                  <a:latin typeface="Cambria Math" panose="02040503050406030204" pitchFamily="18" charset="0"/>
                  <a:ea typeface="Cambria Math" panose="02040503050406030204" pitchFamily="18" charset="0"/>
                </a:rPr>
                <a:t>=</a:t>
              </a:r>
              <a:r>
                <a:rPr lang="en-NZ" dirty="0"/>
                <a:t> .083 average number of cars in the queue (waiting)</a:t>
              </a:r>
            </a:p>
          </p:txBody>
        </p:sp>
        <p:sp>
          <p:nvSpPr>
            <p:cNvPr id="10" name="TextBox 9"/>
            <p:cNvSpPr txBox="1"/>
            <p:nvPr/>
          </p:nvSpPr>
          <p:spPr>
            <a:xfrm>
              <a:off x="2086204" y="5998443"/>
              <a:ext cx="6482544" cy="276999"/>
            </a:xfrm>
            <a:prstGeom prst="rect">
              <a:avLst/>
            </a:prstGeom>
            <a:noFill/>
          </p:spPr>
          <p:txBody>
            <a:bodyPr wrap="none" lIns="0" tIns="0" rIns="0" bIns="0" rtlCol="0">
              <a:spAutoFit/>
            </a:bodyPr>
            <a:lstStyle/>
            <a:p>
              <a:r>
                <a:rPr lang="en-NZ" dirty="0">
                  <a:latin typeface="Cambria Math" panose="02040503050406030204" pitchFamily="18" charset="0"/>
                  <a:ea typeface="Cambria Math" panose="02040503050406030204" pitchFamily="18" charset="0"/>
                </a:rPr>
                <a:t>=</a:t>
              </a:r>
              <a:r>
                <a:rPr lang="en-NZ" dirty="0"/>
                <a:t> 2.5 minutes average time a car spends in the queue (waiting)</a:t>
              </a:r>
            </a:p>
          </p:txBody>
        </p:sp>
      </p:grpSp>
      <p:grpSp>
        <p:nvGrpSpPr>
          <p:cNvPr id="14" name="Group 13"/>
          <p:cNvGrpSpPr/>
          <p:nvPr/>
        </p:nvGrpSpPr>
        <p:grpSpPr>
          <a:xfrm>
            <a:off x="2062627" y="1637980"/>
            <a:ext cx="5018746" cy="1044849"/>
            <a:chOff x="2303466" y="1469175"/>
            <a:chExt cx="5018746" cy="1044849"/>
          </a:xfrm>
        </p:grpSpPr>
        <mc:AlternateContent xmlns:mc="http://schemas.openxmlformats.org/markup-compatibility/2006" xmlns:a14="http://schemas.microsoft.com/office/drawing/2010/main">
          <mc:Choice Requires="a14">
            <p:sp>
              <p:nvSpPr>
                <p:cNvPr id="13" name="TextBox 12"/>
                <p:cNvSpPr txBox="1"/>
                <p:nvPr/>
              </p:nvSpPr>
              <p:spPr>
                <a:xfrm>
                  <a:off x="2303466" y="1469175"/>
                  <a:ext cx="5018746" cy="6279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Z" i="1" smtClean="0">
                                <a:latin typeface="Cambria Math" panose="02040503050406030204" pitchFamily="18" charset="0"/>
                              </a:rPr>
                            </m:ctrlPr>
                          </m:sSubPr>
                          <m:e>
                            <m:r>
                              <a:rPr lang="en-NZ" b="0" i="1" smtClean="0">
                                <a:latin typeface="Cambria Math" panose="02040503050406030204" pitchFamily="18" charset="0"/>
                              </a:rPr>
                              <m:t>𝐿</m:t>
                            </m:r>
                          </m:e>
                          <m:sub>
                            <m:r>
                              <a:rPr lang="en-NZ" b="0" i="1" smtClean="0">
                                <a:latin typeface="Cambria Math" panose="02040503050406030204" pitchFamily="18" charset="0"/>
                              </a:rPr>
                              <m:t>𝑆</m:t>
                            </m:r>
                          </m:sub>
                        </m:sSub>
                        <m:r>
                          <a:rPr lang="en-NZ" b="0" i="1" smtClean="0">
                            <a:latin typeface="Cambria Math" panose="02040503050406030204" pitchFamily="18" charset="0"/>
                          </a:rPr>
                          <m:t>=</m:t>
                        </m:r>
                        <m:f>
                          <m:fPr>
                            <m:ctrlPr>
                              <a:rPr lang="en-NZ" b="0" i="1" smtClean="0">
                                <a:latin typeface="Cambria Math" panose="02040503050406030204" pitchFamily="18" charset="0"/>
                              </a:rPr>
                            </m:ctrlPr>
                          </m:fPr>
                          <m:num>
                            <m:sSup>
                              <m:sSupPr>
                                <m:ctrlPr>
                                  <a:rPr lang="en-NZ" b="0" i="1" smtClean="0">
                                    <a:latin typeface="Cambria Math" panose="02040503050406030204" pitchFamily="18" charset="0"/>
                                  </a:rPr>
                                </m:ctrlPr>
                              </m:sSupPr>
                              <m:e>
                                <m:d>
                                  <m:dPr>
                                    <m:ctrlPr>
                                      <a:rPr lang="en-NZ" b="0" i="1" smtClean="0">
                                        <a:latin typeface="Cambria Math" panose="02040503050406030204" pitchFamily="18" charset="0"/>
                                      </a:rPr>
                                    </m:ctrlPr>
                                  </m:dPr>
                                  <m:e>
                                    <m:r>
                                      <a:rPr lang="en-NZ" b="0" i="1" smtClean="0">
                                        <a:latin typeface="Cambria Math" panose="02040503050406030204" pitchFamily="18" charset="0"/>
                                      </a:rPr>
                                      <m:t>2</m:t>
                                    </m:r>
                                  </m:e>
                                </m:d>
                                <m:d>
                                  <m:dPr>
                                    <m:ctrlPr>
                                      <a:rPr lang="en-NZ" b="0" i="1" smtClean="0">
                                        <a:latin typeface="Cambria Math" panose="02040503050406030204" pitchFamily="18" charset="0"/>
                                      </a:rPr>
                                    </m:ctrlPr>
                                  </m:dPr>
                                  <m:e>
                                    <m:r>
                                      <a:rPr lang="en-NZ" b="0" i="1" smtClean="0">
                                        <a:latin typeface="Cambria Math" panose="02040503050406030204" pitchFamily="18" charset="0"/>
                                      </a:rPr>
                                      <m:t>3</m:t>
                                    </m:r>
                                  </m:e>
                                </m:d>
                                <m:d>
                                  <m:dPr>
                                    <m:ctrlPr>
                                      <a:rPr lang="en-NZ" b="0" i="1" smtClean="0">
                                        <a:latin typeface="Cambria Math" panose="02040503050406030204" pitchFamily="18" charset="0"/>
                                      </a:rPr>
                                    </m:ctrlPr>
                                  </m:dPr>
                                  <m:e>
                                    <m:r>
                                      <a:rPr lang="en-NZ" b="0" i="1" smtClean="0">
                                        <a:latin typeface="Cambria Math" panose="02040503050406030204" pitchFamily="18" charset="0"/>
                                      </a:rPr>
                                      <m:t>2/3</m:t>
                                    </m:r>
                                  </m:e>
                                </m:d>
                              </m:e>
                              <m:sup>
                                <m:r>
                                  <a:rPr lang="en-NZ" b="0" i="1" smtClean="0">
                                    <a:latin typeface="Cambria Math" panose="02040503050406030204" pitchFamily="18" charset="0"/>
                                  </a:rPr>
                                  <m:t>2</m:t>
                                </m:r>
                              </m:sup>
                            </m:sSup>
                          </m:num>
                          <m:den>
                            <m:sSup>
                              <m:sSupPr>
                                <m:ctrlPr>
                                  <a:rPr lang="en-NZ" b="0" i="1" smtClean="0">
                                    <a:latin typeface="Cambria Math" panose="02040503050406030204" pitchFamily="18" charset="0"/>
                                  </a:rPr>
                                </m:ctrlPr>
                              </m:sSupPr>
                              <m:e>
                                <m:d>
                                  <m:dPr>
                                    <m:ctrlPr>
                                      <a:rPr lang="en-NZ" b="0" i="1" smtClean="0">
                                        <a:latin typeface="Cambria Math" panose="02040503050406030204" pitchFamily="18" charset="0"/>
                                      </a:rPr>
                                    </m:ctrlPr>
                                  </m:dPr>
                                  <m:e>
                                    <m:r>
                                      <a:rPr lang="en-NZ" b="0" i="1" smtClean="0">
                                        <a:latin typeface="Cambria Math" panose="02040503050406030204" pitchFamily="18" charset="0"/>
                                      </a:rPr>
                                      <m:t>1</m:t>
                                    </m:r>
                                  </m:e>
                                </m:d>
                                <m:r>
                                  <a:rPr lang="en-NZ" b="0" i="1" smtClean="0">
                                    <a:latin typeface="Cambria Math" panose="02040503050406030204" pitchFamily="18" charset="0"/>
                                  </a:rPr>
                                  <m:t>!</m:t>
                                </m:r>
                                <m:d>
                                  <m:dPr>
                                    <m:ctrlPr>
                                      <a:rPr lang="en-NZ" b="0" i="1" smtClean="0">
                                        <a:latin typeface="Cambria Math" panose="02040503050406030204" pitchFamily="18" charset="0"/>
                                      </a:rPr>
                                    </m:ctrlPr>
                                  </m:dPr>
                                  <m:e>
                                    <m:r>
                                      <a:rPr lang="en-NZ" b="0" i="1" smtClean="0">
                                        <a:latin typeface="Cambria Math" panose="02040503050406030204" pitchFamily="18" charset="0"/>
                                      </a:rPr>
                                      <m:t>2</m:t>
                                    </m:r>
                                    <m:d>
                                      <m:dPr>
                                        <m:ctrlPr>
                                          <a:rPr lang="en-NZ" b="0" i="1" smtClean="0">
                                            <a:latin typeface="Cambria Math" panose="02040503050406030204" pitchFamily="18" charset="0"/>
                                          </a:rPr>
                                        </m:ctrlPr>
                                      </m:dPr>
                                      <m:e>
                                        <m:r>
                                          <a:rPr lang="en-NZ" b="0" i="1" smtClean="0">
                                            <a:latin typeface="Cambria Math" panose="02040503050406030204" pitchFamily="18" charset="0"/>
                                          </a:rPr>
                                          <m:t>3</m:t>
                                        </m:r>
                                      </m:e>
                                    </m:d>
                                    <m:r>
                                      <a:rPr lang="en-NZ" b="0" i="1" smtClean="0">
                                        <a:latin typeface="Cambria Math" panose="02040503050406030204" pitchFamily="18" charset="0"/>
                                      </a:rPr>
                                      <m:t>−2</m:t>
                                    </m:r>
                                  </m:e>
                                </m:d>
                              </m:e>
                              <m:sup>
                                <m:r>
                                  <a:rPr lang="en-NZ" b="0" i="1" smtClean="0">
                                    <a:latin typeface="Cambria Math" panose="02040503050406030204" pitchFamily="18" charset="0"/>
                                  </a:rPr>
                                  <m:t>2</m:t>
                                </m:r>
                              </m:sup>
                            </m:sSup>
                          </m:den>
                        </m:f>
                        <m:d>
                          <m:dPr>
                            <m:ctrlPr>
                              <a:rPr lang="en-NZ" b="0" i="1" smtClean="0">
                                <a:latin typeface="Cambria Math" panose="02040503050406030204" pitchFamily="18" charset="0"/>
                              </a:rPr>
                            </m:ctrlPr>
                          </m:dPr>
                          <m:e>
                            <m:f>
                              <m:fPr>
                                <m:ctrlPr>
                                  <a:rPr lang="en-NZ" b="0" i="1" smtClean="0">
                                    <a:latin typeface="Cambria Math" panose="02040503050406030204" pitchFamily="18" charset="0"/>
                                  </a:rPr>
                                </m:ctrlPr>
                              </m:fPr>
                              <m:num>
                                <m:r>
                                  <a:rPr lang="en-NZ" b="0" i="1" smtClean="0">
                                    <a:latin typeface="Cambria Math" panose="02040503050406030204" pitchFamily="18" charset="0"/>
                                  </a:rPr>
                                  <m:t>1</m:t>
                                </m:r>
                              </m:num>
                              <m:den>
                                <m:r>
                                  <a:rPr lang="en-NZ" b="0" i="1" smtClean="0">
                                    <a:latin typeface="Cambria Math" panose="02040503050406030204" pitchFamily="18" charset="0"/>
                                  </a:rPr>
                                  <m:t>2</m:t>
                                </m:r>
                              </m:den>
                            </m:f>
                          </m:e>
                        </m:d>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2</m:t>
                            </m:r>
                          </m:num>
                          <m:den>
                            <m:r>
                              <a:rPr lang="en-NZ" b="0" i="1" smtClean="0">
                                <a:latin typeface="Cambria Math" panose="02040503050406030204" pitchFamily="18" charset="0"/>
                              </a:rPr>
                              <m:t>3</m:t>
                            </m:r>
                          </m:den>
                        </m:f>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8/3</m:t>
                            </m:r>
                          </m:num>
                          <m:den>
                            <m:r>
                              <a:rPr lang="en-NZ" b="0" i="1" smtClean="0">
                                <a:latin typeface="Cambria Math" panose="02040503050406030204" pitchFamily="18" charset="0"/>
                              </a:rPr>
                              <m:t>16</m:t>
                            </m:r>
                          </m:den>
                        </m:f>
                        <m:d>
                          <m:dPr>
                            <m:ctrlPr>
                              <a:rPr lang="en-NZ" b="0" i="1" smtClean="0">
                                <a:latin typeface="Cambria Math" panose="02040503050406030204" pitchFamily="18" charset="0"/>
                              </a:rPr>
                            </m:ctrlPr>
                          </m:dPr>
                          <m:e>
                            <m:f>
                              <m:fPr>
                                <m:ctrlPr>
                                  <a:rPr lang="en-NZ" b="0" i="1" smtClean="0">
                                    <a:latin typeface="Cambria Math" panose="02040503050406030204" pitchFamily="18" charset="0"/>
                                  </a:rPr>
                                </m:ctrlPr>
                              </m:fPr>
                              <m:num>
                                <m:r>
                                  <a:rPr lang="en-NZ" b="0" i="1" smtClean="0">
                                    <a:latin typeface="Cambria Math" panose="02040503050406030204" pitchFamily="18" charset="0"/>
                                  </a:rPr>
                                  <m:t>1</m:t>
                                </m:r>
                              </m:num>
                              <m:den>
                                <m:r>
                                  <a:rPr lang="en-NZ" b="0" i="1" smtClean="0">
                                    <a:latin typeface="Cambria Math" panose="02040503050406030204" pitchFamily="18" charset="0"/>
                                  </a:rPr>
                                  <m:t>2</m:t>
                                </m:r>
                              </m:den>
                            </m:f>
                          </m:e>
                        </m:d>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2</m:t>
                            </m:r>
                          </m:num>
                          <m:den>
                            <m:r>
                              <a:rPr lang="en-NZ" b="0" i="1" smtClean="0">
                                <a:latin typeface="Cambria Math" panose="02040503050406030204" pitchFamily="18" charset="0"/>
                              </a:rPr>
                              <m:t>3</m:t>
                            </m:r>
                          </m:den>
                        </m:f>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3</m:t>
                            </m:r>
                          </m:num>
                          <m:den>
                            <m:r>
                              <a:rPr lang="en-NZ" b="0" i="1" smtClean="0">
                                <a:latin typeface="Cambria Math" panose="02040503050406030204" pitchFamily="18" charset="0"/>
                              </a:rPr>
                              <m:t>4</m:t>
                            </m:r>
                          </m:den>
                        </m:f>
                      </m:oMath>
                    </m:oMathPara>
                  </a14:m>
                  <a:endParaRPr lang="en-NZ" dirty="0"/>
                </a:p>
              </p:txBody>
            </p:sp>
          </mc:Choice>
          <mc:Fallback xmlns="">
            <p:sp>
              <p:nvSpPr>
                <p:cNvPr id="13" name="TextBox 12"/>
                <p:cNvSpPr txBox="1">
                  <a:spLocks noRot="1" noChangeAspect="1" noMove="1" noResize="1" noEditPoints="1" noAdjustHandles="1" noChangeArrowheads="1" noChangeShapeType="1" noTextEdit="1"/>
                </p:cNvSpPr>
                <p:nvPr/>
              </p:nvSpPr>
              <p:spPr>
                <a:xfrm>
                  <a:off x="2303466" y="1469175"/>
                  <a:ext cx="5018746" cy="627992"/>
                </a:xfrm>
                <a:prstGeom prst="rect">
                  <a:avLst/>
                </a:prstGeom>
                <a:blipFill>
                  <a:blip r:embed="rId6"/>
                  <a:stretch>
                    <a:fillRect/>
                  </a:stretch>
                </a:blipFill>
              </p:spPr>
              <p:txBody>
                <a:bodyPr/>
                <a:lstStyle/>
                <a:p>
                  <a:r>
                    <a:rPr lang="en-NZ">
                      <a:noFill/>
                    </a:rPr>
                    <a:t> </a:t>
                  </a:r>
                </a:p>
              </p:txBody>
            </p:sp>
          </mc:Fallback>
        </mc:AlternateContent>
        <p:sp>
          <p:nvSpPr>
            <p:cNvPr id="15" name="TextBox 14"/>
            <p:cNvSpPr txBox="1"/>
            <p:nvPr/>
          </p:nvSpPr>
          <p:spPr>
            <a:xfrm>
              <a:off x="2693891" y="2237025"/>
              <a:ext cx="4546116" cy="276999"/>
            </a:xfrm>
            <a:prstGeom prst="rect">
              <a:avLst/>
            </a:prstGeom>
            <a:noFill/>
          </p:spPr>
          <p:txBody>
            <a:bodyPr wrap="none" lIns="0" tIns="0" rIns="0" bIns="0" rtlCol="0">
              <a:spAutoFit/>
            </a:bodyPr>
            <a:lstStyle/>
            <a:p>
              <a:r>
                <a:rPr lang="en-NZ" dirty="0">
                  <a:latin typeface="Cambria Math" panose="02040503050406030204" pitchFamily="18" charset="0"/>
                  <a:ea typeface="Cambria Math" panose="02040503050406030204" pitchFamily="18" charset="0"/>
                </a:rPr>
                <a:t>=</a:t>
              </a:r>
              <a:r>
                <a:rPr lang="en-NZ" dirty="0"/>
                <a:t> .75 average number of cars in the system</a:t>
              </a:r>
            </a:p>
          </p:txBody>
        </p:sp>
      </p:grpSp>
    </p:spTree>
    <p:extLst>
      <p:ext uri="{BB962C8B-B14F-4D97-AF65-F5344CB8AC3E}">
        <p14:creationId xmlns:p14="http://schemas.microsoft.com/office/powerpoint/2010/main" val="1229673693"/>
      </p:ext>
    </p:extLst>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strips(downRight)">
                                      <p:cBhvr>
                                        <p:cTn id="7" dur="1000"/>
                                        <p:tgtEl>
                                          <p:spTgt spid="14"/>
                                        </p:tgtEl>
                                      </p:cBhvr>
                                    </p:animEffect>
                                  </p:childTnLst>
                                </p:cTn>
                              </p:par>
                            </p:childTnLst>
                          </p:cTn>
                        </p:par>
                        <p:par>
                          <p:cTn id="8" fill="hold">
                            <p:stCondLst>
                              <p:cond delay="2000"/>
                            </p:stCondLst>
                            <p:childTnLst>
                              <p:par>
                                <p:cTn id="9" presetID="18" presetClass="entr" presetSubtype="6" fill="hold" nodeType="afterEffect">
                                  <p:stCondLst>
                                    <p:cond delay="1000"/>
                                  </p:stCondLst>
                                  <p:childTnLst>
                                    <p:set>
                                      <p:cBhvr>
                                        <p:cTn id="10" dur="1" fill="hold">
                                          <p:stCondLst>
                                            <p:cond delay="0"/>
                                          </p:stCondLst>
                                        </p:cTn>
                                        <p:tgtEl>
                                          <p:spTgt spid="12"/>
                                        </p:tgtEl>
                                        <p:attrNameLst>
                                          <p:attrName>style.visibility</p:attrName>
                                        </p:attrNameLst>
                                      </p:cBhvr>
                                      <p:to>
                                        <p:strVal val="visible"/>
                                      </p:to>
                                    </p:set>
                                    <p:animEffect transition="in" filter="strips(downRight)">
                                      <p:cBhvr>
                                        <p:cTn id="11"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p:nvPr>
        </p:nvSpPr>
        <p:spPr/>
        <p:txBody>
          <a:bodyPr/>
          <a:lstStyle/>
          <a:p>
            <a:r>
              <a:rPr lang="en-US" dirty="0">
                <a:latin typeface="Arial" charset="0"/>
                <a:ea typeface="MS PGothic" charset="0"/>
                <a:cs typeface="MS PGothic" charset="0"/>
              </a:rPr>
              <a:t>Multiple-Server Example</a:t>
            </a:r>
          </a:p>
        </p:txBody>
      </p:sp>
      <p:graphicFrame>
        <p:nvGraphicFramePr>
          <p:cNvPr id="91201" name="Group 65"/>
          <p:cNvGraphicFramePr>
            <a:graphicFrameLocks noGrp="1"/>
          </p:cNvGraphicFramePr>
          <p:nvPr>
            <p:extLst>
              <p:ext uri="{D42A27DB-BD31-4B8C-83A1-F6EECF244321}">
                <p14:modId xmlns:p14="http://schemas.microsoft.com/office/powerpoint/2010/main" val="2518073294"/>
              </p:ext>
            </p:extLst>
          </p:nvPr>
        </p:nvGraphicFramePr>
        <p:xfrm>
          <a:off x="596900" y="1955800"/>
          <a:ext cx="7950200" cy="2789237"/>
        </p:xfrm>
        <a:graphic>
          <a:graphicData uri="http://schemas.openxmlformats.org/drawingml/2006/table">
            <a:tbl>
              <a:tblPr>
                <a:tableStyleId>{2D5ABB26-0587-4C30-8999-92F81FD0307C}</a:tableStyleId>
              </a:tblPr>
              <a:tblGrid>
                <a:gridCol w="1175362">
                  <a:extLst>
                    <a:ext uri="{9D8B030D-6E8A-4147-A177-3AD203B41FA5}">
                      <a16:colId xmlns:a16="http://schemas.microsoft.com/office/drawing/2014/main" val="20000"/>
                    </a:ext>
                  </a:extLst>
                </a:gridCol>
                <a:gridCol w="2799738">
                  <a:extLst>
                    <a:ext uri="{9D8B030D-6E8A-4147-A177-3AD203B41FA5}">
                      <a16:colId xmlns:a16="http://schemas.microsoft.com/office/drawing/2014/main" val="20001"/>
                    </a:ext>
                  </a:extLst>
                </a:gridCol>
                <a:gridCol w="3975100">
                  <a:extLst>
                    <a:ext uri="{9D8B030D-6E8A-4147-A177-3AD203B41FA5}">
                      <a16:colId xmlns:a16="http://schemas.microsoft.com/office/drawing/2014/main" val="20002"/>
                    </a:ext>
                  </a:extLst>
                </a:gridCol>
              </a:tblGrid>
              <a:tr h="468738">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2000" b="1" i="0" u="none" strike="noStrike" cap="none" normalizeH="0" baseline="0" dirty="0">
                        <a:ln>
                          <a:noFill/>
                        </a:ln>
                        <a:solidFill>
                          <a:srgbClr val="FFFFFF"/>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b="1" u="none" strike="noStrike" cap="none" normalizeH="0" baseline="0" dirty="0">
                          <a:ln>
                            <a:noFill/>
                          </a:ln>
                          <a:solidFill>
                            <a:srgbClr val="FFFFFF"/>
                          </a:solidFill>
                          <a:effectLst/>
                          <a:latin typeface="Arial"/>
                          <a:cs typeface="Arial"/>
                        </a:rPr>
                        <a:t>SINGLE SERVER</a:t>
                      </a:r>
                      <a:endParaRPr kumimoji="0" lang="en-US" sz="2000" b="1" i="0" u="none" strike="noStrike" cap="none" normalizeH="0" baseline="0" dirty="0">
                        <a:ln>
                          <a:noFill/>
                        </a:ln>
                        <a:solidFill>
                          <a:srgbClr val="FFFFFF"/>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b="1" u="none" strike="noStrike" cap="none" normalizeH="0" baseline="0" dirty="0">
                          <a:ln>
                            <a:noFill/>
                          </a:ln>
                          <a:solidFill>
                            <a:srgbClr val="FFFFFF"/>
                          </a:solidFill>
                          <a:effectLst/>
                          <a:latin typeface="Arial"/>
                          <a:cs typeface="Arial"/>
                        </a:rPr>
                        <a:t>TWO SERVERS (CHANNELS)</a:t>
                      </a:r>
                      <a:endParaRPr kumimoji="0" lang="en-US" sz="2000" b="1" i="0" u="none" strike="noStrike" cap="none" normalizeH="0" baseline="0" dirty="0">
                        <a:ln>
                          <a:noFill/>
                        </a:ln>
                        <a:solidFill>
                          <a:srgbClr val="FFFFFF"/>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4842">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i="1" u="none" strike="noStrike" cap="none" normalizeH="0" baseline="0" dirty="0">
                          <a:ln>
                            <a:noFill/>
                          </a:ln>
                          <a:effectLst/>
                          <a:latin typeface="Arial"/>
                          <a:cs typeface="Arial"/>
                        </a:rPr>
                        <a:t>P</a:t>
                      </a:r>
                      <a:r>
                        <a:rPr kumimoji="0" lang="en-US" sz="2000" u="none" strike="noStrike" cap="none" normalizeH="0" baseline="-25000" dirty="0">
                          <a:ln>
                            <a:noFill/>
                          </a:ln>
                          <a:effectLst/>
                          <a:latin typeface="Arial"/>
                          <a:cs typeface="Arial"/>
                        </a:rPr>
                        <a:t>0</a:t>
                      </a:r>
                      <a:endParaRPr kumimoji="0" lang="en-US" sz="2000" b="1" i="0"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u="none" strike="noStrike" cap="none" normalizeH="0" baseline="0" dirty="0">
                          <a:ln>
                            <a:noFill/>
                          </a:ln>
                          <a:effectLst/>
                          <a:latin typeface="Arial"/>
                          <a:cs typeface="Arial"/>
                        </a:rPr>
                        <a:t>.33</a:t>
                      </a:r>
                      <a:endParaRPr kumimoji="0" lang="en-US" sz="2000" b="1" i="0"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u="none" strike="noStrike" cap="none" normalizeH="0" baseline="0" dirty="0">
                          <a:ln>
                            <a:noFill/>
                          </a:ln>
                          <a:effectLst/>
                          <a:latin typeface="Arial"/>
                          <a:cs typeface="Arial"/>
                        </a:rPr>
                        <a:t>.5</a:t>
                      </a:r>
                      <a:endParaRPr kumimoji="0" lang="en-US" sz="2000" b="1" i="0"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1"/>
                  </a:ext>
                </a:extLst>
              </a:tr>
              <a:tr h="468738">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i="1" u="none" strike="noStrike" cap="none" normalizeH="0" baseline="0" dirty="0">
                          <a:ln>
                            <a:noFill/>
                          </a:ln>
                          <a:effectLst/>
                          <a:latin typeface="Arial"/>
                          <a:cs typeface="Arial"/>
                        </a:rPr>
                        <a:t>L</a:t>
                      </a:r>
                      <a:r>
                        <a:rPr kumimoji="0" lang="en-US" sz="2000" i="1" u="none" strike="noStrike" cap="none" normalizeH="0" baseline="-25000" dirty="0">
                          <a:ln>
                            <a:noFill/>
                          </a:ln>
                          <a:effectLst/>
                          <a:latin typeface="Arial"/>
                          <a:cs typeface="Arial"/>
                        </a:rPr>
                        <a:t>s</a:t>
                      </a:r>
                      <a:endParaRPr kumimoji="0" lang="en-US" sz="2000" b="1" i="1"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u="none" strike="noStrike" cap="none" normalizeH="0" baseline="0" dirty="0">
                          <a:ln>
                            <a:noFill/>
                          </a:ln>
                          <a:effectLst/>
                          <a:latin typeface="Arial"/>
                          <a:cs typeface="Arial"/>
                        </a:rPr>
                        <a:t>2 cars</a:t>
                      </a:r>
                      <a:endParaRPr kumimoji="0" lang="en-US" sz="2000" b="1" i="0"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u="none" strike="noStrike" cap="none" normalizeH="0" baseline="0" dirty="0">
                          <a:ln>
                            <a:noFill/>
                          </a:ln>
                          <a:effectLst/>
                          <a:latin typeface="Arial"/>
                          <a:cs typeface="Arial"/>
                        </a:rPr>
                        <a:t>.75 car</a:t>
                      </a:r>
                      <a:endParaRPr kumimoji="0" lang="en-US" sz="2000" b="1" i="0"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r h="468738">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i="1" u="none" strike="noStrike" cap="none" normalizeH="0" baseline="0" dirty="0">
                          <a:ln>
                            <a:noFill/>
                          </a:ln>
                          <a:effectLst/>
                          <a:latin typeface="Arial"/>
                          <a:cs typeface="Arial"/>
                        </a:rPr>
                        <a:t>W</a:t>
                      </a:r>
                      <a:r>
                        <a:rPr kumimoji="0" lang="en-US" sz="2000" i="1" u="none" strike="noStrike" cap="none" normalizeH="0" baseline="-25000" dirty="0">
                          <a:ln>
                            <a:noFill/>
                          </a:ln>
                          <a:effectLst/>
                          <a:latin typeface="Arial"/>
                          <a:cs typeface="Arial"/>
                        </a:rPr>
                        <a:t>s</a:t>
                      </a:r>
                      <a:endParaRPr kumimoji="0" lang="en-US" sz="2000" b="1" i="1"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u="none" strike="noStrike" cap="none" normalizeH="0" baseline="0" dirty="0">
                          <a:ln>
                            <a:noFill/>
                          </a:ln>
                          <a:effectLst/>
                          <a:latin typeface="Arial"/>
                          <a:cs typeface="Arial"/>
                        </a:rPr>
                        <a:t>60 minutes</a:t>
                      </a:r>
                      <a:endParaRPr kumimoji="0" lang="en-US" sz="2000" b="1" i="0"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u="none" strike="noStrike" cap="none" normalizeH="0" baseline="0" dirty="0">
                          <a:ln>
                            <a:noFill/>
                          </a:ln>
                          <a:effectLst/>
                          <a:latin typeface="Arial"/>
                          <a:cs typeface="Arial"/>
                        </a:rPr>
                        <a:t>22.5 minutes</a:t>
                      </a:r>
                      <a:endParaRPr kumimoji="0" lang="en-US" sz="2000" b="1" i="0"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458973">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i="1" u="none" strike="noStrike" cap="none" normalizeH="0" baseline="0" dirty="0">
                          <a:ln>
                            <a:noFill/>
                          </a:ln>
                          <a:effectLst/>
                          <a:latin typeface="Arial"/>
                          <a:cs typeface="Arial"/>
                        </a:rPr>
                        <a:t>L</a:t>
                      </a:r>
                      <a:r>
                        <a:rPr kumimoji="0" lang="en-US" sz="2000" i="1" u="none" strike="noStrike" cap="none" normalizeH="0" baseline="-25000" dirty="0">
                          <a:ln>
                            <a:noFill/>
                          </a:ln>
                          <a:effectLst/>
                          <a:latin typeface="Arial"/>
                          <a:cs typeface="Arial"/>
                        </a:rPr>
                        <a:t>q</a:t>
                      </a:r>
                      <a:endParaRPr kumimoji="0" lang="en-US" sz="2000" b="1" i="1"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u="none" strike="noStrike" cap="none" normalizeH="0" baseline="0" dirty="0">
                          <a:ln>
                            <a:noFill/>
                          </a:ln>
                          <a:effectLst/>
                          <a:latin typeface="Arial"/>
                          <a:cs typeface="Arial"/>
                        </a:rPr>
                        <a:t>1.33 cars</a:t>
                      </a:r>
                      <a:endParaRPr kumimoji="0" lang="en-US" sz="2000" b="1" i="0"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u="none" strike="noStrike" cap="none" normalizeH="0" baseline="0" dirty="0">
                          <a:ln>
                            <a:noFill/>
                          </a:ln>
                          <a:effectLst/>
                          <a:latin typeface="Arial"/>
                          <a:cs typeface="Arial"/>
                        </a:rPr>
                        <a:t>.083 car</a:t>
                      </a:r>
                      <a:endParaRPr kumimoji="0" lang="en-US" sz="2000" b="1" i="0"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r h="449208">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i="1" u="none" strike="noStrike" cap="none" normalizeH="0" baseline="0" dirty="0">
                          <a:ln>
                            <a:noFill/>
                          </a:ln>
                          <a:effectLst/>
                          <a:latin typeface="Arial"/>
                          <a:cs typeface="Arial"/>
                        </a:rPr>
                        <a:t>W</a:t>
                      </a:r>
                      <a:r>
                        <a:rPr kumimoji="0" lang="en-US" sz="2000" i="1" u="none" strike="noStrike" cap="none" normalizeH="0" baseline="-25000" dirty="0">
                          <a:ln>
                            <a:noFill/>
                          </a:ln>
                          <a:effectLst/>
                          <a:latin typeface="Arial"/>
                          <a:cs typeface="Arial"/>
                        </a:rPr>
                        <a:t>q</a:t>
                      </a:r>
                      <a:endParaRPr kumimoji="0" lang="en-US" sz="2000" b="1" i="1"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u="none" strike="noStrike" cap="none" normalizeH="0" baseline="0" dirty="0">
                          <a:ln>
                            <a:noFill/>
                          </a:ln>
                          <a:effectLst/>
                          <a:latin typeface="Arial"/>
                          <a:cs typeface="Arial"/>
                        </a:rPr>
                        <a:t>40 minutes</a:t>
                      </a:r>
                      <a:endParaRPr kumimoji="0" lang="en-US" sz="2000" b="1" i="0"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2000" u="none" strike="noStrike" cap="none" normalizeH="0" baseline="0" dirty="0">
                          <a:ln>
                            <a:noFill/>
                          </a:ln>
                          <a:effectLst/>
                          <a:latin typeface="Arial"/>
                          <a:cs typeface="Arial"/>
                        </a:rPr>
                        <a:t>2.5 minutes</a:t>
                      </a:r>
                      <a:endParaRPr kumimoji="0" lang="en-US" sz="2000" b="1" i="0" u="none" strike="noStrike" cap="none" normalizeH="0" baseline="0" dirty="0">
                        <a:ln>
                          <a:noFill/>
                        </a:ln>
                        <a:solidFill>
                          <a:schemeClr val="tx1"/>
                        </a:solidFill>
                        <a:effectLst/>
                        <a:latin typeface="Arial"/>
                        <a:ea typeface="ＭＳ Ｐゴシック" charset="-128"/>
                        <a:cs typeface="Arial"/>
                      </a:endParaRPr>
                    </a:p>
                  </a:txBody>
                  <a:tcPr anchor="ctr" horzOverflow="overflow">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61216920"/>
      </p:ext>
    </p:extLst>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1000"/>
                                  </p:stCondLst>
                                  <p:childTnLst>
                                    <p:set>
                                      <p:cBhvr>
                                        <p:cTn id="6" dur="1" fill="hold">
                                          <p:stCondLst>
                                            <p:cond delay="0"/>
                                          </p:stCondLst>
                                        </p:cTn>
                                        <p:tgtEl>
                                          <p:spTgt spid="91201"/>
                                        </p:tgtEl>
                                        <p:attrNameLst>
                                          <p:attrName>style.visibility</p:attrName>
                                        </p:attrNameLst>
                                      </p:cBhvr>
                                      <p:to>
                                        <p:strVal val="visible"/>
                                      </p:to>
                                    </p:set>
                                    <p:animEffect transition="in" filter="strips(downRight)">
                                      <p:cBhvr>
                                        <p:cTn id="7" dur="1000"/>
                                        <p:tgtEl>
                                          <p:spTgt spid="91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title"/>
          </p:nvPr>
        </p:nvSpPr>
        <p:spPr>
          <a:xfrm>
            <a:off x="527050" y="307975"/>
            <a:ext cx="8089900" cy="952500"/>
          </a:xfrm>
        </p:spPr>
        <p:txBody>
          <a:bodyPr/>
          <a:lstStyle/>
          <a:p>
            <a:r>
              <a:rPr lang="en-US" dirty="0">
                <a:latin typeface="Arial" charset="0"/>
                <a:ea typeface="MS PGothic" charset="0"/>
                <a:cs typeface="MS PGothic" charset="0"/>
              </a:rPr>
              <a:t>Waiting Line Tables</a:t>
            </a:r>
          </a:p>
        </p:txBody>
      </p:sp>
      <p:graphicFrame>
        <p:nvGraphicFramePr>
          <p:cNvPr id="93324" name="Group 140"/>
          <p:cNvGraphicFramePr>
            <a:graphicFrameLocks noGrp="1"/>
          </p:cNvGraphicFramePr>
          <p:nvPr>
            <p:extLst>
              <p:ext uri="{D42A27DB-BD31-4B8C-83A1-F6EECF244321}">
                <p14:modId xmlns:p14="http://schemas.microsoft.com/office/powerpoint/2010/main" val="1000779493"/>
              </p:ext>
            </p:extLst>
          </p:nvPr>
        </p:nvGraphicFramePr>
        <p:xfrm>
          <a:off x="520700" y="1285875"/>
          <a:ext cx="8096250" cy="5017008"/>
        </p:xfrm>
        <a:graphic>
          <a:graphicData uri="http://schemas.openxmlformats.org/drawingml/2006/table">
            <a:tbl>
              <a:tblPr/>
              <a:tblGrid>
                <a:gridCol w="1295400">
                  <a:extLst>
                    <a:ext uri="{9D8B030D-6E8A-4147-A177-3AD203B41FA5}">
                      <a16:colId xmlns:a16="http://schemas.microsoft.com/office/drawing/2014/main" val="20000"/>
                    </a:ext>
                  </a:extLst>
                </a:gridCol>
                <a:gridCol w="317500">
                  <a:extLst>
                    <a:ext uri="{9D8B030D-6E8A-4147-A177-3AD203B41FA5}">
                      <a16:colId xmlns:a16="http://schemas.microsoft.com/office/drawing/2014/main" val="20001"/>
                    </a:ext>
                  </a:extLst>
                </a:gridCol>
                <a:gridCol w="1296988">
                  <a:extLst>
                    <a:ext uri="{9D8B030D-6E8A-4147-A177-3AD203B41FA5}">
                      <a16:colId xmlns:a16="http://schemas.microsoft.com/office/drawing/2014/main" val="20002"/>
                    </a:ext>
                  </a:extLst>
                </a:gridCol>
                <a:gridCol w="1296987">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296988">
                  <a:extLst>
                    <a:ext uri="{9D8B030D-6E8A-4147-A177-3AD203B41FA5}">
                      <a16:colId xmlns:a16="http://schemas.microsoft.com/office/drawing/2014/main" val="20005"/>
                    </a:ext>
                  </a:extLst>
                </a:gridCol>
                <a:gridCol w="1296987">
                  <a:extLst>
                    <a:ext uri="{9D8B030D-6E8A-4147-A177-3AD203B41FA5}">
                      <a16:colId xmlns:a16="http://schemas.microsoft.com/office/drawing/2014/main" val="20006"/>
                    </a:ext>
                  </a:extLst>
                </a:gridCol>
              </a:tblGrid>
              <a:tr h="234950">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rgbClr val="FFFFFF"/>
                          </a:solidFill>
                          <a:effectLst/>
                          <a:latin typeface="Arial" charset="0"/>
                          <a:ea typeface="MS PGothic" charset="0"/>
                          <a:cs typeface="MS PGothic" charset="0"/>
                        </a:rPr>
                        <a:t>TABLE D.5</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tx1"/>
                    </a:solidFill>
                  </a:tcPr>
                </a:tc>
                <a:tc gridSpan="6">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Values of </a:t>
                      </a:r>
                      <a:r>
                        <a:rPr kumimoji="0" lang="en-US" sz="1600" b="0" i="1" u="none" strike="noStrike" cap="none" normalizeH="0" baseline="0" dirty="0">
                          <a:ln>
                            <a:noFill/>
                          </a:ln>
                          <a:solidFill>
                            <a:schemeClr val="tx1"/>
                          </a:solidFill>
                          <a:effectLst/>
                          <a:latin typeface="Arial" charset="0"/>
                          <a:ea typeface="ＭＳ Ｐゴシック" charset="0"/>
                          <a:cs typeface="Arial" charset="0"/>
                        </a:rPr>
                        <a:t>L</a:t>
                      </a:r>
                      <a:r>
                        <a:rPr kumimoji="0" lang="en-US" sz="1600" b="0" i="1" u="none" strike="noStrike" cap="none" normalizeH="0" baseline="-25000" dirty="0">
                          <a:ln>
                            <a:noFill/>
                          </a:ln>
                          <a:solidFill>
                            <a:schemeClr val="tx1"/>
                          </a:solidFill>
                          <a:effectLst/>
                          <a:latin typeface="Arial" charset="0"/>
                          <a:ea typeface="ＭＳ Ｐゴシック" charset="0"/>
                          <a:cs typeface="Arial" charset="0"/>
                        </a:rPr>
                        <a:t>q</a:t>
                      </a:r>
                      <a:r>
                        <a:rPr kumimoji="0" lang="en-US" sz="1600" b="0" i="1" u="none" strike="noStrike" cap="none" normalizeH="0" baseline="0" dirty="0">
                          <a:ln>
                            <a:noFill/>
                          </a:ln>
                          <a:solidFill>
                            <a:schemeClr val="tx1"/>
                          </a:solidFill>
                          <a:effectLst/>
                          <a:latin typeface="Arial" charset="0"/>
                          <a:ea typeface="ＭＳ Ｐゴシック" charset="0"/>
                          <a:cs typeface="Arial" charset="0"/>
                        </a:rPr>
                        <a:t> </a:t>
                      </a:r>
                      <a:r>
                        <a:rPr kumimoji="0" lang="en-US" sz="1600" b="0" i="0" u="none" strike="noStrike" cap="none" normalizeH="0" baseline="0" dirty="0">
                          <a:ln>
                            <a:noFill/>
                          </a:ln>
                          <a:solidFill>
                            <a:schemeClr val="tx1"/>
                          </a:solidFill>
                          <a:effectLst/>
                          <a:latin typeface="Arial" charset="0"/>
                          <a:ea typeface="ＭＳ Ｐゴシック" charset="0"/>
                          <a:cs typeface="Arial" charset="0"/>
                        </a:rPr>
                        <a:t>for M = 1-5 Servers (channels) and Selected Values of </a:t>
                      </a:r>
                      <a:r>
                        <a:rPr kumimoji="0" lang="en-US" sz="1600" b="0" i="1" u="none" strike="noStrike" cap="none" normalizeH="0" baseline="0" dirty="0">
                          <a:ln>
                            <a:noFill/>
                          </a:ln>
                          <a:solidFill>
                            <a:schemeClr val="tx1"/>
                          </a:solidFill>
                          <a:effectLst/>
                          <a:latin typeface="Arial" charset="0"/>
                          <a:ea typeface="ＭＳ Ｐゴシック" charset="0"/>
                          <a:cs typeface="Arial" charset="0"/>
                        </a:rPr>
                        <a:t>λ</a:t>
                      </a:r>
                      <a:r>
                        <a:rPr kumimoji="0" lang="en-US" sz="1600" b="0" i="0" u="none" strike="noStrike" cap="none" normalizeH="0" baseline="0" dirty="0">
                          <a:ln>
                            <a:noFill/>
                          </a:ln>
                          <a:solidFill>
                            <a:schemeClr val="tx1"/>
                          </a:solidFill>
                          <a:effectLst/>
                          <a:latin typeface="Arial" charset="0"/>
                          <a:ea typeface="ＭＳ Ｐゴシック" charset="0"/>
                          <a:cs typeface="Arial" charset="0"/>
                        </a:rPr>
                        <a:t>/</a:t>
                      </a:r>
                      <a:r>
                        <a:rPr kumimoji="0" lang="en-US" sz="1600" b="0" i="1" u="none" strike="noStrike" cap="none" normalizeH="0" baseline="0" dirty="0">
                          <a:ln>
                            <a:noFill/>
                          </a:ln>
                          <a:solidFill>
                            <a:schemeClr val="tx1"/>
                          </a:solidFill>
                          <a:effectLst/>
                          <a:latin typeface="Arial" charset="0"/>
                          <a:ea typeface="ＭＳ Ｐゴシック" charset="0"/>
                          <a:cs typeface="Arial" charset="0"/>
                        </a:rPr>
                        <a:t>μ</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34950">
                <a:tc gridSpan="7">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1" i="1" u="none" strike="noStrike" cap="none" normalizeH="0" baseline="0" dirty="0">
                          <a:ln>
                            <a:noFill/>
                          </a:ln>
                          <a:solidFill>
                            <a:srgbClr val="FFFFFF"/>
                          </a:solidFill>
                          <a:effectLst/>
                          <a:latin typeface="Arial" charset="0"/>
                          <a:ea typeface="ＭＳ Ｐゴシック" charset="0"/>
                          <a:cs typeface="Arial" charset="0"/>
                        </a:rPr>
                        <a:t>POISSON ARRIVALS, EXPONENTIAL SERVICE TIMES</a:t>
                      </a:r>
                      <a:endParaRPr kumimoji="0" lang="en-US" sz="1600" b="1" i="1" u="none" strike="noStrike" cap="none" normalizeH="0" baseline="0" dirty="0">
                        <a:ln>
                          <a:noFill/>
                        </a:ln>
                        <a:solidFill>
                          <a:srgbClr val="FFFFFF"/>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3332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34950">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1" u="none" strike="noStrike" cap="none" normalizeH="0" baseline="0" dirty="0">
                        <a:ln>
                          <a:noFill/>
                        </a:ln>
                        <a:solidFill>
                          <a:srgbClr val="FFFFFF"/>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33320"/>
                    </a:solidFill>
                  </a:tcPr>
                </a:tc>
                <a:tc hMerge="1">
                  <a:txBody>
                    <a:bodyPr/>
                    <a:lstStyle/>
                    <a:p>
                      <a:endParaRPr lang="en-US"/>
                    </a:p>
                  </a:txBody>
                  <a:tcPr/>
                </a:tc>
                <a:tc gridSpan="5">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1" i="1" u="none" strike="noStrike" cap="none" normalizeH="0" baseline="0" dirty="0">
                          <a:ln>
                            <a:noFill/>
                          </a:ln>
                          <a:solidFill>
                            <a:srgbClr val="FFFFFF"/>
                          </a:solidFill>
                          <a:effectLst/>
                          <a:latin typeface="Arial" charset="0"/>
                          <a:ea typeface="ＭＳ Ｐゴシック" charset="0"/>
                          <a:cs typeface="Arial" charset="0"/>
                        </a:rPr>
                        <a:t>NUMBER OF SERVICE CHANNELS, M</a:t>
                      </a:r>
                      <a:endParaRPr kumimoji="0" lang="en-US" sz="1600" b="1" i="1" u="none" strike="noStrike" cap="none" normalizeH="0" baseline="0" dirty="0">
                        <a:ln>
                          <a:noFill/>
                        </a:ln>
                        <a:solidFill>
                          <a:srgbClr val="FFFFFF"/>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3332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34950">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1" i="1" u="none" strike="noStrike" cap="none" normalizeH="0" baseline="0" dirty="0">
                          <a:ln>
                            <a:noFill/>
                          </a:ln>
                          <a:solidFill>
                            <a:srgbClr val="FFFFFF"/>
                          </a:solidFill>
                          <a:effectLst/>
                          <a:latin typeface="Arial" charset="0"/>
                          <a:ea typeface="ＭＳ Ｐゴシック" charset="0"/>
                          <a:cs typeface="Arial" charset="0"/>
                        </a:rPr>
                        <a:t>λ</a:t>
                      </a:r>
                      <a:r>
                        <a:rPr kumimoji="0" lang="en-US" sz="1600" b="1" i="0" u="none" strike="noStrike" cap="none" normalizeH="0" baseline="0" dirty="0">
                          <a:ln>
                            <a:noFill/>
                          </a:ln>
                          <a:solidFill>
                            <a:srgbClr val="FFFFFF"/>
                          </a:solidFill>
                          <a:effectLst/>
                          <a:latin typeface="Arial" charset="0"/>
                          <a:ea typeface="ＭＳ Ｐゴシック" charset="0"/>
                          <a:cs typeface="Arial" charset="0"/>
                        </a:rPr>
                        <a:t>/</a:t>
                      </a:r>
                      <a:r>
                        <a:rPr kumimoji="0" lang="en-US" sz="1600" b="1" i="1" u="none" strike="noStrike" cap="none" normalizeH="0" baseline="0" dirty="0">
                          <a:ln>
                            <a:noFill/>
                          </a:ln>
                          <a:solidFill>
                            <a:srgbClr val="FFFFFF"/>
                          </a:solidFill>
                          <a:effectLst/>
                          <a:latin typeface="Arial" charset="0"/>
                          <a:ea typeface="ＭＳ Ｐゴシック" charset="0"/>
                          <a:cs typeface="Arial" charset="0"/>
                        </a:rPr>
                        <a:t>μ</a:t>
                      </a: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3332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1" i="0" u="none" strike="noStrike" cap="none" normalizeH="0" baseline="0" dirty="0">
                          <a:ln>
                            <a:noFill/>
                          </a:ln>
                          <a:solidFill>
                            <a:srgbClr val="FFFFFF"/>
                          </a:solidFill>
                          <a:effectLst/>
                          <a:latin typeface="Arial" charset="0"/>
                          <a:ea typeface="ＭＳ Ｐゴシック" charset="0"/>
                          <a:cs typeface="Arial" charset="0"/>
                        </a:rPr>
                        <a:t>1</a:t>
                      </a:r>
                      <a:endParaRPr kumimoji="0" lang="en-US" sz="1600" b="1" i="0" u="none" strike="noStrike" cap="none" normalizeH="0" baseline="0" dirty="0">
                        <a:ln>
                          <a:noFill/>
                        </a:ln>
                        <a:solidFill>
                          <a:srgbClr val="FFFFFF"/>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33320"/>
                    </a:solid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1" i="0" u="none" strike="noStrike" cap="none" normalizeH="0" baseline="0" dirty="0">
                          <a:ln>
                            <a:noFill/>
                          </a:ln>
                          <a:solidFill>
                            <a:srgbClr val="FFFFFF"/>
                          </a:solidFill>
                          <a:effectLst/>
                          <a:latin typeface="Arial" charset="0"/>
                          <a:ea typeface="ＭＳ Ｐゴシック" charset="0"/>
                          <a:cs typeface="Arial" charset="0"/>
                        </a:rPr>
                        <a:t>2</a:t>
                      </a:r>
                      <a:endParaRPr kumimoji="0" lang="en-US" sz="1600" b="1" i="0" u="none" strike="noStrike" cap="none" normalizeH="0" baseline="0" dirty="0">
                        <a:ln>
                          <a:noFill/>
                        </a:ln>
                        <a:solidFill>
                          <a:srgbClr val="FFFFFF"/>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33320"/>
                    </a:solid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1" i="0" u="none" strike="noStrike" cap="none" normalizeH="0" baseline="0" dirty="0">
                          <a:ln>
                            <a:noFill/>
                          </a:ln>
                          <a:solidFill>
                            <a:srgbClr val="FFFFFF"/>
                          </a:solidFill>
                          <a:effectLst/>
                          <a:latin typeface="Arial" charset="0"/>
                          <a:ea typeface="ＭＳ Ｐゴシック" charset="0"/>
                          <a:cs typeface="Arial" charset="0"/>
                        </a:rPr>
                        <a:t>3</a:t>
                      </a:r>
                      <a:endParaRPr kumimoji="0" lang="en-US" sz="1600" b="1" i="0" u="none" strike="noStrike" cap="none" normalizeH="0" baseline="0" dirty="0">
                        <a:ln>
                          <a:noFill/>
                        </a:ln>
                        <a:solidFill>
                          <a:srgbClr val="FFFFFF"/>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33320"/>
                    </a:solid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1" i="0" u="none" strike="noStrike" cap="none" normalizeH="0" baseline="0" dirty="0">
                          <a:ln>
                            <a:noFill/>
                          </a:ln>
                          <a:solidFill>
                            <a:srgbClr val="FFFFFF"/>
                          </a:solidFill>
                          <a:effectLst/>
                          <a:latin typeface="Arial" charset="0"/>
                          <a:ea typeface="ＭＳ Ｐゴシック" charset="0"/>
                          <a:cs typeface="Arial" charset="0"/>
                        </a:rPr>
                        <a:t>4</a:t>
                      </a:r>
                      <a:endParaRPr kumimoji="0" lang="en-US" sz="1600" b="1" i="0" u="none" strike="noStrike" cap="none" normalizeH="0" baseline="0" dirty="0">
                        <a:ln>
                          <a:noFill/>
                        </a:ln>
                        <a:solidFill>
                          <a:srgbClr val="FFFFFF"/>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33320"/>
                    </a:solid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1" i="0" u="none" strike="noStrike" cap="none" normalizeH="0" baseline="0" dirty="0">
                          <a:ln>
                            <a:noFill/>
                          </a:ln>
                          <a:solidFill>
                            <a:srgbClr val="FFFFFF"/>
                          </a:solidFill>
                          <a:effectLst/>
                          <a:latin typeface="Arial" charset="0"/>
                          <a:ea typeface="ＭＳ Ｐゴシック" charset="0"/>
                          <a:cs typeface="Arial" charset="0"/>
                        </a:rPr>
                        <a:t>5</a:t>
                      </a:r>
                      <a:endParaRPr kumimoji="0" lang="en-US" sz="1600" b="1" i="0" u="none" strike="noStrike" cap="none" normalizeH="0" baseline="0" dirty="0">
                        <a:ln>
                          <a:noFill/>
                        </a:ln>
                        <a:solidFill>
                          <a:srgbClr val="FFFFFF"/>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D33320"/>
                    </a:solidFill>
                  </a:tcPr>
                </a:tc>
                <a:extLst>
                  <a:ext uri="{0D108BD9-81ED-4DB2-BD59-A6C34878D82A}">
                    <a16:rowId xmlns:a16="http://schemas.microsoft.com/office/drawing/2014/main" val="10003"/>
                  </a:ext>
                </a:extLst>
              </a:tr>
              <a:tr h="225425">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.10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.0111</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5425">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.25</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.0833</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.0039</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7013">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.50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.5000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.0333</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.0030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5425">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.75</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2.2500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.1227</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.0147</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5425">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.90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8.1000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.2285</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.0300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.0041</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42888">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1.0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.3333</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.0454</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.0067</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42888">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1.6</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2.8444</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.3128</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.0604</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.0121</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42888">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2.0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.8888</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.1739</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.0398</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42888">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2.6</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4.9322</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.6581</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.1609</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42888">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3.0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1.5282</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.3541</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42888">
                <a:tc gridSpan="2">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4.0</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Arial" charset="0"/>
                        </a:rPr>
                        <a:t>2.2164</a:t>
                      </a:r>
                      <a:endParaRPr kumimoji="0" lang="en-US" sz="1600" b="1" i="0" u="none" strike="noStrike" cap="none" normalizeH="0" baseline="0" dirty="0">
                        <a:ln>
                          <a:noFill/>
                        </a:ln>
                        <a:solidFill>
                          <a:schemeClr val="tx1"/>
                        </a:solidFill>
                        <a:effectLst/>
                        <a:latin typeface="Arial" charset="0"/>
                        <a:ea typeface="MS PGothic" charset="0"/>
                        <a:cs typeface="MS PGothic" charset="0"/>
                      </a:endParaRPr>
                    </a:p>
                  </a:txBody>
                  <a:tcP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4215141694"/>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1000"/>
                                  </p:stCondLst>
                                  <p:childTnLst>
                                    <p:set>
                                      <p:cBhvr>
                                        <p:cTn id="6" dur="1" fill="hold">
                                          <p:stCondLst>
                                            <p:cond delay="0"/>
                                          </p:stCondLst>
                                        </p:cTn>
                                        <p:tgtEl>
                                          <p:spTgt spid="93324"/>
                                        </p:tgtEl>
                                        <p:attrNameLst>
                                          <p:attrName>style.visibility</p:attrName>
                                        </p:attrNameLst>
                                      </p:cBhvr>
                                      <p:to>
                                        <p:strVal val="visible"/>
                                      </p:to>
                                    </p:set>
                                    <p:animEffect transition="in" filter="strips(downRight)">
                                      <p:cBhvr>
                                        <p:cTn id="7" dur="1000"/>
                                        <p:tgtEl>
                                          <p:spTgt spid="93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a:xfrm>
            <a:off x="685800" y="434975"/>
            <a:ext cx="7772400" cy="996950"/>
          </a:xfrm>
        </p:spPr>
        <p:txBody>
          <a:bodyPr/>
          <a:lstStyle/>
          <a:p>
            <a:r>
              <a:rPr lang="en-US" dirty="0">
                <a:latin typeface="Arial" charset="0"/>
                <a:ea typeface="MS PGothic" charset="0"/>
                <a:cs typeface="MS PGothic" charset="0"/>
              </a:rPr>
              <a:t>Waiting-Line Table Example</a:t>
            </a:r>
          </a:p>
        </p:txBody>
      </p:sp>
      <p:sp>
        <p:nvSpPr>
          <p:cNvPr id="95235" name="Text Box 3"/>
          <p:cNvSpPr txBox="1">
            <a:spLocks noChangeArrowheads="1"/>
          </p:cNvSpPr>
          <p:nvPr/>
        </p:nvSpPr>
        <p:spPr bwMode="auto">
          <a:xfrm>
            <a:off x="906463" y="1590675"/>
            <a:ext cx="3897312" cy="831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2400" dirty="0">
                <a:ea typeface="MS PGothic" charset="0"/>
                <a:cs typeface="MS PGothic" charset="0"/>
                <a:sym typeface="Symbol" charset="0"/>
              </a:rPr>
              <a:t>Bank tellers and customers</a:t>
            </a:r>
          </a:p>
          <a:p>
            <a:r>
              <a:rPr lang="en-US" sz="2400" i="1" dirty="0">
                <a:ea typeface="MS PGothic" charset="0"/>
                <a:cs typeface="MS PGothic" charset="0"/>
                <a:sym typeface="Symbol" charset="0"/>
              </a:rPr>
              <a:t></a:t>
            </a:r>
            <a:r>
              <a:rPr lang="en-US" sz="2400" dirty="0">
                <a:ea typeface="MS PGothic" charset="0"/>
                <a:cs typeface="MS PGothic" charset="0"/>
                <a:sym typeface="Symbol" charset="0"/>
              </a:rPr>
              <a:t> = 18, </a:t>
            </a:r>
            <a:r>
              <a:rPr lang="en-US" sz="2400" i="1" dirty="0">
                <a:ea typeface="MS PGothic" charset="0"/>
                <a:cs typeface="MS PGothic" charset="0"/>
                <a:sym typeface="Symbol" charset="0"/>
              </a:rPr>
              <a:t>µ</a:t>
            </a:r>
            <a:r>
              <a:rPr lang="en-US" sz="2400" dirty="0">
                <a:ea typeface="MS PGothic" charset="0"/>
                <a:cs typeface="MS PGothic" charset="0"/>
                <a:sym typeface="Symbol" charset="0"/>
              </a:rPr>
              <a:t> = 20</a:t>
            </a:r>
          </a:p>
        </p:txBody>
      </p:sp>
      <p:sp>
        <p:nvSpPr>
          <p:cNvPr id="95236" name="Text Box 4"/>
          <p:cNvSpPr txBox="1">
            <a:spLocks noChangeArrowheads="1"/>
          </p:cNvSpPr>
          <p:nvPr/>
        </p:nvSpPr>
        <p:spPr bwMode="auto">
          <a:xfrm>
            <a:off x="906463" y="3189288"/>
            <a:ext cx="2282825"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2400" dirty="0">
                <a:ea typeface="MS PGothic" charset="0"/>
                <a:cs typeface="MS PGothic" charset="0"/>
              </a:rPr>
              <a:t>From Table D.5 </a:t>
            </a:r>
          </a:p>
        </p:txBody>
      </p:sp>
      <p:grpSp>
        <p:nvGrpSpPr>
          <p:cNvPr id="95237" name="Group 5"/>
          <p:cNvGrpSpPr>
            <a:grpSpLocks/>
          </p:cNvGrpSpPr>
          <p:nvPr/>
        </p:nvGrpSpPr>
        <p:grpSpPr bwMode="auto">
          <a:xfrm>
            <a:off x="906463" y="2057400"/>
            <a:ext cx="6135687" cy="966788"/>
            <a:chOff x="453" y="1503"/>
            <a:chExt cx="3865" cy="609"/>
          </a:xfrm>
        </p:grpSpPr>
        <p:sp>
          <p:nvSpPr>
            <p:cNvPr id="101413" name="Text Box 6"/>
            <p:cNvSpPr txBox="1">
              <a:spLocks noChangeArrowheads="1"/>
            </p:cNvSpPr>
            <p:nvPr/>
          </p:nvSpPr>
          <p:spPr bwMode="auto">
            <a:xfrm>
              <a:off x="453" y="1712"/>
              <a:ext cx="1385"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2400" dirty="0">
                  <a:ea typeface="MS PGothic" charset="0"/>
                  <a:cs typeface="MS PGothic" charset="0"/>
                </a:rPr>
                <a:t>Ratio </a:t>
              </a:r>
              <a:r>
                <a:rPr lang="en-US" sz="2400" i="1" dirty="0">
                  <a:ea typeface="MS PGothic" charset="0"/>
                  <a:cs typeface="MS PGothic" charset="0"/>
                  <a:sym typeface="Symbol" charset="0"/>
                </a:rPr>
                <a:t></a:t>
              </a:r>
              <a:r>
                <a:rPr lang="en-US" sz="2400" dirty="0">
                  <a:ea typeface="MS PGothic" charset="0"/>
                  <a:cs typeface="MS PGothic" charset="0"/>
                  <a:sym typeface="Symbol" charset="0"/>
                </a:rPr>
                <a:t>/</a:t>
              </a:r>
              <a:r>
                <a:rPr lang="en-US" sz="2400" i="1" dirty="0">
                  <a:ea typeface="MS PGothic" charset="0"/>
                  <a:cs typeface="MS PGothic" charset="0"/>
                  <a:sym typeface="Symbol" charset="0"/>
                </a:rPr>
                <a:t>µ</a:t>
              </a:r>
              <a:r>
                <a:rPr lang="en-US" sz="2400" dirty="0">
                  <a:ea typeface="MS PGothic" charset="0"/>
                  <a:cs typeface="MS PGothic" charset="0"/>
                  <a:sym typeface="Symbol" charset="0"/>
                </a:rPr>
                <a:t> = .90</a:t>
              </a:r>
            </a:p>
          </p:txBody>
        </p:sp>
        <p:grpSp>
          <p:nvGrpSpPr>
            <p:cNvPr id="101414" name="Group 7"/>
            <p:cNvGrpSpPr>
              <a:grpSpLocks/>
            </p:cNvGrpSpPr>
            <p:nvPr/>
          </p:nvGrpSpPr>
          <p:grpSpPr bwMode="auto">
            <a:xfrm>
              <a:off x="3442" y="1503"/>
              <a:ext cx="876" cy="609"/>
              <a:chOff x="3709" y="1193"/>
              <a:chExt cx="876" cy="609"/>
            </a:xfrm>
          </p:grpSpPr>
          <p:sp>
            <p:nvSpPr>
              <p:cNvPr id="101415" name="Text Box 8"/>
              <p:cNvSpPr txBox="1">
                <a:spLocks noChangeArrowheads="1"/>
              </p:cNvSpPr>
              <p:nvPr/>
            </p:nvSpPr>
            <p:spPr bwMode="auto">
              <a:xfrm>
                <a:off x="3709" y="1412"/>
                <a:ext cx="555"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2400" i="1" dirty="0">
                    <a:ea typeface="MS PGothic" charset="0"/>
                    <a:cs typeface="MS PGothic" charset="0"/>
                  </a:rPr>
                  <a:t>W</a:t>
                </a:r>
                <a:r>
                  <a:rPr lang="en-US" sz="2400" i="1" baseline="-25000" dirty="0">
                    <a:ea typeface="MS PGothic" charset="0"/>
                    <a:cs typeface="MS PGothic" charset="0"/>
                  </a:rPr>
                  <a:t>q</a:t>
                </a:r>
                <a:r>
                  <a:rPr lang="en-US" sz="2400" dirty="0">
                    <a:ea typeface="MS PGothic" charset="0"/>
                    <a:cs typeface="MS PGothic" charset="0"/>
                  </a:rPr>
                  <a:t> =</a:t>
                </a:r>
              </a:p>
            </p:txBody>
          </p:sp>
          <p:grpSp>
            <p:nvGrpSpPr>
              <p:cNvPr id="101416" name="Group 9"/>
              <p:cNvGrpSpPr>
                <a:grpSpLocks/>
              </p:cNvGrpSpPr>
              <p:nvPr/>
            </p:nvGrpSpPr>
            <p:grpSpPr bwMode="auto">
              <a:xfrm>
                <a:off x="4247" y="1193"/>
                <a:ext cx="338" cy="609"/>
                <a:chOff x="4457" y="1083"/>
                <a:chExt cx="338" cy="609"/>
              </a:xfrm>
            </p:grpSpPr>
            <p:sp>
              <p:nvSpPr>
                <p:cNvPr id="101417" name="Text Box 10"/>
                <p:cNvSpPr txBox="1">
                  <a:spLocks noChangeArrowheads="1"/>
                </p:cNvSpPr>
                <p:nvPr/>
              </p:nvSpPr>
              <p:spPr bwMode="auto">
                <a:xfrm>
                  <a:off x="4457" y="1083"/>
                  <a:ext cx="338" cy="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lnSpc>
                      <a:spcPct val="120000"/>
                    </a:lnSpc>
                  </a:pPr>
                  <a:r>
                    <a:rPr lang="en-US" sz="2400" i="1" dirty="0">
                      <a:ea typeface="MS PGothic" charset="0"/>
                      <a:cs typeface="MS PGothic" charset="0"/>
                    </a:rPr>
                    <a:t>L</a:t>
                  </a:r>
                  <a:r>
                    <a:rPr lang="en-US" sz="2400" i="1" baseline="-25000" dirty="0">
                      <a:ea typeface="MS PGothic" charset="0"/>
                      <a:cs typeface="MS PGothic" charset="0"/>
                    </a:rPr>
                    <a:t>q</a:t>
                  </a:r>
                  <a:endParaRPr lang="en-US" sz="2400" i="1" dirty="0">
                    <a:ea typeface="MS PGothic" charset="0"/>
                    <a:cs typeface="MS PGothic" charset="0"/>
                  </a:endParaRPr>
                </a:p>
                <a:p>
                  <a:pPr algn="ctr">
                    <a:lnSpc>
                      <a:spcPct val="120000"/>
                    </a:lnSpc>
                  </a:pPr>
                  <a:r>
                    <a:rPr lang="en-US" sz="2400" dirty="0">
                      <a:ea typeface="MS PGothic" charset="0"/>
                      <a:cs typeface="MS PGothic" charset="0"/>
                      <a:sym typeface="Symbol" charset="0"/>
                    </a:rPr>
                    <a:t></a:t>
                  </a:r>
                </a:p>
              </p:txBody>
            </p:sp>
            <p:sp>
              <p:nvSpPr>
                <p:cNvPr id="101418" name="Line 11"/>
                <p:cNvSpPr>
                  <a:spLocks noChangeShapeType="1"/>
                </p:cNvSpPr>
                <p:nvPr/>
              </p:nvSpPr>
              <p:spPr bwMode="auto">
                <a:xfrm>
                  <a:off x="4465" y="1444"/>
                  <a:ext cx="320"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grpSp>
        </p:grpSp>
      </p:grpSp>
      <p:graphicFrame>
        <p:nvGraphicFramePr>
          <p:cNvPr id="95289" name="Group 57"/>
          <p:cNvGraphicFramePr>
            <a:graphicFrameLocks noGrp="1"/>
          </p:cNvGraphicFramePr>
          <p:nvPr>
            <p:extLst>
              <p:ext uri="{D42A27DB-BD31-4B8C-83A1-F6EECF244321}">
                <p14:modId xmlns:p14="http://schemas.microsoft.com/office/powerpoint/2010/main" val="1399505519"/>
              </p:ext>
            </p:extLst>
          </p:nvPr>
        </p:nvGraphicFramePr>
        <p:xfrm>
          <a:off x="906463" y="3787775"/>
          <a:ext cx="7329487" cy="2252663"/>
        </p:xfrm>
        <a:graphic>
          <a:graphicData uri="http://schemas.openxmlformats.org/drawingml/2006/table">
            <a:tbl>
              <a:tblPr/>
              <a:tblGrid>
                <a:gridCol w="2052637">
                  <a:extLst>
                    <a:ext uri="{9D8B030D-6E8A-4147-A177-3AD203B41FA5}">
                      <a16:colId xmlns:a16="http://schemas.microsoft.com/office/drawing/2014/main" val="20000"/>
                    </a:ext>
                  </a:extLst>
                </a:gridCol>
                <a:gridCol w="9017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2622550">
                  <a:extLst>
                    <a:ext uri="{9D8B030D-6E8A-4147-A177-3AD203B41FA5}">
                      <a16:colId xmlns:a16="http://schemas.microsoft.com/office/drawing/2014/main" val="20003"/>
                    </a:ext>
                  </a:extLst>
                </a:gridCol>
              </a:tblGrid>
              <a:tr h="601663">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800" b="1" i="0" u="none" strike="noStrike" cap="none" normalizeH="0" baseline="0" dirty="0">
                          <a:ln>
                            <a:noFill/>
                          </a:ln>
                          <a:solidFill>
                            <a:srgbClr val="FFFFFF"/>
                          </a:solidFill>
                          <a:effectLst/>
                          <a:latin typeface="Arial" charset="0"/>
                          <a:ea typeface="ＭＳ Ｐゴシック" charset="0"/>
                          <a:cs typeface="Arial" charset="0"/>
                        </a:rPr>
                        <a:t>NUMBER OF SERVERS</a:t>
                      </a:r>
                      <a:endParaRPr kumimoji="0" lang="en-US" sz="1800" b="1" i="0" u="none" strike="noStrike" cap="none" normalizeH="0" baseline="0" dirty="0">
                        <a:ln>
                          <a:noFill/>
                        </a:ln>
                        <a:solidFill>
                          <a:srgbClr val="FFFFFF"/>
                        </a:solidFill>
                        <a:effectLst/>
                        <a:latin typeface="Arial" charset="0"/>
                        <a:ea typeface="MS PGothic" charset="0"/>
                        <a:cs typeface="MS PGothic" charset="0"/>
                      </a:endParaRPr>
                    </a:p>
                  </a:txBody>
                  <a:tcPr anchor="b"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800" b="1" i="1" u="none" strike="noStrike" cap="none" normalizeH="0" baseline="0" dirty="0">
                          <a:ln>
                            <a:noFill/>
                          </a:ln>
                          <a:solidFill>
                            <a:srgbClr val="FFFFFF"/>
                          </a:solidFill>
                          <a:effectLst/>
                          <a:latin typeface="Arial" charset="0"/>
                          <a:ea typeface="ＭＳ Ｐゴシック" charset="0"/>
                          <a:cs typeface="Arial" charset="0"/>
                        </a:rPr>
                        <a:t>M</a:t>
                      </a:r>
                      <a:endParaRPr kumimoji="0" lang="en-US" sz="1800" b="1" i="1" u="none" strike="noStrike" cap="none" normalizeH="0" baseline="0" dirty="0">
                        <a:ln>
                          <a:noFill/>
                        </a:ln>
                        <a:solidFill>
                          <a:srgbClr val="FFFFFF"/>
                        </a:solidFill>
                        <a:effectLst/>
                        <a:latin typeface="Arial" charset="0"/>
                        <a:ea typeface="MS PGothic" charset="0"/>
                        <a:cs typeface="MS PGothic" charset="0"/>
                      </a:endParaRPr>
                    </a:p>
                  </a:txBody>
                  <a:tcPr anchor="b"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800" b="1" i="0" u="none" strike="noStrike" cap="none" normalizeH="0" baseline="0" dirty="0">
                          <a:ln>
                            <a:noFill/>
                          </a:ln>
                          <a:solidFill>
                            <a:srgbClr val="FFFFFF"/>
                          </a:solidFill>
                          <a:effectLst/>
                          <a:latin typeface="Arial" charset="0"/>
                          <a:ea typeface="ＭＳ Ｐゴシック" charset="0"/>
                          <a:cs typeface="Arial" charset="0"/>
                        </a:rPr>
                        <a:t>NUMBER IN QUEUE</a:t>
                      </a:r>
                      <a:endParaRPr kumimoji="0" lang="en-US" sz="1800" b="1" i="0" u="none" strike="noStrike" cap="none" normalizeH="0" baseline="0" dirty="0">
                        <a:ln>
                          <a:noFill/>
                        </a:ln>
                        <a:solidFill>
                          <a:srgbClr val="FFFFFF"/>
                        </a:solidFill>
                        <a:effectLst/>
                        <a:latin typeface="Arial" charset="0"/>
                        <a:ea typeface="MS PGothic" charset="0"/>
                        <a:cs typeface="MS PGothic" charset="0"/>
                      </a:endParaRPr>
                    </a:p>
                  </a:txBody>
                  <a:tcPr anchor="b"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800" b="1" i="0" u="none" strike="noStrike" cap="none" normalizeH="0" baseline="0" dirty="0">
                          <a:ln>
                            <a:noFill/>
                          </a:ln>
                          <a:solidFill>
                            <a:srgbClr val="FFFFFF"/>
                          </a:solidFill>
                          <a:effectLst/>
                          <a:latin typeface="Arial" charset="0"/>
                          <a:ea typeface="ＭＳ Ｐゴシック" charset="0"/>
                          <a:cs typeface="Arial" charset="0"/>
                        </a:rPr>
                        <a:t>TIME IN QUEUE</a:t>
                      </a:r>
                      <a:endParaRPr kumimoji="0" lang="en-US" sz="1800" b="1" i="0" u="none" strike="noStrike" cap="none" normalizeH="0" baseline="0" dirty="0">
                        <a:ln>
                          <a:noFill/>
                        </a:ln>
                        <a:solidFill>
                          <a:srgbClr val="FFFFFF"/>
                        </a:solidFill>
                        <a:effectLst/>
                        <a:latin typeface="Arial" charset="0"/>
                        <a:ea typeface="MS PGothic" charset="0"/>
                        <a:cs typeface="MS PGothic" charset="0"/>
                      </a:endParaRPr>
                    </a:p>
                  </a:txBody>
                  <a:tcPr anchor="b"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2750">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1 window</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1</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highlight>
                            <a:srgbClr val="FFFF00"/>
                          </a:highlight>
                          <a:latin typeface="Arial" charset="0"/>
                          <a:ea typeface="ＭＳ Ｐゴシック" charset="0"/>
                          <a:cs typeface="Arial" charset="0"/>
                        </a:rPr>
                        <a:t>8.1</a:t>
                      </a:r>
                      <a:endParaRPr kumimoji="0" lang="en-US" sz="1800" b="1" i="0" u="none" strike="noStrike" cap="none" normalizeH="0" baseline="0" dirty="0">
                        <a:ln>
                          <a:noFill/>
                        </a:ln>
                        <a:solidFill>
                          <a:schemeClr val="tx1"/>
                        </a:solidFill>
                        <a:effectLst/>
                        <a:highlight>
                          <a:srgbClr val="FFFF00"/>
                        </a:highligh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.45 </a:t>
                      </a:r>
                      <a:r>
                        <a:rPr kumimoji="0" lang="en-US" sz="1800" b="0" i="0" u="none" strike="noStrike" cap="none" normalizeH="0" baseline="0" dirty="0" err="1">
                          <a:ln>
                            <a:noFill/>
                          </a:ln>
                          <a:solidFill>
                            <a:schemeClr val="tx1"/>
                          </a:solidFill>
                          <a:effectLst/>
                          <a:latin typeface="Arial" charset="0"/>
                          <a:ea typeface="ＭＳ Ｐゴシック" charset="0"/>
                          <a:cs typeface="Arial" charset="0"/>
                        </a:rPr>
                        <a:t>hr</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27 minutes</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2 windows</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2</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highlight>
                            <a:srgbClr val="FFFF00"/>
                          </a:highlight>
                          <a:latin typeface="Arial" charset="0"/>
                          <a:ea typeface="ＭＳ Ｐゴシック" charset="0"/>
                          <a:cs typeface="Arial" charset="0"/>
                        </a:rPr>
                        <a:t>.2285</a:t>
                      </a:r>
                      <a:endParaRPr kumimoji="0" lang="en-US" sz="1800" b="1" i="0" u="none" strike="noStrike" cap="none" normalizeH="0" baseline="0" dirty="0">
                        <a:ln>
                          <a:noFill/>
                        </a:ln>
                        <a:solidFill>
                          <a:schemeClr val="tx1"/>
                        </a:solidFill>
                        <a:effectLst/>
                        <a:highlight>
                          <a:srgbClr val="FFFF00"/>
                        </a:highligh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.0127 </a:t>
                      </a:r>
                      <a:r>
                        <a:rPr kumimoji="0" lang="en-US" sz="1800" b="0" i="0" u="none" strike="noStrike" cap="none" normalizeH="0" baseline="0" dirty="0" err="1">
                          <a:ln>
                            <a:noFill/>
                          </a:ln>
                          <a:solidFill>
                            <a:schemeClr val="tx1"/>
                          </a:solidFill>
                          <a:effectLst/>
                          <a:latin typeface="Arial" charset="0"/>
                          <a:ea typeface="ＭＳ Ｐゴシック" charset="0"/>
                          <a:cs typeface="Arial" charset="0"/>
                        </a:rPr>
                        <a:t>hr</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¾ minute</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3 windows</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3</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.03</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.0017 </a:t>
                      </a:r>
                      <a:r>
                        <a:rPr kumimoji="0" lang="en-US" sz="1800" b="0" i="0" u="none" strike="noStrike" cap="none" normalizeH="0" baseline="0" dirty="0" err="1">
                          <a:ln>
                            <a:noFill/>
                          </a:ln>
                          <a:solidFill>
                            <a:schemeClr val="tx1"/>
                          </a:solidFill>
                          <a:effectLst/>
                          <a:latin typeface="Arial" charset="0"/>
                          <a:ea typeface="ＭＳ Ｐゴシック" charset="0"/>
                          <a:cs typeface="Arial" charset="0"/>
                        </a:rPr>
                        <a:t>hr</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6 seconds</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2750">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4 windows</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4</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.0041</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4000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Arial" charset="0"/>
                        </a:rPr>
                        <a:t>.0002 </a:t>
                      </a:r>
                      <a:r>
                        <a:rPr kumimoji="0" lang="en-US" sz="1800" b="0" i="0" u="none" strike="noStrike" cap="none" normalizeH="0" baseline="0" dirty="0" err="1">
                          <a:ln>
                            <a:noFill/>
                          </a:ln>
                          <a:solidFill>
                            <a:schemeClr val="tx1"/>
                          </a:solidFill>
                          <a:effectLst/>
                          <a:latin typeface="Arial" charset="0"/>
                          <a:ea typeface="ＭＳ Ｐゴシック" charset="0"/>
                          <a:cs typeface="Arial" charset="0"/>
                        </a:rPr>
                        <a:t>hr</a:t>
                      </a:r>
                      <a:r>
                        <a:rPr kumimoji="0" lang="en-US" sz="1800" b="0" i="0" u="none" strike="noStrike" cap="none" normalizeH="0" baseline="0" dirty="0">
                          <a:ln>
                            <a:noFill/>
                          </a:ln>
                          <a:solidFill>
                            <a:schemeClr val="tx1"/>
                          </a:solidFill>
                          <a:effectLst/>
                          <a:latin typeface="Arial" charset="0"/>
                          <a:ea typeface="ＭＳ Ｐゴシック" charset="0"/>
                          <a:cs typeface="Arial" charset="0"/>
                        </a:rPr>
                        <a:t>, &lt;1 second</a:t>
                      </a:r>
                      <a:endParaRPr kumimoji="0" lang="en-US" sz="1800" b="1" i="0" u="none" strike="noStrike" cap="none" normalizeH="0" baseline="0" dirty="0">
                        <a:ln>
                          <a:noFill/>
                        </a:ln>
                        <a:solidFill>
                          <a:schemeClr val="tx1"/>
                        </a:solidFill>
                        <a:effectLst/>
                        <a:latin typeface="Arial" charset="0"/>
                        <a:ea typeface="MS PGothic" charset="0"/>
                        <a:cs typeface="MS PGothic" charset="0"/>
                      </a:endParaRPr>
                    </a:p>
                  </a:txBody>
                  <a:tcPr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36128322"/>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95235"/>
                                        </p:tgtEl>
                                        <p:attrNameLst>
                                          <p:attrName>style.visibility</p:attrName>
                                        </p:attrNameLst>
                                      </p:cBhvr>
                                      <p:to>
                                        <p:strVal val="visible"/>
                                      </p:to>
                                    </p:set>
                                    <p:animEffect transition="in" filter="wipe(left)">
                                      <p:cBhvr>
                                        <p:cTn id="7" dur="1000"/>
                                        <p:tgtEl>
                                          <p:spTgt spid="95235"/>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95237"/>
                                        </p:tgtEl>
                                        <p:attrNameLst>
                                          <p:attrName>style.visibility</p:attrName>
                                        </p:attrNameLst>
                                      </p:cBhvr>
                                      <p:to>
                                        <p:strVal val="visible"/>
                                      </p:to>
                                    </p:set>
                                    <p:animEffect transition="in" filter="wipe(left)">
                                      <p:cBhvr>
                                        <p:cTn id="11" dur="1000"/>
                                        <p:tgtEl>
                                          <p:spTgt spid="95237"/>
                                        </p:tgtEl>
                                      </p:cBhvr>
                                    </p:animEffect>
                                  </p:childTnLst>
                                </p:cTn>
                              </p:par>
                            </p:childTnLst>
                          </p:cTn>
                        </p:par>
                        <p:par>
                          <p:cTn id="12" fill="hold" nodeType="afterGroup">
                            <p:stCondLst>
                              <p:cond delay="4000"/>
                            </p:stCondLst>
                            <p:childTnLst>
                              <p:par>
                                <p:cTn id="13" presetID="22" presetClass="entr" presetSubtype="8" fill="hold" grpId="0" nodeType="afterEffect">
                                  <p:stCondLst>
                                    <p:cond delay="1000"/>
                                  </p:stCondLst>
                                  <p:childTnLst>
                                    <p:set>
                                      <p:cBhvr>
                                        <p:cTn id="14" dur="1" fill="hold">
                                          <p:stCondLst>
                                            <p:cond delay="0"/>
                                          </p:stCondLst>
                                        </p:cTn>
                                        <p:tgtEl>
                                          <p:spTgt spid="95236"/>
                                        </p:tgtEl>
                                        <p:attrNameLst>
                                          <p:attrName>style.visibility</p:attrName>
                                        </p:attrNameLst>
                                      </p:cBhvr>
                                      <p:to>
                                        <p:strVal val="visible"/>
                                      </p:to>
                                    </p:set>
                                    <p:animEffect transition="in" filter="wipe(left)">
                                      <p:cBhvr>
                                        <p:cTn id="15" dur="1000"/>
                                        <p:tgtEl>
                                          <p:spTgt spid="95236"/>
                                        </p:tgtEl>
                                      </p:cBhvr>
                                    </p:animEffect>
                                  </p:childTnLst>
                                </p:cTn>
                              </p:par>
                            </p:childTnLst>
                          </p:cTn>
                        </p:par>
                        <p:par>
                          <p:cTn id="16" fill="hold" nodeType="afterGroup">
                            <p:stCondLst>
                              <p:cond delay="6000"/>
                            </p:stCondLst>
                            <p:childTnLst>
                              <p:par>
                                <p:cTn id="17" presetID="18" presetClass="entr" presetSubtype="6" fill="hold" nodeType="afterEffect">
                                  <p:stCondLst>
                                    <p:cond delay="1000"/>
                                  </p:stCondLst>
                                  <p:childTnLst>
                                    <p:set>
                                      <p:cBhvr>
                                        <p:cTn id="18" dur="1" fill="hold">
                                          <p:stCondLst>
                                            <p:cond delay="0"/>
                                          </p:stCondLst>
                                        </p:cTn>
                                        <p:tgtEl>
                                          <p:spTgt spid="95289"/>
                                        </p:tgtEl>
                                        <p:attrNameLst>
                                          <p:attrName>style.visibility</p:attrName>
                                        </p:attrNameLst>
                                      </p:cBhvr>
                                      <p:to>
                                        <p:strVal val="visible"/>
                                      </p:to>
                                    </p:set>
                                    <p:animEffect transition="in" filter="strips(downRight)">
                                      <p:cBhvr>
                                        <p:cTn id="19" dur="1000"/>
                                        <p:tgtEl>
                                          <p:spTgt spid="95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autoUpdateAnimBg="0"/>
      <p:bldP spid="9523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4"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Constant-Service-Time Model</a:t>
            </a:r>
          </a:p>
        </p:txBody>
      </p:sp>
      <p:grpSp>
        <p:nvGrpSpPr>
          <p:cNvPr id="5" name="Group 4"/>
          <p:cNvGrpSpPr>
            <a:grpSpLocks/>
          </p:cNvGrpSpPr>
          <p:nvPr/>
        </p:nvGrpSpPr>
        <p:grpSpPr bwMode="auto">
          <a:xfrm>
            <a:off x="660400" y="1858963"/>
            <a:ext cx="7813675" cy="4030662"/>
            <a:chOff x="660400" y="1859545"/>
            <a:chExt cx="7813676" cy="4029397"/>
          </a:xfrm>
        </p:grpSpPr>
        <p:sp>
          <p:nvSpPr>
            <p:cNvPr id="47" name="TextBox 46"/>
            <p:cNvSpPr txBox="1"/>
            <p:nvPr/>
          </p:nvSpPr>
          <p:spPr>
            <a:xfrm>
              <a:off x="676275" y="3352913"/>
              <a:ext cx="7797801" cy="844285"/>
            </a:xfrm>
            <a:prstGeom prst="rect">
              <a:avLst/>
            </a:prstGeom>
            <a:solidFill>
              <a:schemeClr val="accent2">
                <a:lumMod val="40000"/>
                <a:lumOff val="60000"/>
              </a:schemeClr>
            </a:solidFill>
            <a:ln w="12700" cmpd="sng">
              <a:solidFill>
                <a:schemeClr val="bg1">
                  <a:lumMod val="75000"/>
                </a:schemeClr>
              </a:solidFill>
            </a:ln>
          </p:spPr>
          <p:txBody>
            <a:bodyPr tIns="280800" bIns="280800">
              <a:spAutoFit/>
            </a:bodyPr>
            <a:lstStyle/>
            <a:p>
              <a:pPr fontAlgn="auto">
                <a:spcBef>
                  <a:spcPts val="0"/>
                </a:spcBef>
                <a:spcAft>
                  <a:spcPts val="600"/>
                </a:spcAft>
                <a:tabLst>
                  <a:tab pos="266700" algn="l"/>
                </a:tabLst>
                <a:defRPr/>
              </a:pPr>
              <a:r>
                <a:rPr lang="en-US" dirty="0">
                  <a:latin typeface="Arial"/>
                  <a:ea typeface="+mn-ea"/>
                  <a:cs typeface="Arial"/>
                </a:rPr>
                <a:t>Average waiting time in queue:</a:t>
              </a:r>
            </a:p>
          </p:txBody>
        </p:sp>
        <p:sp>
          <p:nvSpPr>
            <p:cNvPr id="48" name="TextBox 47"/>
            <p:cNvSpPr txBox="1"/>
            <p:nvPr/>
          </p:nvSpPr>
          <p:spPr>
            <a:xfrm>
              <a:off x="676275" y="4205134"/>
              <a:ext cx="7797801" cy="844285"/>
            </a:xfrm>
            <a:prstGeom prst="rect">
              <a:avLst/>
            </a:prstGeom>
            <a:solidFill>
              <a:schemeClr val="accent2">
                <a:lumMod val="40000"/>
                <a:lumOff val="60000"/>
              </a:schemeClr>
            </a:solidFill>
            <a:ln w="12700" cmpd="sng">
              <a:solidFill>
                <a:srgbClr val="BFBFBF"/>
              </a:solidFill>
            </a:ln>
          </p:spPr>
          <p:txBody>
            <a:bodyPr tIns="280800" bIns="280800">
              <a:spAutoFit/>
            </a:bodyPr>
            <a:lstStyle/>
            <a:p>
              <a:pPr fontAlgn="auto">
                <a:spcBef>
                  <a:spcPts val="0"/>
                </a:spcBef>
                <a:spcAft>
                  <a:spcPts val="600"/>
                </a:spcAft>
                <a:tabLst>
                  <a:tab pos="266700" algn="l"/>
                </a:tabLst>
                <a:defRPr/>
              </a:pPr>
              <a:r>
                <a:rPr lang="en-US" dirty="0">
                  <a:latin typeface="Arial"/>
                  <a:ea typeface="+mn-ea"/>
                  <a:cs typeface="Arial"/>
                </a:rPr>
                <a:t>Average number of customers in the system:</a:t>
              </a:r>
            </a:p>
          </p:txBody>
        </p:sp>
        <p:sp>
          <p:nvSpPr>
            <p:cNvPr id="49" name="TextBox 48"/>
            <p:cNvSpPr txBox="1"/>
            <p:nvPr/>
          </p:nvSpPr>
          <p:spPr>
            <a:xfrm>
              <a:off x="676275" y="5044657"/>
              <a:ext cx="7797801" cy="844285"/>
            </a:xfrm>
            <a:prstGeom prst="rect">
              <a:avLst/>
            </a:prstGeom>
            <a:solidFill>
              <a:schemeClr val="accent2">
                <a:lumMod val="40000"/>
                <a:lumOff val="60000"/>
              </a:schemeClr>
            </a:solidFill>
            <a:ln w="12700" cmpd="sng">
              <a:solidFill>
                <a:srgbClr val="BFBFBF"/>
              </a:solidFill>
            </a:ln>
          </p:spPr>
          <p:txBody>
            <a:bodyPr tIns="280800" bIns="280800">
              <a:spAutoFit/>
            </a:bodyPr>
            <a:lstStyle/>
            <a:p>
              <a:pPr fontAlgn="auto">
                <a:spcBef>
                  <a:spcPts val="0"/>
                </a:spcBef>
                <a:spcAft>
                  <a:spcPts val="600"/>
                </a:spcAft>
                <a:tabLst>
                  <a:tab pos="266700" algn="l"/>
                </a:tabLst>
                <a:defRPr/>
              </a:pPr>
              <a:r>
                <a:rPr lang="en-US" dirty="0">
                  <a:latin typeface="Arial"/>
                  <a:ea typeface="+mn-ea"/>
                  <a:cs typeface="Arial"/>
                </a:rPr>
                <a:t>Average time in the system:</a:t>
              </a:r>
            </a:p>
          </p:txBody>
        </p:sp>
        <p:sp>
          <p:nvSpPr>
            <p:cNvPr id="6269" name="TextBox 40"/>
            <p:cNvSpPr txBox="1">
              <a:spLocks noChangeArrowheads="1"/>
            </p:cNvSpPr>
            <p:nvPr/>
          </p:nvSpPr>
          <p:spPr bwMode="auto">
            <a:xfrm>
              <a:off x="660400" y="1859545"/>
              <a:ext cx="1646403" cy="655055"/>
            </a:xfrm>
            <a:prstGeom prst="rect">
              <a:avLst/>
            </a:prstGeom>
            <a:solidFill>
              <a:schemeClr val="tx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252000" tIns="187200" rIns="252000" bIns="187200">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dirty="0">
                  <a:solidFill>
                    <a:srgbClr val="FFFFFF"/>
                  </a:solidFill>
                </a:rPr>
                <a:t>TABLE D.6</a:t>
              </a:r>
            </a:p>
          </p:txBody>
        </p:sp>
        <p:sp>
          <p:nvSpPr>
            <p:cNvPr id="42" name="TextBox 41"/>
            <p:cNvSpPr txBox="1"/>
            <p:nvPr/>
          </p:nvSpPr>
          <p:spPr>
            <a:xfrm>
              <a:off x="2311400" y="1862719"/>
              <a:ext cx="6162676" cy="645909"/>
            </a:xfrm>
            <a:prstGeom prst="rect">
              <a:avLst/>
            </a:prstGeom>
            <a:noFill/>
            <a:ln>
              <a:solidFill>
                <a:schemeClr val="bg1">
                  <a:lumMod val="75000"/>
                </a:schemeClr>
              </a:solidFill>
            </a:ln>
          </p:spPr>
          <p:txBody>
            <a:bodyPr>
              <a:spAutoFit/>
            </a:bodyPr>
            <a:lstStyle/>
            <a:p>
              <a:pPr fontAlgn="auto">
                <a:spcBef>
                  <a:spcPts val="0"/>
                </a:spcBef>
                <a:spcAft>
                  <a:spcPts val="0"/>
                </a:spcAft>
                <a:defRPr/>
              </a:pPr>
              <a:r>
                <a:rPr lang="en-US" dirty="0">
                  <a:latin typeface="Arial"/>
                  <a:ea typeface="+mn-ea"/>
                  <a:cs typeface="Arial"/>
                </a:rPr>
                <a:t>Queuing Formulas for Model C: Constant Service, Also Called M/D/1 </a:t>
              </a:r>
            </a:p>
          </p:txBody>
        </p:sp>
        <p:sp>
          <p:nvSpPr>
            <p:cNvPr id="40" name="TextBox 39"/>
            <p:cNvSpPr txBox="1"/>
            <p:nvPr/>
          </p:nvSpPr>
          <p:spPr>
            <a:xfrm>
              <a:off x="676275" y="2508628"/>
              <a:ext cx="7797801" cy="844285"/>
            </a:xfrm>
            <a:prstGeom prst="rect">
              <a:avLst/>
            </a:prstGeom>
            <a:solidFill>
              <a:schemeClr val="accent2">
                <a:lumMod val="40000"/>
                <a:lumOff val="60000"/>
              </a:schemeClr>
            </a:solidFill>
            <a:ln w="12700" cmpd="sng">
              <a:solidFill>
                <a:schemeClr val="bg1">
                  <a:lumMod val="75000"/>
                </a:schemeClr>
              </a:solidFill>
            </a:ln>
          </p:spPr>
          <p:txBody>
            <a:bodyPr tIns="280800" bIns="280800">
              <a:spAutoFit/>
            </a:bodyPr>
            <a:lstStyle/>
            <a:p>
              <a:pPr fontAlgn="auto">
                <a:spcBef>
                  <a:spcPts val="0"/>
                </a:spcBef>
                <a:spcAft>
                  <a:spcPts val="600"/>
                </a:spcAft>
                <a:tabLst>
                  <a:tab pos="266700" algn="l"/>
                </a:tabLst>
                <a:defRPr/>
              </a:pPr>
              <a:r>
                <a:rPr lang="en-US" dirty="0">
                  <a:latin typeface="Arial"/>
                  <a:ea typeface="+mn-ea"/>
                  <a:cs typeface="Arial"/>
                </a:rPr>
                <a:t>Average length of queue:</a:t>
              </a:r>
            </a:p>
          </p:txBody>
        </p:sp>
        <p:graphicFrame>
          <p:nvGraphicFramePr>
            <p:cNvPr id="6260" name="Object 116"/>
            <p:cNvGraphicFramePr>
              <a:graphicFrameLocks noChangeAspect="1"/>
            </p:cNvGraphicFramePr>
            <p:nvPr/>
          </p:nvGraphicFramePr>
          <p:xfrm>
            <a:off x="3505200" y="2540334"/>
            <a:ext cx="1587500" cy="812800"/>
          </p:xfrm>
          <a:graphic>
            <a:graphicData uri="http://schemas.openxmlformats.org/presentationml/2006/ole">
              <mc:AlternateContent xmlns:mc="http://schemas.openxmlformats.org/markup-compatibility/2006">
                <mc:Choice xmlns:v="urn:schemas-microsoft-com:vml" Requires="v">
                  <p:oleObj name="Equation" r:id="rId3" imgW="1572480" imgH="804240" progId="Equation.3">
                    <p:embed/>
                  </p:oleObj>
                </mc:Choice>
                <mc:Fallback>
                  <p:oleObj name="Equation" r:id="rId3" imgW="1572480" imgH="8042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2540334"/>
                          <a:ext cx="1587500" cy="812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61" name="Object 117"/>
            <p:cNvGraphicFramePr>
              <a:graphicFrameLocks noChangeAspect="1"/>
            </p:cNvGraphicFramePr>
            <p:nvPr/>
          </p:nvGraphicFramePr>
          <p:xfrm>
            <a:off x="4064000" y="3388730"/>
            <a:ext cx="1625600" cy="787400"/>
          </p:xfrm>
          <a:graphic>
            <a:graphicData uri="http://schemas.openxmlformats.org/presentationml/2006/ole">
              <mc:AlternateContent xmlns:mc="http://schemas.openxmlformats.org/markup-compatibility/2006">
                <mc:Choice xmlns:v="urn:schemas-microsoft-com:vml" Requires="v">
                  <p:oleObj name="Equation" r:id="rId5" imgW="1618200" imgH="776880" progId="Equation.3">
                    <p:embed/>
                  </p:oleObj>
                </mc:Choice>
                <mc:Fallback>
                  <p:oleObj name="Equation" r:id="rId5" imgW="1618200" imgH="7768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4000" y="3388730"/>
                          <a:ext cx="1625600" cy="787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62" name="Object 118"/>
            <p:cNvGraphicFramePr>
              <a:graphicFrameLocks noChangeAspect="1"/>
            </p:cNvGraphicFramePr>
            <p:nvPr/>
          </p:nvGraphicFramePr>
          <p:xfrm>
            <a:off x="5467350" y="4274760"/>
            <a:ext cx="1155700" cy="698500"/>
          </p:xfrm>
          <a:graphic>
            <a:graphicData uri="http://schemas.openxmlformats.org/presentationml/2006/ole">
              <mc:AlternateContent xmlns:mc="http://schemas.openxmlformats.org/markup-compatibility/2006">
                <mc:Choice xmlns:v="urn:schemas-microsoft-com:vml" Requires="v">
                  <p:oleObj name="Equation" r:id="rId7" imgW="1142640" imgH="685440" progId="Equation.3">
                    <p:embed/>
                  </p:oleObj>
                </mc:Choice>
                <mc:Fallback>
                  <p:oleObj name="Equation" r:id="rId7" imgW="1142640" imgH="6854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7350" y="4274760"/>
                          <a:ext cx="1155700" cy="698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63" name="Object 119"/>
            <p:cNvGraphicFramePr>
              <a:graphicFrameLocks noChangeAspect="1"/>
            </p:cNvGraphicFramePr>
            <p:nvPr/>
          </p:nvGraphicFramePr>
          <p:xfrm>
            <a:off x="3765550" y="5109991"/>
            <a:ext cx="1231900" cy="698500"/>
          </p:xfrm>
          <a:graphic>
            <a:graphicData uri="http://schemas.openxmlformats.org/presentationml/2006/ole">
              <mc:AlternateContent xmlns:mc="http://schemas.openxmlformats.org/markup-compatibility/2006">
                <mc:Choice xmlns:v="urn:schemas-microsoft-com:vml" Requires="v">
                  <p:oleObj name="Equation" r:id="rId9" imgW="1215720" imgH="685440" progId="Equation.3">
                    <p:embed/>
                  </p:oleObj>
                </mc:Choice>
                <mc:Fallback>
                  <p:oleObj name="Equation" r:id="rId9" imgW="1215720" imgH="6854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65550" y="5109991"/>
                          <a:ext cx="1231900" cy="698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3893238756"/>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2/3*#ppt_w"/>
                                          </p:val>
                                        </p:tav>
                                        <p:tav tm="100000">
                                          <p:val>
                                            <p:strVal val="#ppt_w"/>
                                          </p:val>
                                        </p:tav>
                                      </p:tavLst>
                                    </p:anim>
                                    <p:anim calcmode="lin" valueType="num">
                                      <p:cBhvr>
                                        <p:cTn id="8" dur="1000" fill="hold"/>
                                        <p:tgtEl>
                                          <p:spTgt spid="5"/>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971550" y="5922963"/>
            <a:ext cx="7334250" cy="400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tabLst>
                <a:tab pos="5816600" algn="l"/>
              </a:tabLst>
            </a:pPr>
            <a:r>
              <a:rPr lang="en-US" sz="2000" dirty="0"/>
              <a:t>Net savings	=  $  7 /trip</a:t>
            </a:r>
          </a:p>
        </p:txBody>
      </p:sp>
      <p:sp>
        <p:nvSpPr>
          <p:cNvPr id="98307" name="Rectangle 3"/>
          <p:cNvSpPr>
            <a:spLocks noGrp="1" noChangeArrowheads="1"/>
          </p:cNvSpPr>
          <p:nvPr>
            <p:ph type="title"/>
          </p:nvPr>
        </p:nvSpPr>
        <p:spPr>
          <a:xfrm>
            <a:off x="527050" y="384175"/>
            <a:ext cx="8089900" cy="952500"/>
          </a:xfrm>
        </p:spPr>
        <p:txBody>
          <a:bodyPr rtlCol="0">
            <a:normAutofit fontScale="90000"/>
          </a:bodyPr>
          <a:lstStyle/>
          <a:p>
            <a:pPr fontAlgn="auto">
              <a:spcAft>
                <a:spcPts val="0"/>
              </a:spcAft>
              <a:defRPr/>
            </a:pPr>
            <a:r>
              <a:rPr lang="en-US" dirty="0">
                <a:latin typeface="Arial" charset="0"/>
              </a:rPr>
              <a:t>Constant-Service-Time Example</a:t>
            </a:r>
          </a:p>
        </p:txBody>
      </p:sp>
      <p:sp>
        <p:nvSpPr>
          <p:cNvPr id="98308" name="Rectangle 4"/>
          <p:cNvSpPr>
            <a:spLocks noChangeArrowheads="1"/>
          </p:cNvSpPr>
          <p:nvPr/>
        </p:nvSpPr>
        <p:spPr bwMode="auto">
          <a:xfrm>
            <a:off x="976313" y="1370013"/>
            <a:ext cx="6853237" cy="1631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Trucks currently wait 15 minutes on average</a:t>
            </a:r>
          </a:p>
          <a:p>
            <a:r>
              <a:rPr lang="en-US" sz="2000" dirty="0"/>
              <a:t>Truck and driver cost $60 per hour</a:t>
            </a:r>
          </a:p>
          <a:p>
            <a:r>
              <a:rPr lang="en-US" sz="2000" dirty="0"/>
              <a:t>Automated compactor service rate (</a:t>
            </a:r>
            <a:r>
              <a:rPr lang="en-US" sz="2000" i="1" dirty="0"/>
              <a:t>µ</a:t>
            </a:r>
            <a:r>
              <a:rPr lang="en-US" sz="2000" dirty="0"/>
              <a:t>) = 12 trucks per hour</a:t>
            </a:r>
          </a:p>
          <a:p>
            <a:r>
              <a:rPr lang="en-US" sz="2000" dirty="0"/>
              <a:t>Arrival rate (</a:t>
            </a:r>
            <a:r>
              <a:rPr lang="en-US" sz="2000" i="1" dirty="0">
                <a:sym typeface="Symbol" charset="0"/>
              </a:rPr>
              <a:t></a:t>
            </a:r>
            <a:r>
              <a:rPr lang="en-US" sz="2000" dirty="0">
                <a:sym typeface="Symbol" charset="0"/>
              </a:rPr>
              <a:t>) </a:t>
            </a:r>
            <a:r>
              <a:rPr lang="en-US" sz="2000" dirty="0"/>
              <a:t>= 8 per hour</a:t>
            </a:r>
          </a:p>
          <a:p>
            <a:r>
              <a:rPr lang="en-US" sz="2000" dirty="0"/>
              <a:t>Compactor costs $3 per truck</a:t>
            </a:r>
          </a:p>
        </p:txBody>
      </p:sp>
      <p:sp>
        <p:nvSpPr>
          <p:cNvPr id="98309" name="Rectangle 5"/>
          <p:cNvSpPr>
            <a:spLocks noChangeArrowheads="1"/>
          </p:cNvSpPr>
          <p:nvPr/>
        </p:nvSpPr>
        <p:spPr bwMode="auto">
          <a:xfrm>
            <a:off x="977900" y="3098800"/>
            <a:ext cx="6257925" cy="400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Current waiting cost per trip = (1/4 hr)($60) = $15 /trip</a:t>
            </a:r>
          </a:p>
        </p:txBody>
      </p:sp>
      <p:grpSp>
        <p:nvGrpSpPr>
          <p:cNvPr id="98310" name="Group 6"/>
          <p:cNvGrpSpPr>
            <a:grpSpLocks/>
          </p:cNvGrpSpPr>
          <p:nvPr/>
        </p:nvGrpSpPr>
        <p:grpSpPr bwMode="auto">
          <a:xfrm>
            <a:off x="1000125" y="3454400"/>
            <a:ext cx="4044950" cy="776288"/>
            <a:chOff x="638" y="2880"/>
            <a:chExt cx="2548" cy="489"/>
          </a:xfrm>
        </p:grpSpPr>
        <p:sp>
          <p:nvSpPr>
            <p:cNvPr id="105487" name="Rectangle 7"/>
            <p:cNvSpPr>
              <a:spLocks noChangeArrowheads="1"/>
            </p:cNvSpPr>
            <p:nvPr/>
          </p:nvSpPr>
          <p:spPr bwMode="auto">
            <a:xfrm>
              <a:off x="638" y="2991"/>
              <a:ext cx="2548"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i="1" dirty="0"/>
                <a:t>W</a:t>
              </a:r>
              <a:r>
                <a:rPr lang="en-US" sz="2000" i="1" baseline="-25000" dirty="0"/>
                <a:t>q</a:t>
              </a:r>
              <a:r>
                <a:rPr lang="en-US" sz="2000" dirty="0"/>
                <a:t> =                          =          hour</a:t>
              </a:r>
            </a:p>
          </p:txBody>
        </p:sp>
        <p:grpSp>
          <p:nvGrpSpPr>
            <p:cNvPr id="105488" name="Group 8"/>
            <p:cNvGrpSpPr>
              <a:grpSpLocks/>
            </p:cNvGrpSpPr>
            <p:nvPr/>
          </p:nvGrpSpPr>
          <p:grpSpPr bwMode="auto">
            <a:xfrm>
              <a:off x="1102" y="2888"/>
              <a:ext cx="1050" cy="481"/>
              <a:chOff x="1878" y="2896"/>
              <a:chExt cx="1050" cy="481"/>
            </a:xfrm>
          </p:grpSpPr>
          <p:sp>
            <p:nvSpPr>
              <p:cNvPr id="105492" name="Rectangle 9"/>
              <p:cNvSpPr>
                <a:spLocks noChangeArrowheads="1"/>
              </p:cNvSpPr>
              <p:nvPr/>
            </p:nvSpPr>
            <p:spPr bwMode="auto">
              <a:xfrm>
                <a:off x="1878" y="2896"/>
                <a:ext cx="1050" cy="4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110000"/>
                  </a:lnSpc>
                </a:pPr>
                <a:r>
                  <a:rPr lang="en-US" sz="2000" dirty="0"/>
                  <a:t>8</a:t>
                </a:r>
              </a:p>
              <a:p>
                <a:pPr algn="ctr">
                  <a:lnSpc>
                    <a:spcPct val="110000"/>
                  </a:lnSpc>
                </a:pPr>
                <a:r>
                  <a:rPr lang="en-US" sz="2000" dirty="0"/>
                  <a:t>2(12)(12 – 8)</a:t>
                </a:r>
              </a:p>
            </p:txBody>
          </p:sp>
          <p:sp>
            <p:nvSpPr>
              <p:cNvPr id="105493" name="Line 10"/>
              <p:cNvSpPr>
                <a:spLocks noChangeShapeType="1"/>
              </p:cNvSpPr>
              <p:nvPr/>
            </p:nvSpPr>
            <p:spPr bwMode="auto">
              <a:xfrm>
                <a:off x="1936" y="3144"/>
                <a:ext cx="936"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nvGrpSpPr>
            <p:cNvPr id="105489" name="Group 11"/>
            <p:cNvGrpSpPr>
              <a:grpSpLocks/>
            </p:cNvGrpSpPr>
            <p:nvPr/>
          </p:nvGrpSpPr>
          <p:grpSpPr bwMode="auto">
            <a:xfrm>
              <a:off x="2366" y="2880"/>
              <a:ext cx="294" cy="480"/>
              <a:chOff x="3454" y="2944"/>
              <a:chExt cx="294" cy="480"/>
            </a:xfrm>
          </p:grpSpPr>
          <p:sp>
            <p:nvSpPr>
              <p:cNvPr id="105490" name="Rectangle 12"/>
              <p:cNvSpPr>
                <a:spLocks noChangeArrowheads="1"/>
              </p:cNvSpPr>
              <p:nvPr/>
            </p:nvSpPr>
            <p:spPr bwMode="auto">
              <a:xfrm>
                <a:off x="3454" y="2944"/>
                <a:ext cx="294" cy="4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110000"/>
                  </a:lnSpc>
                </a:pPr>
                <a:r>
                  <a:rPr lang="en-US" sz="2000" dirty="0"/>
                  <a:t>1</a:t>
                </a:r>
              </a:p>
              <a:p>
                <a:pPr algn="ctr">
                  <a:lnSpc>
                    <a:spcPct val="110000"/>
                  </a:lnSpc>
                </a:pPr>
                <a:r>
                  <a:rPr lang="en-US" sz="2000" dirty="0"/>
                  <a:t>12</a:t>
                </a:r>
              </a:p>
            </p:txBody>
          </p:sp>
          <p:sp>
            <p:nvSpPr>
              <p:cNvPr id="105491" name="Line 13"/>
              <p:cNvSpPr>
                <a:spLocks noChangeShapeType="1"/>
              </p:cNvSpPr>
              <p:nvPr/>
            </p:nvSpPr>
            <p:spPr bwMode="auto">
              <a:xfrm>
                <a:off x="3464" y="3200"/>
                <a:ext cx="256"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grpSp>
        <p:nvGrpSpPr>
          <p:cNvPr id="98318" name="Group 14"/>
          <p:cNvGrpSpPr>
            <a:grpSpLocks/>
          </p:cNvGrpSpPr>
          <p:nvPr/>
        </p:nvGrpSpPr>
        <p:grpSpPr bwMode="auto">
          <a:xfrm>
            <a:off x="971550" y="4443413"/>
            <a:ext cx="7269163" cy="623887"/>
            <a:chOff x="590" y="3175"/>
            <a:chExt cx="4579" cy="393"/>
          </a:xfrm>
        </p:grpSpPr>
        <p:sp>
          <p:nvSpPr>
            <p:cNvPr id="105485" name="Rectangle 15"/>
            <p:cNvSpPr>
              <a:spLocks noChangeArrowheads="1"/>
            </p:cNvSpPr>
            <p:nvPr/>
          </p:nvSpPr>
          <p:spPr bwMode="auto">
            <a:xfrm>
              <a:off x="590" y="3175"/>
              <a:ext cx="1268" cy="3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000" dirty="0"/>
                <a:t>Waiting cost/trip</a:t>
              </a:r>
              <a:br>
                <a:rPr lang="en-US" sz="2000" dirty="0"/>
              </a:br>
              <a:r>
                <a:rPr lang="en-US" sz="2000" dirty="0"/>
                <a:t>with compactor</a:t>
              </a:r>
            </a:p>
          </p:txBody>
        </p:sp>
        <p:sp>
          <p:nvSpPr>
            <p:cNvPr id="105486" name="Rectangle 16"/>
            <p:cNvSpPr>
              <a:spLocks noChangeArrowheads="1"/>
            </p:cNvSpPr>
            <p:nvPr/>
          </p:nvSpPr>
          <p:spPr bwMode="auto">
            <a:xfrm>
              <a:off x="1958" y="3231"/>
              <a:ext cx="3211"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  (1/12 hr wait)($60/hr cost)		=  $  5 /trip</a:t>
              </a:r>
            </a:p>
          </p:txBody>
        </p:sp>
      </p:grpSp>
      <p:grpSp>
        <p:nvGrpSpPr>
          <p:cNvPr id="98321" name="Group 17"/>
          <p:cNvGrpSpPr>
            <a:grpSpLocks/>
          </p:cNvGrpSpPr>
          <p:nvPr/>
        </p:nvGrpSpPr>
        <p:grpSpPr bwMode="auto">
          <a:xfrm>
            <a:off x="971550" y="5014913"/>
            <a:ext cx="7275513" cy="623887"/>
            <a:chOff x="612" y="3431"/>
            <a:chExt cx="4583" cy="393"/>
          </a:xfrm>
        </p:grpSpPr>
        <p:sp>
          <p:nvSpPr>
            <p:cNvPr id="105483" name="Rectangle 18"/>
            <p:cNvSpPr>
              <a:spLocks noChangeArrowheads="1"/>
            </p:cNvSpPr>
            <p:nvPr/>
          </p:nvSpPr>
          <p:spPr bwMode="auto">
            <a:xfrm>
              <a:off x="612" y="3431"/>
              <a:ext cx="1212" cy="3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000" dirty="0"/>
                <a:t>Savings with</a:t>
              </a:r>
              <a:br>
                <a:rPr lang="en-US" sz="2000" dirty="0"/>
              </a:br>
              <a:r>
                <a:rPr lang="en-US" sz="2000" dirty="0"/>
                <a:t>new equipment</a:t>
              </a:r>
            </a:p>
          </p:txBody>
        </p:sp>
        <p:sp>
          <p:nvSpPr>
            <p:cNvPr id="105484" name="Rectangle 19"/>
            <p:cNvSpPr>
              <a:spLocks noChangeArrowheads="1"/>
            </p:cNvSpPr>
            <p:nvPr/>
          </p:nvSpPr>
          <p:spPr bwMode="auto">
            <a:xfrm>
              <a:off x="1886" y="3463"/>
              <a:ext cx="33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tabLst>
                  <a:tab pos="3810000" algn="l"/>
                </a:tabLst>
              </a:pPr>
              <a:r>
                <a:rPr lang="en-US" sz="2000" dirty="0"/>
                <a:t>=  $15 (current) – $5(new)	=  $10 /trip</a:t>
              </a:r>
            </a:p>
          </p:txBody>
        </p:sp>
      </p:grpSp>
      <p:grpSp>
        <p:nvGrpSpPr>
          <p:cNvPr id="98326" name="Group 22"/>
          <p:cNvGrpSpPr>
            <a:grpSpLocks/>
          </p:cNvGrpSpPr>
          <p:nvPr/>
        </p:nvGrpSpPr>
        <p:grpSpPr bwMode="auto">
          <a:xfrm>
            <a:off x="971550" y="5548313"/>
            <a:ext cx="7334250" cy="400050"/>
            <a:chOff x="612" y="3495"/>
            <a:chExt cx="4620" cy="252"/>
          </a:xfrm>
        </p:grpSpPr>
        <p:sp>
          <p:nvSpPr>
            <p:cNvPr id="105481" name="Rectangle 20"/>
            <p:cNvSpPr>
              <a:spLocks noChangeArrowheads="1"/>
            </p:cNvSpPr>
            <p:nvPr/>
          </p:nvSpPr>
          <p:spPr bwMode="auto">
            <a:xfrm>
              <a:off x="612" y="3495"/>
              <a:ext cx="4620"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tabLst>
                  <a:tab pos="5816600" algn="l"/>
                </a:tabLst>
              </a:pPr>
              <a:r>
                <a:rPr lang="en-US" sz="2000" dirty="0"/>
                <a:t>Cost of new equipment amortized	=  $  3 /trip</a:t>
              </a:r>
            </a:p>
          </p:txBody>
        </p:sp>
        <p:sp>
          <p:nvSpPr>
            <p:cNvPr id="105482" name="Line 21"/>
            <p:cNvSpPr>
              <a:spLocks noChangeShapeType="1"/>
            </p:cNvSpPr>
            <p:nvPr/>
          </p:nvSpPr>
          <p:spPr bwMode="auto">
            <a:xfrm>
              <a:off x="4512" y="3744"/>
              <a:ext cx="592"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grpSp>
    </p:spTree>
    <p:extLst>
      <p:ext uri="{BB962C8B-B14F-4D97-AF65-F5344CB8AC3E}">
        <p14:creationId xmlns:p14="http://schemas.microsoft.com/office/powerpoint/2010/main" val="3207515462"/>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98308"/>
                                        </p:tgtEl>
                                        <p:attrNameLst>
                                          <p:attrName>style.visibility</p:attrName>
                                        </p:attrNameLst>
                                      </p:cBhvr>
                                      <p:to>
                                        <p:strVal val="visible"/>
                                      </p:to>
                                    </p:set>
                                    <p:animEffect transition="in" filter="wipe(left)">
                                      <p:cBhvr>
                                        <p:cTn id="7" dur="1000"/>
                                        <p:tgtEl>
                                          <p:spTgt spid="98308"/>
                                        </p:tgtEl>
                                      </p:cBhvr>
                                    </p:animEffect>
                                  </p:childTnLst>
                                </p:cTn>
                              </p:par>
                            </p:childTnLst>
                          </p:cTn>
                        </p:par>
                        <p:par>
                          <p:cTn id="8" fill="hold" nodeType="afterGroup">
                            <p:stCondLst>
                              <p:cond delay="2000"/>
                            </p:stCondLst>
                            <p:childTnLst>
                              <p:par>
                                <p:cTn id="9" presetID="22" presetClass="entr" presetSubtype="8" fill="hold" grpId="0" nodeType="afterEffect">
                                  <p:stCondLst>
                                    <p:cond delay="1000"/>
                                  </p:stCondLst>
                                  <p:childTnLst>
                                    <p:set>
                                      <p:cBhvr>
                                        <p:cTn id="10" dur="1" fill="hold">
                                          <p:stCondLst>
                                            <p:cond delay="0"/>
                                          </p:stCondLst>
                                        </p:cTn>
                                        <p:tgtEl>
                                          <p:spTgt spid="98309"/>
                                        </p:tgtEl>
                                        <p:attrNameLst>
                                          <p:attrName>style.visibility</p:attrName>
                                        </p:attrNameLst>
                                      </p:cBhvr>
                                      <p:to>
                                        <p:strVal val="visible"/>
                                      </p:to>
                                    </p:set>
                                    <p:animEffect transition="in" filter="wipe(left)">
                                      <p:cBhvr>
                                        <p:cTn id="11" dur="1000"/>
                                        <p:tgtEl>
                                          <p:spTgt spid="9830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98310"/>
                                        </p:tgtEl>
                                        <p:attrNameLst>
                                          <p:attrName>style.visibility</p:attrName>
                                        </p:attrNameLst>
                                      </p:cBhvr>
                                      <p:to>
                                        <p:strVal val="visible"/>
                                      </p:to>
                                    </p:set>
                                    <p:animEffect transition="in" filter="wipe(left)">
                                      <p:cBhvr>
                                        <p:cTn id="16" dur="1000"/>
                                        <p:tgtEl>
                                          <p:spTgt spid="9831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98318"/>
                                        </p:tgtEl>
                                        <p:attrNameLst>
                                          <p:attrName>style.visibility</p:attrName>
                                        </p:attrNameLst>
                                      </p:cBhvr>
                                      <p:to>
                                        <p:strVal val="visible"/>
                                      </p:to>
                                    </p:set>
                                    <p:animEffect transition="in" filter="wipe(left)">
                                      <p:cBhvr>
                                        <p:cTn id="21" dur="1000"/>
                                        <p:tgtEl>
                                          <p:spTgt spid="9831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8321"/>
                                        </p:tgtEl>
                                        <p:attrNameLst>
                                          <p:attrName>style.visibility</p:attrName>
                                        </p:attrNameLst>
                                      </p:cBhvr>
                                      <p:to>
                                        <p:strVal val="visible"/>
                                      </p:to>
                                    </p:set>
                                    <p:animEffect transition="in" filter="wipe(left)">
                                      <p:cBhvr>
                                        <p:cTn id="26" dur="1000"/>
                                        <p:tgtEl>
                                          <p:spTgt spid="9832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98326"/>
                                        </p:tgtEl>
                                        <p:attrNameLst>
                                          <p:attrName>style.visibility</p:attrName>
                                        </p:attrNameLst>
                                      </p:cBhvr>
                                      <p:to>
                                        <p:strVal val="visible"/>
                                      </p:to>
                                    </p:set>
                                    <p:animEffect transition="in" filter="wipe(left)">
                                      <p:cBhvr>
                                        <p:cTn id="31" dur="1000"/>
                                        <p:tgtEl>
                                          <p:spTgt spid="98326"/>
                                        </p:tgtEl>
                                      </p:cBhvr>
                                    </p:animEffect>
                                  </p:childTnLst>
                                </p:cTn>
                              </p:par>
                            </p:childTnLst>
                          </p:cTn>
                        </p:par>
                        <p:par>
                          <p:cTn id="32" fill="hold" nodeType="afterGroup">
                            <p:stCondLst>
                              <p:cond delay="1000"/>
                            </p:stCondLst>
                            <p:childTnLst>
                              <p:par>
                                <p:cTn id="33" presetID="22" presetClass="entr" presetSubtype="8" fill="hold" grpId="0" nodeType="afterEffect">
                                  <p:stCondLst>
                                    <p:cond delay="1000"/>
                                  </p:stCondLst>
                                  <p:childTnLst>
                                    <p:set>
                                      <p:cBhvr>
                                        <p:cTn id="34" dur="1" fill="hold">
                                          <p:stCondLst>
                                            <p:cond delay="0"/>
                                          </p:stCondLst>
                                        </p:cTn>
                                        <p:tgtEl>
                                          <p:spTgt spid="98306"/>
                                        </p:tgtEl>
                                        <p:attrNameLst>
                                          <p:attrName>style.visibility</p:attrName>
                                        </p:attrNameLst>
                                      </p:cBhvr>
                                      <p:to>
                                        <p:strVal val="visible"/>
                                      </p:to>
                                    </p:set>
                                    <p:animEffect transition="in" filter="wipe(left)">
                                      <p:cBhvr>
                                        <p:cTn id="35" dur="1000"/>
                                        <p:tgtEl>
                                          <p:spTgt spid="98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utoUpdateAnimBg="0"/>
      <p:bldP spid="98308" grpId="0" autoUpdateAnimBg="0"/>
      <p:bldP spid="98309"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noChangeArrowheads="1"/>
          </p:cNvSpPr>
          <p:nvPr>
            <p:ph type="title"/>
          </p:nvPr>
        </p:nvSpPr>
        <p:spPr/>
        <p:txBody>
          <a:bodyPr/>
          <a:lstStyle/>
          <a:p>
            <a:r>
              <a:rPr lang="en-US" dirty="0">
                <a:latin typeface="Arial" charset="0"/>
                <a:ea typeface="MS PGothic" charset="0"/>
                <a:cs typeface="MS PGothic" charset="0"/>
              </a:rPr>
              <a:t>Little</a:t>
            </a:r>
            <a:r>
              <a:rPr lang="en-AU" dirty="0">
                <a:latin typeface="Arial" charset="0"/>
                <a:ea typeface="MS PGothic" charset="0"/>
                <a:cs typeface="MS PGothic" charset="0"/>
              </a:rPr>
              <a:t>'</a:t>
            </a:r>
            <a:r>
              <a:rPr lang="en-US" dirty="0">
                <a:latin typeface="Arial" charset="0"/>
                <a:ea typeface="MS PGothic" charset="0"/>
                <a:cs typeface="MS PGothic" charset="0"/>
              </a:rPr>
              <a:t>s Law</a:t>
            </a:r>
          </a:p>
        </p:txBody>
      </p:sp>
      <p:sp>
        <p:nvSpPr>
          <p:cNvPr id="107522" name="Rectangle 3"/>
          <p:cNvSpPr>
            <a:spLocks noGrp="1" noChangeArrowheads="1"/>
          </p:cNvSpPr>
          <p:nvPr>
            <p:ph type="body" idx="1"/>
          </p:nvPr>
        </p:nvSpPr>
        <p:spPr>
          <a:xfrm>
            <a:off x="723900" y="1651000"/>
            <a:ext cx="7772400" cy="596900"/>
          </a:xfrm>
        </p:spPr>
        <p:txBody>
          <a:bodyPr/>
          <a:lstStyle/>
          <a:p>
            <a:pPr>
              <a:buSzPct val="60000"/>
              <a:buFont typeface="Lucida Grande" charset="0"/>
              <a:buChar char="►"/>
            </a:pPr>
            <a:r>
              <a:rPr lang="en-US" sz="2800" dirty="0">
                <a:latin typeface="Arial" charset="0"/>
                <a:ea typeface="MS PGothic" charset="0"/>
                <a:cs typeface="MS PGothic" charset="0"/>
              </a:rPr>
              <a:t>A queuing system in </a:t>
            </a:r>
            <a:r>
              <a:rPr lang="en-US" sz="2800" i="1" dirty="0">
                <a:latin typeface="Arial" charset="0"/>
                <a:ea typeface="MS PGothic" charset="0"/>
                <a:cs typeface="MS PGothic" charset="0"/>
              </a:rPr>
              <a:t>steady state</a:t>
            </a:r>
          </a:p>
        </p:txBody>
      </p:sp>
      <p:sp>
        <p:nvSpPr>
          <p:cNvPr id="111620" name="Text Box 4"/>
          <p:cNvSpPr txBox="1">
            <a:spLocks noChangeArrowheads="1"/>
          </p:cNvSpPr>
          <p:nvPr/>
        </p:nvSpPr>
        <p:spPr bwMode="auto">
          <a:xfrm>
            <a:off x="949325" y="2303463"/>
            <a:ext cx="6859588" cy="11128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nSpc>
                <a:spcPct val="120000"/>
              </a:lnSpc>
            </a:pPr>
            <a:r>
              <a:rPr lang="en-US" sz="2800" i="1" dirty="0">
                <a:ea typeface="MS PGothic" charset="0"/>
                <a:cs typeface="MS PGothic" charset="0"/>
              </a:rPr>
              <a:t>L</a:t>
            </a:r>
            <a:r>
              <a:rPr lang="en-US" sz="2800" i="1" baseline="-25000" dirty="0">
                <a:ea typeface="MS PGothic" charset="0"/>
                <a:cs typeface="MS PGothic" charset="0"/>
              </a:rPr>
              <a:t>s</a:t>
            </a:r>
            <a:r>
              <a:rPr lang="en-US" sz="2800" dirty="0">
                <a:ea typeface="MS PGothic" charset="0"/>
                <a:cs typeface="MS PGothic" charset="0"/>
              </a:rPr>
              <a:t> = </a:t>
            </a:r>
            <a:r>
              <a:rPr lang="en-US" sz="2800" i="1" dirty="0">
                <a:ea typeface="MS PGothic" charset="0"/>
                <a:cs typeface="MS PGothic" charset="0"/>
                <a:sym typeface="Symbol" charset="0"/>
              </a:rPr>
              <a:t></a:t>
            </a:r>
            <a:r>
              <a:rPr lang="en-US" sz="2800" i="1" dirty="0" err="1">
                <a:ea typeface="MS PGothic" charset="0"/>
                <a:cs typeface="MS PGothic" charset="0"/>
                <a:sym typeface="Symbol" charset="0"/>
              </a:rPr>
              <a:t>W</a:t>
            </a:r>
            <a:r>
              <a:rPr lang="en-US" sz="2800" i="1" baseline="-25000" dirty="0" err="1">
                <a:ea typeface="MS PGothic" charset="0"/>
                <a:cs typeface="MS PGothic" charset="0"/>
                <a:sym typeface="Symbol" charset="0"/>
              </a:rPr>
              <a:t>s</a:t>
            </a:r>
            <a:r>
              <a:rPr lang="en-US" sz="2800" dirty="0">
                <a:ea typeface="MS PGothic" charset="0"/>
                <a:cs typeface="MS PGothic" charset="0"/>
                <a:sym typeface="Symbol" charset="0"/>
              </a:rPr>
              <a:t> (which is the same as </a:t>
            </a:r>
            <a:r>
              <a:rPr lang="en-US" sz="2800" i="1" dirty="0" err="1">
                <a:ea typeface="MS PGothic" charset="0"/>
                <a:cs typeface="MS PGothic" charset="0"/>
                <a:sym typeface="Symbol" charset="0"/>
              </a:rPr>
              <a:t>W</a:t>
            </a:r>
            <a:r>
              <a:rPr lang="en-US" sz="2800" i="1" baseline="-25000" dirty="0" err="1">
                <a:ea typeface="MS PGothic" charset="0"/>
                <a:cs typeface="MS PGothic" charset="0"/>
                <a:sym typeface="Symbol" charset="0"/>
              </a:rPr>
              <a:t>s</a:t>
            </a:r>
            <a:r>
              <a:rPr lang="en-US" sz="2800" dirty="0">
                <a:ea typeface="MS PGothic" charset="0"/>
                <a:cs typeface="MS PGothic" charset="0"/>
                <a:sym typeface="Symbol" charset="0"/>
              </a:rPr>
              <a:t> = </a:t>
            </a:r>
            <a:r>
              <a:rPr lang="en-US" sz="2800" i="1" dirty="0">
                <a:ea typeface="MS PGothic" charset="0"/>
                <a:cs typeface="MS PGothic" charset="0"/>
                <a:sym typeface="Symbol" charset="0"/>
              </a:rPr>
              <a:t>L</a:t>
            </a:r>
            <a:r>
              <a:rPr lang="en-US" sz="2800" i="1" baseline="-25000" dirty="0">
                <a:ea typeface="MS PGothic" charset="0"/>
                <a:cs typeface="MS PGothic" charset="0"/>
                <a:sym typeface="Symbol" charset="0"/>
              </a:rPr>
              <a:t>s</a:t>
            </a:r>
            <a:r>
              <a:rPr lang="en-US" sz="2800" dirty="0">
                <a:ea typeface="MS PGothic" charset="0"/>
                <a:cs typeface="MS PGothic" charset="0"/>
                <a:sym typeface="Symbol" charset="0"/>
              </a:rPr>
              <a:t>/</a:t>
            </a:r>
            <a:r>
              <a:rPr lang="en-US" sz="2800" i="1" dirty="0">
                <a:ea typeface="MS PGothic" charset="0"/>
                <a:cs typeface="MS PGothic" charset="0"/>
                <a:sym typeface="Symbol" charset="0"/>
              </a:rPr>
              <a:t>)</a:t>
            </a:r>
          </a:p>
          <a:p>
            <a:pPr>
              <a:lnSpc>
                <a:spcPct val="120000"/>
              </a:lnSpc>
            </a:pPr>
            <a:r>
              <a:rPr lang="en-US" sz="2800" i="1" dirty="0">
                <a:ea typeface="MS PGothic" charset="0"/>
                <a:cs typeface="MS PGothic" charset="0"/>
                <a:sym typeface="Symbol" charset="0"/>
              </a:rPr>
              <a:t>L</a:t>
            </a:r>
            <a:r>
              <a:rPr lang="en-US" sz="2800" i="1" baseline="-25000" dirty="0">
                <a:ea typeface="MS PGothic" charset="0"/>
                <a:cs typeface="MS PGothic" charset="0"/>
                <a:sym typeface="Symbol" charset="0"/>
              </a:rPr>
              <a:t>q</a:t>
            </a:r>
            <a:r>
              <a:rPr lang="en-US" sz="2800" dirty="0">
                <a:ea typeface="MS PGothic" charset="0"/>
                <a:cs typeface="MS PGothic" charset="0"/>
                <a:sym typeface="Symbol" charset="0"/>
              </a:rPr>
              <a:t> = </a:t>
            </a:r>
            <a:r>
              <a:rPr lang="en-US" sz="2800" i="1" dirty="0">
                <a:ea typeface="MS PGothic" charset="0"/>
                <a:cs typeface="MS PGothic" charset="0"/>
                <a:sym typeface="Symbol" charset="0"/>
              </a:rPr>
              <a:t>W</a:t>
            </a:r>
            <a:r>
              <a:rPr lang="en-US" sz="2800" i="1" baseline="-25000" dirty="0">
                <a:ea typeface="MS PGothic" charset="0"/>
                <a:cs typeface="MS PGothic" charset="0"/>
                <a:sym typeface="Symbol" charset="0"/>
              </a:rPr>
              <a:t>q</a:t>
            </a:r>
            <a:r>
              <a:rPr lang="en-US" sz="2800" dirty="0">
                <a:ea typeface="MS PGothic" charset="0"/>
                <a:cs typeface="MS PGothic" charset="0"/>
                <a:sym typeface="Symbol" charset="0"/>
              </a:rPr>
              <a:t> (which is the same as </a:t>
            </a:r>
            <a:r>
              <a:rPr lang="en-US" sz="2800" i="1" dirty="0">
                <a:ea typeface="MS PGothic" charset="0"/>
                <a:cs typeface="MS PGothic" charset="0"/>
                <a:sym typeface="Symbol" charset="0"/>
              </a:rPr>
              <a:t>W</a:t>
            </a:r>
            <a:r>
              <a:rPr lang="en-US" sz="2800" i="1" baseline="-25000" dirty="0">
                <a:ea typeface="MS PGothic" charset="0"/>
                <a:cs typeface="MS PGothic" charset="0"/>
                <a:sym typeface="Symbol" charset="0"/>
              </a:rPr>
              <a:t>q</a:t>
            </a:r>
            <a:r>
              <a:rPr lang="en-US" sz="2800" dirty="0">
                <a:ea typeface="MS PGothic" charset="0"/>
                <a:cs typeface="MS PGothic" charset="0"/>
                <a:sym typeface="Symbol" charset="0"/>
              </a:rPr>
              <a:t> = </a:t>
            </a:r>
            <a:r>
              <a:rPr lang="en-US" sz="2800" i="1" dirty="0">
                <a:ea typeface="MS PGothic" charset="0"/>
                <a:cs typeface="MS PGothic" charset="0"/>
                <a:sym typeface="Symbol" charset="0"/>
              </a:rPr>
              <a:t>L</a:t>
            </a:r>
            <a:r>
              <a:rPr lang="en-US" sz="2800" i="1" baseline="-25000" dirty="0">
                <a:ea typeface="MS PGothic" charset="0"/>
                <a:cs typeface="MS PGothic" charset="0"/>
                <a:sym typeface="Symbol" charset="0"/>
              </a:rPr>
              <a:t>q</a:t>
            </a:r>
            <a:r>
              <a:rPr lang="en-US" sz="2800" dirty="0">
                <a:ea typeface="MS PGothic" charset="0"/>
                <a:cs typeface="MS PGothic" charset="0"/>
                <a:sym typeface="Symbol" charset="0"/>
              </a:rPr>
              <a:t>/</a:t>
            </a:r>
            <a:r>
              <a:rPr lang="en-US" sz="2800" i="1" dirty="0">
                <a:ea typeface="MS PGothic" charset="0"/>
                <a:cs typeface="MS PGothic" charset="0"/>
                <a:sym typeface="Symbol" charset="0"/>
              </a:rPr>
              <a:t>)</a:t>
            </a:r>
          </a:p>
        </p:txBody>
      </p:sp>
      <p:sp>
        <p:nvSpPr>
          <p:cNvPr id="111621" name="Text Box 5"/>
          <p:cNvSpPr txBox="1">
            <a:spLocks noChangeArrowheads="1"/>
          </p:cNvSpPr>
          <p:nvPr/>
        </p:nvSpPr>
        <p:spPr bwMode="auto">
          <a:xfrm>
            <a:off x="1092200" y="3681413"/>
            <a:ext cx="7016750" cy="2387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355600" indent="-355600">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nSpc>
                <a:spcPct val="90000"/>
              </a:lnSpc>
              <a:spcAft>
                <a:spcPct val="40000"/>
              </a:spcAft>
              <a:buClr>
                <a:schemeClr val="accent1"/>
              </a:buClr>
              <a:buSzPct val="60000"/>
              <a:buFont typeface="Lucida Grande" charset="0"/>
              <a:buChar char="►"/>
            </a:pPr>
            <a:r>
              <a:rPr lang="en-US" sz="2400" dirty="0">
                <a:ea typeface="MS PGothic" charset="0"/>
                <a:cs typeface="MS PGothic" charset="0"/>
              </a:rPr>
              <a:t>Once two of the parameters is known, the other can be easily found</a:t>
            </a:r>
          </a:p>
          <a:p>
            <a:pPr>
              <a:lnSpc>
                <a:spcPct val="90000"/>
              </a:lnSpc>
              <a:spcAft>
                <a:spcPct val="40000"/>
              </a:spcAft>
              <a:buClr>
                <a:schemeClr val="accent1"/>
              </a:buClr>
              <a:buSzPct val="60000"/>
              <a:buFont typeface="Lucida Grande" charset="0"/>
              <a:buChar char="►"/>
            </a:pPr>
            <a:r>
              <a:rPr lang="en-US" sz="2400" dirty="0">
                <a:ea typeface="MS PGothic" charset="0"/>
                <a:cs typeface="MS PGothic" charset="0"/>
              </a:rPr>
              <a:t>It makes no assumptions about the probability distribution of arrival and service times</a:t>
            </a:r>
          </a:p>
          <a:p>
            <a:pPr>
              <a:lnSpc>
                <a:spcPct val="90000"/>
              </a:lnSpc>
              <a:spcAft>
                <a:spcPct val="40000"/>
              </a:spcAft>
              <a:buClr>
                <a:schemeClr val="accent1"/>
              </a:buClr>
              <a:buSzPct val="60000"/>
              <a:buFont typeface="Lucida Grande" charset="0"/>
              <a:buChar char="►"/>
            </a:pPr>
            <a:r>
              <a:rPr lang="en-US" sz="2400" dirty="0">
                <a:ea typeface="MS PGothic" charset="0"/>
                <a:cs typeface="MS PGothic" charset="0"/>
              </a:rPr>
              <a:t>Applies to all queuing models except the finite population model</a:t>
            </a:r>
          </a:p>
        </p:txBody>
      </p:sp>
    </p:spTree>
    <p:extLst>
      <p:ext uri="{BB962C8B-B14F-4D97-AF65-F5344CB8AC3E}">
        <p14:creationId xmlns:p14="http://schemas.microsoft.com/office/powerpoint/2010/main" val="3694452395"/>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111620"/>
                                        </p:tgtEl>
                                        <p:attrNameLst>
                                          <p:attrName>style.visibility</p:attrName>
                                        </p:attrNameLst>
                                      </p:cBhvr>
                                      <p:to>
                                        <p:strVal val="visible"/>
                                      </p:to>
                                    </p:set>
                                    <p:animEffect transition="in" filter="strips(downRight)">
                                      <p:cBhvr>
                                        <p:cTn id="7" dur="1000"/>
                                        <p:tgtEl>
                                          <p:spTgt spid="111620"/>
                                        </p:tgtEl>
                                      </p:cBhvr>
                                    </p:animEffect>
                                  </p:childTnLst>
                                </p:cTn>
                              </p:par>
                            </p:childTnLst>
                          </p:cTn>
                        </p:par>
                        <p:par>
                          <p:cTn id="8" fill="hold" nodeType="afterGroup">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111621"/>
                                        </p:tgtEl>
                                        <p:attrNameLst>
                                          <p:attrName>style.visibility</p:attrName>
                                        </p:attrNameLst>
                                      </p:cBhvr>
                                      <p:to>
                                        <p:strVal val="visible"/>
                                      </p:to>
                                    </p:set>
                                    <p:animEffect transition="in" filter="strips(downRight)">
                                      <p:cBhvr>
                                        <p:cTn id="11" dur="1000"/>
                                        <p:tgtEl>
                                          <p:spTgt spid="111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p:bldP spid="11162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noChangeArrowheads="1"/>
          </p:cNvSpPr>
          <p:nvPr>
            <p:ph type="title"/>
          </p:nvPr>
        </p:nvSpPr>
        <p:spPr/>
        <p:txBody>
          <a:bodyPr/>
          <a:lstStyle/>
          <a:p>
            <a:r>
              <a:rPr lang="en-US" dirty="0">
                <a:latin typeface="Arial" charset="0"/>
                <a:ea typeface="MS PGothic" charset="0"/>
                <a:cs typeface="MS PGothic" charset="0"/>
              </a:rPr>
              <a:t>Little</a:t>
            </a:r>
            <a:r>
              <a:rPr lang="en-AU" dirty="0">
                <a:latin typeface="Arial" charset="0"/>
                <a:ea typeface="MS PGothic" charset="0"/>
                <a:cs typeface="MS PGothic" charset="0"/>
              </a:rPr>
              <a:t>'</a:t>
            </a:r>
            <a:r>
              <a:rPr lang="en-US" dirty="0">
                <a:latin typeface="Arial" charset="0"/>
                <a:ea typeface="MS PGothic" charset="0"/>
                <a:cs typeface="MS PGothic" charset="0"/>
              </a:rPr>
              <a:t>s Law Example</a:t>
            </a:r>
          </a:p>
        </p:txBody>
      </p:sp>
      <p:sp>
        <p:nvSpPr>
          <p:cNvPr id="107522" name="Rectangle 3"/>
          <p:cNvSpPr>
            <a:spLocks noGrp="1" noChangeArrowheads="1"/>
          </p:cNvSpPr>
          <p:nvPr>
            <p:ph type="body" idx="1"/>
          </p:nvPr>
        </p:nvSpPr>
        <p:spPr>
          <a:xfrm>
            <a:off x="1536700" y="1778000"/>
            <a:ext cx="6223000" cy="596900"/>
          </a:xfrm>
        </p:spPr>
        <p:txBody>
          <a:bodyPr/>
          <a:lstStyle/>
          <a:p>
            <a:pPr marL="0" indent="0">
              <a:buSzPct val="60000"/>
              <a:buNone/>
              <a:tabLst>
                <a:tab pos="3949700" algn="l"/>
              </a:tabLst>
            </a:pPr>
            <a:r>
              <a:rPr lang="en-US" sz="2800" i="1" dirty="0">
                <a:latin typeface="Symbol" charset="2"/>
                <a:ea typeface="MS PGothic" charset="0"/>
                <a:cs typeface="Symbol" charset="2"/>
              </a:rPr>
              <a:t>l</a:t>
            </a:r>
            <a:r>
              <a:rPr lang="en-US" sz="2800" dirty="0">
                <a:latin typeface="Symbol" charset="2"/>
                <a:ea typeface="MS PGothic" charset="0"/>
                <a:cs typeface="Symbol" charset="2"/>
              </a:rPr>
              <a:t> </a:t>
            </a:r>
            <a:r>
              <a:rPr lang="en-US" sz="2800" dirty="0">
                <a:latin typeface="Arial" charset="0"/>
                <a:ea typeface="MS PGothic" charset="0"/>
                <a:cs typeface="MS PGothic" charset="0"/>
              </a:rPr>
              <a:t>= 20 per hour	</a:t>
            </a:r>
            <a:r>
              <a:rPr lang="en-US" sz="2800" i="1" dirty="0">
                <a:latin typeface="Arial" charset="0"/>
                <a:ea typeface="MS PGothic" charset="0"/>
                <a:cs typeface="MS PGothic" charset="0"/>
              </a:rPr>
              <a:t>L</a:t>
            </a:r>
            <a:r>
              <a:rPr lang="en-US" sz="2800" i="1" baseline="-25000" dirty="0">
                <a:latin typeface="Arial" charset="0"/>
                <a:ea typeface="MS PGothic" charset="0"/>
                <a:cs typeface="MS PGothic" charset="0"/>
              </a:rPr>
              <a:t>q</a:t>
            </a:r>
            <a:r>
              <a:rPr lang="en-US" sz="2800" i="1" dirty="0">
                <a:latin typeface="Arial" charset="0"/>
                <a:ea typeface="MS PGothic" charset="0"/>
                <a:cs typeface="MS PGothic" charset="0"/>
              </a:rPr>
              <a:t> </a:t>
            </a:r>
            <a:r>
              <a:rPr lang="en-US" sz="2800" dirty="0">
                <a:latin typeface="Arial" charset="0"/>
                <a:ea typeface="MS PGothic" charset="0"/>
                <a:cs typeface="MS PGothic" charset="0"/>
              </a:rPr>
              <a:t>= 5</a:t>
            </a:r>
            <a:endParaRPr lang="en-US" sz="2800" i="1" dirty="0">
              <a:latin typeface="Arial" charset="0"/>
              <a:ea typeface="MS PGothic" charset="0"/>
              <a:cs typeface="MS PGothic" charset="0"/>
            </a:endParaRPr>
          </a:p>
        </p:txBody>
      </p:sp>
      <p:sp>
        <p:nvSpPr>
          <p:cNvPr id="2" name="TextBox 1"/>
          <p:cNvSpPr txBox="1"/>
          <p:nvPr/>
        </p:nvSpPr>
        <p:spPr>
          <a:xfrm>
            <a:off x="1155700" y="2959100"/>
            <a:ext cx="6519190" cy="2046714"/>
          </a:xfrm>
          <a:prstGeom prst="rect">
            <a:avLst/>
          </a:prstGeom>
          <a:noFill/>
        </p:spPr>
        <p:txBody>
          <a:bodyPr wrap="none" rtlCol="0">
            <a:spAutoFit/>
          </a:bodyPr>
          <a:lstStyle/>
          <a:p>
            <a:pPr>
              <a:spcAft>
                <a:spcPts val="600"/>
              </a:spcAft>
              <a:tabLst>
                <a:tab pos="2514600" algn="r"/>
                <a:tab pos="2781300" algn="l"/>
              </a:tabLst>
            </a:pPr>
            <a:r>
              <a:rPr lang="en-US" sz="2800" i="1" dirty="0"/>
              <a:t>	W</a:t>
            </a:r>
            <a:r>
              <a:rPr lang="en-US" sz="2800" i="1" baseline="-25000" dirty="0"/>
              <a:t>q</a:t>
            </a:r>
            <a:r>
              <a:rPr lang="en-US" sz="2800" dirty="0"/>
              <a:t>	= </a:t>
            </a:r>
            <a:r>
              <a:rPr lang="en-US" sz="2800" i="1" dirty="0"/>
              <a:t>L</a:t>
            </a:r>
            <a:r>
              <a:rPr lang="en-US" sz="2800" i="1" baseline="-25000" dirty="0"/>
              <a:t>q</a:t>
            </a:r>
            <a:r>
              <a:rPr lang="en-US" sz="2800" dirty="0"/>
              <a:t>/</a:t>
            </a:r>
            <a:r>
              <a:rPr lang="en-US" sz="2800" i="1" dirty="0">
                <a:latin typeface="Symbol" charset="2"/>
                <a:cs typeface="Symbol" charset="2"/>
              </a:rPr>
              <a:t>l</a:t>
            </a:r>
            <a:endParaRPr lang="en-US" sz="2800" dirty="0">
              <a:latin typeface="Arial"/>
              <a:cs typeface="Arial"/>
            </a:endParaRPr>
          </a:p>
          <a:p>
            <a:pPr>
              <a:spcAft>
                <a:spcPts val="600"/>
              </a:spcAft>
              <a:tabLst>
                <a:tab pos="2514600" algn="r"/>
                <a:tab pos="2781300" algn="l"/>
              </a:tabLst>
            </a:pPr>
            <a:r>
              <a:rPr lang="en-US" sz="2800" dirty="0">
                <a:latin typeface="Arial"/>
                <a:cs typeface="Arial"/>
              </a:rPr>
              <a:t>		= 5/20 = 0.25 hour</a:t>
            </a:r>
          </a:p>
          <a:p>
            <a:pPr>
              <a:spcAft>
                <a:spcPts val="600"/>
              </a:spcAft>
              <a:tabLst>
                <a:tab pos="4305300" algn="r"/>
                <a:tab pos="4394200" algn="l"/>
              </a:tabLst>
            </a:pPr>
            <a:endParaRPr lang="en-US" sz="2800" dirty="0">
              <a:latin typeface="Arial"/>
              <a:cs typeface="Arial"/>
            </a:endParaRPr>
          </a:p>
          <a:p>
            <a:pPr>
              <a:spcAft>
                <a:spcPts val="600"/>
              </a:spcAft>
              <a:tabLst>
                <a:tab pos="4305300" algn="r"/>
                <a:tab pos="4394200" algn="l"/>
              </a:tabLst>
            </a:pPr>
            <a:r>
              <a:rPr lang="en-US" sz="2800" dirty="0">
                <a:latin typeface="Arial"/>
                <a:cs typeface="Arial"/>
              </a:rPr>
              <a:t>(0.25 hour)(60 min/hour) = 15 minutes</a:t>
            </a:r>
            <a:endParaRPr lang="en-US" sz="2800" dirty="0">
              <a:latin typeface="Symbol" charset="2"/>
              <a:cs typeface="Symbol" charset="2"/>
            </a:endParaRPr>
          </a:p>
        </p:txBody>
      </p:sp>
    </p:spTree>
    <p:extLst>
      <p:ext uri="{BB962C8B-B14F-4D97-AF65-F5344CB8AC3E}">
        <p14:creationId xmlns:p14="http://schemas.microsoft.com/office/powerpoint/2010/main" val="1900141414"/>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Rectangle 2"/>
          <p:cNvSpPr>
            <a:spLocks noGrp="1" noChangeArrowheads="1"/>
          </p:cNvSpPr>
          <p:nvPr>
            <p:ph type="title"/>
          </p:nvPr>
        </p:nvSpPr>
        <p:spPr/>
        <p:txBody>
          <a:bodyPr>
            <a:normAutofit/>
          </a:bodyPr>
          <a:lstStyle/>
          <a:p>
            <a:r>
              <a:rPr lang="en-US" sz="3600" dirty="0"/>
              <a:t>Applications of Little Law</a:t>
            </a:r>
            <a:br>
              <a:rPr lang="en-US" sz="3600" dirty="0"/>
            </a:br>
            <a:r>
              <a:rPr lang="en-US" sz="3200" dirty="0"/>
              <a:t>Examples</a:t>
            </a:r>
          </a:p>
        </p:txBody>
      </p:sp>
      <p:sp>
        <p:nvSpPr>
          <p:cNvPr id="740355" name="Rectangle 3"/>
          <p:cNvSpPr>
            <a:spLocks noGrp="1" noChangeArrowheads="1"/>
          </p:cNvSpPr>
          <p:nvPr>
            <p:ph sz="quarter" idx="1"/>
          </p:nvPr>
        </p:nvSpPr>
        <p:spPr/>
        <p:txBody>
          <a:bodyPr/>
          <a:lstStyle/>
          <a:p>
            <a:pPr>
              <a:lnSpc>
                <a:spcPct val="90000"/>
              </a:lnSpc>
              <a:spcBef>
                <a:spcPct val="0"/>
              </a:spcBef>
            </a:pPr>
            <a:r>
              <a:rPr lang="en-US" sz="2400" dirty="0"/>
              <a:t>About 220 customers enter a department store per hour during  hours when it is open for business, and customers stay 45 minutes in the store on average. What is the average number of customers in the store?</a:t>
            </a:r>
          </a:p>
          <a:p>
            <a:pPr>
              <a:lnSpc>
                <a:spcPct val="90000"/>
              </a:lnSpc>
              <a:spcBef>
                <a:spcPct val="0"/>
              </a:spcBef>
            </a:pPr>
            <a:endParaRPr lang="en-US" sz="2400" dirty="0"/>
          </a:p>
          <a:p>
            <a:pPr>
              <a:lnSpc>
                <a:spcPct val="90000"/>
              </a:lnSpc>
              <a:spcBef>
                <a:spcPct val="0"/>
              </a:spcBef>
              <a:buFontTx/>
              <a:buNone/>
            </a:pPr>
            <a:endParaRPr lang="en-US" sz="2400" dirty="0"/>
          </a:p>
          <a:p>
            <a:pPr>
              <a:lnSpc>
                <a:spcPct val="90000"/>
              </a:lnSpc>
              <a:spcBef>
                <a:spcPct val="0"/>
              </a:spcBef>
            </a:pPr>
            <a:endParaRPr lang="en-US" sz="2400" dirty="0"/>
          </a:p>
          <a:p>
            <a:pPr>
              <a:lnSpc>
                <a:spcPct val="90000"/>
              </a:lnSpc>
              <a:spcBef>
                <a:spcPct val="0"/>
              </a:spcBef>
            </a:pPr>
            <a:r>
              <a:rPr lang="en-US" sz="2400" dirty="0"/>
              <a:t>A drug store is selling  240 boxes of XYZ per month. The store keeps an average 80 boxes of XYZ in stock. How long does a box of XYZ stay in stock on average before it is sold?</a:t>
            </a:r>
          </a:p>
        </p:txBody>
      </p:sp>
      <mc:AlternateContent xmlns:mc="http://schemas.openxmlformats.org/markup-compatibility/2006" xmlns:a14="http://schemas.microsoft.com/office/drawing/2010/main">
        <mc:Choice Requires="a14">
          <p:sp>
            <p:nvSpPr>
              <p:cNvPr id="6" name="TextBox 5"/>
              <p:cNvSpPr txBox="1"/>
              <p:nvPr/>
            </p:nvSpPr>
            <p:spPr>
              <a:xfrm>
                <a:off x="2450947" y="3457493"/>
                <a:ext cx="4391587" cy="526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i="1" smtClean="0">
                          <a:latin typeface="Cambria Math" panose="02040503050406030204" pitchFamily="18" charset="0"/>
                        </a:rPr>
                        <m:t>=</m:t>
                      </m:r>
                      <m:r>
                        <m:rPr>
                          <m:sty m:val="p"/>
                        </m:rPr>
                        <a:rPr lang="en-US" i="1" smtClean="0">
                          <a:latin typeface="Cambria Math" panose="02040503050406030204" pitchFamily="18" charset="0"/>
                          <a:ea typeface="Cambria Math" panose="02040503050406030204" pitchFamily="18" charset="0"/>
                        </a:rPr>
                        <m:t>λ</m:t>
                      </m:r>
                      <m:r>
                        <a:rPr lang="en-US" b="0" i="1" smtClean="0">
                          <a:latin typeface="Cambria Math" panose="02040503050406030204" pitchFamily="18" charset="0"/>
                          <a:ea typeface="Cambria Math" panose="02040503050406030204" pitchFamily="18" charset="0"/>
                        </a:rPr>
                        <m:t>𝑊</m:t>
                      </m:r>
                      <m:r>
                        <a:rPr lang="en-US" b="0" i="1" smtClean="0">
                          <a:latin typeface="Cambria Math" panose="02040503050406030204" pitchFamily="18" charset="0"/>
                          <a:ea typeface="Cambria Math" panose="02040503050406030204" pitchFamily="18" charset="0"/>
                        </a:rPr>
                        <m:t>=220</m:t>
                      </m:r>
                      <m:f>
                        <m:fPr>
                          <m:ctrlPr>
                            <a:rPr lang="en-US" b="0" i="1" smtClean="0">
                              <a:latin typeface="Cambria Math" panose="02040503050406030204" pitchFamily="18" charset="0"/>
                              <a:ea typeface="Cambria Math" panose="02040503050406030204" pitchFamily="18" charset="0"/>
                            </a:rPr>
                          </m:ctrlPr>
                        </m:fPr>
                        <m:num>
                          <m:r>
                            <m:rPr>
                              <m:sty m:val="p"/>
                            </m:rPr>
                            <a:rPr lang="en-US" b="0" i="1" smtClean="0">
                              <a:latin typeface="Cambria Math" panose="02040503050406030204" pitchFamily="18" charset="0"/>
                              <a:ea typeface="Cambria Math" panose="02040503050406030204" pitchFamily="18" charset="0"/>
                            </a:rPr>
                            <m:t>cust</m:t>
                          </m:r>
                        </m:num>
                        <m:den>
                          <m:r>
                            <m:rPr>
                              <m:sty m:val="p"/>
                            </m:rPr>
                            <a:rPr lang="en-US" b="0" i="1" smtClean="0">
                              <a:latin typeface="Cambria Math" panose="02040503050406030204" pitchFamily="18" charset="0"/>
                              <a:ea typeface="Cambria Math" panose="02040503050406030204" pitchFamily="18" charset="0"/>
                            </a:rPr>
                            <m:t>hr</m:t>
                          </m:r>
                        </m:den>
                      </m:f>
                      <m:r>
                        <m:rPr>
                          <m:sty m:val="p"/>
                        </m:rPr>
                        <a:rPr lang="en-US" b="0" i="1" smtClean="0">
                          <a:latin typeface="Cambria Math" panose="02040503050406030204" pitchFamily="18" charset="0"/>
                          <a:ea typeface="Cambria Math" panose="02040503050406030204" pitchFamily="18" charset="0"/>
                        </a:rPr>
                        <m:t>x</m:t>
                      </m:r>
                      <m:r>
                        <a:rPr lang="en-US" b="0" i="1" smtClean="0">
                          <a:latin typeface="Cambria Math" panose="02040503050406030204" pitchFamily="18" charset="0"/>
                          <a:ea typeface="Cambria Math" panose="02040503050406030204" pitchFamily="18" charset="0"/>
                        </a:rPr>
                        <m:t>45</m:t>
                      </m:r>
                      <m:f>
                        <m:fPr>
                          <m:ctrlPr>
                            <a:rPr lang="en-US" b="0" i="1" smtClean="0">
                              <a:latin typeface="Cambria Math" panose="02040503050406030204" pitchFamily="18" charset="0"/>
                              <a:ea typeface="Cambria Math" panose="02040503050406030204" pitchFamily="18" charset="0"/>
                            </a:rPr>
                          </m:ctrlPr>
                        </m:fPr>
                        <m:num>
                          <m:r>
                            <m:rPr>
                              <m:sty m:val="p"/>
                            </m:rPr>
                            <a:rPr lang="en-US" b="0" i="1" smtClean="0">
                              <a:latin typeface="Cambria Math" panose="02040503050406030204" pitchFamily="18" charset="0"/>
                              <a:ea typeface="Cambria Math" panose="02040503050406030204" pitchFamily="18" charset="0"/>
                            </a:rPr>
                            <m:t>min</m:t>
                          </m:r>
                        </m:num>
                        <m:den>
                          <m:r>
                            <m:rPr>
                              <m:sty m:val="p"/>
                            </m:rPr>
                            <a:rPr lang="en-US" b="0" i="1" smtClean="0">
                              <a:latin typeface="Cambria Math" panose="02040503050406030204" pitchFamily="18" charset="0"/>
                              <a:ea typeface="Cambria Math" panose="02040503050406030204" pitchFamily="18" charset="0"/>
                            </a:rPr>
                            <m:t>cust</m:t>
                          </m:r>
                        </m:den>
                      </m:f>
                      <m:r>
                        <m:rPr>
                          <m:sty m:val="p"/>
                        </m:rPr>
                        <a:rPr lang="en-US" b="0" i="1" smtClean="0">
                          <a:latin typeface="Cambria Math" panose="02040503050406030204" pitchFamily="18" charset="0"/>
                          <a:ea typeface="Cambria Math" panose="02040503050406030204" pitchFamily="18" charset="0"/>
                        </a:rPr>
                        <m:t>x</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60</m:t>
                          </m:r>
                        </m:den>
                      </m:f>
                      <m:f>
                        <m:fPr>
                          <m:ctrlPr>
                            <a:rPr lang="en-US" b="0" i="1" smtClean="0">
                              <a:latin typeface="Cambria Math" panose="02040503050406030204" pitchFamily="18" charset="0"/>
                              <a:ea typeface="Cambria Math" panose="02040503050406030204" pitchFamily="18" charset="0"/>
                            </a:rPr>
                          </m:ctrlPr>
                        </m:fPr>
                        <m:num>
                          <m:r>
                            <m:rPr>
                              <m:sty m:val="p"/>
                            </m:rPr>
                            <a:rPr lang="en-US" b="0" i="1" smtClean="0">
                              <a:latin typeface="Cambria Math" panose="02040503050406030204" pitchFamily="18" charset="0"/>
                              <a:ea typeface="Cambria Math" panose="02040503050406030204" pitchFamily="18" charset="0"/>
                            </a:rPr>
                            <m:t>hr</m:t>
                          </m:r>
                        </m:num>
                        <m:den>
                          <m:r>
                            <m:rPr>
                              <m:sty m:val="p"/>
                            </m:rPr>
                            <a:rPr lang="en-US" b="0" i="1" smtClean="0">
                              <a:latin typeface="Cambria Math" panose="02040503050406030204" pitchFamily="18" charset="0"/>
                              <a:ea typeface="Cambria Math" panose="02040503050406030204" pitchFamily="18" charset="0"/>
                            </a:rPr>
                            <m:t>min</m:t>
                          </m:r>
                        </m:den>
                      </m:f>
                      <m:r>
                        <a:rPr lang="en-US" b="0" i="1" smtClean="0">
                          <a:latin typeface="Cambria Math" panose="02040503050406030204" pitchFamily="18" charset="0"/>
                          <a:ea typeface="Cambria Math" panose="02040503050406030204" pitchFamily="18" charset="0"/>
                        </a:rPr>
                        <m:t>=165</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450947" y="3457493"/>
                <a:ext cx="4391587" cy="526041"/>
              </a:xfrm>
              <a:prstGeom prst="rect">
                <a:avLst/>
              </a:prstGeom>
              <a:blipFill rotWithShape="0">
                <a:blip r:embed="rId3"/>
                <a:stretch>
                  <a:fillRect/>
                </a:stretch>
              </a:blipFill>
            </p:spPr>
            <p:txBody>
              <a:bodyPr/>
              <a:lstStyle/>
              <a:p>
                <a:r>
                  <a:rPr lang="en-US">
                    <a:noFill/>
                  </a:rPr>
                  <a:t> </a:t>
                </a:r>
              </a:p>
            </p:txBody>
          </p:sp>
        </mc:Fallback>
      </mc:AlternateContent>
      <p:grpSp>
        <p:nvGrpSpPr>
          <p:cNvPr id="3" name="Group 2"/>
          <p:cNvGrpSpPr/>
          <p:nvPr/>
        </p:nvGrpSpPr>
        <p:grpSpPr>
          <a:xfrm>
            <a:off x="1718888" y="5931447"/>
            <a:ext cx="6901248" cy="398955"/>
            <a:chOff x="2220050" y="5976074"/>
            <a:chExt cx="6901248" cy="398955"/>
          </a:xfrm>
        </p:grpSpPr>
        <mc:AlternateContent xmlns:mc="http://schemas.openxmlformats.org/markup-compatibility/2006" xmlns:a14="http://schemas.microsoft.com/office/drawing/2010/main">
          <mc:Choice Requires="a14">
            <p:sp>
              <p:nvSpPr>
                <p:cNvPr id="5" name="TextBox 4"/>
                <p:cNvSpPr txBox="1"/>
                <p:nvPr/>
              </p:nvSpPr>
              <p:spPr>
                <a:xfrm>
                  <a:off x="2220050" y="5976074"/>
                  <a:ext cx="6901248" cy="398955"/>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𝐿</m:t>
                      </m:r>
                      <m:r>
                        <a:rPr lang="en-US" i="1" smtClean="0">
                          <a:latin typeface="Cambria Math" panose="02040503050406030204" pitchFamily="18" charset="0"/>
                        </a:rPr>
                        <m:t>=</m:t>
                      </m:r>
                      <m:r>
                        <m:rPr>
                          <m:sty m:val="p"/>
                        </m:rPr>
                        <a:rPr lang="en-US" i="1" smtClean="0">
                          <a:latin typeface="Cambria Math" panose="02040503050406030204" pitchFamily="18" charset="0"/>
                          <a:ea typeface="Cambria Math" panose="02040503050406030204" pitchFamily="18" charset="0"/>
                        </a:rPr>
                        <m:t>λ</m:t>
                      </m:r>
                      <m:r>
                        <a:rPr lang="en-US" b="0" i="1" smtClean="0">
                          <a:latin typeface="Cambria Math" panose="02040503050406030204" pitchFamily="18" charset="0"/>
                          <a:ea typeface="Cambria Math" panose="02040503050406030204" pitchFamily="18" charset="0"/>
                        </a:rPr>
                        <m:t>𝑊</m:t>
                      </m:r>
                      <m:r>
                        <a:rPr lang="en-US" b="0" i="1" smtClean="0">
                          <a:latin typeface="Cambria Math" panose="02040503050406030204" pitchFamily="18" charset="0"/>
                          <a:ea typeface="Cambria Math" panose="02040503050406030204" pitchFamily="18" charset="0"/>
                        </a:rPr>
                        <m:t>          80=240</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𝑏𝑜𝑥𝑒𝑠</m:t>
                          </m:r>
                        </m:num>
                        <m:den>
                          <m:r>
                            <a:rPr lang="en-US" b="0" i="1" smtClean="0">
                              <a:latin typeface="Cambria Math" panose="02040503050406030204" pitchFamily="18" charset="0"/>
                              <a:ea typeface="Cambria Math" panose="02040503050406030204" pitchFamily="18" charset="0"/>
                            </a:rPr>
                            <m:t>𝑚𝑜𝑛𝑡h</m:t>
                          </m:r>
                        </m:den>
                      </m:f>
                      <m:r>
                        <a:rPr lang="en-US" b="0" i="1" smtClean="0">
                          <a:latin typeface="Cambria Math" panose="02040503050406030204" pitchFamily="18" charset="0"/>
                          <a:ea typeface="Cambria Math" panose="02040503050406030204" pitchFamily="18" charset="0"/>
                        </a:rPr>
                        <m:t>𝑥𝑊</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𝑊</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3</m:t>
                          </m:r>
                        </m:den>
                      </m:f>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𝑚𝑜𝑛𝑡h</m:t>
                          </m:r>
                        </m:num>
                        <m:den>
                          <m:r>
                            <a:rPr lang="en-US" b="0" i="1" smtClean="0">
                              <a:latin typeface="Cambria Math" panose="02040503050406030204" pitchFamily="18" charset="0"/>
                              <a:ea typeface="Cambria Math" panose="02040503050406030204" pitchFamily="18" charset="0"/>
                            </a:rPr>
                            <m:t>𝑏𝑜𝑥</m:t>
                          </m:r>
                        </m:den>
                      </m:f>
                      <m:r>
                        <a:rPr lang="en-US" b="0" i="1" smtClean="0">
                          <a:latin typeface="Cambria Math" panose="02040503050406030204" pitchFamily="18" charset="0"/>
                          <a:ea typeface="Cambria Math" panose="02040503050406030204" pitchFamily="18" charset="0"/>
                        </a:rPr>
                        <m:t>=10 </m:t>
                      </m:r>
                      <m:r>
                        <a:rPr lang="en-US" b="0" i="1" smtClean="0">
                          <a:latin typeface="Cambria Math" panose="02040503050406030204" pitchFamily="18" charset="0"/>
                          <a:ea typeface="Cambria Math" panose="02040503050406030204" pitchFamily="18" charset="0"/>
                        </a:rPr>
                        <m:t>𝑑𝑎𝑦𝑠</m:t>
                      </m:r>
                    </m:oMath>
                  </a14:m>
                  <a:r>
                    <a:rPr lang="en-US" dirty="0"/>
                    <a:t>        </a:t>
                  </a:r>
                </a:p>
              </p:txBody>
            </p:sp>
          </mc:Choice>
          <mc:Fallback xmlns="">
            <p:sp>
              <p:nvSpPr>
                <p:cNvPr id="5" name="TextBox 4"/>
                <p:cNvSpPr txBox="1">
                  <a:spLocks noRot="1" noChangeAspect="1" noMove="1" noResize="1" noEditPoints="1" noAdjustHandles="1" noChangeArrowheads="1" noChangeShapeType="1" noTextEdit="1"/>
                </p:cNvSpPr>
                <p:nvPr/>
              </p:nvSpPr>
              <p:spPr>
                <a:xfrm>
                  <a:off x="2220050" y="5976074"/>
                  <a:ext cx="6901248" cy="398955"/>
                </a:xfrm>
                <a:prstGeom prst="rect">
                  <a:avLst/>
                </a:prstGeom>
                <a:blipFill rotWithShape="0">
                  <a:blip r:embed="rId4"/>
                  <a:stretch>
                    <a:fillRect l="-1237" b="-15385"/>
                  </a:stretch>
                </a:blipFill>
              </p:spPr>
              <p:txBody>
                <a:bodyPr/>
                <a:lstStyle/>
                <a:p>
                  <a:r>
                    <a:rPr lang="en-US">
                      <a:noFill/>
                    </a:rPr>
                    <a:t> </a:t>
                  </a:r>
                </a:p>
              </p:txBody>
            </p:sp>
          </mc:Fallback>
        </mc:AlternateContent>
        <p:sp>
          <p:nvSpPr>
            <p:cNvPr id="2" name="Right Arrow 1"/>
            <p:cNvSpPr/>
            <p:nvPr/>
          </p:nvSpPr>
          <p:spPr bwMode="auto">
            <a:xfrm>
              <a:off x="3033347" y="6050674"/>
              <a:ext cx="281353" cy="262813"/>
            </a:xfrm>
            <a:prstGeom prst="rightArrow">
              <a:avLst/>
            </a:prstGeom>
            <a:solidFill>
              <a:schemeClr val="bg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ndParaRPr>
            </a:p>
          </p:txBody>
        </p:sp>
        <p:sp>
          <p:nvSpPr>
            <p:cNvPr id="9" name="Right Arrow 8"/>
            <p:cNvSpPr/>
            <p:nvPr/>
          </p:nvSpPr>
          <p:spPr bwMode="auto">
            <a:xfrm>
              <a:off x="5529998" y="6050673"/>
              <a:ext cx="281353" cy="262813"/>
            </a:xfrm>
            <a:prstGeom prst="rightArrow">
              <a:avLst/>
            </a:prstGeom>
            <a:solidFill>
              <a:schemeClr val="bg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ndParaRPr>
            </a:p>
          </p:txBody>
        </p:sp>
      </p:grpSp>
    </p:spTree>
    <p:extLst>
      <p:ext uri="{BB962C8B-B14F-4D97-AF65-F5344CB8AC3E}">
        <p14:creationId xmlns:p14="http://schemas.microsoft.com/office/powerpoint/2010/main" val="37176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0355">
                                            <p:txEl>
                                              <p:pRg st="0" end="0"/>
                                            </p:txEl>
                                          </p:spTgt>
                                        </p:tgtEl>
                                        <p:attrNameLst>
                                          <p:attrName>style.visibility</p:attrName>
                                        </p:attrNameLst>
                                      </p:cBhvr>
                                      <p:to>
                                        <p:strVal val="visible"/>
                                      </p:to>
                                    </p:set>
                                    <p:anim calcmode="lin" valueType="num">
                                      <p:cBhvr additive="base">
                                        <p:cTn id="7" dur="500" fill="hold"/>
                                        <p:tgtEl>
                                          <p:spTgt spid="7403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03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0355">
                                            <p:txEl>
                                              <p:pRg st="4" end="4"/>
                                            </p:txEl>
                                          </p:spTgt>
                                        </p:tgtEl>
                                        <p:attrNameLst>
                                          <p:attrName>style.visibility</p:attrName>
                                        </p:attrNameLst>
                                      </p:cBhvr>
                                      <p:to>
                                        <p:strVal val="visible"/>
                                      </p:to>
                                    </p:set>
                                    <p:anim calcmode="lin" valueType="num">
                                      <p:cBhvr additive="base">
                                        <p:cTn id="13" dur="500" fill="hold"/>
                                        <p:tgtEl>
                                          <p:spTgt spid="74035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403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anim calcmode="lin" valueType="num">
                                      <p:cBhvr>
                                        <p:cTn id="27" dur="1000" fill="hold"/>
                                        <p:tgtEl>
                                          <p:spTgt spid="3"/>
                                        </p:tgtEl>
                                        <p:attrNameLst>
                                          <p:attrName>ppt_x</p:attrName>
                                        </p:attrNameLst>
                                      </p:cBhvr>
                                      <p:tavLst>
                                        <p:tav tm="0">
                                          <p:val>
                                            <p:strVal val="#ppt_x"/>
                                          </p:val>
                                        </p:tav>
                                        <p:tav tm="100000">
                                          <p:val>
                                            <p:strVal val="#ppt_x"/>
                                          </p:val>
                                        </p:tav>
                                      </p:tavLst>
                                    </p:anim>
                                    <p:anim calcmode="lin" valueType="num">
                                      <p:cBhvr>
                                        <p:cTn id="2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0355" grpId="0" build="p"/>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5" name="Rectangle 2"/>
          <p:cNvSpPr>
            <a:spLocks noGrp="1" noChangeArrowheads="1"/>
          </p:cNvSpPr>
          <p:nvPr>
            <p:ph type="title"/>
          </p:nvPr>
        </p:nvSpPr>
        <p:spPr/>
        <p:txBody>
          <a:bodyPr/>
          <a:lstStyle/>
          <a:p>
            <a:r>
              <a:rPr lang="en-US" dirty="0">
                <a:latin typeface="Arial" charset="0"/>
                <a:ea typeface="MS PGothic" charset="0"/>
                <a:cs typeface="MS PGothic" charset="0"/>
              </a:rPr>
              <a:t>Finite-Population Model</a:t>
            </a:r>
          </a:p>
        </p:txBody>
      </p:sp>
      <p:sp>
        <p:nvSpPr>
          <p:cNvPr id="2" name="Content Placeholder 1"/>
          <p:cNvSpPr>
            <a:spLocks noGrp="1"/>
          </p:cNvSpPr>
          <p:nvPr>
            <p:ph idx="1"/>
          </p:nvPr>
        </p:nvSpPr>
        <p:spPr/>
        <p:txBody>
          <a:bodyPr/>
          <a:lstStyle/>
          <a:p>
            <a:r>
              <a:rPr lang="en-US" dirty="0"/>
              <a:t>Assumptions</a:t>
            </a:r>
          </a:p>
          <a:p>
            <a:pPr marL="971550" lvl="1" indent="-514350">
              <a:buClr>
                <a:schemeClr val="tx1"/>
              </a:buClr>
              <a:buFont typeface="+mj-lt"/>
              <a:buAutoNum type="arabicPeriod"/>
            </a:pPr>
            <a:r>
              <a:rPr lang="en-US" dirty="0"/>
              <a:t>There is only one server</a:t>
            </a:r>
          </a:p>
          <a:p>
            <a:pPr marL="971550" lvl="1" indent="-514350">
              <a:buClr>
                <a:schemeClr val="tx1"/>
              </a:buClr>
              <a:buFont typeface="+mj-lt"/>
              <a:buAutoNum type="arabicPeriod"/>
            </a:pPr>
            <a:r>
              <a:rPr lang="en-US" dirty="0"/>
              <a:t>The population of units seeking service is finite</a:t>
            </a:r>
          </a:p>
          <a:p>
            <a:pPr marL="971550" lvl="1" indent="-514350">
              <a:buClr>
                <a:schemeClr val="tx1"/>
              </a:buClr>
              <a:buFont typeface="+mj-lt"/>
              <a:buAutoNum type="arabicPeriod"/>
            </a:pPr>
            <a:r>
              <a:rPr lang="en-US" dirty="0"/>
              <a:t>Arrivals follow a Poisson distribution, service times are negative exponentially distributed</a:t>
            </a:r>
          </a:p>
          <a:p>
            <a:pPr marL="971550" lvl="1" indent="-514350">
              <a:buClr>
                <a:schemeClr val="tx1"/>
              </a:buClr>
              <a:buFont typeface="+mj-lt"/>
              <a:buAutoNum type="arabicPeriod"/>
            </a:pPr>
            <a:r>
              <a:rPr lang="en-US" dirty="0"/>
              <a:t>Customers are served on a first-come, first-served basis</a:t>
            </a:r>
          </a:p>
        </p:txBody>
      </p:sp>
    </p:spTree>
    <p:extLst>
      <p:ext uri="{BB962C8B-B14F-4D97-AF65-F5344CB8AC3E}">
        <p14:creationId xmlns:p14="http://schemas.microsoft.com/office/powerpoint/2010/main" val="251160145"/>
      </p:ext>
    </p:extLst>
  </p:cSld>
  <p:clrMapOvr>
    <a:masterClrMapping/>
  </p:clrMapOvr>
  <p:transition>
    <p:pull dir="l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5"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Finite-Population Model</a:t>
            </a:r>
          </a:p>
        </p:txBody>
      </p:sp>
      <p:grpSp>
        <p:nvGrpSpPr>
          <p:cNvPr id="7" name="Group 6"/>
          <p:cNvGrpSpPr/>
          <p:nvPr/>
        </p:nvGrpSpPr>
        <p:grpSpPr>
          <a:xfrm>
            <a:off x="527050" y="1811338"/>
            <a:ext cx="8223250" cy="3436175"/>
            <a:chOff x="527050" y="1811338"/>
            <a:chExt cx="8223250" cy="3436175"/>
          </a:xfrm>
        </p:grpSpPr>
        <p:grpSp>
          <p:nvGrpSpPr>
            <p:cNvPr id="9" name="Group 8"/>
            <p:cNvGrpSpPr/>
            <p:nvPr/>
          </p:nvGrpSpPr>
          <p:grpSpPr>
            <a:xfrm>
              <a:off x="527050" y="1811338"/>
              <a:ext cx="8223250" cy="3436175"/>
              <a:chOff x="527050" y="1811338"/>
              <a:chExt cx="8223250" cy="3436175"/>
            </a:xfrm>
          </p:grpSpPr>
          <p:sp>
            <p:nvSpPr>
              <p:cNvPr id="8387" name="TextBox 27"/>
              <p:cNvSpPr txBox="1">
                <a:spLocks noChangeArrowheads="1"/>
              </p:cNvSpPr>
              <p:nvPr/>
            </p:nvSpPr>
            <p:spPr bwMode="auto">
              <a:xfrm>
                <a:off x="527050" y="1811338"/>
                <a:ext cx="1520016" cy="588016"/>
              </a:xfrm>
              <a:prstGeom prst="rect">
                <a:avLst/>
              </a:prstGeom>
              <a:solidFill>
                <a:schemeClr val="tx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252000" tIns="169200" rIns="252000" bIns="169200">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600" dirty="0">
                    <a:solidFill>
                      <a:srgbClr val="FFFFFF"/>
                    </a:solidFill>
                  </a:rPr>
                  <a:t>TABLE D.7</a:t>
                </a:r>
              </a:p>
            </p:txBody>
          </p:sp>
          <p:sp>
            <p:nvSpPr>
              <p:cNvPr id="29" name="TextBox 28"/>
              <p:cNvSpPr txBox="1"/>
              <p:nvPr/>
            </p:nvSpPr>
            <p:spPr bwMode="auto">
              <a:xfrm>
                <a:off x="2046288" y="1814513"/>
                <a:ext cx="6583362" cy="584776"/>
              </a:xfrm>
              <a:prstGeom prst="rect">
                <a:avLst/>
              </a:prstGeom>
              <a:noFill/>
              <a:ln>
                <a:solidFill>
                  <a:schemeClr val="bg1">
                    <a:lumMod val="75000"/>
                  </a:schemeClr>
                </a:solidFill>
              </a:ln>
            </p:spPr>
            <p:txBody>
              <a:bodyPr>
                <a:spAutoFit/>
              </a:bodyPr>
              <a:lstStyle/>
              <a:p>
                <a:pPr fontAlgn="auto">
                  <a:spcBef>
                    <a:spcPts val="0"/>
                  </a:spcBef>
                  <a:spcAft>
                    <a:spcPts val="0"/>
                  </a:spcAft>
                  <a:defRPr/>
                </a:pPr>
                <a:r>
                  <a:rPr lang="en-US" sz="1600" dirty="0">
                    <a:latin typeface="Arial"/>
                    <a:ea typeface="+mn-ea"/>
                    <a:cs typeface="Arial"/>
                  </a:rPr>
                  <a:t>Queuing Formulas and Notation for Model D: Finite-Population, Also called M/M/1 with Finite Source</a:t>
                </a:r>
              </a:p>
            </p:txBody>
          </p:sp>
          <p:sp>
            <p:nvSpPr>
              <p:cNvPr id="32" name="TextBox 31"/>
              <p:cNvSpPr txBox="1"/>
              <p:nvPr/>
            </p:nvSpPr>
            <p:spPr bwMode="auto">
              <a:xfrm>
                <a:off x="542925" y="2398713"/>
                <a:ext cx="8086725" cy="1081580"/>
              </a:xfrm>
              <a:prstGeom prst="rect">
                <a:avLst/>
              </a:prstGeom>
              <a:solidFill>
                <a:schemeClr val="accent2">
                  <a:lumMod val="40000"/>
                  <a:lumOff val="60000"/>
                </a:schemeClr>
              </a:solidFill>
              <a:ln w="12700" cmpd="sng">
                <a:solidFill>
                  <a:schemeClr val="bg1">
                    <a:lumMod val="75000"/>
                  </a:schemeClr>
                </a:solidFill>
              </a:ln>
            </p:spPr>
            <p:txBody>
              <a:bodyPr tIns="93600" bIns="93600">
                <a:spAutoFit/>
              </a:bodyPr>
              <a:lstStyle/>
              <a:p>
                <a:pPr fontAlgn="auto">
                  <a:spcBef>
                    <a:spcPts val="0"/>
                  </a:spcBef>
                  <a:spcAft>
                    <a:spcPts val="600"/>
                  </a:spcAft>
                  <a:tabLst>
                    <a:tab pos="266700" algn="l"/>
                  </a:tabLst>
                  <a:defRPr/>
                </a:pPr>
                <a:r>
                  <a:rPr lang="en-US" sz="1600" i="1" dirty="0">
                    <a:latin typeface="Symbol" charset="2"/>
                    <a:ea typeface="+mn-ea"/>
                    <a:cs typeface="Symbol" charset="2"/>
                  </a:rPr>
                  <a:t>l</a:t>
                </a:r>
                <a:r>
                  <a:rPr lang="en-US" sz="1600" dirty="0">
                    <a:latin typeface="Arial"/>
                    <a:ea typeface="+mn-ea"/>
                    <a:cs typeface="Arial"/>
                  </a:rPr>
                  <a:t> = average arrival rate</a:t>
                </a:r>
              </a:p>
              <a:p>
                <a:pPr fontAlgn="auto">
                  <a:spcBef>
                    <a:spcPts val="0"/>
                  </a:spcBef>
                  <a:spcAft>
                    <a:spcPts val="600"/>
                  </a:spcAft>
                  <a:tabLst>
                    <a:tab pos="266700" algn="l"/>
                  </a:tabLst>
                  <a:defRPr/>
                </a:pPr>
                <a:r>
                  <a:rPr lang="en-US" sz="1600" i="1" dirty="0">
                    <a:latin typeface="Symbol" charset="2"/>
                    <a:ea typeface="+mn-ea"/>
                    <a:cs typeface="Symbol" charset="2"/>
                  </a:rPr>
                  <a:t>m</a:t>
                </a:r>
                <a:r>
                  <a:rPr lang="en-US" sz="1600" dirty="0">
                    <a:latin typeface="Arial"/>
                    <a:ea typeface="+mn-ea"/>
                    <a:cs typeface="Arial"/>
                  </a:rPr>
                  <a:t> = average service rate</a:t>
                </a:r>
              </a:p>
              <a:p>
                <a:pPr fontAlgn="auto">
                  <a:spcBef>
                    <a:spcPts val="0"/>
                  </a:spcBef>
                  <a:spcAft>
                    <a:spcPts val="600"/>
                  </a:spcAft>
                  <a:tabLst>
                    <a:tab pos="266700" algn="l"/>
                  </a:tabLst>
                  <a:defRPr/>
                </a:pPr>
                <a:r>
                  <a:rPr lang="en-US" sz="1600" i="1" dirty="0">
                    <a:latin typeface="Arial"/>
                    <a:ea typeface="+mn-ea"/>
                    <a:cs typeface="Arial"/>
                  </a:rPr>
                  <a:t>N</a:t>
                </a:r>
                <a:r>
                  <a:rPr lang="en-US" sz="1600" dirty="0">
                    <a:latin typeface="Arial"/>
                    <a:ea typeface="+mn-ea"/>
                    <a:cs typeface="Arial"/>
                  </a:rPr>
                  <a:t> = size of population</a:t>
                </a:r>
              </a:p>
            </p:txBody>
          </p:sp>
          <p:sp>
            <p:nvSpPr>
              <p:cNvPr id="36" name="TextBox 35"/>
              <p:cNvSpPr txBox="1"/>
              <p:nvPr/>
            </p:nvSpPr>
            <p:spPr bwMode="auto">
              <a:xfrm>
                <a:off x="539750" y="3486643"/>
                <a:ext cx="8086725" cy="1760870"/>
              </a:xfrm>
              <a:prstGeom prst="rect">
                <a:avLst/>
              </a:prstGeom>
              <a:solidFill>
                <a:schemeClr val="accent2">
                  <a:lumMod val="40000"/>
                  <a:lumOff val="60000"/>
                </a:schemeClr>
              </a:solidFill>
              <a:ln w="12700" cmpd="sng">
                <a:solidFill>
                  <a:schemeClr val="bg1">
                    <a:lumMod val="75000"/>
                  </a:schemeClr>
                </a:solidFill>
              </a:ln>
            </p:spPr>
            <p:txBody>
              <a:bodyPr tIns="140400" bIns="140400">
                <a:spAutoFit/>
              </a:bodyPr>
              <a:lstStyle/>
              <a:p>
                <a:pPr fontAlgn="auto">
                  <a:spcBef>
                    <a:spcPts val="0"/>
                  </a:spcBef>
                  <a:spcAft>
                    <a:spcPts val="0"/>
                  </a:spcAft>
                  <a:tabLst>
                    <a:tab pos="4838700" algn="l"/>
                  </a:tabLst>
                  <a:defRPr/>
                </a:pPr>
                <a:r>
                  <a:rPr lang="en-US" sz="1600" dirty="0">
                    <a:latin typeface="Arial"/>
                    <a:ea typeface="+mn-ea"/>
                    <a:cs typeface="Arial"/>
                  </a:rPr>
                  <a:t>Probability that the system is empty:</a:t>
                </a:r>
              </a:p>
              <a:p>
                <a:pPr fontAlgn="auto">
                  <a:spcBef>
                    <a:spcPts val="0"/>
                  </a:spcBef>
                  <a:spcAft>
                    <a:spcPts val="0"/>
                  </a:spcAft>
                  <a:tabLst>
                    <a:tab pos="4838700" algn="l"/>
                  </a:tabLst>
                  <a:defRPr/>
                </a:pPr>
                <a:endParaRPr lang="en-US" sz="1600" dirty="0">
                  <a:latin typeface="Arial"/>
                  <a:ea typeface="+mn-ea"/>
                  <a:cs typeface="Arial"/>
                </a:endParaRPr>
              </a:p>
              <a:p>
                <a:pPr fontAlgn="auto">
                  <a:spcBef>
                    <a:spcPts val="0"/>
                  </a:spcBef>
                  <a:spcAft>
                    <a:spcPts val="0"/>
                  </a:spcAft>
                  <a:tabLst>
                    <a:tab pos="4838700" algn="l"/>
                  </a:tabLst>
                  <a:defRPr/>
                </a:pPr>
                <a:endParaRPr lang="en-US" sz="1600" dirty="0">
                  <a:latin typeface="Arial"/>
                  <a:ea typeface="+mn-ea"/>
                  <a:cs typeface="Arial"/>
                </a:endParaRPr>
              </a:p>
              <a:p>
                <a:pPr fontAlgn="auto">
                  <a:spcBef>
                    <a:spcPts val="0"/>
                  </a:spcBef>
                  <a:spcAft>
                    <a:spcPts val="0"/>
                  </a:spcAft>
                  <a:tabLst>
                    <a:tab pos="4838700" algn="l"/>
                  </a:tabLst>
                  <a:defRPr/>
                </a:pPr>
                <a:endParaRPr lang="en-US" sz="1600" dirty="0">
                  <a:latin typeface="Arial"/>
                  <a:ea typeface="+mn-ea"/>
                  <a:cs typeface="Arial"/>
                </a:endParaRPr>
              </a:p>
              <a:p>
                <a:pPr fontAlgn="auto">
                  <a:spcBef>
                    <a:spcPts val="0"/>
                  </a:spcBef>
                  <a:spcAft>
                    <a:spcPts val="0"/>
                  </a:spcAft>
                  <a:tabLst>
                    <a:tab pos="4838700" algn="l"/>
                  </a:tabLst>
                  <a:defRPr/>
                </a:pPr>
                <a:endParaRPr lang="en-US" sz="1600" dirty="0">
                  <a:latin typeface="Arial"/>
                  <a:ea typeface="+mn-ea"/>
                  <a:cs typeface="Arial"/>
                </a:endParaRPr>
              </a:p>
              <a:p>
                <a:pPr fontAlgn="auto">
                  <a:spcBef>
                    <a:spcPts val="0"/>
                  </a:spcBef>
                  <a:spcAft>
                    <a:spcPts val="0"/>
                  </a:spcAft>
                  <a:tabLst>
                    <a:tab pos="4838700" algn="l"/>
                  </a:tabLst>
                  <a:defRPr/>
                </a:pPr>
                <a:endParaRPr lang="en-US" sz="1600" dirty="0">
                  <a:latin typeface="Arial"/>
                  <a:ea typeface="+mn-ea"/>
                  <a:cs typeface="Arial"/>
                </a:endParaRPr>
              </a:p>
            </p:txBody>
          </p:sp>
          <p:cxnSp>
            <p:nvCxnSpPr>
              <p:cNvPr id="44" name="Straight Connector 43"/>
              <p:cNvCxnSpPr/>
              <p:nvPr/>
            </p:nvCxnSpPr>
            <p:spPr bwMode="auto">
              <a:xfrm>
                <a:off x="4832350" y="2398713"/>
                <a:ext cx="0" cy="2848800"/>
              </a:xfrm>
              <a:prstGeom prst="line">
                <a:avLst/>
              </a:prstGeom>
              <a:ln w="12700"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876800" y="2420408"/>
                <a:ext cx="3873500" cy="338554"/>
              </a:xfrm>
              <a:prstGeom prst="rect">
                <a:avLst/>
              </a:prstGeom>
              <a:noFill/>
            </p:spPr>
            <p:txBody>
              <a:bodyPr wrap="square" rtlCol="0">
                <a:spAutoFit/>
              </a:bodyPr>
              <a:lstStyle/>
              <a:p>
                <a:pPr fontAlgn="auto">
                  <a:spcBef>
                    <a:spcPts val="0"/>
                  </a:spcBef>
                  <a:spcAft>
                    <a:spcPts val="0"/>
                  </a:spcAft>
                  <a:tabLst>
                    <a:tab pos="266700" algn="l"/>
                  </a:tabLst>
                  <a:defRPr/>
                </a:pPr>
                <a:r>
                  <a:rPr lang="en-US" sz="1600" dirty="0">
                    <a:latin typeface="Arial"/>
                    <a:cs typeface="Arial"/>
                  </a:rPr>
                  <a:t>Average waiting time in the queue:</a:t>
                </a:r>
              </a:p>
            </p:txBody>
          </p:sp>
          <p:graphicFrame>
            <p:nvGraphicFramePr>
              <p:cNvPr id="4" name="Object 3"/>
              <p:cNvGraphicFramePr>
                <a:graphicFrameLocks noChangeAspect="1"/>
              </p:cNvGraphicFramePr>
              <p:nvPr>
                <p:extLst>
                  <p:ext uri="{D42A27DB-BD31-4B8C-83A1-F6EECF244321}">
                    <p14:modId xmlns:p14="http://schemas.microsoft.com/office/powerpoint/2010/main" val="369004082"/>
                  </p:ext>
                </p:extLst>
              </p:nvPr>
            </p:nvGraphicFramePr>
            <p:xfrm>
              <a:off x="5924550" y="2717800"/>
              <a:ext cx="1460500" cy="711200"/>
            </p:xfrm>
            <a:graphic>
              <a:graphicData uri="http://schemas.openxmlformats.org/presentationml/2006/ole">
                <mc:AlternateContent xmlns:mc="http://schemas.openxmlformats.org/markup-compatibility/2006">
                  <mc:Choice xmlns:v="urn:schemas-microsoft-com:vml" Requires="v">
                    <p:oleObj name="Equation" r:id="rId3" imgW="1460500" imgH="711200" progId="Equation.3">
                      <p:embed/>
                    </p:oleObj>
                  </mc:Choice>
                  <mc:Fallback>
                    <p:oleObj name="Equation" r:id="rId3" imgW="1460500" imgH="711200" progId="Equation.3">
                      <p:embed/>
                      <p:pic>
                        <p:nvPicPr>
                          <p:cNvPr id="0" name=""/>
                          <p:cNvPicPr/>
                          <p:nvPr/>
                        </p:nvPicPr>
                        <p:blipFill>
                          <a:blip r:embed="rId4"/>
                          <a:stretch>
                            <a:fillRect/>
                          </a:stretch>
                        </p:blipFill>
                        <p:spPr>
                          <a:xfrm>
                            <a:off x="5924550" y="2717800"/>
                            <a:ext cx="1460500" cy="711200"/>
                          </a:xfrm>
                          <a:prstGeom prst="rect">
                            <a:avLst/>
                          </a:prstGeom>
                        </p:spPr>
                      </p:pic>
                    </p:oleObj>
                  </mc:Fallback>
                </mc:AlternateContent>
              </a:graphicData>
            </a:graphic>
          </p:graphicFrame>
          <p:sp>
            <p:nvSpPr>
              <p:cNvPr id="5" name="Rectangle 4"/>
              <p:cNvSpPr/>
              <p:nvPr/>
            </p:nvSpPr>
            <p:spPr>
              <a:xfrm>
                <a:off x="4876800" y="3559344"/>
                <a:ext cx="3225800" cy="338554"/>
              </a:xfrm>
              <a:prstGeom prst="rect">
                <a:avLst/>
              </a:prstGeom>
            </p:spPr>
            <p:txBody>
              <a:bodyPr wrap="square">
                <a:spAutoFit/>
              </a:bodyPr>
              <a:lstStyle/>
              <a:p>
                <a:pPr lvl="0" fontAlgn="auto">
                  <a:spcBef>
                    <a:spcPts val="0"/>
                  </a:spcBef>
                  <a:spcAft>
                    <a:spcPts val="0"/>
                  </a:spcAft>
                  <a:tabLst>
                    <a:tab pos="266700" algn="l"/>
                  </a:tabLst>
                  <a:defRPr/>
                </a:pPr>
                <a:r>
                  <a:rPr lang="en-US" sz="1600" dirty="0">
                    <a:solidFill>
                      <a:srgbClr val="000000"/>
                    </a:solidFill>
                    <a:latin typeface="Arial"/>
                    <a:cs typeface="Arial"/>
                  </a:rPr>
                  <a:t>Average time in the system:</a:t>
                </a:r>
              </a:p>
            </p:txBody>
          </p:sp>
          <p:graphicFrame>
            <p:nvGraphicFramePr>
              <p:cNvPr id="8" name="Object 7"/>
              <p:cNvGraphicFramePr>
                <a:graphicFrameLocks noChangeAspect="1"/>
              </p:cNvGraphicFramePr>
              <p:nvPr>
                <p:extLst>
                  <p:ext uri="{D42A27DB-BD31-4B8C-83A1-F6EECF244321}">
                    <p14:modId xmlns:p14="http://schemas.microsoft.com/office/powerpoint/2010/main" val="2214770259"/>
                  </p:ext>
                </p:extLst>
              </p:nvPr>
            </p:nvGraphicFramePr>
            <p:xfrm>
              <a:off x="6096000" y="4127500"/>
              <a:ext cx="1117600" cy="635000"/>
            </p:xfrm>
            <a:graphic>
              <a:graphicData uri="http://schemas.openxmlformats.org/presentationml/2006/ole">
                <mc:AlternateContent xmlns:mc="http://schemas.openxmlformats.org/markup-compatibility/2006">
                  <mc:Choice xmlns:v="urn:schemas-microsoft-com:vml" Requires="v">
                    <p:oleObj name="Equation" r:id="rId5" imgW="1117600" imgH="635000" progId="Equation.3">
                      <p:embed/>
                    </p:oleObj>
                  </mc:Choice>
                  <mc:Fallback>
                    <p:oleObj name="Equation" r:id="rId5" imgW="1117600" imgH="635000" progId="Equation.3">
                      <p:embed/>
                      <p:pic>
                        <p:nvPicPr>
                          <p:cNvPr id="0" name=""/>
                          <p:cNvPicPr/>
                          <p:nvPr/>
                        </p:nvPicPr>
                        <p:blipFill>
                          <a:blip r:embed="rId6"/>
                          <a:stretch>
                            <a:fillRect/>
                          </a:stretch>
                        </p:blipFill>
                        <p:spPr>
                          <a:xfrm>
                            <a:off x="6096000" y="4127500"/>
                            <a:ext cx="1117600" cy="635000"/>
                          </a:xfrm>
                          <a:prstGeom prst="rect">
                            <a:avLst/>
                          </a:prstGeom>
                        </p:spPr>
                      </p:pic>
                    </p:oleObj>
                  </mc:Fallback>
                </mc:AlternateContent>
              </a:graphicData>
            </a:graphic>
          </p:graphicFrame>
        </p:grpSp>
        <p:pic>
          <p:nvPicPr>
            <p:cNvPr id="6" name="Picture 5" descr="md-47a.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16488" y="4033513"/>
              <a:ext cx="2006600" cy="1117600"/>
            </a:xfrm>
            <a:prstGeom prst="rect">
              <a:avLst/>
            </a:prstGeom>
          </p:spPr>
        </p:pic>
      </p:grpSp>
    </p:spTree>
    <p:extLst>
      <p:ext uri="{BB962C8B-B14F-4D97-AF65-F5344CB8AC3E}">
        <p14:creationId xmlns:p14="http://schemas.microsoft.com/office/powerpoint/2010/main" val="606843795"/>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5"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Finite-Population Model</a:t>
            </a:r>
          </a:p>
        </p:txBody>
      </p:sp>
      <p:grpSp>
        <p:nvGrpSpPr>
          <p:cNvPr id="15" name="Group 14"/>
          <p:cNvGrpSpPr/>
          <p:nvPr/>
        </p:nvGrpSpPr>
        <p:grpSpPr>
          <a:xfrm>
            <a:off x="527050" y="1811338"/>
            <a:ext cx="8102600" cy="3275012"/>
            <a:chOff x="527050" y="1811338"/>
            <a:chExt cx="8102600" cy="3275012"/>
          </a:xfrm>
        </p:grpSpPr>
        <p:sp>
          <p:nvSpPr>
            <p:cNvPr id="8387" name="TextBox 27"/>
            <p:cNvSpPr txBox="1">
              <a:spLocks noChangeArrowheads="1"/>
            </p:cNvSpPr>
            <p:nvPr/>
          </p:nvSpPr>
          <p:spPr bwMode="auto">
            <a:xfrm>
              <a:off x="527050" y="1811338"/>
              <a:ext cx="1520016" cy="588016"/>
            </a:xfrm>
            <a:prstGeom prst="rect">
              <a:avLst/>
            </a:prstGeom>
            <a:solidFill>
              <a:schemeClr val="tx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252000" tIns="169200" rIns="252000" bIns="169200">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600" dirty="0">
                  <a:solidFill>
                    <a:srgbClr val="FFFFFF"/>
                  </a:solidFill>
                </a:rPr>
                <a:t>TABLE D.7</a:t>
              </a:r>
            </a:p>
          </p:txBody>
        </p:sp>
        <p:sp>
          <p:nvSpPr>
            <p:cNvPr id="29" name="TextBox 28"/>
            <p:cNvSpPr txBox="1"/>
            <p:nvPr/>
          </p:nvSpPr>
          <p:spPr bwMode="auto">
            <a:xfrm>
              <a:off x="2046288" y="1814513"/>
              <a:ext cx="6583362" cy="584776"/>
            </a:xfrm>
            <a:prstGeom prst="rect">
              <a:avLst/>
            </a:prstGeom>
            <a:noFill/>
            <a:ln>
              <a:solidFill>
                <a:schemeClr val="bg1">
                  <a:lumMod val="75000"/>
                </a:schemeClr>
              </a:solidFill>
            </a:ln>
          </p:spPr>
          <p:txBody>
            <a:bodyPr>
              <a:spAutoFit/>
            </a:bodyPr>
            <a:lstStyle/>
            <a:p>
              <a:pPr fontAlgn="auto">
                <a:spcBef>
                  <a:spcPts val="0"/>
                </a:spcBef>
                <a:spcAft>
                  <a:spcPts val="0"/>
                </a:spcAft>
                <a:defRPr/>
              </a:pPr>
              <a:r>
                <a:rPr lang="en-US" sz="1600" dirty="0">
                  <a:latin typeface="Arial"/>
                  <a:ea typeface="+mn-ea"/>
                  <a:cs typeface="Arial"/>
                </a:rPr>
                <a:t>Queuing Formulas and Notation for Model D: Finite-Population, also called M/M/1 with Finite Source</a:t>
              </a:r>
            </a:p>
          </p:txBody>
        </p:sp>
        <p:sp>
          <p:nvSpPr>
            <p:cNvPr id="32" name="TextBox 31"/>
            <p:cNvSpPr txBox="1"/>
            <p:nvPr/>
          </p:nvSpPr>
          <p:spPr bwMode="auto">
            <a:xfrm>
              <a:off x="542925" y="2398713"/>
              <a:ext cx="8086725" cy="1404746"/>
            </a:xfrm>
            <a:prstGeom prst="rect">
              <a:avLst/>
            </a:prstGeom>
            <a:solidFill>
              <a:schemeClr val="accent2">
                <a:lumMod val="40000"/>
                <a:lumOff val="60000"/>
              </a:schemeClr>
            </a:solidFill>
            <a:ln w="12700" cmpd="sng">
              <a:solidFill>
                <a:schemeClr val="bg1">
                  <a:lumMod val="75000"/>
                </a:schemeClr>
              </a:solidFill>
            </a:ln>
          </p:spPr>
          <p:txBody>
            <a:bodyPr tIns="93600" bIns="93600">
              <a:spAutoFit/>
            </a:bodyPr>
            <a:lstStyle/>
            <a:p>
              <a:pPr fontAlgn="auto">
                <a:spcBef>
                  <a:spcPts val="0"/>
                </a:spcBef>
                <a:spcAft>
                  <a:spcPts val="600"/>
                </a:spcAft>
                <a:tabLst>
                  <a:tab pos="266700" algn="l"/>
                </a:tabLst>
                <a:defRPr/>
              </a:pPr>
              <a:r>
                <a:rPr lang="en-US" sz="1600" dirty="0">
                  <a:latin typeface="Arial"/>
                  <a:ea typeface="+mn-ea"/>
                  <a:cs typeface="Arial"/>
                </a:rPr>
                <a:t>Average length of the queue:</a:t>
              </a:r>
            </a:p>
            <a:p>
              <a:pPr fontAlgn="auto">
                <a:spcBef>
                  <a:spcPts val="0"/>
                </a:spcBef>
                <a:spcAft>
                  <a:spcPts val="600"/>
                </a:spcAft>
                <a:tabLst>
                  <a:tab pos="266700" algn="l"/>
                </a:tabLst>
                <a:defRPr/>
              </a:pPr>
              <a:endParaRPr lang="en-US" sz="1600" dirty="0">
                <a:latin typeface="Arial"/>
                <a:ea typeface="+mn-ea"/>
                <a:cs typeface="Arial"/>
              </a:endParaRPr>
            </a:p>
            <a:p>
              <a:pPr fontAlgn="auto">
                <a:spcBef>
                  <a:spcPts val="0"/>
                </a:spcBef>
                <a:spcAft>
                  <a:spcPts val="600"/>
                </a:spcAft>
                <a:tabLst>
                  <a:tab pos="266700" algn="l"/>
                </a:tabLst>
                <a:defRPr/>
              </a:pPr>
              <a:endParaRPr lang="en-US" sz="1600" dirty="0">
                <a:latin typeface="Arial"/>
                <a:ea typeface="+mn-ea"/>
                <a:cs typeface="Arial"/>
              </a:endParaRPr>
            </a:p>
            <a:p>
              <a:pPr fontAlgn="auto">
                <a:spcBef>
                  <a:spcPts val="0"/>
                </a:spcBef>
                <a:spcAft>
                  <a:spcPts val="600"/>
                </a:spcAft>
                <a:tabLst>
                  <a:tab pos="266700" algn="l"/>
                </a:tabLst>
                <a:defRPr/>
              </a:pPr>
              <a:endParaRPr lang="en-US" sz="1600" dirty="0">
                <a:latin typeface="Arial"/>
                <a:ea typeface="+mn-ea"/>
                <a:cs typeface="Arial"/>
              </a:endParaRPr>
            </a:p>
          </p:txBody>
        </p:sp>
        <p:sp>
          <p:nvSpPr>
            <p:cNvPr id="36" name="TextBox 35"/>
            <p:cNvSpPr txBox="1"/>
            <p:nvPr/>
          </p:nvSpPr>
          <p:spPr bwMode="auto">
            <a:xfrm>
              <a:off x="539750" y="3816843"/>
              <a:ext cx="8086725" cy="1268427"/>
            </a:xfrm>
            <a:prstGeom prst="rect">
              <a:avLst/>
            </a:prstGeom>
            <a:solidFill>
              <a:schemeClr val="accent2">
                <a:lumMod val="40000"/>
                <a:lumOff val="60000"/>
              </a:schemeClr>
            </a:solidFill>
            <a:ln w="12700" cmpd="sng">
              <a:solidFill>
                <a:schemeClr val="bg1">
                  <a:lumMod val="75000"/>
                </a:schemeClr>
              </a:solidFill>
            </a:ln>
          </p:spPr>
          <p:txBody>
            <a:bodyPr tIns="140400" bIns="140400">
              <a:spAutoFit/>
            </a:bodyPr>
            <a:lstStyle/>
            <a:p>
              <a:pPr fontAlgn="auto">
                <a:spcBef>
                  <a:spcPts val="0"/>
                </a:spcBef>
                <a:spcAft>
                  <a:spcPts val="0"/>
                </a:spcAft>
                <a:tabLst>
                  <a:tab pos="4838700" algn="l"/>
                </a:tabLst>
                <a:defRPr/>
              </a:pPr>
              <a:r>
                <a:rPr lang="en-US" sz="1600" dirty="0">
                  <a:latin typeface="Arial"/>
                  <a:ea typeface="+mn-ea"/>
                  <a:cs typeface="Arial"/>
                </a:rPr>
                <a:t>Average number of customers (units) </a:t>
              </a:r>
            </a:p>
            <a:p>
              <a:pPr fontAlgn="auto">
                <a:spcBef>
                  <a:spcPts val="0"/>
                </a:spcBef>
                <a:spcAft>
                  <a:spcPts val="0"/>
                </a:spcAft>
                <a:tabLst>
                  <a:tab pos="4838700" algn="l"/>
                </a:tabLst>
                <a:defRPr/>
              </a:pPr>
              <a:r>
                <a:rPr lang="en-US" sz="1600" dirty="0">
                  <a:latin typeface="Arial"/>
                  <a:ea typeface="+mn-ea"/>
                  <a:cs typeface="Arial"/>
                </a:rPr>
                <a:t>in the system:</a:t>
              </a:r>
            </a:p>
            <a:p>
              <a:pPr fontAlgn="auto">
                <a:spcBef>
                  <a:spcPts val="0"/>
                </a:spcBef>
                <a:spcAft>
                  <a:spcPts val="0"/>
                </a:spcAft>
                <a:tabLst>
                  <a:tab pos="4838700" algn="l"/>
                </a:tabLst>
                <a:defRPr/>
              </a:pPr>
              <a:endParaRPr lang="en-US" sz="1600" dirty="0">
                <a:latin typeface="Arial"/>
                <a:ea typeface="+mn-ea"/>
                <a:cs typeface="Arial"/>
              </a:endParaRPr>
            </a:p>
            <a:p>
              <a:pPr fontAlgn="auto">
                <a:spcBef>
                  <a:spcPts val="0"/>
                </a:spcBef>
                <a:spcAft>
                  <a:spcPts val="0"/>
                </a:spcAft>
                <a:tabLst>
                  <a:tab pos="4838700" algn="l"/>
                </a:tabLst>
                <a:defRPr/>
              </a:pPr>
              <a:endParaRPr lang="en-US" sz="1600" dirty="0">
                <a:latin typeface="Arial"/>
                <a:ea typeface="+mn-ea"/>
                <a:cs typeface="Arial"/>
              </a:endParaRPr>
            </a:p>
          </p:txBody>
        </p:sp>
        <p:cxnSp>
          <p:nvCxnSpPr>
            <p:cNvPr id="44" name="Straight Connector 43"/>
            <p:cNvCxnSpPr/>
            <p:nvPr/>
          </p:nvCxnSpPr>
          <p:spPr bwMode="auto">
            <a:xfrm>
              <a:off x="4514850" y="2403475"/>
              <a:ext cx="0" cy="2682875"/>
            </a:xfrm>
            <a:prstGeom prst="line">
              <a:avLst/>
            </a:prstGeom>
            <a:ln w="12700"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graphicFrame>
          <p:nvGraphicFramePr>
            <p:cNvPr id="2" name="Object 1"/>
            <p:cNvGraphicFramePr>
              <a:graphicFrameLocks noChangeAspect="1"/>
            </p:cNvGraphicFramePr>
            <p:nvPr>
              <p:extLst>
                <p:ext uri="{D42A27DB-BD31-4B8C-83A1-F6EECF244321}">
                  <p14:modId xmlns:p14="http://schemas.microsoft.com/office/powerpoint/2010/main" val="4042521080"/>
                </p:ext>
              </p:extLst>
            </p:nvPr>
          </p:nvGraphicFramePr>
          <p:xfrm>
            <a:off x="1841500" y="4562475"/>
            <a:ext cx="1549400" cy="368300"/>
          </p:xfrm>
          <a:graphic>
            <a:graphicData uri="http://schemas.openxmlformats.org/presentationml/2006/ole">
              <mc:AlternateContent xmlns:mc="http://schemas.openxmlformats.org/markup-compatibility/2006">
                <mc:Choice xmlns:v="urn:schemas-microsoft-com:vml" Requires="v">
                  <p:oleObj name="Equation" r:id="rId3" imgW="1549400" imgH="368300" progId="Equation.3">
                    <p:embed/>
                  </p:oleObj>
                </mc:Choice>
                <mc:Fallback>
                  <p:oleObj name="Equation" r:id="rId3" imgW="1549400" imgH="368300" progId="Equation.3">
                    <p:embed/>
                    <p:pic>
                      <p:nvPicPr>
                        <p:cNvPr id="0" name=""/>
                        <p:cNvPicPr/>
                        <p:nvPr/>
                      </p:nvPicPr>
                      <p:blipFill>
                        <a:blip r:embed="rId4"/>
                        <a:stretch>
                          <a:fillRect/>
                        </a:stretch>
                      </p:blipFill>
                      <p:spPr>
                        <a:xfrm>
                          <a:off x="1841500" y="4562475"/>
                          <a:ext cx="1549400" cy="368300"/>
                        </a:xfrm>
                        <a:prstGeom prst="rect">
                          <a:avLst/>
                        </a:prstGeom>
                      </p:spPr>
                    </p:pic>
                  </p:oleObj>
                </mc:Fallback>
              </mc:AlternateContent>
            </a:graphicData>
          </a:graphic>
        </p:graphicFrame>
        <p:sp>
          <p:nvSpPr>
            <p:cNvPr id="3" name="TextBox 2"/>
            <p:cNvSpPr txBox="1"/>
            <p:nvPr/>
          </p:nvSpPr>
          <p:spPr>
            <a:xfrm>
              <a:off x="4648200" y="2420408"/>
              <a:ext cx="3873500" cy="338554"/>
            </a:xfrm>
            <a:prstGeom prst="rect">
              <a:avLst/>
            </a:prstGeom>
            <a:noFill/>
          </p:spPr>
          <p:txBody>
            <a:bodyPr wrap="square" rtlCol="0">
              <a:spAutoFit/>
            </a:bodyPr>
            <a:lstStyle/>
            <a:p>
              <a:pPr fontAlgn="auto">
                <a:spcBef>
                  <a:spcPts val="0"/>
                </a:spcBef>
                <a:spcAft>
                  <a:spcPts val="0"/>
                </a:spcAft>
                <a:tabLst>
                  <a:tab pos="266700" algn="l"/>
                </a:tabLst>
                <a:defRPr/>
              </a:pPr>
              <a:r>
                <a:rPr lang="en-US" sz="1600" dirty="0">
                  <a:latin typeface="Arial"/>
                  <a:cs typeface="Arial"/>
                </a:rPr>
                <a:t>Probability of </a:t>
              </a:r>
              <a:r>
                <a:rPr lang="en-US" sz="1600" i="1" dirty="0">
                  <a:latin typeface="Arial"/>
                  <a:cs typeface="Arial"/>
                </a:rPr>
                <a:t>n </a:t>
              </a:r>
              <a:r>
                <a:rPr lang="en-US" sz="1600" dirty="0">
                  <a:latin typeface="Arial"/>
                  <a:cs typeface="Arial"/>
                </a:rPr>
                <a:t>units in the system:</a:t>
              </a:r>
            </a:p>
          </p:txBody>
        </p:sp>
        <p:graphicFrame>
          <p:nvGraphicFramePr>
            <p:cNvPr id="4" name="Object 3"/>
            <p:cNvGraphicFramePr>
              <a:graphicFrameLocks noChangeAspect="1"/>
            </p:cNvGraphicFramePr>
            <p:nvPr>
              <p:extLst>
                <p:ext uri="{D42A27DB-BD31-4B8C-83A1-F6EECF244321}">
                  <p14:modId xmlns:p14="http://schemas.microsoft.com/office/powerpoint/2010/main" val="4184512026"/>
                </p:ext>
              </p:extLst>
            </p:nvPr>
          </p:nvGraphicFramePr>
          <p:xfrm>
            <a:off x="4737874" y="2851150"/>
            <a:ext cx="3683000" cy="749300"/>
          </p:xfrm>
          <a:graphic>
            <a:graphicData uri="http://schemas.openxmlformats.org/presentationml/2006/ole">
              <mc:AlternateContent xmlns:mc="http://schemas.openxmlformats.org/markup-compatibility/2006">
                <mc:Choice xmlns:v="urn:schemas-microsoft-com:vml" Requires="v">
                  <p:oleObj name="Equation" r:id="rId5" imgW="3683000" imgH="749300" progId="Equation.3">
                    <p:embed/>
                  </p:oleObj>
                </mc:Choice>
                <mc:Fallback>
                  <p:oleObj name="Equation" r:id="rId5" imgW="3683000" imgH="749300" progId="Equation.3">
                    <p:embed/>
                    <p:pic>
                      <p:nvPicPr>
                        <p:cNvPr id="0" name=""/>
                        <p:cNvPicPr/>
                        <p:nvPr/>
                      </p:nvPicPr>
                      <p:blipFill>
                        <a:blip r:embed="rId6"/>
                        <a:stretch>
                          <a:fillRect/>
                        </a:stretch>
                      </p:blipFill>
                      <p:spPr>
                        <a:xfrm>
                          <a:off x="4737874" y="2851150"/>
                          <a:ext cx="3683000" cy="7493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390478138"/>
                </p:ext>
              </p:extLst>
            </p:nvPr>
          </p:nvGraphicFramePr>
          <p:xfrm>
            <a:off x="1358900" y="2920809"/>
            <a:ext cx="2260600" cy="685800"/>
          </p:xfrm>
          <a:graphic>
            <a:graphicData uri="http://schemas.openxmlformats.org/presentationml/2006/ole">
              <mc:AlternateContent xmlns:mc="http://schemas.openxmlformats.org/markup-compatibility/2006">
                <mc:Choice xmlns:v="urn:schemas-microsoft-com:vml" Requires="v">
                  <p:oleObj name="Equation" r:id="rId7" imgW="2260600" imgH="685800" progId="Equation.3">
                    <p:embed/>
                  </p:oleObj>
                </mc:Choice>
                <mc:Fallback>
                  <p:oleObj name="Equation" r:id="rId7" imgW="2260600" imgH="685800" progId="Equation.3">
                    <p:embed/>
                    <p:pic>
                      <p:nvPicPr>
                        <p:cNvPr id="0" name=""/>
                        <p:cNvPicPr/>
                        <p:nvPr/>
                      </p:nvPicPr>
                      <p:blipFill>
                        <a:blip r:embed="rId8"/>
                        <a:stretch>
                          <a:fillRect/>
                        </a:stretch>
                      </p:blipFill>
                      <p:spPr>
                        <a:xfrm>
                          <a:off x="1358900" y="2920809"/>
                          <a:ext cx="2260600" cy="685800"/>
                        </a:xfrm>
                        <a:prstGeom prst="rect">
                          <a:avLst/>
                        </a:prstGeom>
                      </p:spPr>
                    </p:pic>
                  </p:oleObj>
                </mc:Fallback>
              </mc:AlternateContent>
            </a:graphicData>
          </a:graphic>
        </p:graphicFrame>
      </p:grpSp>
    </p:spTree>
    <p:extLst>
      <p:ext uri="{BB962C8B-B14F-4D97-AF65-F5344CB8AC3E}">
        <p14:creationId xmlns:p14="http://schemas.microsoft.com/office/powerpoint/2010/main" val="353676689"/>
      </p:ext>
    </p:extLst>
  </p:cSld>
  <p:clrMapOvr>
    <a:masterClrMapping/>
  </p:clrMapOvr>
  <p:transition spd="slow">
    <p:strips dir="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5"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Finite-Population Example</a:t>
            </a:r>
          </a:p>
        </p:txBody>
      </p:sp>
      <p:sp>
        <p:nvSpPr>
          <p:cNvPr id="7" name="TextBox 6"/>
          <p:cNvSpPr txBox="1"/>
          <p:nvPr/>
        </p:nvSpPr>
        <p:spPr>
          <a:xfrm>
            <a:off x="648102" y="1676400"/>
            <a:ext cx="7917552" cy="907941"/>
          </a:xfrm>
          <a:prstGeom prst="rect">
            <a:avLst/>
          </a:prstGeom>
          <a:noFill/>
        </p:spPr>
        <p:txBody>
          <a:bodyPr wrap="none" rtlCol="0">
            <a:spAutoFit/>
          </a:bodyPr>
          <a:lstStyle/>
          <a:p>
            <a:pPr>
              <a:spcAft>
                <a:spcPts val="600"/>
              </a:spcAft>
            </a:pPr>
            <a:r>
              <a:rPr lang="en-US" sz="2400" dirty="0"/>
              <a:t>Laser printer breakdown analysis</a:t>
            </a:r>
          </a:p>
          <a:p>
            <a:pPr>
              <a:spcAft>
                <a:spcPts val="600"/>
              </a:spcAft>
            </a:pPr>
            <a:r>
              <a:rPr lang="en-US" sz="2400" i="1" dirty="0">
                <a:latin typeface="Symbol" charset="2"/>
                <a:cs typeface="Symbol" charset="2"/>
              </a:rPr>
              <a:t>l</a:t>
            </a:r>
            <a:r>
              <a:rPr lang="en-US" sz="2400" dirty="0"/>
              <a:t> = 1/20 = 0.05 printer/hour	</a:t>
            </a:r>
            <a:r>
              <a:rPr lang="en-US" sz="2400" i="1" dirty="0">
                <a:latin typeface="Symbol" charset="2"/>
                <a:cs typeface="Symbol" charset="2"/>
              </a:rPr>
              <a:t>m</a:t>
            </a:r>
            <a:r>
              <a:rPr lang="en-US" sz="2400" dirty="0"/>
              <a:t> = ½ = 0.50 printer/hour</a:t>
            </a:r>
          </a:p>
        </p:txBody>
      </p:sp>
      <p:grpSp>
        <p:nvGrpSpPr>
          <p:cNvPr id="4" name="Group 3"/>
          <p:cNvGrpSpPr/>
          <p:nvPr/>
        </p:nvGrpSpPr>
        <p:grpSpPr>
          <a:xfrm>
            <a:off x="646217" y="2963231"/>
            <a:ext cx="3788324" cy="1282700"/>
            <a:chOff x="646217" y="2963231"/>
            <a:chExt cx="3788324" cy="1282700"/>
          </a:xfrm>
        </p:grpSpPr>
        <p:pic>
          <p:nvPicPr>
            <p:cNvPr id="3" name="Picture 2" descr="md-49a.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341" y="2963231"/>
              <a:ext cx="3378200" cy="1282700"/>
            </a:xfrm>
            <a:prstGeom prst="rect">
              <a:avLst/>
            </a:prstGeom>
          </p:spPr>
        </p:pic>
        <p:sp>
          <p:nvSpPr>
            <p:cNvPr id="10" name="TextBox 9"/>
            <p:cNvSpPr txBox="1"/>
            <p:nvPr/>
          </p:nvSpPr>
          <p:spPr>
            <a:xfrm>
              <a:off x="646217" y="3098800"/>
              <a:ext cx="398567" cy="400110"/>
            </a:xfrm>
            <a:prstGeom prst="rect">
              <a:avLst/>
            </a:prstGeom>
            <a:noFill/>
          </p:spPr>
          <p:txBody>
            <a:bodyPr wrap="none" rtlCol="0">
              <a:spAutoFit/>
            </a:bodyPr>
            <a:lstStyle/>
            <a:p>
              <a:r>
                <a:rPr lang="en-US" sz="2000" dirty="0"/>
                <a:t>1.</a:t>
              </a:r>
            </a:p>
          </p:txBody>
        </p:sp>
      </p:grpSp>
      <p:grpSp>
        <p:nvGrpSpPr>
          <p:cNvPr id="5" name="Group 4"/>
          <p:cNvGrpSpPr/>
          <p:nvPr/>
        </p:nvGrpSpPr>
        <p:grpSpPr>
          <a:xfrm>
            <a:off x="646217" y="4666756"/>
            <a:ext cx="7962281" cy="774700"/>
            <a:chOff x="646217" y="4666756"/>
            <a:chExt cx="7962281" cy="774700"/>
          </a:xfrm>
        </p:grpSpPr>
        <p:pic>
          <p:nvPicPr>
            <p:cNvPr id="2" name="Picture 1" descr="md-49b.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4698" y="4666756"/>
              <a:ext cx="7543800" cy="774700"/>
            </a:xfrm>
            <a:prstGeom prst="rect">
              <a:avLst/>
            </a:prstGeom>
          </p:spPr>
        </p:pic>
        <p:sp>
          <p:nvSpPr>
            <p:cNvPr id="11" name="TextBox 10"/>
            <p:cNvSpPr txBox="1"/>
            <p:nvPr/>
          </p:nvSpPr>
          <p:spPr>
            <a:xfrm>
              <a:off x="646217" y="4816445"/>
              <a:ext cx="398567" cy="400110"/>
            </a:xfrm>
            <a:prstGeom prst="rect">
              <a:avLst/>
            </a:prstGeom>
            <a:noFill/>
          </p:spPr>
          <p:txBody>
            <a:bodyPr wrap="none" rtlCol="0">
              <a:spAutoFit/>
            </a:bodyPr>
            <a:lstStyle/>
            <a:p>
              <a:r>
                <a:rPr lang="en-US" sz="2000" dirty="0"/>
                <a:t>2.</a:t>
              </a:r>
            </a:p>
          </p:txBody>
        </p:sp>
      </p:grpSp>
    </p:spTree>
    <p:extLst>
      <p:ext uri="{BB962C8B-B14F-4D97-AF65-F5344CB8AC3E}">
        <p14:creationId xmlns:p14="http://schemas.microsoft.com/office/powerpoint/2010/main" val="4150295300"/>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1000"/>
                                        <p:tgtEl>
                                          <p:spTgt spid="7"/>
                                        </p:tgtEl>
                                      </p:cBhvr>
                                    </p:animEffect>
                                  </p:childTnLst>
                                </p:cTn>
                              </p:par>
                            </p:childTnLst>
                          </p:cTn>
                        </p:par>
                        <p:par>
                          <p:cTn id="8" fill="hold">
                            <p:stCondLst>
                              <p:cond delay="2000"/>
                            </p:stCondLst>
                            <p:childTnLst>
                              <p:par>
                                <p:cTn id="9" presetID="18" presetClass="entr" presetSubtype="6" fill="hold"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1000"/>
                                        <p:tgtEl>
                                          <p:spTgt spid="4"/>
                                        </p:tgtEl>
                                      </p:cBhvr>
                                    </p:animEffect>
                                  </p:childTnLst>
                                </p:cTn>
                              </p:par>
                            </p:childTnLst>
                          </p:cTn>
                        </p:par>
                        <p:par>
                          <p:cTn id="12" fill="hold">
                            <p:stCondLst>
                              <p:cond delay="4000"/>
                            </p:stCondLst>
                            <p:childTnLst>
                              <p:par>
                                <p:cTn id="13" presetID="18" presetClass="entr" presetSubtype="6" fill="hold" nodeType="afterEffect">
                                  <p:stCondLst>
                                    <p:cond delay="1000"/>
                                  </p:stCondLst>
                                  <p:childTnLst>
                                    <p:set>
                                      <p:cBhvr>
                                        <p:cTn id="14" dur="1" fill="hold">
                                          <p:stCondLst>
                                            <p:cond delay="0"/>
                                          </p:stCondLst>
                                        </p:cTn>
                                        <p:tgtEl>
                                          <p:spTgt spid="5"/>
                                        </p:tgtEl>
                                        <p:attrNameLst>
                                          <p:attrName>style.visibility</p:attrName>
                                        </p:attrNameLst>
                                      </p:cBhvr>
                                      <p:to>
                                        <p:strVal val="visible"/>
                                      </p:to>
                                    </p:set>
                                    <p:animEffect transition="in" filter="strips(downRight)">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5"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Finite-Population Example</a:t>
            </a:r>
          </a:p>
        </p:txBody>
      </p:sp>
      <p:sp>
        <p:nvSpPr>
          <p:cNvPr id="7" name="TextBox 6"/>
          <p:cNvSpPr txBox="1"/>
          <p:nvPr/>
        </p:nvSpPr>
        <p:spPr>
          <a:xfrm>
            <a:off x="648102" y="1676400"/>
            <a:ext cx="7917552" cy="907941"/>
          </a:xfrm>
          <a:prstGeom prst="rect">
            <a:avLst/>
          </a:prstGeom>
          <a:noFill/>
        </p:spPr>
        <p:txBody>
          <a:bodyPr wrap="none" rtlCol="0">
            <a:spAutoFit/>
          </a:bodyPr>
          <a:lstStyle/>
          <a:p>
            <a:pPr>
              <a:spcAft>
                <a:spcPts val="600"/>
              </a:spcAft>
            </a:pPr>
            <a:r>
              <a:rPr lang="en-US" sz="2400" dirty="0"/>
              <a:t>Laser printer breakdown analysis</a:t>
            </a:r>
          </a:p>
          <a:p>
            <a:pPr>
              <a:spcAft>
                <a:spcPts val="600"/>
              </a:spcAft>
            </a:pPr>
            <a:r>
              <a:rPr lang="en-US" sz="2400" i="1" dirty="0">
                <a:latin typeface="Symbol" charset="2"/>
                <a:cs typeface="Symbol" charset="2"/>
              </a:rPr>
              <a:t>l</a:t>
            </a:r>
            <a:r>
              <a:rPr lang="en-US" sz="2400" dirty="0"/>
              <a:t> = 1/20 = 0.05 printer/hour	</a:t>
            </a:r>
            <a:r>
              <a:rPr lang="en-US" sz="2400" i="1" dirty="0">
                <a:latin typeface="Symbol" charset="2"/>
                <a:cs typeface="Symbol" charset="2"/>
              </a:rPr>
              <a:t>m</a:t>
            </a:r>
            <a:r>
              <a:rPr lang="en-US" sz="2400" dirty="0"/>
              <a:t> = ½ = 0.50 printer/hour</a:t>
            </a:r>
          </a:p>
        </p:txBody>
      </p:sp>
      <p:grpSp>
        <p:nvGrpSpPr>
          <p:cNvPr id="5" name="Group 4"/>
          <p:cNvGrpSpPr/>
          <p:nvPr/>
        </p:nvGrpSpPr>
        <p:grpSpPr>
          <a:xfrm>
            <a:off x="646217" y="3095625"/>
            <a:ext cx="4286146" cy="457200"/>
            <a:chOff x="646217" y="3095625"/>
            <a:chExt cx="4286146" cy="457200"/>
          </a:xfrm>
        </p:grpSpPr>
        <p:sp>
          <p:nvSpPr>
            <p:cNvPr id="10" name="TextBox 9"/>
            <p:cNvSpPr txBox="1"/>
            <p:nvPr/>
          </p:nvSpPr>
          <p:spPr>
            <a:xfrm>
              <a:off x="646217" y="3098800"/>
              <a:ext cx="398567" cy="400110"/>
            </a:xfrm>
            <a:prstGeom prst="rect">
              <a:avLst/>
            </a:prstGeom>
            <a:noFill/>
          </p:spPr>
          <p:txBody>
            <a:bodyPr wrap="none" rtlCol="0">
              <a:spAutoFit/>
            </a:bodyPr>
            <a:lstStyle/>
            <a:p>
              <a:r>
                <a:rPr lang="en-US" sz="2000" dirty="0"/>
                <a:t>3.</a:t>
              </a:r>
            </a:p>
          </p:txBody>
        </p:sp>
        <p:graphicFrame>
          <p:nvGraphicFramePr>
            <p:cNvPr id="17" name="Object 16"/>
            <p:cNvGraphicFramePr>
              <a:graphicFrameLocks noChangeAspect="1"/>
            </p:cNvGraphicFramePr>
            <p:nvPr>
              <p:extLst>
                <p:ext uri="{D42A27DB-BD31-4B8C-83A1-F6EECF244321}">
                  <p14:modId xmlns:p14="http://schemas.microsoft.com/office/powerpoint/2010/main" val="2090576946"/>
                </p:ext>
              </p:extLst>
            </p:nvPr>
          </p:nvGraphicFramePr>
          <p:xfrm>
            <a:off x="1147763" y="3095625"/>
            <a:ext cx="3784600" cy="457200"/>
          </p:xfrm>
          <a:graphic>
            <a:graphicData uri="http://schemas.openxmlformats.org/presentationml/2006/ole">
              <mc:AlternateContent xmlns:mc="http://schemas.openxmlformats.org/markup-compatibility/2006">
                <mc:Choice xmlns:v="urn:schemas-microsoft-com:vml" Requires="v">
                  <p:oleObj name="Equation" r:id="rId3" imgW="3784600" imgH="457200" progId="Equation.3">
                    <p:embed/>
                  </p:oleObj>
                </mc:Choice>
                <mc:Fallback>
                  <p:oleObj name="Equation" r:id="rId3" imgW="3784600" imgH="457200" progId="Equation.3">
                    <p:embed/>
                    <p:pic>
                      <p:nvPicPr>
                        <p:cNvPr id="0" name=""/>
                        <p:cNvPicPr/>
                        <p:nvPr/>
                      </p:nvPicPr>
                      <p:blipFill>
                        <a:blip r:embed="rId4"/>
                        <a:stretch>
                          <a:fillRect/>
                        </a:stretch>
                      </p:blipFill>
                      <p:spPr>
                        <a:xfrm>
                          <a:off x="1147763" y="3095625"/>
                          <a:ext cx="3784600" cy="457200"/>
                        </a:xfrm>
                        <a:prstGeom prst="rect">
                          <a:avLst/>
                        </a:prstGeom>
                      </p:spPr>
                    </p:pic>
                  </p:oleObj>
                </mc:Fallback>
              </mc:AlternateContent>
            </a:graphicData>
          </a:graphic>
        </p:graphicFrame>
      </p:grpSp>
      <p:grpSp>
        <p:nvGrpSpPr>
          <p:cNvPr id="4" name="Group 3"/>
          <p:cNvGrpSpPr/>
          <p:nvPr/>
        </p:nvGrpSpPr>
        <p:grpSpPr>
          <a:xfrm>
            <a:off x="646217" y="3998913"/>
            <a:ext cx="4870346" cy="736600"/>
            <a:chOff x="646217" y="3923009"/>
            <a:chExt cx="4870346" cy="736600"/>
          </a:xfrm>
        </p:grpSpPr>
        <p:sp>
          <p:nvSpPr>
            <p:cNvPr id="11" name="TextBox 10"/>
            <p:cNvSpPr txBox="1"/>
            <p:nvPr/>
          </p:nvSpPr>
          <p:spPr>
            <a:xfrm>
              <a:off x="646217" y="4059593"/>
              <a:ext cx="398567" cy="400110"/>
            </a:xfrm>
            <a:prstGeom prst="rect">
              <a:avLst/>
            </a:prstGeom>
            <a:noFill/>
          </p:spPr>
          <p:txBody>
            <a:bodyPr wrap="none" rtlCol="0">
              <a:spAutoFit/>
            </a:bodyPr>
            <a:lstStyle/>
            <a:p>
              <a:r>
                <a:rPr lang="en-US" sz="2000" dirty="0"/>
                <a:t>4.</a:t>
              </a:r>
            </a:p>
          </p:txBody>
        </p:sp>
        <p:graphicFrame>
          <p:nvGraphicFramePr>
            <p:cNvPr id="19" name="Object 18"/>
            <p:cNvGraphicFramePr>
              <a:graphicFrameLocks noChangeAspect="1"/>
            </p:cNvGraphicFramePr>
            <p:nvPr>
              <p:extLst>
                <p:ext uri="{D42A27DB-BD31-4B8C-83A1-F6EECF244321}">
                  <p14:modId xmlns:p14="http://schemas.microsoft.com/office/powerpoint/2010/main" val="3238357944"/>
                </p:ext>
              </p:extLst>
            </p:nvPr>
          </p:nvGraphicFramePr>
          <p:xfrm>
            <a:off x="1135063" y="3923009"/>
            <a:ext cx="4381500" cy="736600"/>
          </p:xfrm>
          <a:graphic>
            <a:graphicData uri="http://schemas.openxmlformats.org/presentationml/2006/ole">
              <mc:AlternateContent xmlns:mc="http://schemas.openxmlformats.org/markup-compatibility/2006">
                <mc:Choice xmlns:v="urn:schemas-microsoft-com:vml" Requires="v">
                  <p:oleObj name="Equation" r:id="rId5" imgW="4381500" imgH="736600" progId="Equation.3">
                    <p:embed/>
                  </p:oleObj>
                </mc:Choice>
                <mc:Fallback>
                  <p:oleObj name="Equation" r:id="rId5" imgW="4381500" imgH="736600" progId="Equation.3">
                    <p:embed/>
                    <p:pic>
                      <p:nvPicPr>
                        <p:cNvPr id="0" name=""/>
                        <p:cNvPicPr/>
                        <p:nvPr/>
                      </p:nvPicPr>
                      <p:blipFill>
                        <a:blip r:embed="rId6"/>
                        <a:stretch>
                          <a:fillRect/>
                        </a:stretch>
                      </p:blipFill>
                      <p:spPr>
                        <a:xfrm>
                          <a:off x="1135063" y="3923009"/>
                          <a:ext cx="4381500" cy="736600"/>
                        </a:xfrm>
                        <a:prstGeom prst="rect">
                          <a:avLst/>
                        </a:prstGeom>
                      </p:spPr>
                    </p:pic>
                  </p:oleObj>
                </mc:Fallback>
              </mc:AlternateContent>
            </a:graphicData>
          </a:graphic>
        </p:graphicFrame>
      </p:grpSp>
      <p:grpSp>
        <p:nvGrpSpPr>
          <p:cNvPr id="3" name="Group 2"/>
          <p:cNvGrpSpPr/>
          <p:nvPr/>
        </p:nvGrpSpPr>
        <p:grpSpPr>
          <a:xfrm>
            <a:off x="644682" y="5181115"/>
            <a:ext cx="3613847" cy="673100"/>
            <a:chOff x="644682" y="5181115"/>
            <a:chExt cx="3613847" cy="673100"/>
          </a:xfrm>
        </p:grpSpPr>
        <p:sp>
          <p:nvSpPr>
            <p:cNvPr id="14" name="TextBox 13"/>
            <p:cNvSpPr txBox="1"/>
            <p:nvPr/>
          </p:nvSpPr>
          <p:spPr>
            <a:xfrm>
              <a:off x="644682" y="5328011"/>
              <a:ext cx="398567" cy="400110"/>
            </a:xfrm>
            <a:prstGeom prst="rect">
              <a:avLst/>
            </a:prstGeom>
            <a:noFill/>
          </p:spPr>
          <p:txBody>
            <a:bodyPr wrap="none" rtlCol="0">
              <a:spAutoFit/>
            </a:bodyPr>
            <a:lstStyle/>
            <a:p>
              <a:r>
                <a:rPr lang="en-US" sz="2000" dirty="0"/>
                <a:t>5.</a:t>
              </a:r>
            </a:p>
          </p:txBody>
        </p:sp>
        <p:graphicFrame>
          <p:nvGraphicFramePr>
            <p:cNvPr id="2" name="Object 1"/>
            <p:cNvGraphicFramePr>
              <a:graphicFrameLocks noChangeAspect="1"/>
            </p:cNvGraphicFramePr>
            <p:nvPr>
              <p:extLst>
                <p:ext uri="{D42A27DB-BD31-4B8C-83A1-F6EECF244321}">
                  <p14:modId xmlns:p14="http://schemas.microsoft.com/office/powerpoint/2010/main" val="2500481855"/>
                </p:ext>
              </p:extLst>
            </p:nvPr>
          </p:nvGraphicFramePr>
          <p:xfrm>
            <a:off x="1108929" y="5181115"/>
            <a:ext cx="3149600" cy="673100"/>
          </p:xfrm>
          <a:graphic>
            <a:graphicData uri="http://schemas.openxmlformats.org/presentationml/2006/ole">
              <mc:AlternateContent xmlns:mc="http://schemas.openxmlformats.org/markup-compatibility/2006">
                <mc:Choice xmlns:v="urn:schemas-microsoft-com:vml" Requires="v">
                  <p:oleObj name="Equation" r:id="rId7" imgW="3149600" imgH="673100" progId="Equation.3">
                    <p:embed/>
                  </p:oleObj>
                </mc:Choice>
                <mc:Fallback>
                  <p:oleObj name="Equation" r:id="rId7" imgW="3149600" imgH="673100" progId="Equation.3">
                    <p:embed/>
                    <p:pic>
                      <p:nvPicPr>
                        <p:cNvPr id="0" name=""/>
                        <p:cNvPicPr/>
                        <p:nvPr/>
                      </p:nvPicPr>
                      <p:blipFill>
                        <a:blip r:embed="rId8"/>
                        <a:stretch>
                          <a:fillRect/>
                        </a:stretch>
                      </p:blipFill>
                      <p:spPr>
                        <a:xfrm>
                          <a:off x="1108929" y="5181115"/>
                          <a:ext cx="3149600" cy="673100"/>
                        </a:xfrm>
                        <a:prstGeom prst="rect">
                          <a:avLst/>
                        </a:prstGeom>
                      </p:spPr>
                    </p:pic>
                  </p:oleObj>
                </mc:Fallback>
              </mc:AlternateContent>
            </a:graphicData>
          </a:graphic>
        </p:graphicFrame>
      </p:grpSp>
    </p:spTree>
    <p:extLst>
      <p:ext uri="{BB962C8B-B14F-4D97-AF65-F5344CB8AC3E}">
        <p14:creationId xmlns:p14="http://schemas.microsoft.com/office/powerpoint/2010/main" val="773405173"/>
      </p:ext>
    </p:extLst>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par>
                          <p:cTn id="8" fill="hold">
                            <p:stCondLst>
                              <p:cond delay="2000"/>
                            </p:stCondLst>
                            <p:childTnLst>
                              <p:par>
                                <p:cTn id="9" presetID="18" presetClass="entr" presetSubtype="6" fill="hold"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1000"/>
                                        <p:tgtEl>
                                          <p:spTgt spid="4"/>
                                        </p:tgtEl>
                                      </p:cBhvr>
                                    </p:animEffect>
                                  </p:childTnLst>
                                </p:cTn>
                              </p:par>
                            </p:childTnLst>
                          </p:cTn>
                        </p:par>
                        <p:par>
                          <p:cTn id="12" fill="hold">
                            <p:stCondLst>
                              <p:cond delay="4000"/>
                            </p:stCondLst>
                            <p:childTnLst>
                              <p:par>
                                <p:cTn id="13" presetID="18" presetClass="entr" presetSubtype="6" fill="hold" nodeType="afterEffect">
                                  <p:stCondLst>
                                    <p:cond delay="1000"/>
                                  </p:stCondLst>
                                  <p:childTnLst>
                                    <p:set>
                                      <p:cBhvr>
                                        <p:cTn id="14" dur="1" fill="hold">
                                          <p:stCondLst>
                                            <p:cond delay="0"/>
                                          </p:stCondLst>
                                        </p:cTn>
                                        <p:tgtEl>
                                          <p:spTgt spid="3"/>
                                        </p:tgtEl>
                                        <p:attrNameLst>
                                          <p:attrName>style.visibility</p:attrName>
                                        </p:attrNameLst>
                                      </p:cBhvr>
                                      <p:to>
                                        <p:strVal val="visible"/>
                                      </p:to>
                                    </p:set>
                                    <p:animEffect transition="in" filter="strips(downRight)">
                                      <p:cBhvr>
                                        <p:cTn id="15"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5" name="Rectangle 2"/>
          <p:cNvSpPr>
            <a:spLocks noGrp="1" noChangeArrowheads="1"/>
          </p:cNvSpPr>
          <p:nvPr>
            <p:ph type="title"/>
          </p:nvPr>
        </p:nvSpPr>
        <p:spPr>
          <a:xfrm>
            <a:off x="527050" y="574675"/>
            <a:ext cx="8089900" cy="952500"/>
          </a:xfrm>
        </p:spPr>
        <p:txBody>
          <a:bodyPr/>
          <a:lstStyle/>
          <a:p>
            <a:r>
              <a:rPr lang="en-US" dirty="0">
                <a:latin typeface="Arial" charset="0"/>
                <a:ea typeface="MS PGothic" charset="0"/>
                <a:cs typeface="MS PGothic" charset="0"/>
              </a:rPr>
              <a:t>Finite-Population Example</a:t>
            </a:r>
          </a:p>
        </p:txBody>
      </p:sp>
      <p:sp>
        <p:nvSpPr>
          <p:cNvPr id="7" name="TextBox 6"/>
          <p:cNvSpPr txBox="1"/>
          <p:nvPr/>
        </p:nvSpPr>
        <p:spPr>
          <a:xfrm>
            <a:off x="648102" y="1676400"/>
            <a:ext cx="7917552" cy="907941"/>
          </a:xfrm>
          <a:prstGeom prst="rect">
            <a:avLst/>
          </a:prstGeom>
          <a:noFill/>
        </p:spPr>
        <p:txBody>
          <a:bodyPr wrap="none" rtlCol="0">
            <a:spAutoFit/>
          </a:bodyPr>
          <a:lstStyle/>
          <a:p>
            <a:pPr>
              <a:spcAft>
                <a:spcPts val="600"/>
              </a:spcAft>
            </a:pPr>
            <a:r>
              <a:rPr lang="en-US" sz="2400" dirty="0"/>
              <a:t>Laser printer breakdown analysis</a:t>
            </a:r>
          </a:p>
          <a:p>
            <a:pPr>
              <a:spcAft>
                <a:spcPts val="600"/>
              </a:spcAft>
            </a:pPr>
            <a:r>
              <a:rPr lang="en-US" sz="2400" i="1" dirty="0">
                <a:latin typeface="Symbol" charset="2"/>
                <a:cs typeface="Symbol" charset="2"/>
              </a:rPr>
              <a:t>l</a:t>
            </a:r>
            <a:r>
              <a:rPr lang="en-US" sz="2400" dirty="0"/>
              <a:t> = 1/20 = 0.05 printer/hour	</a:t>
            </a:r>
            <a:r>
              <a:rPr lang="en-US" sz="2400" i="1" dirty="0">
                <a:latin typeface="Symbol" charset="2"/>
                <a:cs typeface="Symbol" charset="2"/>
              </a:rPr>
              <a:t>m</a:t>
            </a:r>
            <a:r>
              <a:rPr lang="en-US" sz="2400" dirty="0"/>
              <a:t> = ½ = 0.50 printer/hour</a:t>
            </a:r>
          </a:p>
        </p:txBody>
      </p:sp>
      <p:grpSp>
        <p:nvGrpSpPr>
          <p:cNvPr id="5" name="Group 4"/>
          <p:cNvGrpSpPr/>
          <p:nvPr/>
        </p:nvGrpSpPr>
        <p:grpSpPr>
          <a:xfrm>
            <a:off x="646217" y="3095625"/>
            <a:ext cx="4286146" cy="457200"/>
            <a:chOff x="646217" y="3095625"/>
            <a:chExt cx="4286146" cy="457200"/>
          </a:xfrm>
        </p:grpSpPr>
        <p:sp>
          <p:nvSpPr>
            <p:cNvPr id="10" name="TextBox 9"/>
            <p:cNvSpPr txBox="1"/>
            <p:nvPr/>
          </p:nvSpPr>
          <p:spPr>
            <a:xfrm>
              <a:off x="646217" y="3098800"/>
              <a:ext cx="398567" cy="400110"/>
            </a:xfrm>
            <a:prstGeom prst="rect">
              <a:avLst/>
            </a:prstGeom>
            <a:noFill/>
          </p:spPr>
          <p:txBody>
            <a:bodyPr wrap="none" rtlCol="0">
              <a:spAutoFit/>
            </a:bodyPr>
            <a:lstStyle/>
            <a:p>
              <a:r>
                <a:rPr lang="en-US" sz="2000" dirty="0"/>
                <a:t>3.</a:t>
              </a:r>
            </a:p>
          </p:txBody>
        </p:sp>
        <p:graphicFrame>
          <p:nvGraphicFramePr>
            <p:cNvPr id="17" name="Object 16"/>
            <p:cNvGraphicFramePr>
              <a:graphicFrameLocks noChangeAspect="1"/>
            </p:cNvGraphicFramePr>
            <p:nvPr>
              <p:extLst>
                <p:ext uri="{D42A27DB-BD31-4B8C-83A1-F6EECF244321}">
                  <p14:modId xmlns:p14="http://schemas.microsoft.com/office/powerpoint/2010/main" val="2276483092"/>
                </p:ext>
              </p:extLst>
            </p:nvPr>
          </p:nvGraphicFramePr>
          <p:xfrm>
            <a:off x="1147763" y="3095625"/>
            <a:ext cx="3784600" cy="457200"/>
          </p:xfrm>
          <a:graphic>
            <a:graphicData uri="http://schemas.openxmlformats.org/presentationml/2006/ole">
              <mc:AlternateContent xmlns:mc="http://schemas.openxmlformats.org/markup-compatibility/2006">
                <mc:Choice xmlns:v="urn:schemas-microsoft-com:vml" Requires="v">
                  <p:oleObj name="Equation" r:id="rId3" imgW="3784600" imgH="457200" progId="Equation.3">
                    <p:embed/>
                  </p:oleObj>
                </mc:Choice>
                <mc:Fallback>
                  <p:oleObj name="Equation" r:id="rId3" imgW="3784600" imgH="457200" progId="Equation.3">
                    <p:embed/>
                    <p:pic>
                      <p:nvPicPr>
                        <p:cNvPr id="0" name=""/>
                        <p:cNvPicPr/>
                        <p:nvPr/>
                      </p:nvPicPr>
                      <p:blipFill>
                        <a:blip r:embed="rId4"/>
                        <a:stretch>
                          <a:fillRect/>
                        </a:stretch>
                      </p:blipFill>
                      <p:spPr>
                        <a:xfrm>
                          <a:off x="1147763" y="3095625"/>
                          <a:ext cx="3784600" cy="457200"/>
                        </a:xfrm>
                        <a:prstGeom prst="rect">
                          <a:avLst/>
                        </a:prstGeom>
                      </p:spPr>
                    </p:pic>
                  </p:oleObj>
                </mc:Fallback>
              </mc:AlternateContent>
            </a:graphicData>
          </a:graphic>
        </p:graphicFrame>
      </p:grpSp>
      <p:grpSp>
        <p:nvGrpSpPr>
          <p:cNvPr id="4" name="Group 3"/>
          <p:cNvGrpSpPr/>
          <p:nvPr/>
        </p:nvGrpSpPr>
        <p:grpSpPr>
          <a:xfrm>
            <a:off x="646217" y="3998913"/>
            <a:ext cx="4870346" cy="736600"/>
            <a:chOff x="646217" y="3923009"/>
            <a:chExt cx="4870346" cy="736600"/>
          </a:xfrm>
        </p:grpSpPr>
        <p:sp>
          <p:nvSpPr>
            <p:cNvPr id="11" name="TextBox 10"/>
            <p:cNvSpPr txBox="1"/>
            <p:nvPr/>
          </p:nvSpPr>
          <p:spPr>
            <a:xfrm>
              <a:off x="646217" y="4059593"/>
              <a:ext cx="398567" cy="400110"/>
            </a:xfrm>
            <a:prstGeom prst="rect">
              <a:avLst/>
            </a:prstGeom>
            <a:noFill/>
          </p:spPr>
          <p:txBody>
            <a:bodyPr wrap="none" rtlCol="0">
              <a:spAutoFit/>
            </a:bodyPr>
            <a:lstStyle/>
            <a:p>
              <a:r>
                <a:rPr lang="en-US" sz="2000" dirty="0"/>
                <a:t>4.</a:t>
              </a:r>
            </a:p>
          </p:txBody>
        </p:sp>
        <p:graphicFrame>
          <p:nvGraphicFramePr>
            <p:cNvPr id="19" name="Object 18"/>
            <p:cNvGraphicFramePr>
              <a:graphicFrameLocks noChangeAspect="1"/>
            </p:cNvGraphicFramePr>
            <p:nvPr>
              <p:extLst>
                <p:ext uri="{D42A27DB-BD31-4B8C-83A1-F6EECF244321}">
                  <p14:modId xmlns:p14="http://schemas.microsoft.com/office/powerpoint/2010/main" val="978211572"/>
                </p:ext>
              </p:extLst>
            </p:nvPr>
          </p:nvGraphicFramePr>
          <p:xfrm>
            <a:off x="1135063" y="3923009"/>
            <a:ext cx="4381500" cy="736600"/>
          </p:xfrm>
          <a:graphic>
            <a:graphicData uri="http://schemas.openxmlformats.org/presentationml/2006/ole">
              <mc:AlternateContent xmlns:mc="http://schemas.openxmlformats.org/markup-compatibility/2006">
                <mc:Choice xmlns:v="urn:schemas-microsoft-com:vml" Requires="v">
                  <p:oleObj name="Equation" r:id="rId5" imgW="4381500" imgH="736600" progId="Equation.3">
                    <p:embed/>
                  </p:oleObj>
                </mc:Choice>
                <mc:Fallback>
                  <p:oleObj name="Equation" r:id="rId5" imgW="4381500" imgH="736600" progId="Equation.3">
                    <p:embed/>
                    <p:pic>
                      <p:nvPicPr>
                        <p:cNvPr id="0" name=""/>
                        <p:cNvPicPr/>
                        <p:nvPr/>
                      </p:nvPicPr>
                      <p:blipFill>
                        <a:blip r:embed="rId6"/>
                        <a:stretch>
                          <a:fillRect/>
                        </a:stretch>
                      </p:blipFill>
                      <p:spPr>
                        <a:xfrm>
                          <a:off x="1135063" y="3923009"/>
                          <a:ext cx="4381500" cy="736600"/>
                        </a:xfrm>
                        <a:prstGeom prst="rect">
                          <a:avLst/>
                        </a:prstGeom>
                      </p:spPr>
                    </p:pic>
                  </p:oleObj>
                </mc:Fallback>
              </mc:AlternateContent>
            </a:graphicData>
          </a:graphic>
        </p:graphicFrame>
      </p:grpSp>
      <p:grpSp>
        <p:nvGrpSpPr>
          <p:cNvPr id="3" name="Group 2"/>
          <p:cNvGrpSpPr/>
          <p:nvPr/>
        </p:nvGrpSpPr>
        <p:grpSpPr>
          <a:xfrm>
            <a:off x="644682" y="5181115"/>
            <a:ext cx="3613847" cy="673100"/>
            <a:chOff x="644682" y="5181115"/>
            <a:chExt cx="3613847" cy="673100"/>
          </a:xfrm>
        </p:grpSpPr>
        <p:sp>
          <p:nvSpPr>
            <p:cNvPr id="14" name="TextBox 13"/>
            <p:cNvSpPr txBox="1"/>
            <p:nvPr/>
          </p:nvSpPr>
          <p:spPr>
            <a:xfrm>
              <a:off x="644682" y="5328011"/>
              <a:ext cx="398567" cy="400110"/>
            </a:xfrm>
            <a:prstGeom prst="rect">
              <a:avLst/>
            </a:prstGeom>
            <a:noFill/>
          </p:spPr>
          <p:txBody>
            <a:bodyPr wrap="none" rtlCol="0">
              <a:spAutoFit/>
            </a:bodyPr>
            <a:lstStyle/>
            <a:p>
              <a:r>
                <a:rPr lang="en-US" sz="2000" dirty="0"/>
                <a:t>5.</a:t>
              </a:r>
            </a:p>
          </p:txBody>
        </p:sp>
        <p:graphicFrame>
          <p:nvGraphicFramePr>
            <p:cNvPr id="2" name="Object 1"/>
            <p:cNvGraphicFramePr>
              <a:graphicFrameLocks noChangeAspect="1"/>
            </p:cNvGraphicFramePr>
            <p:nvPr>
              <p:extLst>
                <p:ext uri="{D42A27DB-BD31-4B8C-83A1-F6EECF244321}">
                  <p14:modId xmlns:p14="http://schemas.microsoft.com/office/powerpoint/2010/main" val="62491223"/>
                </p:ext>
              </p:extLst>
            </p:nvPr>
          </p:nvGraphicFramePr>
          <p:xfrm>
            <a:off x="1108929" y="5181115"/>
            <a:ext cx="3149600" cy="673100"/>
          </p:xfrm>
          <a:graphic>
            <a:graphicData uri="http://schemas.openxmlformats.org/presentationml/2006/ole">
              <mc:AlternateContent xmlns:mc="http://schemas.openxmlformats.org/markup-compatibility/2006">
                <mc:Choice xmlns:v="urn:schemas-microsoft-com:vml" Requires="v">
                  <p:oleObj name="Equation" r:id="rId7" imgW="3149600" imgH="673100" progId="Equation.3">
                    <p:embed/>
                  </p:oleObj>
                </mc:Choice>
                <mc:Fallback>
                  <p:oleObj name="Equation" r:id="rId7" imgW="3149600" imgH="673100" progId="Equation.3">
                    <p:embed/>
                    <p:pic>
                      <p:nvPicPr>
                        <p:cNvPr id="0" name=""/>
                        <p:cNvPicPr/>
                        <p:nvPr/>
                      </p:nvPicPr>
                      <p:blipFill>
                        <a:blip r:embed="rId8"/>
                        <a:stretch>
                          <a:fillRect/>
                        </a:stretch>
                      </p:blipFill>
                      <p:spPr>
                        <a:xfrm>
                          <a:off x="1108929" y="5181115"/>
                          <a:ext cx="3149600" cy="673100"/>
                        </a:xfrm>
                        <a:prstGeom prst="rect">
                          <a:avLst/>
                        </a:prstGeom>
                      </p:spPr>
                    </p:pic>
                  </p:oleObj>
                </mc:Fallback>
              </mc:AlternateContent>
            </a:graphicData>
          </a:graphic>
        </p:graphicFrame>
      </p:grpSp>
      <p:grpSp>
        <p:nvGrpSpPr>
          <p:cNvPr id="16" name="Group 15"/>
          <p:cNvGrpSpPr/>
          <p:nvPr/>
        </p:nvGrpSpPr>
        <p:grpSpPr>
          <a:xfrm>
            <a:off x="2732616" y="3498910"/>
            <a:ext cx="6016887" cy="2658378"/>
            <a:chOff x="2732616" y="3498910"/>
            <a:chExt cx="6016887" cy="2658378"/>
          </a:xfrm>
        </p:grpSpPr>
        <p:sp>
          <p:nvSpPr>
            <p:cNvPr id="15" name="Rectangle 14"/>
            <p:cNvSpPr/>
            <p:nvPr/>
          </p:nvSpPr>
          <p:spPr>
            <a:xfrm>
              <a:off x="2732616" y="3498910"/>
              <a:ext cx="6016887" cy="2658378"/>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3" name="Group 12"/>
            <p:cNvGrpSpPr/>
            <p:nvPr/>
          </p:nvGrpSpPr>
          <p:grpSpPr>
            <a:xfrm>
              <a:off x="3295592" y="3844359"/>
              <a:ext cx="4967909" cy="1967480"/>
              <a:chOff x="5747474" y="3598809"/>
              <a:chExt cx="4967909" cy="1967480"/>
            </a:xfrm>
          </p:grpSpPr>
          <p:sp>
            <p:nvSpPr>
              <p:cNvPr id="6" name="TextBox 5"/>
              <p:cNvSpPr txBox="1"/>
              <p:nvPr/>
            </p:nvSpPr>
            <p:spPr>
              <a:xfrm>
                <a:off x="5747474" y="3598809"/>
                <a:ext cx="813369" cy="923330"/>
              </a:xfrm>
              <a:prstGeom prst="rect">
                <a:avLst/>
              </a:prstGeom>
              <a:noFill/>
            </p:spPr>
            <p:txBody>
              <a:bodyPr wrap="none" rtlCol="0">
                <a:spAutoFit/>
              </a:bodyPr>
              <a:lstStyle/>
              <a:p>
                <a:r>
                  <a:rPr lang="en-US" dirty="0"/>
                  <a:t>Total </a:t>
                </a:r>
              </a:p>
              <a:p>
                <a:r>
                  <a:rPr lang="en-US" dirty="0"/>
                  <a:t>hourly </a:t>
                </a:r>
              </a:p>
              <a:p>
                <a:r>
                  <a:rPr lang="en-US" dirty="0"/>
                  <a:t>cost</a:t>
                </a:r>
              </a:p>
            </p:txBody>
          </p:sp>
          <p:sp>
            <p:nvSpPr>
              <p:cNvPr id="8" name="TextBox 7"/>
              <p:cNvSpPr txBox="1"/>
              <p:nvPr/>
            </p:nvSpPr>
            <p:spPr>
              <a:xfrm>
                <a:off x="6775096" y="3598809"/>
                <a:ext cx="3940287" cy="923330"/>
              </a:xfrm>
              <a:prstGeom prst="rect">
                <a:avLst/>
              </a:prstGeom>
              <a:noFill/>
            </p:spPr>
            <p:txBody>
              <a:bodyPr wrap="square" rtlCol="0">
                <a:spAutoFit/>
              </a:bodyPr>
              <a:lstStyle/>
              <a:p>
                <a:r>
                  <a:rPr lang="en-US" dirty="0"/>
                  <a:t>(Average number of printers down)(Cost per downtime hour) </a:t>
                </a:r>
                <a:br>
                  <a:rPr lang="en-US" dirty="0"/>
                </a:br>
                <a:r>
                  <a:rPr lang="en-US" dirty="0"/>
                  <a:t>+ Cost per technician hour</a:t>
                </a:r>
              </a:p>
            </p:txBody>
          </p:sp>
          <p:sp>
            <p:nvSpPr>
              <p:cNvPr id="9" name="TextBox 8"/>
              <p:cNvSpPr txBox="1"/>
              <p:nvPr/>
            </p:nvSpPr>
            <p:spPr>
              <a:xfrm>
                <a:off x="6487072" y="3875808"/>
                <a:ext cx="319468" cy="369332"/>
              </a:xfrm>
              <a:prstGeom prst="rect">
                <a:avLst/>
              </a:prstGeom>
              <a:noFill/>
            </p:spPr>
            <p:txBody>
              <a:bodyPr wrap="none" rtlCol="0">
                <a:spAutoFit/>
              </a:bodyPr>
              <a:lstStyle/>
              <a:p>
                <a:r>
                  <a:rPr lang="en-US" dirty="0"/>
                  <a:t>=</a:t>
                </a:r>
              </a:p>
            </p:txBody>
          </p:sp>
          <p:sp>
            <p:nvSpPr>
              <p:cNvPr id="12" name="TextBox 11"/>
              <p:cNvSpPr txBox="1"/>
              <p:nvPr/>
            </p:nvSpPr>
            <p:spPr>
              <a:xfrm>
                <a:off x="6487072" y="4489071"/>
                <a:ext cx="2366190" cy="1077218"/>
              </a:xfrm>
              <a:prstGeom prst="rect">
                <a:avLst/>
              </a:prstGeom>
              <a:noFill/>
            </p:spPr>
            <p:txBody>
              <a:bodyPr wrap="none" rtlCol="0">
                <a:spAutoFit/>
              </a:bodyPr>
              <a:lstStyle/>
              <a:p>
                <a:pPr>
                  <a:spcAft>
                    <a:spcPts val="600"/>
                  </a:spcAft>
                </a:pPr>
                <a:r>
                  <a:rPr lang="en-US" dirty="0"/>
                  <a:t>=  (0.64)($120) + $25 </a:t>
                </a:r>
              </a:p>
              <a:p>
                <a:pPr>
                  <a:spcAft>
                    <a:spcPts val="600"/>
                  </a:spcAft>
                </a:pPr>
                <a:r>
                  <a:rPr lang="en-US" dirty="0"/>
                  <a:t>=  $76.80 + $25.00 </a:t>
                </a:r>
              </a:p>
              <a:p>
                <a:pPr>
                  <a:spcAft>
                    <a:spcPts val="600"/>
                  </a:spcAft>
                </a:pPr>
                <a:r>
                  <a:rPr lang="en-US" dirty="0"/>
                  <a:t>=  $101.80</a:t>
                </a:r>
              </a:p>
            </p:txBody>
          </p:sp>
        </p:grpSp>
      </p:grpSp>
    </p:spTree>
    <p:extLst>
      <p:ext uri="{BB962C8B-B14F-4D97-AF65-F5344CB8AC3E}">
        <p14:creationId xmlns:p14="http://schemas.microsoft.com/office/powerpoint/2010/main" val="2415975636"/>
      </p:ext>
    </p:extLst>
  </p:cSld>
  <p:clrMapOvr>
    <a:masterClrMapping/>
  </p:clrMapOvr>
  <p:transition spd="slow">
    <p:strips dir="rd"/>
  </p:transition>
</p:sld>
</file>

<file path=ppt/theme/theme1.xml><?xml version="1.0" encoding="utf-8"?>
<a:theme xmlns:a="http://schemas.openxmlformats.org/drawingml/2006/main" name="Office Theme">
  <a:themeElements>
    <a:clrScheme name="HR11">
      <a:dk1>
        <a:srgbClr val="000000"/>
      </a:dk1>
      <a:lt1>
        <a:srgbClr val="FFFFFF"/>
      </a:lt1>
      <a:dk2>
        <a:srgbClr val="255898"/>
      </a:dk2>
      <a:lt2>
        <a:srgbClr val="FFFCF2"/>
      </a:lt2>
      <a:accent1>
        <a:srgbClr val="D33320"/>
      </a:accent1>
      <a:accent2>
        <a:srgbClr val="9FACC7"/>
      </a:accent2>
      <a:accent3>
        <a:srgbClr val="F7D7AC"/>
      </a:accent3>
      <a:accent4>
        <a:srgbClr val="BDD6AE"/>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2225</TotalTime>
  <Words>2978</Words>
  <Application>Microsoft Macintosh PowerPoint</Application>
  <PresentationFormat>On-screen Show (4:3)</PresentationFormat>
  <Paragraphs>662</Paragraphs>
  <Slides>44</Slides>
  <Notes>37</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9" baseType="lpstr">
      <vt:lpstr>Arial Unicode MS</vt:lpstr>
      <vt:lpstr>MS PGothic</vt:lpstr>
      <vt:lpstr>Arial</vt:lpstr>
      <vt:lpstr>Calibri</vt:lpstr>
      <vt:lpstr>Cambria Math</vt:lpstr>
      <vt:lpstr>Courier New</vt:lpstr>
      <vt:lpstr>Helvetica Neue</vt:lpstr>
      <vt:lpstr>Lucida Grande</vt:lpstr>
      <vt:lpstr>Symbol</vt:lpstr>
      <vt:lpstr>Times</vt:lpstr>
      <vt:lpstr>Times New Roman</vt:lpstr>
      <vt:lpstr>Verdana</vt:lpstr>
      <vt:lpstr>Zapf Dingbats</vt:lpstr>
      <vt:lpstr>Office Theme</vt:lpstr>
      <vt:lpstr>Equation</vt:lpstr>
      <vt:lpstr>PowerPoint Presentation</vt:lpstr>
      <vt:lpstr>Common Queuing Situations</vt:lpstr>
      <vt:lpstr>The Impact of Variability</vt:lpstr>
      <vt:lpstr>Parts of a Waiting Line</vt:lpstr>
      <vt:lpstr>Poisson Distribution</vt:lpstr>
      <vt:lpstr>Poisson Distribution</vt:lpstr>
      <vt:lpstr>Negative Exponential Distribution</vt:lpstr>
      <vt:lpstr>Measuring Queue Performance</vt:lpstr>
      <vt:lpstr>Queuing Models</vt:lpstr>
      <vt:lpstr>Queuing Models</vt:lpstr>
      <vt:lpstr>Queuing Models</vt:lpstr>
      <vt:lpstr>Queuing Models</vt:lpstr>
      <vt:lpstr>Queuing Models</vt:lpstr>
      <vt:lpstr>Model A – Single-Server</vt:lpstr>
      <vt:lpstr>Model A – Single-Server</vt:lpstr>
      <vt:lpstr>M/M/1 Example</vt:lpstr>
      <vt:lpstr>A Repair Shop</vt:lpstr>
      <vt:lpstr>A Repair Shop</vt:lpstr>
      <vt:lpstr>Model A – Single-Server</vt:lpstr>
      <vt:lpstr>Model A – Single-Server</vt:lpstr>
      <vt:lpstr>Model A – Single-Server</vt:lpstr>
      <vt:lpstr>Single-Server Example</vt:lpstr>
      <vt:lpstr>Single-Server Example</vt:lpstr>
      <vt:lpstr>Single-Server Example</vt:lpstr>
      <vt:lpstr>Single-Channel Economics</vt:lpstr>
      <vt:lpstr>Multiple-Server Model</vt:lpstr>
      <vt:lpstr>Multiple-Server Model</vt:lpstr>
      <vt:lpstr>Multiple-Server Model</vt:lpstr>
      <vt:lpstr>Multiple-Server Example</vt:lpstr>
      <vt:lpstr>Multiple-Server Example</vt:lpstr>
      <vt:lpstr>Multiple-Server Example</vt:lpstr>
      <vt:lpstr>Waiting Line Tables</vt:lpstr>
      <vt:lpstr>Waiting-Line Table Example</vt:lpstr>
      <vt:lpstr>Constant-Service-Time Model</vt:lpstr>
      <vt:lpstr>Constant-Service-Time Example</vt:lpstr>
      <vt:lpstr>Little's Law</vt:lpstr>
      <vt:lpstr>Little's Law Example</vt:lpstr>
      <vt:lpstr>Applications of Little Law Examples</vt:lpstr>
      <vt:lpstr>Finite-Population Model</vt:lpstr>
      <vt:lpstr>Finite-Population Model</vt:lpstr>
      <vt:lpstr>Finite-Population Model</vt:lpstr>
      <vt:lpstr>Finite-Population Example</vt:lpstr>
      <vt:lpstr>Finite-Population Example</vt:lpstr>
      <vt:lpstr>Finite-Population Example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Heizer/Render 13e</dc:title>
  <dc:subject>Module D – Waiting-Line Models</dc:subject>
  <dc:creator>Jeff Heyl</dc:creator>
  <cp:keywords/>
  <dc:description/>
  <cp:lastModifiedBy>Danko Turcic</cp:lastModifiedBy>
  <cp:revision>298</cp:revision>
  <cp:lastPrinted>2022-05-12T23:36:50Z</cp:lastPrinted>
  <dcterms:created xsi:type="dcterms:W3CDTF">2012-09-28T10:33:31Z</dcterms:created>
  <dcterms:modified xsi:type="dcterms:W3CDTF">2025-05-18T20:53:23Z</dcterms:modified>
  <cp:category/>
</cp:coreProperties>
</file>