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7" r:id="rId2"/>
    <p:sldId id="346" r:id="rId3"/>
    <p:sldId id="350" r:id="rId4"/>
    <p:sldId id="533" r:id="rId5"/>
    <p:sldId id="348" r:id="rId6"/>
    <p:sldId id="538" r:id="rId7"/>
    <p:sldId id="351" r:id="rId8"/>
    <p:sldId id="353" r:id="rId9"/>
    <p:sldId id="354" r:id="rId10"/>
    <p:sldId id="355" r:id="rId11"/>
    <p:sldId id="356" r:id="rId12"/>
    <p:sldId id="357" r:id="rId13"/>
    <p:sldId id="359" r:id="rId14"/>
    <p:sldId id="517" r:id="rId15"/>
    <p:sldId id="323" r:id="rId16"/>
    <p:sldId id="324" r:id="rId17"/>
    <p:sldId id="325" r:id="rId18"/>
    <p:sldId id="326" r:id="rId19"/>
    <p:sldId id="327" r:id="rId20"/>
    <p:sldId id="328" r:id="rId21"/>
    <p:sldId id="329" r:id="rId22"/>
    <p:sldId id="537" r:id="rId23"/>
    <p:sldId id="336" r:id="rId24"/>
    <p:sldId id="342" r:id="rId25"/>
    <p:sldId id="347" r:id="rId26"/>
    <p:sldId id="535" r:id="rId27"/>
    <p:sldId id="518" r:id="rId28"/>
    <p:sldId id="361" r:id="rId29"/>
    <p:sldId id="311" r:id="rId30"/>
    <p:sldId id="539" r:id="rId31"/>
    <p:sldId id="340" r:id="rId32"/>
    <p:sldId id="341" r:id="rId33"/>
    <p:sldId id="522" r:id="rId34"/>
    <p:sldId id="343" r:id="rId35"/>
    <p:sldId id="541" r:id="rId36"/>
    <p:sldId id="259" r:id="rId37"/>
    <p:sldId id="260" r:id="rId38"/>
    <p:sldId id="540" r:id="rId39"/>
    <p:sldId id="314" r:id="rId40"/>
    <p:sldId id="551" r:id="rId41"/>
    <p:sldId id="552" r:id="rId42"/>
    <p:sldId id="553" r:id="rId43"/>
    <p:sldId id="523" r:id="rId44"/>
    <p:sldId id="524" r:id="rId45"/>
    <p:sldId id="525" r:id="rId46"/>
    <p:sldId id="526" r:id="rId47"/>
    <p:sldId id="554" r:id="rId48"/>
    <p:sldId id="542" r:id="rId49"/>
    <p:sldId id="543" r:id="rId50"/>
    <p:sldId id="545" r:id="rId51"/>
    <p:sldId id="544" r:id="rId52"/>
    <p:sldId id="546" r:id="rId53"/>
    <p:sldId id="547" r:id="rId54"/>
    <p:sldId id="548" r:id="rId55"/>
    <p:sldId id="549" r:id="rId5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p:defaultTextStyle>
  <p:extLst>
    <p:ext uri="{EFAFB233-063F-42B5-8137-9DF3F51BA10A}">
      <p15:sldGuideLst xmlns:p15="http://schemas.microsoft.com/office/powerpoint/2012/main">
        <p15:guide id="1" orient="horz" pos="2144">
          <p15:clr>
            <a:srgbClr val="A4A3A4"/>
          </p15:clr>
        </p15:guide>
        <p15:guide id="2" pos="288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LB" initials="JLB" lastIdx="21" clrIdx="0"/>
  <p:cmAuthor id="2" name="Khurrum" initials="KB" lastIdx="6" clrIdx="1">
    <p:extLst>
      <p:ext uri="{19B8F6BF-5375-455C-9EA6-DF929625EA0E}">
        <p15:presenceInfo xmlns:p15="http://schemas.microsoft.com/office/powerpoint/2012/main" userId="Khurrum" providerId="None"/>
      </p:ext>
    </p:extLst>
  </p:cmAuthor>
  <p:cmAuthor id="3" name="Yasmita Hota" initials="YH" lastIdx="1" clrIdx="2">
    <p:extLst>
      <p:ext uri="{19B8F6BF-5375-455C-9EA6-DF929625EA0E}">
        <p15:presenceInfo xmlns:p15="http://schemas.microsoft.com/office/powerpoint/2012/main" userId="Yasmita Hot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33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00" autoAdjust="0"/>
    <p:restoredTop sz="99184" autoAdjust="0"/>
  </p:normalViewPr>
  <p:slideViewPr>
    <p:cSldViewPr snapToGrid="0" snapToObjects="1">
      <p:cViewPr varScale="1">
        <p:scale>
          <a:sx n="222" d="100"/>
          <a:sy n="222" d="100"/>
        </p:scale>
        <p:origin x="1856" y="184"/>
      </p:cViewPr>
      <p:guideLst>
        <p:guide orient="horz" pos="2144"/>
        <p:guide pos="2888"/>
      </p:guideLst>
    </p:cSldViewPr>
  </p:slideViewPr>
  <p:notesTextViewPr>
    <p:cViewPr>
      <p:scale>
        <a:sx n="3" d="2"/>
        <a:sy n="3" d="2"/>
      </p:scale>
      <p:origin x="0" y="0"/>
    </p:cViewPr>
  </p:notesTextViewPr>
  <p:sorterViewPr>
    <p:cViewPr>
      <p:scale>
        <a:sx n="140" d="100"/>
        <a:sy n="14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Contracts for Materials</a:t>
            </a:r>
            <a:br>
              <a:rPr lang="en-US" dirty="0"/>
            </a:br>
            <a:r>
              <a:rPr lang="en-US" dirty="0"/>
              <a:t>at BMW</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EAE4-4252-99A0-655B52CD573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EAE4-4252-99A0-655B52CD5734}"/>
              </c:ext>
            </c:extLst>
          </c:dPt>
          <c:dLbls>
            <c:dLbl>
              <c:idx val="0"/>
              <c:layout>
                <c:manualLayout>
                  <c:x val="1.5274313089742529E-2"/>
                  <c:y val="-2.0457196480441801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EAE4-4252-99A0-655B52CD5734}"/>
                </c:ext>
              </c:extLst>
            </c:dLbl>
            <c:dLbl>
              <c:idx val="1"/>
              <c:layout>
                <c:manualLayout>
                  <c:x val="-2.1820447271060982E-2"/>
                  <c:y val="-2.9224566400632137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AE4-4252-99A0-655B52CD5734}"/>
                </c:ext>
              </c:extLst>
            </c:dLbl>
            <c:spPr>
              <a:solidFill>
                <a:prstClr val="white"/>
              </a:solidFill>
              <a:ln>
                <a:no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Sheet1!$A$2:$A$3</c:f>
              <c:strCache>
                <c:ptCount val="2"/>
                <c:pt idx="0">
                  <c:v>Symmetric</c:v>
                </c:pt>
                <c:pt idx="1">
                  <c:v>Asymmetric</c:v>
                </c:pt>
              </c:strCache>
            </c:strRef>
          </c:cat>
          <c:val>
            <c:numRef>
              <c:f>Sheet1!$B$2:$B$3</c:f>
              <c:numCache>
                <c:formatCode>General</c:formatCode>
                <c:ptCount val="2"/>
                <c:pt idx="0">
                  <c:v>36.299999999999997</c:v>
                </c:pt>
                <c:pt idx="1">
                  <c:v>63.7</c:v>
                </c:pt>
              </c:numCache>
            </c:numRef>
          </c:val>
          <c:extLst>
            <c:ext xmlns:c16="http://schemas.microsoft.com/office/drawing/2014/chart" uri="{C3380CC4-5D6E-409C-BE32-E72D297353CC}">
              <c16:uniqueId val="{00000000-EAE4-4252-99A0-655B52CD573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7A4152-F28A-4682-AE14-12E24280F911}" type="doc">
      <dgm:prSet loTypeId="urn:microsoft.com/office/officeart/2005/8/layout/hProcess9" loCatId="process" qsTypeId="urn:microsoft.com/office/officeart/2005/8/quickstyle/simple1" qsCatId="simple" csTypeId="urn:microsoft.com/office/officeart/2005/8/colors/accent1_2" csCatId="accent1" phldr="1"/>
      <dgm:spPr/>
    </dgm:pt>
    <dgm:pt modelId="{A8877A13-3C9D-4424-9FE9-3CFE5FF06FED}">
      <dgm:prSet phldrT="[Text]"/>
      <dgm:spPr/>
      <dgm:t>
        <a:bodyPr/>
        <a:lstStyle/>
        <a:p>
          <a:r>
            <a:rPr lang="en-US" dirty="0"/>
            <a:t>Product Design Stage (Engineers)</a:t>
          </a:r>
        </a:p>
      </dgm:t>
    </dgm:pt>
    <dgm:pt modelId="{A8649E94-9A58-4A2A-AC39-662DC7379E02}" type="parTrans" cxnId="{1246597E-B166-4D73-B0BA-45C30C7B8F53}">
      <dgm:prSet/>
      <dgm:spPr/>
      <dgm:t>
        <a:bodyPr/>
        <a:lstStyle/>
        <a:p>
          <a:endParaRPr lang="en-US"/>
        </a:p>
      </dgm:t>
    </dgm:pt>
    <dgm:pt modelId="{186DDF2D-D82B-47B0-84E0-F78673724983}" type="sibTrans" cxnId="{1246597E-B166-4D73-B0BA-45C30C7B8F53}">
      <dgm:prSet/>
      <dgm:spPr/>
      <dgm:t>
        <a:bodyPr/>
        <a:lstStyle/>
        <a:p>
          <a:endParaRPr lang="en-US"/>
        </a:p>
      </dgm:t>
    </dgm:pt>
    <dgm:pt modelId="{DDB37421-9B1A-44FB-B583-3759C3653384}">
      <dgm:prSet phldrT="[Text]"/>
      <dgm:spPr/>
      <dgm:t>
        <a:bodyPr/>
        <a:lstStyle/>
        <a:p>
          <a:r>
            <a:rPr lang="en-US" dirty="0"/>
            <a:t>SC Strategy Design</a:t>
          </a:r>
        </a:p>
      </dgm:t>
    </dgm:pt>
    <dgm:pt modelId="{0CACD49A-7DC4-4DF7-8C95-F9192ABB6B05}" type="parTrans" cxnId="{882AA74F-EE88-41E2-8021-E905E0087F14}">
      <dgm:prSet/>
      <dgm:spPr/>
      <dgm:t>
        <a:bodyPr/>
        <a:lstStyle/>
        <a:p>
          <a:endParaRPr lang="en-US"/>
        </a:p>
      </dgm:t>
    </dgm:pt>
    <dgm:pt modelId="{BD23A134-62A5-4383-9DB3-E431ECB4BFB6}" type="sibTrans" cxnId="{882AA74F-EE88-41E2-8021-E905E0087F14}">
      <dgm:prSet/>
      <dgm:spPr/>
      <dgm:t>
        <a:bodyPr/>
        <a:lstStyle/>
        <a:p>
          <a:endParaRPr lang="en-US"/>
        </a:p>
      </dgm:t>
    </dgm:pt>
    <dgm:pt modelId="{77EC4F00-6A87-4DB1-BA8A-F68FC87D8ABD}">
      <dgm:prSet phldrT="[Text]"/>
      <dgm:spPr/>
      <dgm:t>
        <a:bodyPr/>
        <a:lstStyle/>
        <a:p>
          <a:r>
            <a:rPr lang="en-US" dirty="0"/>
            <a:t>Production</a:t>
          </a:r>
        </a:p>
      </dgm:t>
    </dgm:pt>
    <dgm:pt modelId="{31088B8C-55CF-46F4-99E9-C47487936F9A}" type="parTrans" cxnId="{A1DC76D0-D55F-42A5-AAE3-AECFC06E3448}">
      <dgm:prSet/>
      <dgm:spPr/>
      <dgm:t>
        <a:bodyPr/>
        <a:lstStyle/>
        <a:p>
          <a:endParaRPr lang="en-US"/>
        </a:p>
      </dgm:t>
    </dgm:pt>
    <dgm:pt modelId="{35FD1BB6-11AC-425B-867D-E7456A42D854}" type="sibTrans" cxnId="{A1DC76D0-D55F-42A5-AAE3-AECFC06E3448}">
      <dgm:prSet/>
      <dgm:spPr/>
      <dgm:t>
        <a:bodyPr/>
        <a:lstStyle/>
        <a:p>
          <a:endParaRPr lang="en-US"/>
        </a:p>
      </dgm:t>
    </dgm:pt>
    <dgm:pt modelId="{59A9DC12-DCF0-49B0-AD26-FFA5FDA27109}">
      <dgm:prSet phldrT="[Text]"/>
      <dgm:spPr/>
      <dgm:t>
        <a:bodyPr/>
        <a:lstStyle/>
        <a:p>
          <a:r>
            <a:rPr lang="en-US" dirty="0"/>
            <a:t>SCM Department</a:t>
          </a:r>
        </a:p>
      </dgm:t>
    </dgm:pt>
    <dgm:pt modelId="{F5F6318C-0D36-4A24-BDA2-EB8F20AC4A7C}" type="parTrans" cxnId="{5B25F742-B41B-424D-BEDB-25586AC045D3}">
      <dgm:prSet/>
      <dgm:spPr/>
      <dgm:t>
        <a:bodyPr/>
        <a:lstStyle/>
        <a:p>
          <a:endParaRPr lang="en-US"/>
        </a:p>
      </dgm:t>
    </dgm:pt>
    <dgm:pt modelId="{DEC51EE7-91E4-4457-95D0-D4F7DBBCFB3B}" type="sibTrans" cxnId="{5B25F742-B41B-424D-BEDB-25586AC045D3}">
      <dgm:prSet/>
      <dgm:spPr/>
      <dgm:t>
        <a:bodyPr/>
        <a:lstStyle/>
        <a:p>
          <a:endParaRPr lang="en-US"/>
        </a:p>
      </dgm:t>
    </dgm:pt>
    <dgm:pt modelId="{85F3729C-508A-4FD8-968D-F4BF7D717EED}">
      <dgm:prSet phldrT="[Text]"/>
      <dgm:spPr/>
      <dgm:t>
        <a:bodyPr/>
        <a:lstStyle/>
        <a:p>
          <a:r>
            <a:rPr lang="en-US" dirty="0"/>
            <a:t>Product Concept (Marketing)</a:t>
          </a:r>
        </a:p>
      </dgm:t>
    </dgm:pt>
    <dgm:pt modelId="{85995BC4-D2B9-43A4-94E4-9B9AB9442A11}" type="parTrans" cxnId="{AC352AC6-7909-421B-A814-B707C577DAFE}">
      <dgm:prSet/>
      <dgm:spPr/>
      <dgm:t>
        <a:bodyPr/>
        <a:lstStyle/>
        <a:p>
          <a:endParaRPr lang="en-US"/>
        </a:p>
      </dgm:t>
    </dgm:pt>
    <dgm:pt modelId="{710EC6F0-0B5D-4C0E-8155-5F44ACCF4595}" type="sibTrans" cxnId="{AC352AC6-7909-421B-A814-B707C577DAFE}">
      <dgm:prSet/>
      <dgm:spPr/>
      <dgm:t>
        <a:bodyPr/>
        <a:lstStyle/>
        <a:p>
          <a:endParaRPr lang="en-US"/>
        </a:p>
      </dgm:t>
    </dgm:pt>
    <dgm:pt modelId="{0E764945-1B58-4E0E-84A0-514C2933C7D9}">
      <dgm:prSet phldrT="[Text]"/>
      <dgm:spPr/>
      <dgm:t>
        <a:bodyPr/>
        <a:lstStyle/>
        <a:p>
          <a:r>
            <a:rPr lang="en-US" dirty="0"/>
            <a:t>Product design changes</a:t>
          </a:r>
        </a:p>
      </dgm:t>
    </dgm:pt>
    <dgm:pt modelId="{8BED4EB5-1C3B-4C4E-8F22-BE0B5C3D1768}" type="parTrans" cxnId="{3570299D-C823-48C2-82AE-0B2C73E9342C}">
      <dgm:prSet/>
      <dgm:spPr/>
      <dgm:t>
        <a:bodyPr/>
        <a:lstStyle/>
        <a:p>
          <a:endParaRPr lang="en-US"/>
        </a:p>
      </dgm:t>
    </dgm:pt>
    <dgm:pt modelId="{A2343DBA-34C3-4272-952C-66BFF05133D5}" type="sibTrans" cxnId="{3570299D-C823-48C2-82AE-0B2C73E9342C}">
      <dgm:prSet/>
      <dgm:spPr/>
      <dgm:t>
        <a:bodyPr/>
        <a:lstStyle/>
        <a:p>
          <a:endParaRPr lang="en-US"/>
        </a:p>
      </dgm:t>
    </dgm:pt>
    <dgm:pt modelId="{AF80E41F-D7CA-46F6-869D-09EB3655163B}">
      <dgm:prSet phldrT="[Text]"/>
      <dgm:spPr/>
      <dgm:t>
        <a:bodyPr/>
        <a:lstStyle/>
        <a:p>
          <a:r>
            <a:rPr lang="en-US" dirty="0"/>
            <a:t>Material substitutions</a:t>
          </a:r>
        </a:p>
      </dgm:t>
    </dgm:pt>
    <dgm:pt modelId="{2DD14852-7E3C-4410-9314-35992DF5C785}" type="parTrans" cxnId="{2FF53E09-5A6D-4148-A380-B8B9B6D25ED4}">
      <dgm:prSet/>
      <dgm:spPr/>
      <dgm:t>
        <a:bodyPr/>
        <a:lstStyle/>
        <a:p>
          <a:endParaRPr lang="en-US"/>
        </a:p>
      </dgm:t>
    </dgm:pt>
    <dgm:pt modelId="{D8041FE2-C4C0-487B-B893-685373B11308}" type="sibTrans" cxnId="{2FF53E09-5A6D-4148-A380-B8B9B6D25ED4}">
      <dgm:prSet/>
      <dgm:spPr/>
      <dgm:t>
        <a:bodyPr/>
        <a:lstStyle/>
        <a:p>
          <a:endParaRPr lang="en-US"/>
        </a:p>
      </dgm:t>
    </dgm:pt>
    <dgm:pt modelId="{59DE158B-8402-4706-97D2-C6BDC796C288}">
      <dgm:prSet phldrT="[Text]"/>
      <dgm:spPr/>
      <dgm:t>
        <a:bodyPr/>
        <a:lstStyle/>
        <a:p>
          <a:r>
            <a:rPr lang="en-US" dirty="0"/>
            <a:t>Supplier selections</a:t>
          </a:r>
        </a:p>
      </dgm:t>
    </dgm:pt>
    <dgm:pt modelId="{BB27D26F-B6F8-45BA-9E6B-3A0A399FEE21}" type="parTrans" cxnId="{0D5D677A-96CC-4D93-BA0F-67A8AFC35CC6}">
      <dgm:prSet/>
      <dgm:spPr/>
      <dgm:t>
        <a:bodyPr/>
        <a:lstStyle/>
        <a:p>
          <a:endParaRPr lang="en-US"/>
        </a:p>
      </dgm:t>
    </dgm:pt>
    <dgm:pt modelId="{8CE393D7-1578-497A-8C97-477D834E36EF}" type="sibTrans" cxnId="{0D5D677A-96CC-4D93-BA0F-67A8AFC35CC6}">
      <dgm:prSet/>
      <dgm:spPr/>
      <dgm:t>
        <a:bodyPr/>
        <a:lstStyle/>
        <a:p>
          <a:endParaRPr lang="en-US"/>
        </a:p>
      </dgm:t>
    </dgm:pt>
    <dgm:pt modelId="{13793F0D-006B-4E05-B54F-825122E07E14}">
      <dgm:prSet phldrT="[Text]"/>
      <dgm:spPr/>
      <dgm:t>
        <a:bodyPr/>
        <a:lstStyle/>
        <a:p>
          <a:r>
            <a:rPr lang="en-US" dirty="0"/>
            <a:t>Working SC</a:t>
          </a:r>
        </a:p>
      </dgm:t>
    </dgm:pt>
    <dgm:pt modelId="{88EA0239-322B-47B8-8D90-1BC400F9BA52}" type="parTrans" cxnId="{953FFBCF-E533-4660-AAB2-69D9C779EF58}">
      <dgm:prSet/>
      <dgm:spPr/>
      <dgm:t>
        <a:bodyPr/>
        <a:lstStyle/>
        <a:p>
          <a:endParaRPr lang="en-US"/>
        </a:p>
      </dgm:t>
    </dgm:pt>
    <dgm:pt modelId="{26709F7A-75F5-4B01-8681-E424CC702828}" type="sibTrans" cxnId="{953FFBCF-E533-4660-AAB2-69D9C779EF58}">
      <dgm:prSet/>
      <dgm:spPr/>
      <dgm:t>
        <a:bodyPr/>
        <a:lstStyle/>
        <a:p>
          <a:endParaRPr lang="en-US"/>
        </a:p>
      </dgm:t>
    </dgm:pt>
    <dgm:pt modelId="{EEFDA50F-ED6F-49D0-9F23-9396F97C1253}">
      <dgm:prSet phldrT="[Text]"/>
      <dgm:spPr/>
      <dgm:t>
        <a:bodyPr/>
        <a:lstStyle/>
        <a:p>
          <a:r>
            <a:rPr lang="en-US" dirty="0"/>
            <a:t>Material procurement strategies</a:t>
          </a:r>
        </a:p>
      </dgm:t>
    </dgm:pt>
    <dgm:pt modelId="{C3D8E362-F295-4DC4-BC5C-A334492C725B}" type="parTrans" cxnId="{BE52838C-4974-4B6A-9BDA-B91D071B04AD}">
      <dgm:prSet/>
      <dgm:spPr/>
      <dgm:t>
        <a:bodyPr/>
        <a:lstStyle/>
        <a:p>
          <a:endParaRPr lang="en-US"/>
        </a:p>
      </dgm:t>
    </dgm:pt>
    <dgm:pt modelId="{83CA9F90-0031-47EE-993B-EA26C8923E0B}" type="sibTrans" cxnId="{BE52838C-4974-4B6A-9BDA-B91D071B04AD}">
      <dgm:prSet/>
      <dgm:spPr/>
      <dgm:t>
        <a:bodyPr/>
        <a:lstStyle/>
        <a:p>
          <a:endParaRPr lang="en-US"/>
        </a:p>
      </dgm:t>
    </dgm:pt>
    <dgm:pt modelId="{421BB9EF-0196-42F2-A2D8-A5EC496AB97C}" type="pres">
      <dgm:prSet presAssocID="{D57A4152-F28A-4682-AE14-12E24280F911}" presName="CompostProcess" presStyleCnt="0">
        <dgm:presLayoutVars>
          <dgm:dir/>
          <dgm:resizeHandles val="exact"/>
        </dgm:presLayoutVars>
      </dgm:prSet>
      <dgm:spPr/>
    </dgm:pt>
    <dgm:pt modelId="{F09BCEA4-CC96-4DE3-B37E-73014637F8B7}" type="pres">
      <dgm:prSet presAssocID="{D57A4152-F28A-4682-AE14-12E24280F911}" presName="arrow" presStyleLbl="bgShp" presStyleIdx="0" presStyleCnt="1"/>
      <dgm:spPr/>
    </dgm:pt>
    <dgm:pt modelId="{86846CE4-77BF-4AAE-91CA-8A34D6DE0E04}" type="pres">
      <dgm:prSet presAssocID="{D57A4152-F28A-4682-AE14-12E24280F911}" presName="linearProcess" presStyleCnt="0"/>
      <dgm:spPr/>
    </dgm:pt>
    <dgm:pt modelId="{F87B27EF-BDF1-46D9-B8E6-E26F25585A4C}" type="pres">
      <dgm:prSet presAssocID="{85F3729C-508A-4FD8-968D-F4BF7D717EED}" presName="textNode" presStyleLbl="node1" presStyleIdx="0" presStyleCnt="5">
        <dgm:presLayoutVars>
          <dgm:bulletEnabled val="1"/>
        </dgm:presLayoutVars>
      </dgm:prSet>
      <dgm:spPr/>
    </dgm:pt>
    <dgm:pt modelId="{994A0518-DB5E-4839-AFDF-F23AAAE12398}" type="pres">
      <dgm:prSet presAssocID="{710EC6F0-0B5D-4C0E-8155-5F44ACCF4595}" presName="sibTrans" presStyleCnt="0"/>
      <dgm:spPr/>
    </dgm:pt>
    <dgm:pt modelId="{B6C5ECB9-3558-4586-ADF7-85F60520D7EC}" type="pres">
      <dgm:prSet presAssocID="{A8877A13-3C9D-4424-9FE9-3CFE5FF06FED}" presName="textNode" presStyleLbl="node1" presStyleIdx="1" presStyleCnt="5">
        <dgm:presLayoutVars>
          <dgm:bulletEnabled val="1"/>
        </dgm:presLayoutVars>
      </dgm:prSet>
      <dgm:spPr/>
    </dgm:pt>
    <dgm:pt modelId="{C107A92B-6E99-4321-BD92-E586BA2814A8}" type="pres">
      <dgm:prSet presAssocID="{186DDF2D-D82B-47B0-84E0-F78673724983}" presName="sibTrans" presStyleCnt="0"/>
      <dgm:spPr/>
    </dgm:pt>
    <dgm:pt modelId="{9336859D-68D0-478E-B057-DB2A201BFDC8}" type="pres">
      <dgm:prSet presAssocID="{59A9DC12-DCF0-49B0-AD26-FFA5FDA27109}" presName="textNode" presStyleLbl="node1" presStyleIdx="2" presStyleCnt="5">
        <dgm:presLayoutVars>
          <dgm:bulletEnabled val="1"/>
        </dgm:presLayoutVars>
      </dgm:prSet>
      <dgm:spPr/>
    </dgm:pt>
    <dgm:pt modelId="{9B32F6F7-E9B8-4B01-94D3-389AF79331B0}" type="pres">
      <dgm:prSet presAssocID="{DEC51EE7-91E4-4457-95D0-D4F7DBBCFB3B}" presName="sibTrans" presStyleCnt="0"/>
      <dgm:spPr/>
    </dgm:pt>
    <dgm:pt modelId="{9CD67B3C-D127-458D-8818-C13FD8F4BB90}" type="pres">
      <dgm:prSet presAssocID="{DDB37421-9B1A-44FB-B583-3759C3653384}" presName="textNode" presStyleLbl="node1" presStyleIdx="3" presStyleCnt="5">
        <dgm:presLayoutVars>
          <dgm:bulletEnabled val="1"/>
        </dgm:presLayoutVars>
      </dgm:prSet>
      <dgm:spPr/>
    </dgm:pt>
    <dgm:pt modelId="{521E8BCE-A7DE-47DD-A9F5-74BACA17DC35}" type="pres">
      <dgm:prSet presAssocID="{BD23A134-62A5-4383-9DB3-E431ECB4BFB6}" presName="sibTrans" presStyleCnt="0"/>
      <dgm:spPr/>
    </dgm:pt>
    <dgm:pt modelId="{AA0FE964-C54B-4EE1-825C-2D513183A558}" type="pres">
      <dgm:prSet presAssocID="{77EC4F00-6A87-4DB1-BA8A-F68FC87D8ABD}" presName="textNode" presStyleLbl="node1" presStyleIdx="4" presStyleCnt="5">
        <dgm:presLayoutVars>
          <dgm:bulletEnabled val="1"/>
        </dgm:presLayoutVars>
      </dgm:prSet>
      <dgm:spPr/>
    </dgm:pt>
  </dgm:ptLst>
  <dgm:cxnLst>
    <dgm:cxn modelId="{2FF53E09-5A6D-4148-A380-B8B9B6D25ED4}" srcId="{59A9DC12-DCF0-49B0-AD26-FFA5FDA27109}" destId="{AF80E41F-D7CA-46F6-869D-09EB3655163B}" srcOrd="1" destOrd="0" parTransId="{2DD14852-7E3C-4410-9314-35992DF5C785}" sibTransId="{D8041FE2-C4C0-487B-B893-685373B11308}"/>
    <dgm:cxn modelId="{E0A0FE3C-1C61-42DD-9305-40066A68C25F}" type="presOf" srcId="{D57A4152-F28A-4682-AE14-12E24280F911}" destId="{421BB9EF-0196-42F2-A2D8-A5EC496AB97C}" srcOrd="0" destOrd="0" presId="urn:microsoft.com/office/officeart/2005/8/layout/hProcess9"/>
    <dgm:cxn modelId="{F66D0741-0CE2-4446-8A39-F2103677174B}" type="presOf" srcId="{77EC4F00-6A87-4DB1-BA8A-F68FC87D8ABD}" destId="{AA0FE964-C54B-4EE1-825C-2D513183A558}" srcOrd="0" destOrd="0" presId="urn:microsoft.com/office/officeart/2005/8/layout/hProcess9"/>
    <dgm:cxn modelId="{5B25F742-B41B-424D-BEDB-25586AC045D3}" srcId="{D57A4152-F28A-4682-AE14-12E24280F911}" destId="{59A9DC12-DCF0-49B0-AD26-FFA5FDA27109}" srcOrd="2" destOrd="0" parTransId="{F5F6318C-0D36-4A24-BDA2-EB8F20AC4A7C}" sibTransId="{DEC51EE7-91E4-4457-95D0-D4F7DBBCFB3B}"/>
    <dgm:cxn modelId="{882AA74F-EE88-41E2-8021-E905E0087F14}" srcId="{D57A4152-F28A-4682-AE14-12E24280F911}" destId="{DDB37421-9B1A-44FB-B583-3759C3653384}" srcOrd="3" destOrd="0" parTransId="{0CACD49A-7DC4-4DF7-8C95-F9192ABB6B05}" sibTransId="{BD23A134-62A5-4383-9DB3-E431ECB4BFB6}"/>
    <dgm:cxn modelId="{7B67C750-63BF-43FF-8529-AF81C4BD75E9}" type="presOf" srcId="{59A9DC12-DCF0-49B0-AD26-FFA5FDA27109}" destId="{9336859D-68D0-478E-B057-DB2A201BFDC8}" srcOrd="0" destOrd="0" presId="urn:microsoft.com/office/officeart/2005/8/layout/hProcess9"/>
    <dgm:cxn modelId="{57D73470-600E-4E7A-B3D8-2F8EC4F5AE29}" type="presOf" srcId="{AF80E41F-D7CA-46F6-869D-09EB3655163B}" destId="{9336859D-68D0-478E-B057-DB2A201BFDC8}" srcOrd="0" destOrd="2" presId="urn:microsoft.com/office/officeart/2005/8/layout/hProcess9"/>
    <dgm:cxn modelId="{86C66E79-D5DC-49F8-9E90-82972F76BF9A}" type="presOf" srcId="{A8877A13-3C9D-4424-9FE9-3CFE5FF06FED}" destId="{B6C5ECB9-3558-4586-ADF7-85F60520D7EC}" srcOrd="0" destOrd="0" presId="urn:microsoft.com/office/officeart/2005/8/layout/hProcess9"/>
    <dgm:cxn modelId="{0D5D677A-96CC-4D93-BA0F-67A8AFC35CC6}" srcId="{DDB37421-9B1A-44FB-B583-3759C3653384}" destId="{59DE158B-8402-4706-97D2-C6BDC796C288}" srcOrd="0" destOrd="0" parTransId="{BB27D26F-B6F8-45BA-9E6B-3A0A399FEE21}" sibTransId="{8CE393D7-1578-497A-8C97-477D834E36EF}"/>
    <dgm:cxn modelId="{707F1D7B-A1A9-4AA7-A23A-DF912955DA2B}" type="presOf" srcId="{85F3729C-508A-4FD8-968D-F4BF7D717EED}" destId="{F87B27EF-BDF1-46D9-B8E6-E26F25585A4C}" srcOrd="0" destOrd="0" presId="urn:microsoft.com/office/officeart/2005/8/layout/hProcess9"/>
    <dgm:cxn modelId="{1246597E-B166-4D73-B0BA-45C30C7B8F53}" srcId="{D57A4152-F28A-4682-AE14-12E24280F911}" destId="{A8877A13-3C9D-4424-9FE9-3CFE5FF06FED}" srcOrd="1" destOrd="0" parTransId="{A8649E94-9A58-4A2A-AC39-662DC7379E02}" sibTransId="{186DDF2D-D82B-47B0-84E0-F78673724983}"/>
    <dgm:cxn modelId="{BE52838C-4974-4B6A-9BDA-B91D071B04AD}" srcId="{59A9DC12-DCF0-49B0-AD26-FFA5FDA27109}" destId="{EEFDA50F-ED6F-49D0-9F23-9396F97C1253}" srcOrd="2" destOrd="0" parTransId="{C3D8E362-F295-4DC4-BC5C-A334492C725B}" sibTransId="{83CA9F90-0031-47EE-993B-EA26C8923E0B}"/>
    <dgm:cxn modelId="{3570299D-C823-48C2-82AE-0B2C73E9342C}" srcId="{59A9DC12-DCF0-49B0-AD26-FFA5FDA27109}" destId="{0E764945-1B58-4E0E-84A0-514C2933C7D9}" srcOrd="0" destOrd="0" parTransId="{8BED4EB5-1C3B-4C4E-8F22-BE0B5C3D1768}" sibTransId="{A2343DBA-34C3-4272-952C-66BFF05133D5}"/>
    <dgm:cxn modelId="{D54399A7-B55E-40AA-A7C9-AA84983BF182}" type="presOf" srcId="{EEFDA50F-ED6F-49D0-9F23-9396F97C1253}" destId="{9336859D-68D0-478E-B057-DB2A201BFDC8}" srcOrd="0" destOrd="3" presId="urn:microsoft.com/office/officeart/2005/8/layout/hProcess9"/>
    <dgm:cxn modelId="{EC63EEC0-A400-4364-A519-CC131D391EB4}" type="presOf" srcId="{DDB37421-9B1A-44FB-B583-3759C3653384}" destId="{9CD67B3C-D127-458D-8818-C13FD8F4BB90}" srcOrd="0" destOrd="0" presId="urn:microsoft.com/office/officeart/2005/8/layout/hProcess9"/>
    <dgm:cxn modelId="{3C8B23C1-30A5-44C8-8BEE-A2AB2BC530CB}" type="presOf" srcId="{0E764945-1B58-4E0E-84A0-514C2933C7D9}" destId="{9336859D-68D0-478E-B057-DB2A201BFDC8}" srcOrd="0" destOrd="1" presId="urn:microsoft.com/office/officeart/2005/8/layout/hProcess9"/>
    <dgm:cxn modelId="{AC352AC6-7909-421B-A814-B707C577DAFE}" srcId="{D57A4152-F28A-4682-AE14-12E24280F911}" destId="{85F3729C-508A-4FD8-968D-F4BF7D717EED}" srcOrd="0" destOrd="0" parTransId="{85995BC4-D2B9-43A4-94E4-9B9AB9442A11}" sibTransId="{710EC6F0-0B5D-4C0E-8155-5F44ACCF4595}"/>
    <dgm:cxn modelId="{67BDC8CF-2F98-4134-8552-49A2DE4C1210}" type="presOf" srcId="{59DE158B-8402-4706-97D2-C6BDC796C288}" destId="{9CD67B3C-D127-458D-8818-C13FD8F4BB90}" srcOrd="0" destOrd="1" presId="urn:microsoft.com/office/officeart/2005/8/layout/hProcess9"/>
    <dgm:cxn modelId="{953FFBCF-E533-4660-AAB2-69D9C779EF58}" srcId="{77EC4F00-6A87-4DB1-BA8A-F68FC87D8ABD}" destId="{13793F0D-006B-4E05-B54F-825122E07E14}" srcOrd="0" destOrd="0" parTransId="{88EA0239-322B-47B8-8D90-1BC400F9BA52}" sibTransId="{26709F7A-75F5-4B01-8681-E424CC702828}"/>
    <dgm:cxn modelId="{A1DC76D0-D55F-42A5-AAE3-AECFC06E3448}" srcId="{D57A4152-F28A-4682-AE14-12E24280F911}" destId="{77EC4F00-6A87-4DB1-BA8A-F68FC87D8ABD}" srcOrd="4" destOrd="0" parTransId="{31088B8C-55CF-46F4-99E9-C47487936F9A}" sibTransId="{35FD1BB6-11AC-425B-867D-E7456A42D854}"/>
    <dgm:cxn modelId="{471A0FD8-5B63-4691-ABE9-F97858C95C05}" type="presOf" srcId="{13793F0D-006B-4E05-B54F-825122E07E14}" destId="{AA0FE964-C54B-4EE1-825C-2D513183A558}" srcOrd="0" destOrd="1" presId="urn:microsoft.com/office/officeart/2005/8/layout/hProcess9"/>
    <dgm:cxn modelId="{E4C4F74B-296C-462B-BF0B-0B9DB4194004}" type="presParOf" srcId="{421BB9EF-0196-42F2-A2D8-A5EC496AB97C}" destId="{F09BCEA4-CC96-4DE3-B37E-73014637F8B7}" srcOrd="0" destOrd="0" presId="urn:microsoft.com/office/officeart/2005/8/layout/hProcess9"/>
    <dgm:cxn modelId="{72460BEF-D383-4927-B17E-53D6CBB96227}" type="presParOf" srcId="{421BB9EF-0196-42F2-A2D8-A5EC496AB97C}" destId="{86846CE4-77BF-4AAE-91CA-8A34D6DE0E04}" srcOrd="1" destOrd="0" presId="urn:microsoft.com/office/officeart/2005/8/layout/hProcess9"/>
    <dgm:cxn modelId="{074FB9FD-A908-46D9-BCDD-8F7CE4EF78FC}" type="presParOf" srcId="{86846CE4-77BF-4AAE-91CA-8A34D6DE0E04}" destId="{F87B27EF-BDF1-46D9-B8E6-E26F25585A4C}" srcOrd="0" destOrd="0" presId="urn:microsoft.com/office/officeart/2005/8/layout/hProcess9"/>
    <dgm:cxn modelId="{CC3A0897-786A-4EF7-8D2B-29FA46619767}" type="presParOf" srcId="{86846CE4-77BF-4AAE-91CA-8A34D6DE0E04}" destId="{994A0518-DB5E-4839-AFDF-F23AAAE12398}" srcOrd="1" destOrd="0" presId="urn:microsoft.com/office/officeart/2005/8/layout/hProcess9"/>
    <dgm:cxn modelId="{7E71167E-D862-4AB0-93E6-4EC5A42B503D}" type="presParOf" srcId="{86846CE4-77BF-4AAE-91CA-8A34D6DE0E04}" destId="{B6C5ECB9-3558-4586-ADF7-85F60520D7EC}" srcOrd="2" destOrd="0" presId="urn:microsoft.com/office/officeart/2005/8/layout/hProcess9"/>
    <dgm:cxn modelId="{B12A2CE8-1187-483E-A821-DB6C27F843C4}" type="presParOf" srcId="{86846CE4-77BF-4AAE-91CA-8A34D6DE0E04}" destId="{C107A92B-6E99-4321-BD92-E586BA2814A8}" srcOrd="3" destOrd="0" presId="urn:microsoft.com/office/officeart/2005/8/layout/hProcess9"/>
    <dgm:cxn modelId="{20ED5D70-112F-4CE4-B7AB-55F8335F2453}" type="presParOf" srcId="{86846CE4-77BF-4AAE-91CA-8A34D6DE0E04}" destId="{9336859D-68D0-478E-B057-DB2A201BFDC8}" srcOrd="4" destOrd="0" presId="urn:microsoft.com/office/officeart/2005/8/layout/hProcess9"/>
    <dgm:cxn modelId="{9768F648-9DD5-4DD4-9BC0-689B37FC7977}" type="presParOf" srcId="{86846CE4-77BF-4AAE-91CA-8A34D6DE0E04}" destId="{9B32F6F7-E9B8-4B01-94D3-389AF79331B0}" srcOrd="5" destOrd="0" presId="urn:microsoft.com/office/officeart/2005/8/layout/hProcess9"/>
    <dgm:cxn modelId="{A4EA10A7-07EE-4628-B77D-7C5B24162901}" type="presParOf" srcId="{86846CE4-77BF-4AAE-91CA-8A34D6DE0E04}" destId="{9CD67B3C-D127-458D-8818-C13FD8F4BB90}" srcOrd="6" destOrd="0" presId="urn:microsoft.com/office/officeart/2005/8/layout/hProcess9"/>
    <dgm:cxn modelId="{B61C2E1F-C9A2-4291-848E-C5B8533453EB}" type="presParOf" srcId="{86846CE4-77BF-4AAE-91CA-8A34D6DE0E04}" destId="{521E8BCE-A7DE-47DD-A9F5-74BACA17DC35}" srcOrd="7" destOrd="0" presId="urn:microsoft.com/office/officeart/2005/8/layout/hProcess9"/>
    <dgm:cxn modelId="{720484D8-EB0B-452F-93C8-6763BC81C980}" type="presParOf" srcId="{86846CE4-77BF-4AAE-91CA-8A34D6DE0E04}" destId="{AA0FE964-C54B-4EE1-825C-2D513183A558}"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BCEA4-CC96-4DE3-B37E-73014637F8B7}">
      <dsp:nvSpPr>
        <dsp:cNvPr id="0" name=""/>
        <dsp:cNvSpPr/>
      </dsp:nvSpPr>
      <dsp:spPr>
        <a:xfrm>
          <a:off x="617219" y="0"/>
          <a:ext cx="6995160" cy="452596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7B27EF-BDF1-46D9-B8E6-E26F25585A4C}">
      <dsp:nvSpPr>
        <dsp:cNvPr id="0" name=""/>
        <dsp:cNvSpPr/>
      </dsp:nvSpPr>
      <dsp:spPr>
        <a:xfrm>
          <a:off x="3616" y="1357788"/>
          <a:ext cx="1581224" cy="18103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Product Concept (Marketing)</a:t>
          </a:r>
        </a:p>
      </dsp:txBody>
      <dsp:txXfrm>
        <a:off x="80805" y="1434977"/>
        <a:ext cx="1426846" cy="1656007"/>
      </dsp:txXfrm>
    </dsp:sp>
    <dsp:sp modelId="{B6C5ECB9-3558-4586-ADF7-85F60520D7EC}">
      <dsp:nvSpPr>
        <dsp:cNvPr id="0" name=""/>
        <dsp:cNvSpPr/>
      </dsp:nvSpPr>
      <dsp:spPr>
        <a:xfrm>
          <a:off x="1663902" y="1357788"/>
          <a:ext cx="1581224" cy="18103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Product Design Stage (Engineers)</a:t>
          </a:r>
        </a:p>
      </dsp:txBody>
      <dsp:txXfrm>
        <a:off x="1741091" y="1434977"/>
        <a:ext cx="1426846" cy="1656007"/>
      </dsp:txXfrm>
    </dsp:sp>
    <dsp:sp modelId="{9336859D-68D0-478E-B057-DB2A201BFDC8}">
      <dsp:nvSpPr>
        <dsp:cNvPr id="0" name=""/>
        <dsp:cNvSpPr/>
      </dsp:nvSpPr>
      <dsp:spPr>
        <a:xfrm>
          <a:off x="3324187" y="1357788"/>
          <a:ext cx="1581224" cy="18103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SCM Department</a:t>
          </a:r>
        </a:p>
        <a:p>
          <a:pPr marL="57150" lvl="1" indent="-57150" algn="l" defTabSz="488950">
            <a:lnSpc>
              <a:spcPct val="90000"/>
            </a:lnSpc>
            <a:spcBef>
              <a:spcPct val="0"/>
            </a:spcBef>
            <a:spcAft>
              <a:spcPct val="15000"/>
            </a:spcAft>
            <a:buChar char="•"/>
          </a:pPr>
          <a:r>
            <a:rPr lang="en-US" sz="1100" kern="1200" dirty="0"/>
            <a:t>Product design changes</a:t>
          </a:r>
        </a:p>
        <a:p>
          <a:pPr marL="57150" lvl="1" indent="-57150" algn="l" defTabSz="488950">
            <a:lnSpc>
              <a:spcPct val="90000"/>
            </a:lnSpc>
            <a:spcBef>
              <a:spcPct val="0"/>
            </a:spcBef>
            <a:spcAft>
              <a:spcPct val="15000"/>
            </a:spcAft>
            <a:buChar char="•"/>
          </a:pPr>
          <a:r>
            <a:rPr lang="en-US" sz="1100" kern="1200" dirty="0"/>
            <a:t>Material substitutions</a:t>
          </a:r>
        </a:p>
        <a:p>
          <a:pPr marL="57150" lvl="1" indent="-57150" algn="l" defTabSz="488950">
            <a:lnSpc>
              <a:spcPct val="90000"/>
            </a:lnSpc>
            <a:spcBef>
              <a:spcPct val="0"/>
            </a:spcBef>
            <a:spcAft>
              <a:spcPct val="15000"/>
            </a:spcAft>
            <a:buChar char="•"/>
          </a:pPr>
          <a:r>
            <a:rPr lang="en-US" sz="1100" kern="1200" dirty="0"/>
            <a:t>Material procurement strategies</a:t>
          </a:r>
        </a:p>
      </dsp:txBody>
      <dsp:txXfrm>
        <a:off x="3401376" y="1434977"/>
        <a:ext cx="1426846" cy="1656007"/>
      </dsp:txXfrm>
    </dsp:sp>
    <dsp:sp modelId="{9CD67B3C-D127-458D-8818-C13FD8F4BB90}">
      <dsp:nvSpPr>
        <dsp:cNvPr id="0" name=""/>
        <dsp:cNvSpPr/>
      </dsp:nvSpPr>
      <dsp:spPr>
        <a:xfrm>
          <a:off x="4984473" y="1357788"/>
          <a:ext cx="1581224" cy="18103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SC Strategy Design</a:t>
          </a:r>
        </a:p>
        <a:p>
          <a:pPr marL="57150" lvl="1" indent="-57150" algn="l" defTabSz="488950">
            <a:lnSpc>
              <a:spcPct val="90000"/>
            </a:lnSpc>
            <a:spcBef>
              <a:spcPct val="0"/>
            </a:spcBef>
            <a:spcAft>
              <a:spcPct val="15000"/>
            </a:spcAft>
            <a:buChar char="•"/>
          </a:pPr>
          <a:r>
            <a:rPr lang="en-US" sz="1100" kern="1200" dirty="0"/>
            <a:t>Supplier selections</a:t>
          </a:r>
        </a:p>
      </dsp:txBody>
      <dsp:txXfrm>
        <a:off x="5061662" y="1434977"/>
        <a:ext cx="1426846" cy="1656007"/>
      </dsp:txXfrm>
    </dsp:sp>
    <dsp:sp modelId="{AA0FE964-C54B-4EE1-825C-2D513183A558}">
      <dsp:nvSpPr>
        <dsp:cNvPr id="0" name=""/>
        <dsp:cNvSpPr/>
      </dsp:nvSpPr>
      <dsp:spPr>
        <a:xfrm>
          <a:off x="6644759" y="1357788"/>
          <a:ext cx="1581224" cy="18103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Production</a:t>
          </a:r>
        </a:p>
        <a:p>
          <a:pPr marL="57150" lvl="1" indent="-57150" algn="l" defTabSz="488950">
            <a:lnSpc>
              <a:spcPct val="90000"/>
            </a:lnSpc>
            <a:spcBef>
              <a:spcPct val="0"/>
            </a:spcBef>
            <a:spcAft>
              <a:spcPct val="15000"/>
            </a:spcAft>
            <a:buChar char="•"/>
          </a:pPr>
          <a:r>
            <a:rPr lang="en-US" sz="1100" kern="1200" dirty="0"/>
            <a:t>Working SC</a:t>
          </a:r>
        </a:p>
      </dsp:txBody>
      <dsp:txXfrm>
        <a:off x="6721948" y="1434977"/>
        <a:ext cx="1426846" cy="165600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16T22:41:19.021"/>
    </inkml:context>
    <inkml:brush xml:id="br0">
      <inkml:brushProperty name="width" value="0.05" units="cm"/>
      <inkml:brushProperty name="height" value="0.05" units="cm"/>
    </inkml:brush>
  </inkml:definitions>
  <inkml:trace contextRef="#ctx0" brushRef="#br0">1075 85 1839 0 0,'3'-2'762'0'0,"0"0"0"0"0,-1 0-1 0 0,1 0 1 0 0,0 1-1 0 0,0-1 1 0 0,0 1 0 0 0,0-1-1 0 0,0 1 1 0 0,0 0-1 0 0,1 0 1 0 0,-1 1-1 0 0,4-2 1 0 0,23 0 713 0 0,-36 1-1203 0 0,0 0-1 0 0,0 0 0 0 0,0-1 1 0 0,0 0-1 0 0,0 0 0 0 0,0 0 1 0 0,0-1-1 0 0,1 0 1 0 0,-1 0-1 0 0,-6-5 0 0 0,5 4-84 0 0,0-1-1 0 0,-1 1 1 0 0,1 0-1 0 0,-1 1 1 0 0,-14-4-1 0 0,0 3-30 0 0,0 1-1 0 0,-1 2 0 0 0,1 0 1 0 0,-1 1-1 0 0,-29 5 0 0 0,2 2-541 0 0,-61 18 0 0 0,91-18 363 0 0,1 0-1 0 0,0 0 1 0 0,0 2 0 0 0,1 0-1 0 0,0 2 1 0 0,1-1 0 0 0,-22 19-1 0 0,-104 105-202 0 0,43-37-129 0 0,-27 26 225 0 0,110-103 115 0 0,1 0-1 0 0,0 0 0 0 0,2 2 1 0 0,-23 42-1 0 0,28-41 16 0 0,0 1-1 0 0,2 0 1 0 0,0 1-1 0 0,-4 36 1 0 0,5-13 6 0 0,1 62 1 0 0,5-86 39 0 0,3 10-28 0 0,1-3 49 0 0,4 27-1 0 0,-6-45-52 0 0,2 15 3 0 0,2-1 0 0 0,11 38-1 0 0,-12-53-7 0 0,1-1 0 0 0,0 1-1 0 0,1-1 1 0 0,0 0 0 0 0,1-1-1 0 0,13 16 1 0 0,61 53 64 0 0,-70-68-71 0 0,8 6-9 0 0,0 0 0 0 0,1-1 0 0 0,1-1-1 0 0,1-1 1 0 0,0 0 0 0 0,0-2 0 0 0,1-1 0 0 0,1-1-1 0 0,38 10 1 0 0,512 100 135 0 0,-461-110-24 0 0,-1-4-1 0 0,163-14 1 0 0,-48-13 370 0 0,-190 15-289 0 0,0-2-1 0 0,-1-2 1 0 0,70-27 0 0 0,-81 26-109 0 0,0-1 1 0 0,-2-2-1 0 0,1 0 0 0 0,-2-1 0 0 0,0-2 0 0 0,-1 0 0 0 0,38-39 1 0 0,-12 1-44 0 0,-2-2 1 0 0,-3-2 0 0 0,-3-2 0 0 0,-3-2-1 0 0,44-98 1 0 0,-69 134 1 0 0,-1-2 1 0 0,-1 1-1 0 0,-2-1 0 0 0,7-43 1 0 0,-13 56-16 0 0,-1 0 0 0 0,-1 0 1 0 0,0 0-1 0 0,-1 0 0 0 0,0 0 1 0 0,-2 0-1 0 0,0 1 0 0 0,0-1 1 0 0,-2 0-1 0 0,-5-14 0 0 0,-9-14-164 0 0,-2 1 0 0 0,-35-55 0 0 0,38 71 119 0 0,-2 1 1 0 0,0 0-1 0 0,-1 2 1 0 0,-35-31 0 0 0,42 44 59 0 0,0 1 0 0 0,-1 0 1 0 0,-1 1-1 0 0,1 1 0 0 0,-1 0 1 0 0,-19-5-1 0 0,5 2 33 0 0,0 3-1 0 0,-49-9 1 0 0,40 13-61 0 0,0 1 0 0 0,0 2 1 0 0,-41 4-1 0 0,-116 20 27 0 0,166-18-33 0 0,-20 1 52 0 0,-130 25-42 0 0,168-28-178 0 0,0 1 0 0 0,1 0-1 0 0,-19 9 1 0 0,7 3-5501 0 0,11-5-99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16T22:41:20.572"/>
    </inkml:context>
    <inkml:brush xml:id="br0">
      <inkml:brushProperty name="width" value="0.05" units="cm"/>
      <inkml:brushProperty name="height" value="0.05" units="cm"/>
    </inkml:brush>
  </inkml:definitions>
  <inkml:trace contextRef="#ctx0" brushRef="#br0">1091 116 10623 0 0,'-16'1'1619'0'0,"3"1"-1574"0"0,-81-22 2871 0 0,60 11-2120 0 0,-1 2 1 0 0,-62-4 0 0 0,-111 14-315 0 0,184 0-434 0 0,0 1-1 0 0,0 0 1 0 0,1 2-1 0 0,0 1 0 0 0,0 1 1 0 0,-36 17-1 0 0,24-6-60 0 0,1 0-1 0 0,-52 41 0 0 0,70-47 1 0 0,0 2-1 0 0,1 0 1 0 0,0 0-1 0 0,1 1 0 0 0,1 1 1 0 0,-18 30-1 0 0,5-1-2 0 0,-20 51 0 0 0,37-75 10 0 0,2 0-1 0 0,0 0 1 0 0,2 0 0 0 0,-6 46-1 0 0,10-54 7 0 0,-4 30 0 0 0,4 66 0 0 0,1-97 0 0 0,2 1 0 0 0,-1-1 0 0 0,2 0 0 0 0,0 0 0 0 0,0-1 0 0 0,1 1 0 0 0,1 0 0 0 0,0-1 0 0 0,11 18 0 0 0,12 13-10 0 0,1 0 0 0 0,3-2 0 0 0,43 44 0 0 0,-58-69 6 0 0,0 0 0 0 0,2 0 0 0 0,-1-2 0 0 0,2 0 0 0 0,0-1 0 0 0,0-2 0 0 0,2 0 0 0 0,-1-1 0 0 0,30 10 0 0 0,12-2 14 0 0,91 15-1 0 0,-122-29-3 0 0,0-1-1 0 0,-1-2 1 0 0,1-1 0 0 0,0-1 0 0 0,32-6 0 0 0,-46 4 21 0 0,120-20 377 0 0,154-45-1 0 0,-249 53-329 0 0,-1-2-1 0 0,-1-1 1 0 0,72-45-1 0 0,101-92 401 0 0,-179 125-402 0 0,-1 0 1 0 0,-2-3-1 0 0,36-44 0 0 0,-51 55-31 0 0,-1-1 0 0 0,-1-1 0 0 0,-1 0 0 0 0,-2-1 0 0 0,0 0 0 0 0,13-42 0 0 0,-21 53-28 0 0,-2-1 0 0 0,0 0 0 0 0,0 0 0 0 0,-1-1 0 0 0,-1 1 0 0 0,-1 0 0 0 0,0 0 0 0 0,-1 0 0 0 0,0 0-1 0 0,-2 0 1 0 0,1 0 0 0 0,-10-20 0 0 0,-1 0 23 0 0,-2 0 0 0 0,-1 1 0 0 0,-39-56 0 0 0,42 71 11 0 0,0 1 0 0 0,-1 1 0 0 0,0 1 0 0 0,-1 0 1 0 0,-1 0-1 0 0,-1 2 0 0 0,0 0 0 0 0,-1 1 0 0 0,0 1 0 0 0,-1 1 0 0 0,0 1 0 0 0,-23-8 0 0 0,18 9 14 0 0,-2 1 1 0 0,1 1-1 0 0,-1 2 0 0 0,0 0 0 0 0,0 2 0 0 0,0 1 1 0 0,0 2-1 0 0,0 0 0 0 0,-48 7 0 0 0,72-6-74 0 0,-320 58-287 0 0,280-47-358 0 0,0 1-1 0 0,0 2 1 0 0,2 2-1 0 0,0 2 1 0 0,-51 31-1 0 0,42-15-901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16T22:41:22.711"/>
    </inkml:context>
    <inkml:brush xml:id="br0">
      <inkml:brushProperty name="width" value="0.05" units="cm"/>
      <inkml:brushProperty name="height" value="0.05" units="cm"/>
    </inkml:brush>
  </inkml:definitions>
  <inkml:trace contextRef="#ctx0" brushRef="#br0">820 164 2759 0 0,'9'12'7722'0'0,"-9"-12"-7675"0"0,0 0 0 0 0,0 1 0 0 0,0-1 0 0 0,0 0-1 0 0,0 0 1 0 0,0 0 0 0 0,0 0 0 0 0,0 1 0 0 0,0-1-1 0 0,0 0 1 0 0,0 0 0 0 0,0 0 0 0 0,0 0 0 0 0,0 1-1 0 0,0-1 1 0 0,0 0 0 0 0,0 0 0 0 0,-1 0 0 0 0,1 0-1 0 0,0 0 1 0 0,0 1 0 0 0,0-1 0 0 0,0 0 0 0 0,0 0-1 0 0,0 0 1 0 0,0 0 0 0 0,0 0 0 0 0,-1 0 0 0 0,1 0-1 0 0,0 1 1 0 0,0-1 0 0 0,0 0 0 0 0,0 0 0 0 0,0 0-1 0 0,-1 0 1 0 0,1 0 0 0 0,0 0 0 0 0,0 0 0 0 0,0 0-1 0 0,-3 0-64 0 0,1 0-1 0 0,0 0 1 0 0,0 0-1 0 0,0 0 0 0 0,0-1 1 0 0,0 1-1 0 0,0-1 1 0 0,0 1-1 0 0,-4-2 0 0 0,-29-14 1489 0 0,24 11-1049 0 0,0 0 1 0 0,-1 0 0 0 0,0 1 0 0 0,0 0 0 0 0,0 1 0 0 0,0 1-1 0 0,-16-2 1 0 0,-29 5-394 0 0,0 3-1 0 0,-75 14 1 0 0,45-5 48 0 0,61-9-1 0 0,1 1-1 0 0,-1 0 1 0 0,1 2 0 0 0,0 1 0 0 0,-33 16-1 0 0,49-20-56 0 0,0 1 0 0 0,0 0-1 0 0,0 0 1 0 0,1 1 0 0 0,0 0-1 0 0,0 1 1 0 0,0-1 0 0 0,1 1 0 0 0,0 1-1 0 0,1 0 1 0 0,-1 0 0 0 0,2 0-1 0 0,-1 0 1 0 0,1 1 0 0 0,0 0 0 0 0,-6 17-1 0 0,8-14-27 0 0,0 0-1 0 0,1 0 0 0 0,0 0 1 0 0,1 0-1 0 0,1 24 0 0 0,4-9 1 0 0,12 30-33 0 0,-10-41 39 0 0,0-1 1 0 0,17 27-1 0 0,23 20-6 0 0,-26-39-33 0 0,35 33 32 0 0,12 8 11 0 0,-9-14 0 0 0,4-1 0 0 0,6-6 0 0 0,3-6 0 0 0,-13-12-31 0 0,2-2 0 0 0,1-3 0 0 0,0-2 0 0 0,104 16 1 0 0,258 7-205 0 0,295-37-48 0 0,-345-46 406 0 0,-289 26 140 0 0,-2-4 0 0 0,115-44 0 0 0,-138 41-225 0 0,-2-3 0 0 0,0-2 0 0 0,83-57 0 0 0,6-8 116 0 0,-77 51 46 0 0,87-70 1 0 0,-145 103-42 0 0,0-1 1 0 0,0 0-1 0 0,-1-1 1 0 0,-1 0 0 0 0,0-1-1 0 0,0 0 1 0 0,7-16-1 0 0,-13 24-135 0 0,-1 0 0 0 0,0-1-1 0 0,0 0 1 0 0,-1 1 0 0 0,1-1-1 0 0,-1 0 1 0 0,0 1 0 0 0,-1-1-1 0 0,1 0 1 0 0,-1 0 0 0 0,0 0-1 0 0,0 0 1 0 0,0 0 0 0 0,-1 1-1 0 0,1-1 1 0 0,-1 0 0 0 0,0 0-1 0 0,-1 1 1 0 0,1-1 0 0 0,-1 0-1 0 0,0 1 1 0 0,0 0 0 0 0,-1-1 0 0 0,1 1-1 0 0,-4-4 1 0 0,-6-6 77 0 0,-1 0 1 0 0,0 1-1 0 0,0 1 0 0 0,-2 0 1 0 0,1 1-1 0 0,-2 0 0 0 0,-23-12 1 0 0,-125-50 705 0 0,90 43-568 0 0,-33-12-39 0 0,-217-52 0 0 0,276 85-187 0 0,0 1 0 0 0,0 3 0 0 0,-59 0-1 0 0,-147 15 12 0 0,209-7-38 0 0,7 0-49 0 0,0 1-1 0 0,-65 17 0 0 0,75-13-1145 0 0,1 2 0 0 0,-32 15 0 0 0,35-13-258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16T22:41:23.942"/>
    </inkml:context>
    <inkml:brush xml:id="br0">
      <inkml:brushProperty name="width" value="0.05" units="cm"/>
      <inkml:brushProperty name="height" value="0.05" units="cm"/>
    </inkml:brush>
  </inkml:definitions>
  <inkml:trace contextRef="#ctx0" brushRef="#br0">922 124 12895 0 0,'-6'-3'173'0'0,"-1"1"-1"0"0,1 0 0 0 0,-1 0 1 0 0,0 0-1 0 0,0 1 0 0 0,1 0 1 0 0,-1 0-1 0 0,0 1 0 0 0,0 0 1 0 0,0 0-1 0 0,0 0 0 0 0,0 1 1 0 0,1 0-1 0 0,-1 1 1 0 0,0-1-1 0 0,0 1 0 0 0,1 1 1 0 0,-7 2-1 0 0,-33 14-400 0 0,-1-3 1 0 0,-83 19-1 0 0,68-24 443 0 0,-19 3 414 0 0,-109 33-1 0 0,177-42-566 0 0,0 0 0 0 0,1 1-1 0 0,0 1 1 0 0,1 0 0 0 0,-1 1-1 0 0,1 0 1 0 0,-17 17 0 0 0,6-3-93 0 0,2 0 1 0 0,-25 34 0 0 0,41-50-22 0 0,0 0 0 0 0,1 0 1 0 0,-1 0-1 0 0,1 0 0 0 0,1 1 0 0 0,-1-1 0 0 0,1 1 1 0 0,0-1-1 0 0,0 1 0 0 0,1 0 0 0 0,0 0 1 0 0,0 0-1 0 0,0 0 0 0 0,1 0 0 0 0,0 0 0 0 0,1 0 1 0 0,0 0-1 0 0,0 0 0 0 0,0-1 0 0 0,1 1 1 0 0,0 0-1 0 0,4 9 0 0 0,0-3 13 0 0,1 0 0 0 0,0-1 1 0 0,1 0-1 0 0,0 0 0 0 0,1-1 0 0 0,1 0 1 0 0,-1 0-1 0 0,2-1 0 0 0,21 17 0 0 0,21 12-2 0 0,2-2 0 0 0,1-3 0 0 0,2-2 0 0 0,98 39 0 0 0,-84-45 24 0 0,1-3 1 0 0,1-4-1 0 0,0-2 1 0 0,2-4-1 0 0,-1-3 1 0 0,1-4-1 0 0,112-4 1 0 0,-116-6 230 0 0,0-4 0 0 0,-1-3 0 0 0,103-29 0 0 0,-131 27-82 0 0,0-3-1 0 0,-2-1 1 0 0,0-2 0 0 0,-1-1 0 0 0,0-3 0 0 0,62-47 0 0 0,-100 68-124 0 0,28-20 347 0 0,-1-3 0 0 0,-1 0 1 0 0,46-55-1 0 0,-67 71-268 0 0,-1 1 0 0 0,0-1 0 0 0,-1-1 0 0 0,0 1 0 0 0,-1-1 0 0 0,1 1 0 0 0,-2-1 0 0 0,1-1 1 0 0,-2 1-1 0 0,1 0 0 0 0,-1-1 0 0 0,-1 1 0 0 0,0-1 0 0 0,0 0 0 0 0,-1 1 0 0 0,-1-1 0 0 0,0 1 0 0 0,-4-20 1 0 0,1 13-9 0 0,-2 1 1 0 0,-1-1 0 0 0,0 1 0 0 0,-1 0 0 0 0,0 0-1 0 0,-1 1 1 0 0,-1 0 0 0 0,0 1 0 0 0,-18-18 0 0 0,-5-3 191 0 0,-2 3 0 0 0,-48-37 0 0 0,59 52-206 0 0,-1 0 0 0 0,-1 2 0 0 0,0 1 0 0 0,-1 1 0 0 0,0 1 0 0 0,-1 2 0 0 0,0 1 0 0 0,-36-8 0 0 0,12 8-173 0 0,-1 2 0 0 0,0 2 0 0 0,-92 4 0 0 0,86 6-343 0 0,-112 25 1 0 0,104-16 125 0 0,1-1-1218 0 0,-112 39 0 0 0,92-17 53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5-16T22:41:25.319"/>
    </inkml:context>
    <inkml:brush xml:id="br0">
      <inkml:brushProperty name="width" value="0.05" units="cm"/>
      <inkml:brushProperty name="height" value="0.05" units="cm"/>
    </inkml:brush>
  </inkml:definitions>
  <inkml:trace contextRef="#ctx0" brushRef="#br0">2214 215 11055 0 0,'-9'-12'876'0'0,"7"10"-786"0"0,0 0 0 0 0,0-1 0 0 0,0 1 0 0 0,0-1-1 0 0,1 1 1 0 0,-1-1 0 0 0,0 0 0 0 0,1 1 0 0 0,0-1-1 0 0,-1-4 1 0 0,1 7-54 0 0,1-1-1 0 0,0 1 1 0 0,-1 0-1 0 0,1-1 1 0 0,0 1-1 0 0,-1 0 1 0 0,1-1-1 0 0,-1 1 1 0 0,1 0-1 0 0,-1-1 1 0 0,1 1-1 0 0,-1 0 1 0 0,1 0-1 0 0,-1 0 1 0 0,1 0-1 0 0,-1-1 1 0 0,1 1-1 0 0,-1 0 1 0 0,1 0-1 0 0,-1 0 1 0 0,1 0-1 0 0,-1 0 1 0 0,-1 0-1 0 0,-16 0-182 0 0,16 0 204 0 0,-50 2-99 0 0,0 2 1 0 0,-74 15-1 0 0,-100 36 720 0 0,116-27-537 0 0,43-11-46 0 0,1 3-1 0 0,-103 46 0 0 0,114-40-61 0 0,-165 83 14 0 0,176-83-71 0 0,0 1 1 0 0,-70 60-1 0 0,42-25 22 0 0,-194 180-82 0 0,234-206 59 0 0,1 1 1 0 0,-25 41 0 0 0,-46 87-54 0 0,43-67 17 0 0,29-48 13 0 0,3 1 1 0 0,1 1 0 0 0,3 2 0 0 0,-17 60 0 0 0,28-71-2 0 0,2 0 0 0 0,2 0 0 0 0,1 1 0 0 0,3 0 0 0 0,2 88 0 0 0,6-93-55 0 0,2-1 0 0 0,15 52 0 0 0,-11-62-24 0 0,32 58 10 0 0,-27-61 91 0 0,1-1 0 0 0,21 24 1 0 0,51 47-29 0 0,11 3 44 0 0,-38-47 11 0 0,3-2 0 0 0,133 77 0 0 0,216 82-28 0 0,-301-162 3 0 0,214 58 1 0 0,-214-78-34 0 0,1-5 0 0 0,1-5 0 0 0,165 2 0 0 0,-196-19 45 0 0,1-4 1 0 0,-1-3 0 0 0,-1-3-1 0 0,0-5 1 0 0,119-37-1 0 0,-77 8 354 0 0,170-88-1 0 0,101-94 1107 0 0,-335 187-1189 0 0,-2-2 0 0 0,-2-3 0 0 0,59-61 0 0 0,130-174 494 0 0,-191 206-602 0 0,-4-1-1 0 0,-3-3 0 0 0,-4-2 1 0 0,-3-1-1 0 0,-4-3 0 0 0,33-112 1 0 0,-52 137-135 0 0,-2 0 0 0 0,-3-1 0 0 0,-3-1 1 0 0,-2 1-1 0 0,-4-1 0 0 0,-1 0 0 0 0,-4 0 1 0 0,-10-72-1 0 0,6 92 13 0 0,-2 1 1 0 0,-2 0-1 0 0,-2 0 0 0 0,-2 1 1 0 0,-1 0-1 0 0,-2 1 1 0 0,-1 1-1 0 0,-2 1 1 0 0,-2 1-1 0 0,-1 0 0 0 0,-1 2 1 0 0,-57-59-1 0 0,34 50 38 0 0,-1 2 1 0 0,-2 2-1 0 0,-2 3 0 0 0,-1 1 0 0 0,-2 3 1 0 0,-1 3-1 0 0,-105-38 0 0 0,73 37 27 0 0,-3 3 0 0 0,0 5 0 0 0,-1 4 0 0 0,-147-8 0 0 0,148 21-157 0 0,0 5 1 0 0,0 4 0 0 0,0 4-1 0 0,1 4 1 0 0,0 4-1 0 0,2 3 1 0 0,0 5 0 0 0,-156 65-1 0 0,49 6-1059 0 0,73-20-3462 0 0,26-6-979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fld id="{2E0611E1-B028-2443-BED6-15B43C61F054}" type="datetimeFigureOut">
              <a:rPr lang="en-US"/>
              <a:pPr/>
              <a:t>5/29/26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fld id="{B5570E3B-8CB0-CD44-872C-98256F01E610}" type="slidenum">
              <a:rPr lang="en-US"/>
              <a:pPr/>
              <a:t>‹#›</a:t>
            </a:fld>
            <a:endParaRPr lang="en-US" dirty="0"/>
          </a:p>
        </p:txBody>
      </p:sp>
    </p:spTree>
    <p:extLst>
      <p:ext uri="{BB962C8B-B14F-4D97-AF65-F5344CB8AC3E}">
        <p14:creationId xmlns:p14="http://schemas.microsoft.com/office/powerpoint/2010/main" val="2830212815"/>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0"/>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0"/>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0"/>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0"/>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AF66F67D-DEEF-704D-AD15-DF4666FB6C0E}" type="slidenum">
              <a:rPr lang="en-AU">
                <a:latin typeface="Calibri" charset="0"/>
              </a:rPr>
              <a:pPr/>
              <a:t>2</a:t>
            </a:fld>
            <a:endParaRPr lang="en-AU" dirty="0">
              <a:latin typeface="Calibri" charset="0"/>
            </a:endParaRPr>
          </a:p>
        </p:txBody>
      </p:sp>
      <p:sp>
        <p:nvSpPr>
          <p:cNvPr id="317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1747"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2017895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320F0882-546E-664B-8843-9EB5CF4E2753}" type="slidenum">
              <a:rPr lang="en-AU">
                <a:latin typeface="Calibri" charset="0"/>
              </a:rPr>
              <a:pPr/>
              <a:t>3</a:t>
            </a:fld>
            <a:endParaRPr lang="en-AU" dirty="0">
              <a:latin typeface="Calibri" charset="0"/>
            </a:endParaRPr>
          </a:p>
        </p:txBody>
      </p:sp>
      <p:sp>
        <p:nvSpPr>
          <p:cNvPr id="399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9939"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2366470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42037B13-DB6A-A847-AC52-22F7FA1F9561}" type="slidenum">
              <a:rPr lang="en-AU">
                <a:latin typeface="Calibri" charset="0"/>
              </a:rPr>
              <a:pPr/>
              <a:t>5</a:t>
            </a:fld>
            <a:endParaRPr lang="en-AU" dirty="0">
              <a:latin typeface="Calibri" charset="0"/>
            </a:endParaRPr>
          </a:p>
        </p:txBody>
      </p:sp>
      <p:sp>
        <p:nvSpPr>
          <p:cNvPr id="358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5843"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2637169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F42C7471-5011-6540-AE78-211D34CE3AA8}" type="slidenum">
              <a:rPr lang="en-AU">
                <a:latin typeface="Calibri" charset="0"/>
              </a:rPr>
              <a:pPr/>
              <a:t>7</a:t>
            </a:fld>
            <a:endParaRPr lang="en-AU" dirty="0">
              <a:latin typeface="Calibri" charset="0"/>
            </a:endParaRPr>
          </a:p>
        </p:txBody>
      </p:sp>
      <p:sp>
        <p:nvSpPr>
          <p:cNvPr id="419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1987"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544803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D609B012-2270-884D-93B6-CBD09D953FDA}" type="slidenum">
              <a:rPr lang="en-AU">
                <a:latin typeface="Calibri" charset="0"/>
              </a:rPr>
              <a:pPr/>
              <a:t>8</a:t>
            </a:fld>
            <a:endParaRPr lang="en-AU" dirty="0">
              <a:latin typeface="Calibri" charset="0"/>
            </a:endParaRPr>
          </a:p>
        </p:txBody>
      </p:sp>
      <p:sp>
        <p:nvSpPr>
          <p:cNvPr id="460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6083"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3671353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38BF4A73-B382-584A-890F-82EEC0D2349B}" type="slidenum">
              <a:rPr lang="en-AU">
                <a:latin typeface="Calibri" charset="0"/>
              </a:rPr>
              <a:pPr/>
              <a:t>9</a:t>
            </a:fld>
            <a:endParaRPr lang="en-AU" dirty="0">
              <a:latin typeface="Calibri" charset="0"/>
            </a:endParaRPr>
          </a:p>
        </p:txBody>
      </p:sp>
      <p:sp>
        <p:nvSpPr>
          <p:cNvPr id="481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8131"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60202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ADC032D8-501B-414C-90E3-DB4F6137B368}" type="slidenum">
              <a:rPr lang="en-AU">
                <a:latin typeface="Calibri" charset="0"/>
              </a:rPr>
              <a:pPr/>
              <a:t>10</a:t>
            </a:fld>
            <a:endParaRPr lang="en-AU" dirty="0">
              <a:latin typeface="Calibri" charset="0"/>
            </a:endParaRPr>
          </a:p>
        </p:txBody>
      </p:sp>
      <p:sp>
        <p:nvSpPr>
          <p:cNvPr id="5017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0179"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976801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4C8D51FF-EE07-EE40-A081-931CDF3931CD}" type="slidenum">
              <a:rPr lang="en-AU">
                <a:latin typeface="Calibri" charset="0"/>
              </a:rPr>
              <a:pPr/>
              <a:t>11</a:t>
            </a:fld>
            <a:endParaRPr lang="en-AU" dirty="0">
              <a:latin typeface="Calibri" charset="0"/>
            </a:endParaRPr>
          </a:p>
        </p:txBody>
      </p:sp>
      <p:sp>
        <p:nvSpPr>
          <p:cNvPr id="5222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2227"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775353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8A36C568-2DD0-3846-AB26-23AD1C130FC8}" type="slidenum">
              <a:rPr lang="en-AU">
                <a:latin typeface="Calibri" charset="0"/>
              </a:rPr>
              <a:pPr/>
              <a:t>12</a:t>
            </a:fld>
            <a:endParaRPr lang="en-AU" dirty="0">
              <a:latin typeface="Calibri" charset="0"/>
            </a:endParaRPr>
          </a:p>
        </p:txBody>
      </p:sp>
      <p:sp>
        <p:nvSpPr>
          <p:cNvPr id="542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4275"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748891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B91E4A87-2268-9A40-94C3-B1F2C5235647}" type="slidenum">
              <a:rPr lang="en-AU">
                <a:latin typeface="Calibri" charset="0"/>
              </a:rPr>
              <a:pPr/>
              <a:t>13</a:t>
            </a:fld>
            <a:endParaRPr lang="en-AU" dirty="0">
              <a:latin typeface="Calibri" charset="0"/>
            </a:endParaRPr>
          </a:p>
        </p:txBody>
      </p:sp>
      <p:sp>
        <p:nvSpPr>
          <p:cNvPr id="573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7347"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003096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Interest of time, don’t go into details.  IN</a:t>
            </a:r>
            <a:r>
              <a:rPr lang="en-US" baseline="0" dirty="0"/>
              <a:t> GENERAL, how we differ from literature.</a:t>
            </a:r>
          </a:p>
          <a:p>
            <a:endParaRPr lang="en-US" baseline="0" dirty="0"/>
          </a:p>
          <a:p>
            <a:r>
              <a:rPr lang="en-US" baseline="0" dirty="0"/>
              <a:t>Procurement protocol is different from how </a:t>
            </a:r>
            <a:r>
              <a:rPr lang="en-US" b="1" baseline="0" dirty="0"/>
              <a:t>automotive industry </a:t>
            </a:r>
            <a:r>
              <a:rPr lang="en-US" baseline="0" dirty="0"/>
              <a:t>actually works.  </a:t>
            </a:r>
            <a:endParaRPr lang="en-US" dirty="0"/>
          </a:p>
        </p:txBody>
      </p:sp>
      <p:sp>
        <p:nvSpPr>
          <p:cNvPr id="4" name="Slide Number Placeholder 3"/>
          <p:cNvSpPr>
            <a:spLocks noGrp="1"/>
          </p:cNvSpPr>
          <p:nvPr>
            <p:ph type="sldNum" sz="quarter" idx="10"/>
          </p:nvPr>
        </p:nvSpPr>
        <p:spPr/>
        <p:txBody>
          <a:bodyPr/>
          <a:lstStyle/>
          <a:p>
            <a:fld id="{2F4002F8-A8DD-5148-A17E-870779EE40ED}" type="slidenum">
              <a:rPr lang="en-US" smtClean="0"/>
              <a:t>24</a:t>
            </a:fld>
            <a:endParaRPr lang="en-US"/>
          </a:p>
        </p:txBody>
      </p:sp>
    </p:spTree>
    <p:extLst>
      <p:ext uri="{BB962C8B-B14F-4D97-AF65-F5344CB8AC3E}">
        <p14:creationId xmlns:p14="http://schemas.microsoft.com/office/powerpoint/2010/main" val="416982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F981CDBB-D9C9-4E42-8344-A60E0A172E2F}" type="slidenum">
              <a:rPr lang="en-AU">
                <a:latin typeface="Calibri" charset="0"/>
              </a:rPr>
              <a:pPr/>
              <a:t>28</a:t>
            </a:fld>
            <a:endParaRPr lang="en-AU" dirty="0">
              <a:latin typeface="Calibri" charset="0"/>
            </a:endParaRPr>
          </a:p>
        </p:txBody>
      </p:sp>
      <p:sp>
        <p:nvSpPr>
          <p:cNvPr id="614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1443"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3616265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422CC770-B1C4-CB46-9F21-8CAA8C6058C1}" type="slidenum">
              <a:rPr lang="en-AU">
                <a:latin typeface="Calibri" charset="0"/>
              </a:rPr>
              <a:pPr/>
              <a:t>46</a:t>
            </a:fld>
            <a:endParaRPr lang="en-AU" dirty="0">
              <a:latin typeface="Calibri" charset="0"/>
            </a:endParaRPr>
          </a:p>
        </p:txBody>
      </p:sp>
      <p:sp>
        <p:nvSpPr>
          <p:cNvPr id="5017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0179"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3686844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TextBox 3"/>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DF9C12CE-0FD8-364D-9768-5447276E87B3}"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ctrTitle"/>
          </p:nvPr>
        </p:nvSpPr>
        <p:spPr>
          <a:xfrm>
            <a:off x="685800" y="2130425"/>
            <a:ext cx="7772400" cy="1470025"/>
          </a:xfrm>
        </p:spPr>
        <p:txBody>
          <a:bodyPr/>
          <a:lstStyle/>
          <a:p>
            <a:r>
              <a:rPr lang="en-AU"/>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lang="en-US"/>
          </a:p>
        </p:txBody>
      </p:sp>
    </p:spTree>
    <p:extLst>
      <p:ext uri="{BB962C8B-B14F-4D97-AF65-F5344CB8AC3E}">
        <p14:creationId xmlns:p14="http://schemas.microsoft.com/office/powerpoint/2010/main" val="246964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TextBox 3"/>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40851343-75B4-5B41-BA15-A1E5D1AFA31C}"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lvl1pPr marL="342900" indent="-342900">
              <a:buClr>
                <a:schemeClr val="accent1"/>
              </a:buClr>
              <a:buFont typeface="Arial Unicode MS"/>
              <a:buChar char="▶"/>
              <a:defRPr/>
            </a:lvl1pPr>
            <a:lvl2pPr marL="742950" indent="-285750">
              <a:buClr>
                <a:schemeClr val="accent1"/>
              </a:buClr>
              <a:buFont typeface="Arial Unicode MS"/>
              <a:buChar char="▶"/>
              <a:defRPr/>
            </a:lvl2pPr>
            <a:lvl3pPr marL="1143000" indent="-228600">
              <a:buClr>
                <a:schemeClr val="accent1"/>
              </a:buClr>
              <a:buFont typeface="Arial Unicode MS"/>
              <a:buChar char="▶"/>
              <a:defRPr/>
            </a:lvl3pPr>
            <a:lvl4pPr marL="1600200" indent="-228600">
              <a:buClr>
                <a:schemeClr val="accent1"/>
              </a:buClr>
              <a:buFont typeface="Arial Unicode MS"/>
              <a:buChar char="▶"/>
              <a:defRPr/>
            </a:lvl4pPr>
            <a:lvl5pPr marL="2057400" indent="-228600">
              <a:buClr>
                <a:schemeClr val="accent1"/>
              </a:buClr>
              <a:buFont typeface="Arial Unicode MS"/>
              <a:buChar cha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02337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spTree>
      <p:nvGrpSpPr>
        <p:cNvPr id="1" name=""/>
        <p:cNvGrpSpPr/>
        <p:nvPr/>
      </p:nvGrpSpPr>
      <p:grpSpPr>
        <a:xfrm>
          <a:off x="0" y="0"/>
          <a:ext cx="0" cy="0"/>
          <a:chOff x="0" y="0"/>
          <a:chExt cx="0" cy="0"/>
        </a:xfrm>
      </p:grpSpPr>
      <p:sp>
        <p:nvSpPr>
          <p:cNvPr id="4" name="TextBox 3"/>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BA5193B0-0154-3645-AAC6-F847D834F72F}"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Tree>
    <p:extLst>
      <p:ext uri="{BB962C8B-B14F-4D97-AF65-F5344CB8AC3E}">
        <p14:creationId xmlns:p14="http://schemas.microsoft.com/office/powerpoint/2010/main" val="183381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TextBox 4"/>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3062501F-5EAC-7245-8D34-C03DAAD42E71}"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6" name="TextBox 5"/>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15628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7" name="TextBox 6"/>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636BEDF9-1A21-6B43-B875-962A05A1E8E2}"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8" name="TextBox 7"/>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382910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par>
                          <p:cTn id="12" fill="hold">
                            <p:stCondLst>
                              <p:cond delay="3000"/>
                            </p:stCondLst>
                            <p:childTnLst>
                              <p:par>
                                <p:cTn id="13" presetID="18" presetClass="entr" presetSubtype="6" fill="hold" grpId="0" nodeType="afterEffect">
                                  <p:stCondLst>
                                    <p:cond delay="1000"/>
                                  </p:stCondLst>
                                  <p:childTnLst>
                                    <p:set>
                                      <p:cBhvr>
                                        <p:cTn id="14" dur="1" fill="hold">
                                          <p:stCondLst>
                                            <p:cond delay="0"/>
                                          </p:stCondLst>
                                        </p:cTn>
                                        <p:tgtEl>
                                          <p:spTgt spid="5"/>
                                        </p:tgtEl>
                                        <p:attrNameLst>
                                          <p:attrName>style.visibility</p:attrName>
                                        </p:attrNameLst>
                                      </p:cBhvr>
                                      <p:to>
                                        <p:strVal val="visible"/>
                                      </p:to>
                                    </p:set>
                                    <p:animEffect transition="in" filter="strips(downRight)">
                                      <p:cBhvr>
                                        <p:cTn id="15" dur="500"/>
                                        <p:tgtEl>
                                          <p:spTgt spid="5"/>
                                        </p:tgtEl>
                                      </p:cBhvr>
                                    </p:animEffect>
                                  </p:childTnLst>
                                </p:cTn>
                              </p:par>
                            </p:childTnLst>
                          </p:cTn>
                        </p:par>
                        <p:par>
                          <p:cTn id="16" fill="hold">
                            <p:stCondLst>
                              <p:cond delay="4500"/>
                            </p:stCondLst>
                            <p:childTnLst>
                              <p:par>
                                <p:cTn id="17" presetID="18" presetClass="entr" presetSubtype="6" fill="hold" grpId="0" nodeType="afterEffect">
                                  <p:stCondLst>
                                    <p:cond delay="1000"/>
                                  </p:stCondLst>
                                  <p:childTnLst>
                                    <p:set>
                                      <p:cBhvr>
                                        <p:cTn id="18" dur="1" fill="hold">
                                          <p:stCondLst>
                                            <p:cond delay="0"/>
                                          </p:stCondLst>
                                        </p:cTn>
                                        <p:tgtEl>
                                          <p:spTgt spid="6"/>
                                        </p:tgtEl>
                                        <p:attrNameLst>
                                          <p:attrName>style.visibility</p:attrName>
                                        </p:attrNameLst>
                                      </p:cBhvr>
                                      <p:to>
                                        <p:strVal val="visible"/>
                                      </p:to>
                                    </p:set>
                                    <p:animEffect transition="in" filter="strips(downRight)">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5" grpId="0" autoUpdateAnimBg="0"/>
      <p:bldP spid="6" grpId="0"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type="titleOnly" preserve="1">
  <p:cSld name="Title Only">
    <p:spTree>
      <p:nvGrpSpPr>
        <p:cNvPr id="1" name=""/>
        <p:cNvGrpSpPr/>
        <p:nvPr/>
      </p:nvGrpSpPr>
      <p:grpSpPr>
        <a:xfrm>
          <a:off x="0" y="0"/>
          <a:ext cx="0" cy="0"/>
          <a:chOff x="0" y="0"/>
          <a:chExt cx="0" cy="0"/>
        </a:xfrm>
      </p:grpSpPr>
      <p:sp>
        <p:nvSpPr>
          <p:cNvPr id="3" name="TextBox 2"/>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60EE7452-E89F-B44F-8EC6-5E7B2C87EB8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4" name="TextBox 3"/>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Tree>
    <p:extLst>
      <p:ext uri="{BB962C8B-B14F-4D97-AF65-F5344CB8AC3E}">
        <p14:creationId xmlns:p14="http://schemas.microsoft.com/office/powerpoint/2010/main" val="747722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blank" preserve="1">
  <p:cSld name="Blank">
    <p:spTree>
      <p:nvGrpSpPr>
        <p:cNvPr id="1" name=""/>
        <p:cNvGrpSpPr/>
        <p:nvPr/>
      </p:nvGrpSpPr>
      <p:grpSpPr>
        <a:xfrm>
          <a:off x="0" y="0"/>
          <a:ext cx="0" cy="0"/>
          <a:chOff x="0" y="0"/>
          <a:chExt cx="0" cy="0"/>
        </a:xfrm>
      </p:grpSpPr>
      <p:sp>
        <p:nvSpPr>
          <p:cNvPr id="2" name="TextBox 1"/>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1BEF13AA-8851-2444-B9D7-768558950ADA}"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3" name="TextBox 2"/>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Tree>
    <p:extLst>
      <p:ext uri="{BB962C8B-B14F-4D97-AF65-F5344CB8AC3E}">
        <p14:creationId xmlns:p14="http://schemas.microsoft.com/office/powerpoint/2010/main" val="3614663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5" name="TextBox 4"/>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32A51939-0030-0A4E-A79E-17F611277B53}"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6" name="TextBox 5"/>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Tree>
    <p:extLst>
      <p:ext uri="{BB962C8B-B14F-4D97-AF65-F5344CB8AC3E}">
        <p14:creationId xmlns:p14="http://schemas.microsoft.com/office/powerpoint/2010/main" val="382208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spTree>
      <p:nvGrpSpPr>
        <p:cNvPr id="1" name=""/>
        <p:cNvGrpSpPr/>
        <p:nvPr/>
      </p:nvGrpSpPr>
      <p:grpSpPr>
        <a:xfrm>
          <a:off x="0" y="0"/>
          <a:ext cx="0" cy="0"/>
          <a:chOff x="0" y="0"/>
          <a:chExt cx="0" cy="0"/>
        </a:xfrm>
      </p:grpSpPr>
      <p:sp>
        <p:nvSpPr>
          <p:cNvPr id="6" name="TextBox 5"/>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9" name="TextBox 8"/>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344281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nodePh="1">
                                  <p:stCondLst>
                                    <p:cond delay="100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showMasterPhAnim="0" type="vertTx" preserve="1">
  <p:cSld name="Title and Vertical Text">
    <p:spTree>
      <p:nvGrpSpPr>
        <p:cNvPr id="1" name=""/>
        <p:cNvGrpSpPr/>
        <p:nvPr/>
      </p:nvGrpSpPr>
      <p:grpSpPr>
        <a:xfrm>
          <a:off x="0" y="0"/>
          <a:ext cx="0" cy="0"/>
          <a:chOff x="0" y="0"/>
          <a:chExt cx="0" cy="0"/>
        </a:xfrm>
      </p:grpSpPr>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8" name="TextBox 7"/>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1636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showMasterPhAnim="0" type="vertTitleAndTx" preserve="1">
  <p:cSld name="Vertical Title and Text">
    <p:spTree>
      <p:nvGrpSpPr>
        <p:cNvPr id="1" name=""/>
        <p:cNvGrpSpPr/>
        <p:nvPr/>
      </p:nvGrpSpPr>
      <p:grpSpPr>
        <a:xfrm>
          <a:off x="0" y="0"/>
          <a:ext cx="0" cy="0"/>
          <a:chOff x="0" y="0"/>
          <a:chExt cx="0" cy="0"/>
        </a:xfrm>
      </p:grpSpPr>
      <p:sp>
        <p:nvSpPr>
          <p:cNvPr id="4" name="TextBox 3"/>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2" name="Vertical Title 1"/>
          <p:cNvSpPr>
            <a:spLocks noGrp="1"/>
          </p:cNvSpPr>
          <p:nvPr>
            <p:ph type="title" orient="vert"/>
          </p:nvPr>
        </p:nvSpPr>
        <p:spPr>
          <a:xfrm>
            <a:off x="6629400" y="274638"/>
            <a:ext cx="2057400" cy="58515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Tree>
    <p:extLst>
      <p:ext uri="{BB962C8B-B14F-4D97-AF65-F5344CB8AC3E}">
        <p14:creationId xmlns:p14="http://schemas.microsoft.com/office/powerpoint/2010/main" val="23433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524682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5/29/26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64168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457200" y="368316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5"/>
          </p:nvPr>
        </p:nvSpPr>
        <p:spPr>
          <a:xfrm>
            <a:off x="457200" y="472464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9464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5/29/26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807084"/>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473720" y="4013968"/>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51732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 Columns Content Slide">
    <p:spTree>
      <p:nvGrpSpPr>
        <p:cNvPr id="1" name=""/>
        <p:cNvGrpSpPr/>
        <p:nvPr/>
      </p:nvGrpSpPr>
      <p:grpSpPr>
        <a:xfrm>
          <a:off x="0" y="0"/>
          <a:ext cx="0" cy="0"/>
          <a:chOff x="0" y="0"/>
          <a:chExt cx="0" cy="0"/>
        </a:xfrm>
      </p:grpSpPr>
      <p:sp>
        <p:nvSpPr>
          <p:cNvPr id="12" name="Content Placeholder 10">
            <a:extLst>
              <a:ext uri="{FF2B5EF4-FFF2-40B4-BE49-F238E27FC236}">
                <a16:creationId xmlns:a16="http://schemas.microsoft.com/office/drawing/2014/main" id="{63569A89-403C-42D7-9481-E8158B8E076B}"/>
              </a:ext>
            </a:extLst>
          </p:cNvPr>
          <p:cNvSpPr>
            <a:spLocks noGrp="1"/>
          </p:cNvSpPr>
          <p:nvPr>
            <p:ph sz="quarter" idx="18" hasCustomPrompt="1"/>
          </p:nvPr>
        </p:nvSpPr>
        <p:spPr>
          <a:xfrm>
            <a:off x="4665726" y="2003298"/>
            <a:ext cx="4126445" cy="3753068"/>
          </a:xfrm>
          <a:prstGeom prst="rect">
            <a:avLst/>
          </a:prstGeom>
        </p:spPr>
        <p:txBody>
          <a:bodyPr lIns="0" rIns="0"/>
          <a:lstStyle>
            <a:lvl1pPr marL="212598" indent="-212598">
              <a:lnSpc>
                <a:spcPct val="100000"/>
              </a:lnSpc>
              <a:spcBef>
                <a:spcPts val="0"/>
              </a:spcBef>
              <a:spcAft>
                <a:spcPts val="750"/>
              </a:spcAft>
              <a:buClr>
                <a:schemeClr val="accent1"/>
              </a:buClr>
              <a:defRPr sz="1350">
                <a:solidFill>
                  <a:schemeClr val="accent2"/>
                </a:solidFill>
                <a:latin typeface="+mn-lt"/>
              </a:defRPr>
            </a:lvl1pPr>
            <a:lvl2pPr marL="425196" indent="-212598">
              <a:lnSpc>
                <a:spcPct val="100000"/>
              </a:lnSpc>
              <a:spcBef>
                <a:spcPts val="0"/>
              </a:spcBef>
              <a:spcAft>
                <a:spcPts val="750"/>
              </a:spcAft>
              <a:buClr>
                <a:schemeClr val="accent1"/>
              </a:buClr>
              <a:buFont typeface="Arial" panose="020B0604020202020204" pitchFamily="34" charset="0"/>
              <a:buChar char="-"/>
              <a:defRPr sz="1350">
                <a:solidFill>
                  <a:schemeClr val="accent2"/>
                </a:solidFill>
                <a:latin typeface="+mn-lt"/>
              </a:defRPr>
            </a:lvl2pPr>
            <a:lvl3pPr marL="617220" indent="-212598">
              <a:lnSpc>
                <a:spcPct val="100000"/>
              </a:lnSpc>
              <a:spcBef>
                <a:spcPts val="0"/>
              </a:spcBef>
              <a:spcAft>
                <a:spcPts val="750"/>
              </a:spcAft>
              <a:buClr>
                <a:schemeClr val="accent1"/>
              </a:buClr>
              <a:defRPr sz="1350">
                <a:solidFill>
                  <a:schemeClr val="accent2"/>
                </a:solidFill>
                <a:latin typeface="+mn-lt"/>
              </a:defRPr>
            </a:lvl3pPr>
            <a:lvl4pPr marL="822960" indent="-212598">
              <a:lnSpc>
                <a:spcPct val="100000"/>
              </a:lnSpc>
              <a:spcBef>
                <a:spcPts val="0"/>
              </a:spcBef>
              <a:spcAft>
                <a:spcPts val="750"/>
              </a:spcAft>
              <a:buClr>
                <a:schemeClr val="accent1"/>
              </a:buClr>
              <a:buFont typeface="Arial" panose="020B0604020202020204" pitchFamily="34" charset="0"/>
              <a:buChar char="-"/>
              <a:defRPr sz="1350">
                <a:solidFill>
                  <a:schemeClr val="accent2"/>
                </a:solidFill>
                <a:latin typeface="+mn-lt"/>
              </a:defRPr>
            </a:lvl4pPr>
            <a:lvl5pPr marL="1028700" indent="-212598">
              <a:lnSpc>
                <a:spcPct val="100000"/>
              </a:lnSpc>
              <a:spcBef>
                <a:spcPts val="0"/>
              </a:spcBef>
              <a:spcAft>
                <a:spcPts val="750"/>
              </a:spcAft>
              <a:buClr>
                <a:schemeClr val="accent1"/>
              </a:buClr>
              <a:defRPr sz="1350">
                <a:solidFill>
                  <a:schemeClr val="accent2"/>
                </a:solidFill>
                <a:latin typeface="+mn-lt"/>
              </a:defRPr>
            </a:lvl5pPr>
          </a:lstStyle>
          <a:p>
            <a:pPr lvl="0"/>
            <a:r>
              <a:rPr lang="en-US" dirty="0"/>
              <a:t>First level Bullet: Arial Bold 18pt, Jefferson Blue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a:extLst>
              <a:ext uri="{FF2B5EF4-FFF2-40B4-BE49-F238E27FC236}">
                <a16:creationId xmlns:a16="http://schemas.microsoft.com/office/drawing/2014/main" id="{966F03A4-8E23-44E1-9014-B190D1900662}"/>
              </a:ext>
            </a:extLst>
          </p:cNvPr>
          <p:cNvSpPr>
            <a:spLocks noGrp="1"/>
          </p:cNvSpPr>
          <p:nvPr>
            <p:ph sz="quarter" idx="19" hasCustomPrompt="1"/>
          </p:nvPr>
        </p:nvSpPr>
        <p:spPr>
          <a:xfrm>
            <a:off x="350901" y="2003298"/>
            <a:ext cx="4126445" cy="3753068"/>
          </a:xfrm>
          <a:prstGeom prst="rect">
            <a:avLst/>
          </a:prstGeom>
        </p:spPr>
        <p:txBody>
          <a:bodyPr lIns="0" rIns="0"/>
          <a:lstStyle>
            <a:lvl1pPr marL="212598" indent="-212598">
              <a:lnSpc>
                <a:spcPct val="100000"/>
              </a:lnSpc>
              <a:spcBef>
                <a:spcPts val="0"/>
              </a:spcBef>
              <a:spcAft>
                <a:spcPts val="750"/>
              </a:spcAft>
              <a:buClr>
                <a:schemeClr val="accent1"/>
              </a:buClr>
              <a:defRPr sz="1350">
                <a:solidFill>
                  <a:schemeClr val="accent2"/>
                </a:solidFill>
                <a:latin typeface="+mn-lt"/>
              </a:defRPr>
            </a:lvl1pPr>
            <a:lvl2pPr marL="425196" indent="-212598">
              <a:lnSpc>
                <a:spcPct val="100000"/>
              </a:lnSpc>
              <a:spcBef>
                <a:spcPts val="0"/>
              </a:spcBef>
              <a:spcAft>
                <a:spcPts val="750"/>
              </a:spcAft>
              <a:buClr>
                <a:schemeClr val="accent1"/>
              </a:buClr>
              <a:buFont typeface="Arial" panose="020B0604020202020204" pitchFamily="34" charset="0"/>
              <a:buChar char="-"/>
              <a:defRPr sz="1350">
                <a:solidFill>
                  <a:schemeClr val="accent2"/>
                </a:solidFill>
                <a:latin typeface="+mn-lt"/>
              </a:defRPr>
            </a:lvl2pPr>
            <a:lvl3pPr marL="617220" indent="-212598">
              <a:lnSpc>
                <a:spcPct val="100000"/>
              </a:lnSpc>
              <a:spcBef>
                <a:spcPts val="0"/>
              </a:spcBef>
              <a:spcAft>
                <a:spcPts val="750"/>
              </a:spcAft>
              <a:buClr>
                <a:schemeClr val="accent1"/>
              </a:buClr>
              <a:defRPr sz="1350">
                <a:solidFill>
                  <a:schemeClr val="accent2"/>
                </a:solidFill>
                <a:latin typeface="+mn-lt"/>
              </a:defRPr>
            </a:lvl3pPr>
            <a:lvl4pPr marL="822960" indent="-212598">
              <a:lnSpc>
                <a:spcPct val="100000"/>
              </a:lnSpc>
              <a:spcBef>
                <a:spcPts val="0"/>
              </a:spcBef>
              <a:spcAft>
                <a:spcPts val="750"/>
              </a:spcAft>
              <a:buClr>
                <a:schemeClr val="accent1"/>
              </a:buClr>
              <a:buFont typeface="Arial" panose="020B0604020202020204" pitchFamily="34" charset="0"/>
              <a:buChar char="-"/>
              <a:defRPr sz="1350">
                <a:solidFill>
                  <a:schemeClr val="accent2"/>
                </a:solidFill>
                <a:latin typeface="+mn-lt"/>
              </a:defRPr>
            </a:lvl4pPr>
            <a:lvl5pPr marL="1028700" indent="-212598">
              <a:lnSpc>
                <a:spcPct val="100000"/>
              </a:lnSpc>
              <a:spcBef>
                <a:spcPts val="0"/>
              </a:spcBef>
              <a:spcAft>
                <a:spcPts val="750"/>
              </a:spcAft>
              <a:buClr>
                <a:schemeClr val="accent1"/>
              </a:buClr>
              <a:defRPr sz="1350">
                <a:solidFill>
                  <a:schemeClr val="accent2"/>
                </a:solidFill>
                <a:latin typeface="+mn-lt"/>
              </a:defRPr>
            </a:lvl5pPr>
          </a:lstStyle>
          <a:p>
            <a:pPr lvl="0"/>
            <a:r>
              <a:rPr lang="en-US" dirty="0"/>
              <a:t>First level Bullet: Arial Bold 18pt, Jefferson Blue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a:extLst>
              <a:ext uri="{FF2B5EF4-FFF2-40B4-BE49-F238E27FC236}">
                <a16:creationId xmlns:a16="http://schemas.microsoft.com/office/drawing/2014/main" id="{300C4B30-443C-4EEB-8E63-2A591FF6C100}"/>
              </a:ext>
            </a:extLst>
          </p:cNvPr>
          <p:cNvSpPr>
            <a:spLocks noGrp="1"/>
          </p:cNvSpPr>
          <p:nvPr>
            <p:ph type="title" hasCustomPrompt="1"/>
          </p:nvPr>
        </p:nvSpPr>
        <p:spPr>
          <a:xfrm>
            <a:off x="360210" y="756243"/>
            <a:ext cx="8440890" cy="1126345"/>
          </a:xfrm>
          <a:prstGeom prst="rect">
            <a:avLst/>
          </a:prstGeom>
        </p:spPr>
        <p:txBody>
          <a:bodyPr lIns="0" rIns="0">
            <a:noAutofit/>
          </a:bodyPr>
          <a:lstStyle>
            <a:lvl1pPr>
              <a:lnSpc>
                <a:spcPct val="100000"/>
              </a:lnSpc>
              <a:defRPr sz="2400" b="1" i="0" cap="all" spc="225" baseline="0">
                <a:solidFill>
                  <a:schemeClr val="accent1"/>
                </a:solidFill>
                <a:latin typeface="+mn-lt"/>
                <a:ea typeface="Arial" charset="0"/>
                <a:cs typeface="Arial" charset="0"/>
              </a:defRPr>
            </a:lvl1pPr>
          </a:lstStyle>
          <a:p>
            <a:r>
              <a:rPr lang="en-US" dirty="0"/>
              <a:t>TITLE: ARIAL BOLD 32PT, ROTUNDA ORANGE, “LOOSE” TRACKING</a:t>
            </a:r>
          </a:p>
        </p:txBody>
      </p:sp>
      <p:sp>
        <p:nvSpPr>
          <p:cNvPr id="8" name="Text Placeholder 14">
            <a:extLst>
              <a:ext uri="{FF2B5EF4-FFF2-40B4-BE49-F238E27FC236}">
                <a16:creationId xmlns:a16="http://schemas.microsoft.com/office/drawing/2014/main" id="{F11DFA87-6C9F-4AEB-9BB5-9A376D52B08A}"/>
              </a:ext>
            </a:extLst>
          </p:cNvPr>
          <p:cNvSpPr>
            <a:spLocks noGrp="1"/>
          </p:cNvSpPr>
          <p:nvPr>
            <p:ph type="body" sz="quarter" idx="20" hasCustomPrompt="1"/>
          </p:nvPr>
        </p:nvSpPr>
        <p:spPr>
          <a:xfrm>
            <a:off x="360210" y="318031"/>
            <a:ext cx="8440890" cy="317500"/>
          </a:xfrm>
          <a:prstGeom prst="rect">
            <a:avLst/>
          </a:prstGeom>
        </p:spPr>
        <p:txBody>
          <a:bodyPr lIns="0" rIns="0"/>
          <a:lstStyle>
            <a:lvl1pPr marL="0" indent="0">
              <a:lnSpc>
                <a:spcPct val="100000"/>
              </a:lnSpc>
              <a:buNone/>
              <a:defRPr sz="1050" b="1" i="0" cap="all" spc="225" baseline="0">
                <a:solidFill>
                  <a:schemeClr val="accent2"/>
                </a:solidFill>
                <a:latin typeface="+mn-lt"/>
                <a:ea typeface="Arial" charset="0"/>
                <a:cs typeface="Arial" charset="0"/>
              </a:defRPr>
            </a:lvl1pPr>
            <a:lvl2pPr marL="342900" indent="0">
              <a:lnSpc>
                <a:spcPct val="100000"/>
              </a:lnSpc>
              <a:buNone/>
              <a:defRPr sz="1050" b="1" i="0" spc="225">
                <a:solidFill>
                  <a:srgbClr val="1E3A74"/>
                </a:solidFill>
                <a:latin typeface="Arial" charset="0"/>
                <a:ea typeface="Arial" charset="0"/>
                <a:cs typeface="Arial" charset="0"/>
              </a:defRPr>
            </a:lvl2pPr>
            <a:lvl3pPr marL="685800" indent="0">
              <a:lnSpc>
                <a:spcPct val="100000"/>
              </a:lnSpc>
              <a:buNone/>
              <a:defRPr sz="1050" b="1" i="0" spc="225">
                <a:solidFill>
                  <a:srgbClr val="1E3A74"/>
                </a:solidFill>
                <a:latin typeface="Arial" charset="0"/>
                <a:ea typeface="Arial" charset="0"/>
                <a:cs typeface="Arial" charset="0"/>
              </a:defRPr>
            </a:lvl3pPr>
            <a:lvl4pPr marL="1028700" indent="0">
              <a:lnSpc>
                <a:spcPct val="100000"/>
              </a:lnSpc>
              <a:buNone/>
              <a:defRPr sz="1050" b="1" i="0" spc="225">
                <a:solidFill>
                  <a:srgbClr val="1E3A74"/>
                </a:solidFill>
                <a:latin typeface="Arial" charset="0"/>
                <a:ea typeface="Arial" charset="0"/>
                <a:cs typeface="Arial" charset="0"/>
              </a:defRPr>
            </a:lvl4pPr>
            <a:lvl5pPr marL="1371600" indent="0">
              <a:lnSpc>
                <a:spcPct val="100000"/>
              </a:lnSpc>
              <a:buNone/>
              <a:defRPr sz="1050" b="1" i="0" spc="225">
                <a:solidFill>
                  <a:srgbClr val="1E3A74"/>
                </a:solidFill>
                <a:latin typeface="Arial" charset="0"/>
                <a:ea typeface="Arial" charset="0"/>
                <a:cs typeface="Arial" charset="0"/>
              </a:defRPr>
            </a:lvl5pPr>
          </a:lstStyle>
          <a:p>
            <a:pPr lvl="0"/>
            <a:r>
              <a:rPr lang="en-US" dirty="0"/>
              <a:t>01 | SECTION HEADER: ARIAL BOLD 14PT, Jefferson Blue “Loose Tracking”</a:t>
            </a:r>
          </a:p>
        </p:txBody>
      </p:sp>
      <p:sp>
        <p:nvSpPr>
          <p:cNvPr id="9" name="Text Placeholder 7">
            <a:extLst>
              <a:ext uri="{FF2B5EF4-FFF2-40B4-BE49-F238E27FC236}">
                <a16:creationId xmlns:a16="http://schemas.microsoft.com/office/drawing/2014/main" id="{5B2E4D57-7C9C-46BA-A428-879B4C74AAE6}"/>
              </a:ext>
            </a:extLst>
          </p:cNvPr>
          <p:cNvSpPr>
            <a:spLocks noGrp="1"/>
          </p:cNvSpPr>
          <p:nvPr>
            <p:ph type="body" sz="quarter" idx="11" hasCustomPrompt="1"/>
          </p:nvPr>
        </p:nvSpPr>
        <p:spPr>
          <a:xfrm>
            <a:off x="351831" y="5878286"/>
            <a:ext cx="8440340" cy="393927"/>
          </a:xfrm>
          <a:prstGeom prst="rect">
            <a:avLst/>
          </a:prstGeom>
        </p:spPr>
        <p:txBody>
          <a:bodyPr lIns="0" tIns="0" rIns="0" bIns="0" anchor="b">
            <a:noAutofit/>
          </a:bodyPr>
          <a:lstStyle>
            <a:lvl1pPr marL="0" indent="0">
              <a:buNone/>
              <a:defRPr sz="675">
                <a:solidFill>
                  <a:schemeClr val="bg1">
                    <a:lumMod val="50000"/>
                  </a:schemeClr>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Footer/Source: Arial 9 </a:t>
            </a:r>
            <a:r>
              <a:rPr lang="en-US" dirty="0" err="1"/>
              <a:t>pt</a:t>
            </a:r>
            <a:r>
              <a:rPr lang="en-US" dirty="0"/>
              <a:t>, Gray</a:t>
            </a:r>
          </a:p>
        </p:txBody>
      </p:sp>
    </p:spTree>
    <p:extLst>
      <p:ext uri="{BB962C8B-B14F-4D97-AF65-F5344CB8AC3E}">
        <p14:creationId xmlns:p14="http://schemas.microsoft.com/office/powerpoint/2010/main" val="23864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ext Slide">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933D1278-64F5-4E23-896A-3AE24CBD37FF}"/>
              </a:ext>
            </a:extLst>
          </p:cNvPr>
          <p:cNvSpPr>
            <a:spLocks noGrp="1"/>
          </p:cNvSpPr>
          <p:nvPr>
            <p:ph type="body" sz="quarter" idx="13" hasCustomPrompt="1"/>
          </p:nvPr>
        </p:nvSpPr>
        <p:spPr>
          <a:xfrm>
            <a:off x="360210" y="2003038"/>
            <a:ext cx="8431961" cy="3753328"/>
          </a:xfrm>
          <a:prstGeom prst="rect">
            <a:avLst/>
          </a:prstGeom>
        </p:spPr>
        <p:txBody>
          <a:bodyPr lIns="0" rIns="0">
            <a:noAutofit/>
          </a:bodyPr>
          <a:lstStyle>
            <a:lvl1pPr marL="212598" indent="-212598">
              <a:lnSpc>
                <a:spcPct val="100000"/>
              </a:lnSpc>
              <a:spcBef>
                <a:spcPts val="0"/>
              </a:spcBef>
              <a:spcAft>
                <a:spcPts val="750"/>
              </a:spcAft>
              <a:buClr>
                <a:schemeClr val="accent1"/>
              </a:buClr>
              <a:defRPr sz="1350">
                <a:solidFill>
                  <a:schemeClr val="accent2"/>
                </a:solidFill>
                <a:latin typeface="+mn-lt"/>
              </a:defRPr>
            </a:lvl1pPr>
            <a:lvl2pPr marL="425196" indent="-212598">
              <a:lnSpc>
                <a:spcPct val="100000"/>
              </a:lnSpc>
              <a:spcBef>
                <a:spcPts val="0"/>
              </a:spcBef>
              <a:spcAft>
                <a:spcPts val="750"/>
              </a:spcAft>
              <a:buClr>
                <a:schemeClr val="accent1"/>
              </a:buClr>
              <a:buFont typeface="Arial" panose="020B0604020202020204" pitchFamily="34" charset="0"/>
              <a:buChar char="-"/>
              <a:defRPr sz="1350">
                <a:solidFill>
                  <a:schemeClr val="accent2"/>
                </a:solidFill>
                <a:latin typeface="+mn-lt"/>
              </a:defRPr>
            </a:lvl2pPr>
            <a:lvl3pPr marL="617220" indent="-212598">
              <a:lnSpc>
                <a:spcPct val="100000"/>
              </a:lnSpc>
              <a:spcBef>
                <a:spcPts val="0"/>
              </a:spcBef>
              <a:spcAft>
                <a:spcPts val="750"/>
              </a:spcAft>
              <a:buClr>
                <a:schemeClr val="accent1"/>
              </a:buClr>
              <a:defRPr sz="1350">
                <a:solidFill>
                  <a:schemeClr val="accent2"/>
                </a:solidFill>
                <a:latin typeface="+mn-lt"/>
              </a:defRPr>
            </a:lvl3pPr>
            <a:lvl4pPr marL="822960" indent="-212598">
              <a:lnSpc>
                <a:spcPct val="100000"/>
              </a:lnSpc>
              <a:spcBef>
                <a:spcPts val="0"/>
              </a:spcBef>
              <a:spcAft>
                <a:spcPts val="750"/>
              </a:spcAft>
              <a:buClr>
                <a:schemeClr val="accent1"/>
              </a:buClr>
              <a:buFont typeface="Arial" panose="020B0604020202020204" pitchFamily="34" charset="0"/>
              <a:buChar char="-"/>
              <a:defRPr sz="1350">
                <a:solidFill>
                  <a:schemeClr val="accent2"/>
                </a:solidFill>
                <a:latin typeface="+mn-lt"/>
              </a:defRPr>
            </a:lvl4pPr>
            <a:lvl5pPr marL="1028700" indent="-212598">
              <a:lnSpc>
                <a:spcPct val="100000"/>
              </a:lnSpc>
              <a:spcBef>
                <a:spcPts val="0"/>
              </a:spcBef>
              <a:spcAft>
                <a:spcPts val="750"/>
              </a:spcAft>
              <a:buClr>
                <a:schemeClr val="accent1"/>
              </a:buClr>
              <a:defRPr sz="1350">
                <a:solidFill>
                  <a:schemeClr val="accent2"/>
                </a:solidFill>
                <a:latin typeface="+mn-lt"/>
              </a:defRPr>
            </a:lvl5pPr>
          </a:lstStyle>
          <a:p>
            <a:pPr lvl="0"/>
            <a:r>
              <a:rPr lang="en-US" dirty="0"/>
              <a:t>First level Bullet: Arial Bold 18pt, Jefferson Blue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65FE5C0E-6933-4FF9-9518-8B64E5F95CE2}"/>
              </a:ext>
            </a:extLst>
          </p:cNvPr>
          <p:cNvSpPr>
            <a:spLocks noGrp="1"/>
          </p:cNvSpPr>
          <p:nvPr>
            <p:ph type="title" hasCustomPrompt="1"/>
          </p:nvPr>
        </p:nvSpPr>
        <p:spPr>
          <a:xfrm>
            <a:off x="360210" y="756113"/>
            <a:ext cx="8440890" cy="1126345"/>
          </a:xfrm>
          <a:prstGeom prst="rect">
            <a:avLst/>
          </a:prstGeom>
        </p:spPr>
        <p:txBody>
          <a:bodyPr lIns="0" rIns="0">
            <a:noAutofit/>
          </a:bodyPr>
          <a:lstStyle>
            <a:lvl1pPr>
              <a:lnSpc>
                <a:spcPct val="100000"/>
              </a:lnSpc>
              <a:defRPr sz="2400" b="1" i="0" cap="all" spc="225" baseline="0">
                <a:solidFill>
                  <a:schemeClr val="accent1"/>
                </a:solidFill>
                <a:latin typeface="+mn-lt"/>
                <a:ea typeface="Arial" charset="0"/>
                <a:cs typeface="Arial" charset="0"/>
              </a:defRPr>
            </a:lvl1pPr>
          </a:lstStyle>
          <a:p>
            <a:r>
              <a:rPr lang="en-US" dirty="0"/>
              <a:t>TITLE: ARIAL BOLD 32PT, ROTUNDA ORANGE, “LOOSE” TRACKING</a:t>
            </a:r>
          </a:p>
        </p:txBody>
      </p:sp>
      <p:sp>
        <p:nvSpPr>
          <p:cNvPr id="9" name="Text Placeholder 14">
            <a:extLst>
              <a:ext uri="{FF2B5EF4-FFF2-40B4-BE49-F238E27FC236}">
                <a16:creationId xmlns:a16="http://schemas.microsoft.com/office/drawing/2014/main" id="{37284D4E-32F8-4E6E-9A6F-0B6D45D0C8BC}"/>
              </a:ext>
            </a:extLst>
          </p:cNvPr>
          <p:cNvSpPr>
            <a:spLocks noGrp="1"/>
          </p:cNvSpPr>
          <p:nvPr>
            <p:ph type="body" sz="quarter" idx="12" hasCustomPrompt="1"/>
          </p:nvPr>
        </p:nvSpPr>
        <p:spPr>
          <a:xfrm>
            <a:off x="360210" y="318031"/>
            <a:ext cx="8440890" cy="317500"/>
          </a:xfrm>
          <a:prstGeom prst="rect">
            <a:avLst/>
          </a:prstGeom>
        </p:spPr>
        <p:txBody>
          <a:bodyPr lIns="0" rIns="0"/>
          <a:lstStyle>
            <a:lvl1pPr marL="0" indent="0">
              <a:lnSpc>
                <a:spcPct val="100000"/>
              </a:lnSpc>
              <a:buNone/>
              <a:defRPr sz="1050" b="1" i="0" cap="all" spc="225" baseline="0">
                <a:solidFill>
                  <a:schemeClr val="accent2"/>
                </a:solidFill>
                <a:latin typeface="+mn-lt"/>
                <a:ea typeface="Arial" charset="0"/>
                <a:cs typeface="Arial" charset="0"/>
              </a:defRPr>
            </a:lvl1pPr>
            <a:lvl2pPr marL="342900" indent="0">
              <a:lnSpc>
                <a:spcPct val="100000"/>
              </a:lnSpc>
              <a:buNone/>
              <a:defRPr sz="1050" b="1" i="0" spc="225">
                <a:solidFill>
                  <a:srgbClr val="1E3A74"/>
                </a:solidFill>
                <a:latin typeface="Arial" charset="0"/>
                <a:ea typeface="Arial" charset="0"/>
                <a:cs typeface="Arial" charset="0"/>
              </a:defRPr>
            </a:lvl2pPr>
            <a:lvl3pPr marL="685800" indent="0">
              <a:lnSpc>
                <a:spcPct val="100000"/>
              </a:lnSpc>
              <a:buNone/>
              <a:defRPr sz="1050" b="1" i="0" spc="225">
                <a:solidFill>
                  <a:srgbClr val="1E3A74"/>
                </a:solidFill>
                <a:latin typeface="Arial" charset="0"/>
                <a:ea typeface="Arial" charset="0"/>
                <a:cs typeface="Arial" charset="0"/>
              </a:defRPr>
            </a:lvl3pPr>
            <a:lvl4pPr marL="1028700" indent="0">
              <a:lnSpc>
                <a:spcPct val="100000"/>
              </a:lnSpc>
              <a:buNone/>
              <a:defRPr sz="1050" b="1" i="0" spc="225">
                <a:solidFill>
                  <a:srgbClr val="1E3A74"/>
                </a:solidFill>
                <a:latin typeface="Arial" charset="0"/>
                <a:ea typeface="Arial" charset="0"/>
                <a:cs typeface="Arial" charset="0"/>
              </a:defRPr>
            </a:lvl4pPr>
            <a:lvl5pPr marL="1371600" indent="0">
              <a:lnSpc>
                <a:spcPct val="100000"/>
              </a:lnSpc>
              <a:buNone/>
              <a:defRPr sz="1050" b="1" i="0" spc="225">
                <a:solidFill>
                  <a:srgbClr val="1E3A74"/>
                </a:solidFill>
                <a:latin typeface="Arial" charset="0"/>
                <a:ea typeface="Arial" charset="0"/>
                <a:cs typeface="Arial" charset="0"/>
              </a:defRPr>
            </a:lvl5pPr>
          </a:lstStyle>
          <a:p>
            <a:pPr lvl="0"/>
            <a:r>
              <a:rPr lang="en-US" dirty="0"/>
              <a:t>01 | SECTION HEADER: ARIAL BOLD 14PT, Jefferson Blue “Loose Tracking”</a:t>
            </a:r>
          </a:p>
        </p:txBody>
      </p:sp>
      <p:sp>
        <p:nvSpPr>
          <p:cNvPr id="8" name="Text Placeholder 7">
            <a:extLst>
              <a:ext uri="{FF2B5EF4-FFF2-40B4-BE49-F238E27FC236}">
                <a16:creationId xmlns:a16="http://schemas.microsoft.com/office/drawing/2014/main" id="{9E4A5276-7716-49F9-ACC4-15F6C26B0DAC}"/>
              </a:ext>
            </a:extLst>
          </p:cNvPr>
          <p:cNvSpPr>
            <a:spLocks noGrp="1"/>
          </p:cNvSpPr>
          <p:nvPr>
            <p:ph type="body" sz="quarter" idx="11" hasCustomPrompt="1"/>
          </p:nvPr>
        </p:nvSpPr>
        <p:spPr>
          <a:xfrm>
            <a:off x="351831" y="5878286"/>
            <a:ext cx="8440340" cy="393927"/>
          </a:xfrm>
          <a:prstGeom prst="rect">
            <a:avLst/>
          </a:prstGeom>
        </p:spPr>
        <p:txBody>
          <a:bodyPr lIns="0" tIns="0" rIns="0" bIns="0" anchor="b">
            <a:noAutofit/>
          </a:bodyPr>
          <a:lstStyle>
            <a:lvl1pPr marL="0" indent="0">
              <a:buNone/>
              <a:defRPr sz="675">
                <a:solidFill>
                  <a:schemeClr val="bg1">
                    <a:lumMod val="50000"/>
                  </a:schemeClr>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Footer/Source: Arial 9 </a:t>
            </a:r>
            <a:r>
              <a:rPr lang="en-US" dirty="0" err="1"/>
              <a:t>pt</a:t>
            </a:r>
            <a:r>
              <a:rPr lang="en-US" dirty="0"/>
              <a:t>, Gray</a:t>
            </a:r>
          </a:p>
        </p:txBody>
      </p:sp>
    </p:spTree>
    <p:extLst>
      <p:ext uri="{BB962C8B-B14F-4D97-AF65-F5344CB8AC3E}">
        <p14:creationId xmlns:p14="http://schemas.microsoft.com/office/powerpoint/2010/main" val="3903914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AU"/>
              <a:t>Click to edit Master title style</a:t>
            </a:r>
            <a:endParaRPr lang="en-US"/>
          </a:p>
        </p:txBody>
      </p:sp>
      <p:sp>
        <p:nvSpPr>
          <p:cNvPr id="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8" name="TextBox 7"/>
          <p:cNvSpPr txBox="1"/>
          <p:nvPr userDrawn="1"/>
        </p:nvSpPr>
        <p:spPr>
          <a:xfrm>
            <a:off x="457200" y="6384925"/>
            <a:ext cx="3916908"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AU" sz="1200" dirty="0">
                <a:solidFill>
                  <a:srgbClr val="A6A6A6"/>
                </a:solidFill>
                <a:latin typeface="Arial" charset="0"/>
              </a:rPr>
              <a:t>Copyright © 2020, 2017, 2014 Pearson Education, Inc.</a:t>
            </a:r>
            <a:endParaRPr lang="en-US" sz="1200" dirty="0">
              <a:solidFill>
                <a:srgbClr val="A6A6A6"/>
              </a:solidFill>
              <a:latin typeface="Arial" charset="0"/>
            </a:endParaRPr>
          </a:p>
        </p:txBody>
      </p:sp>
      <p:sp>
        <p:nvSpPr>
          <p:cNvPr id="6" name="TextBox 5"/>
          <p:cNvSpPr txBox="1"/>
          <p:nvPr userDrawn="1"/>
        </p:nvSpPr>
        <p:spPr>
          <a:xfrm>
            <a:off x="7975600" y="6384925"/>
            <a:ext cx="671979"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6" r:id="rId12"/>
    <p:sldLayoutId id="2147483677" r:id="rId13"/>
    <p:sldLayoutId id="2147483678" r:id="rId14"/>
    <p:sldLayoutId id="2147483679" r:id="rId15"/>
    <p:sldLayoutId id="2147483680" r:id="rId16"/>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tmplLst>
          <p:tmpl>
            <p:tnLst>
              <p:par>
                <p:cTn presetID="18" presetClass="entr" presetSubtype="6" fill="hold" nodeType="afterEffect">
                  <p:stCondLst>
                    <p:cond delay="1000"/>
                  </p:stCondLst>
                  <p:childTnLst>
                    <p:set>
                      <p:cBhvr>
                        <p:cTn dur="1" fill="hold">
                          <p:stCondLst>
                            <p:cond delay="0"/>
                          </p:stCondLst>
                        </p:cTn>
                        <p:tgtEl>
                          <p:spTgt spid="3"/>
                        </p:tgtEl>
                        <p:attrNameLst>
                          <p:attrName>style.visibility</p:attrName>
                        </p:attrNameLst>
                      </p:cBhvr>
                      <p:to>
                        <p:strVal val="visible"/>
                      </p:to>
                    </p:set>
                    <p:animEffect transition="in" filter="strips(downRight)">
                      <p:cBhvr>
                        <p:cTn dur="1000"/>
                        <p:tgtEl>
                          <p:spTgt spid="3"/>
                        </p:tgtEl>
                      </p:cBhvr>
                    </p:animEffect>
                  </p:childTnLst>
                </p:cTn>
              </p:par>
            </p:tnLst>
          </p:tmpl>
        </p:tmplLst>
      </p:bldP>
    </p:bldLst>
  </p:timing>
  <p:txStyles>
    <p:titleStyle>
      <a:lvl1pPr algn="ctr" defTabSz="457200" rtl="0" fontAlgn="base">
        <a:spcBef>
          <a:spcPct val="0"/>
        </a:spcBef>
        <a:spcAft>
          <a:spcPct val="0"/>
        </a:spcAft>
        <a:defRPr sz="4400" b="1" kern="1200">
          <a:solidFill>
            <a:schemeClr val="tx1"/>
          </a:solidFill>
          <a:latin typeface="Arial"/>
          <a:ea typeface="ＭＳ Ｐゴシック" charset="0"/>
          <a:cs typeface="Arial"/>
        </a:defRPr>
      </a:lvl1pPr>
      <a:lvl2pPr algn="ctr" defTabSz="457200" rtl="0" fontAlgn="base">
        <a:spcBef>
          <a:spcPct val="0"/>
        </a:spcBef>
        <a:spcAft>
          <a:spcPct val="0"/>
        </a:spcAft>
        <a:defRPr sz="4400" b="1">
          <a:solidFill>
            <a:schemeClr val="tx1"/>
          </a:solidFill>
          <a:latin typeface="Arial" charset="0"/>
          <a:ea typeface="ＭＳ Ｐゴシック" charset="0"/>
          <a:cs typeface="Arial" charset="0"/>
        </a:defRPr>
      </a:lvl2pPr>
      <a:lvl3pPr algn="ctr" defTabSz="457200" rtl="0" fontAlgn="base">
        <a:spcBef>
          <a:spcPct val="0"/>
        </a:spcBef>
        <a:spcAft>
          <a:spcPct val="0"/>
        </a:spcAft>
        <a:defRPr sz="4400" b="1">
          <a:solidFill>
            <a:schemeClr val="tx1"/>
          </a:solidFill>
          <a:latin typeface="Arial" charset="0"/>
          <a:ea typeface="ＭＳ Ｐゴシック" charset="0"/>
          <a:cs typeface="Arial" charset="0"/>
        </a:defRPr>
      </a:lvl3pPr>
      <a:lvl4pPr algn="ctr" defTabSz="457200" rtl="0" fontAlgn="base">
        <a:spcBef>
          <a:spcPct val="0"/>
        </a:spcBef>
        <a:spcAft>
          <a:spcPct val="0"/>
        </a:spcAft>
        <a:defRPr sz="4400" b="1">
          <a:solidFill>
            <a:schemeClr val="tx1"/>
          </a:solidFill>
          <a:latin typeface="Arial" charset="0"/>
          <a:ea typeface="ＭＳ Ｐゴシック" charset="0"/>
          <a:cs typeface="Arial" charset="0"/>
        </a:defRPr>
      </a:lvl4pPr>
      <a:lvl5pPr algn="ctr" defTabSz="457200" rtl="0" fontAlgn="base">
        <a:spcBef>
          <a:spcPct val="0"/>
        </a:spcBef>
        <a:spcAft>
          <a:spcPct val="0"/>
        </a:spcAft>
        <a:defRPr sz="4400" b="1">
          <a:solidFill>
            <a:schemeClr val="tx1"/>
          </a:solidFill>
          <a:latin typeface="Arial" charset="0"/>
          <a:ea typeface="ＭＳ Ｐゴシック" charset="0"/>
          <a:cs typeface="Arial" charset="0"/>
        </a:defRPr>
      </a:lvl5pPr>
      <a:lvl6pPr marL="457200" algn="ctr" defTabSz="457200" rtl="0" fontAlgn="base">
        <a:spcBef>
          <a:spcPct val="0"/>
        </a:spcBef>
        <a:spcAft>
          <a:spcPct val="0"/>
        </a:spcAft>
        <a:defRPr sz="4400" b="1">
          <a:solidFill>
            <a:schemeClr val="tx1"/>
          </a:solidFill>
          <a:latin typeface="Arial" charset="0"/>
          <a:ea typeface="ＭＳ Ｐゴシック" charset="0"/>
          <a:cs typeface="Arial" charset="0"/>
        </a:defRPr>
      </a:lvl6pPr>
      <a:lvl7pPr marL="914400" algn="ctr" defTabSz="457200" rtl="0" fontAlgn="base">
        <a:spcBef>
          <a:spcPct val="0"/>
        </a:spcBef>
        <a:spcAft>
          <a:spcPct val="0"/>
        </a:spcAft>
        <a:defRPr sz="4400" b="1">
          <a:solidFill>
            <a:schemeClr val="tx1"/>
          </a:solidFill>
          <a:latin typeface="Arial" charset="0"/>
          <a:ea typeface="ＭＳ Ｐゴシック" charset="0"/>
          <a:cs typeface="Arial" charset="0"/>
        </a:defRPr>
      </a:lvl7pPr>
      <a:lvl8pPr marL="1371600" algn="ctr" defTabSz="457200" rtl="0" fontAlgn="base">
        <a:spcBef>
          <a:spcPct val="0"/>
        </a:spcBef>
        <a:spcAft>
          <a:spcPct val="0"/>
        </a:spcAft>
        <a:defRPr sz="4400" b="1">
          <a:solidFill>
            <a:schemeClr val="tx1"/>
          </a:solidFill>
          <a:latin typeface="Arial" charset="0"/>
          <a:ea typeface="ＭＳ Ｐゴシック" charset="0"/>
          <a:cs typeface="Arial" charset="0"/>
        </a:defRPr>
      </a:lvl8pPr>
      <a:lvl9pPr marL="1828800" algn="ctr" defTabSz="457200" rtl="0" fontAlgn="base">
        <a:spcBef>
          <a:spcPct val="0"/>
        </a:spcBef>
        <a:spcAft>
          <a:spcPct val="0"/>
        </a:spcAft>
        <a:defRPr sz="4400" b="1">
          <a:solidFill>
            <a:schemeClr val="tx1"/>
          </a:solidFill>
          <a:latin typeface="Arial" charset="0"/>
          <a:ea typeface="ＭＳ Ｐゴシック" charset="0"/>
          <a:cs typeface="Arial" charset="0"/>
        </a:defRPr>
      </a:lvl9pPr>
    </p:titleStyle>
    <p:bodyStyle>
      <a:lvl1pPr marL="342900" indent="-342900" algn="l" defTabSz="457200" rtl="0" fontAlgn="base">
        <a:lnSpc>
          <a:spcPct val="90000"/>
        </a:lnSpc>
        <a:spcBef>
          <a:spcPct val="0"/>
        </a:spcBef>
        <a:spcAft>
          <a:spcPts val="1200"/>
        </a:spcAft>
        <a:buClr>
          <a:schemeClr val="accent1"/>
        </a:buClr>
        <a:buFont typeface="Arial Unicode MS" charset="0"/>
        <a:buChar char="▶"/>
        <a:defRPr sz="3200" kern="1200">
          <a:solidFill>
            <a:schemeClr val="tx1"/>
          </a:solidFill>
          <a:latin typeface="Arial"/>
          <a:ea typeface="ＭＳ Ｐゴシック" charset="0"/>
          <a:cs typeface="Arial"/>
        </a:defRPr>
      </a:lvl1pPr>
      <a:lvl2pPr marL="742950" indent="-285750" algn="l" defTabSz="457200" rtl="0" fontAlgn="base">
        <a:lnSpc>
          <a:spcPct val="90000"/>
        </a:lnSpc>
        <a:spcBef>
          <a:spcPct val="0"/>
        </a:spcBef>
        <a:spcAft>
          <a:spcPts val="1200"/>
        </a:spcAft>
        <a:buClr>
          <a:schemeClr val="accent1"/>
        </a:buClr>
        <a:buFont typeface="Arial Unicode MS" charset="0"/>
        <a:buChar char="▶"/>
        <a:defRPr sz="2800" kern="1200">
          <a:solidFill>
            <a:schemeClr val="tx1"/>
          </a:solidFill>
          <a:latin typeface="Arial"/>
          <a:ea typeface="Arial" charset="0"/>
          <a:cs typeface="Arial"/>
        </a:defRPr>
      </a:lvl2pPr>
      <a:lvl3pPr marL="1143000" indent="-228600" algn="l" defTabSz="457200" rtl="0" fontAlgn="base">
        <a:lnSpc>
          <a:spcPct val="90000"/>
        </a:lnSpc>
        <a:spcBef>
          <a:spcPct val="0"/>
        </a:spcBef>
        <a:spcAft>
          <a:spcPts val="1200"/>
        </a:spcAft>
        <a:buClr>
          <a:schemeClr val="accent1"/>
        </a:buClr>
        <a:buFont typeface="Arial Unicode MS" charset="0"/>
        <a:buChar char="▶"/>
        <a:defRPr sz="2400" kern="1200">
          <a:solidFill>
            <a:schemeClr val="tx1"/>
          </a:solidFill>
          <a:latin typeface="Arial"/>
          <a:ea typeface="Arial" charset="0"/>
          <a:cs typeface="Arial"/>
        </a:defRPr>
      </a:lvl3pPr>
      <a:lvl4pPr marL="1600200" indent="-228600" algn="l" defTabSz="457200" rtl="0" fontAlgn="base">
        <a:lnSpc>
          <a:spcPct val="90000"/>
        </a:lnSpc>
        <a:spcBef>
          <a:spcPct val="0"/>
        </a:spcBef>
        <a:spcAft>
          <a:spcPts val="1200"/>
        </a:spcAft>
        <a:buClr>
          <a:schemeClr val="accent1"/>
        </a:buClr>
        <a:buFont typeface="Arial Unicode MS" charset="0"/>
        <a:buChar char="▶"/>
        <a:defRPr sz="2000" kern="1200">
          <a:solidFill>
            <a:schemeClr val="tx1"/>
          </a:solidFill>
          <a:latin typeface="Arial"/>
          <a:ea typeface="Arial" charset="0"/>
          <a:cs typeface="Arial"/>
        </a:defRPr>
      </a:lvl4pPr>
      <a:lvl5pPr marL="2057400" indent="-228600" algn="l" defTabSz="457200" rtl="0" fontAlgn="base">
        <a:lnSpc>
          <a:spcPct val="90000"/>
        </a:lnSpc>
        <a:spcBef>
          <a:spcPct val="0"/>
        </a:spcBef>
        <a:spcAft>
          <a:spcPts val="1200"/>
        </a:spcAft>
        <a:buClr>
          <a:schemeClr val="accent1"/>
        </a:buClr>
        <a:buFont typeface="Arial Unicode MS" charset="0"/>
        <a:buChar char="▶"/>
        <a:defRPr sz="2000" kern="1200">
          <a:solidFill>
            <a:schemeClr val="tx1"/>
          </a:solidFill>
          <a:latin typeface="Arial"/>
          <a:ea typeface="Arial"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3.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 Id="rId9" Type="http://schemas.openxmlformats.org/officeDocument/2006/relationships/image" Target="../media/image6.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slideLayout" Target="../slideLayouts/slideLayout14.xml"/><Relationship Id="rId5" Type="http://schemas.openxmlformats.org/officeDocument/2006/relationships/image" Target="../media/image9.wmf"/><Relationship Id="rId4"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customXml" Target="../ink/ink1.xml"/><Relationship Id="rId1" Type="http://schemas.openxmlformats.org/officeDocument/2006/relationships/slideLayout" Target="../slideLayouts/slideLayout6.xml"/><Relationship Id="rId6" Type="http://schemas.openxmlformats.org/officeDocument/2006/relationships/customXml" Target="../ink/ink3.xml"/><Relationship Id="rId11" Type="http://schemas.openxmlformats.org/officeDocument/2006/relationships/image" Target="../media/image20.png"/><Relationship Id="rId5" Type="http://schemas.openxmlformats.org/officeDocument/2006/relationships/image" Target="../media/image17.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9.bin"/><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rt3_Opener_B.jpg"/>
          <p:cNvPicPr>
            <a:picLocks noChangeAspect="1"/>
          </p:cNvPicPr>
          <p:nvPr/>
        </p:nvPicPr>
        <p:blipFill rotWithShape="1">
          <a:blip r:embed="rId2">
            <a:alphaModFix amt="48000"/>
            <a:extLst>
              <a:ext uri="{28A0092B-C50C-407E-A947-70E740481C1C}">
                <a14:useLocalDpi xmlns:a14="http://schemas.microsoft.com/office/drawing/2010/main" val="0"/>
              </a:ext>
            </a:extLst>
          </a:blip>
          <a:srcRect l="25000"/>
          <a:stretch/>
        </p:blipFill>
        <p:spPr>
          <a:xfrm>
            <a:off x="0" y="0"/>
            <a:ext cx="9144000" cy="6858000"/>
          </a:xfrm>
          <a:prstGeom prst="rect">
            <a:avLst/>
          </a:prstGeom>
        </p:spPr>
      </p:pic>
      <p:sp>
        <p:nvSpPr>
          <p:cNvPr id="38" name="Rectangle 6"/>
          <p:cNvSpPr txBox="1">
            <a:spLocks noChangeArrowheads="1"/>
          </p:cNvSpPr>
          <p:nvPr/>
        </p:nvSpPr>
        <p:spPr>
          <a:xfrm>
            <a:off x="706437" y="3944938"/>
            <a:ext cx="8136241" cy="1897062"/>
          </a:xfrm>
          <a:prstGeom prst="rect">
            <a:avLst/>
          </a:prstGeom>
          <a:noFill/>
          <a:ln/>
        </p:spPr>
        <p:txBody>
          <a:bodyPr/>
          <a:lstStyle>
            <a:lvl1pPr marL="342900" indent="-342900" algn="l" defTabSz="457200" rtl="0" eaLnBrk="1" latinLnBrk="0" hangingPunct="1">
              <a:spcBef>
                <a:spcPct val="20000"/>
              </a:spcBef>
              <a:buFont typeface="Arial"/>
              <a:buChar char="•"/>
              <a:defRPr sz="3200" kern="1200">
                <a:solidFill>
                  <a:schemeClr val="tx1"/>
                </a:solidFill>
                <a:latin typeface="Times New Roman"/>
                <a:ea typeface="+mn-ea"/>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n-ea"/>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n-ea"/>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n-ea"/>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0" fontAlgn="auto" hangingPunct="0">
              <a:spcBef>
                <a:spcPts val="0"/>
              </a:spcBef>
              <a:buFontTx/>
              <a:buNone/>
              <a:defRPr/>
            </a:pPr>
            <a:r>
              <a:rPr lang="en-US" b="1" dirty="0">
                <a:solidFill>
                  <a:srgbClr val="333333"/>
                </a:solidFill>
                <a:latin typeface="Arial"/>
                <a:cs typeface="Arial"/>
              </a:rPr>
              <a:t>MGT 207</a:t>
            </a:r>
          </a:p>
        </p:txBody>
      </p:sp>
      <p:sp>
        <p:nvSpPr>
          <p:cNvPr id="22" name="Rectangle 21"/>
          <p:cNvSpPr>
            <a:spLocks noChangeArrowheads="1"/>
          </p:cNvSpPr>
          <p:nvPr/>
        </p:nvSpPr>
        <p:spPr bwMode="auto">
          <a:xfrm>
            <a:off x="6927850" y="1109663"/>
            <a:ext cx="1708150" cy="1666875"/>
          </a:xfrm>
          <a:prstGeom prst="rect">
            <a:avLst/>
          </a:prstGeom>
          <a:solidFill>
            <a:srgbClr val="BFBFBF"/>
          </a:solidFill>
          <a:ln>
            <a:noFill/>
          </a:ln>
          <a:effectLst>
            <a:outerShdw blurRad="63500" dist="23000" dir="5400000" rotWithShape="0">
              <a:srgbClr val="000000">
                <a:alpha val="34999"/>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mn-ea"/>
              <a:cs typeface="+mn-cs"/>
            </a:endParaRPr>
          </a:p>
        </p:txBody>
      </p:sp>
      <p:grpSp>
        <p:nvGrpSpPr>
          <p:cNvPr id="23" name="Group 32"/>
          <p:cNvGrpSpPr>
            <a:grpSpLocks/>
          </p:cNvGrpSpPr>
          <p:nvPr/>
        </p:nvGrpSpPr>
        <p:grpSpPr bwMode="auto">
          <a:xfrm>
            <a:off x="368300" y="638175"/>
            <a:ext cx="6732588" cy="2363788"/>
            <a:chOff x="0" y="1417638"/>
            <a:chExt cx="7500407" cy="1305983"/>
          </a:xfrm>
        </p:grpSpPr>
        <p:sp>
          <p:nvSpPr>
            <p:cNvPr id="24" name="Rectangle 4"/>
            <p:cNvSpPr/>
            <p:nvPr/>
          </p:nvSpPr>
          <p:spPr>
            <a:xfrm>
              <a:off x="7056501" y="1564112"/>
              <a:ext cx="443906" cy="1159509"/>
            </a:xfrm>
            <a:custGeom>
              <a:avLst/>
              <a:gdLst>
                <a:gd name="connsiteX0" fmla="*/ 0 w 443441"/>
                <a:gd name="connsiteY0" fmla="*/ 0 h 1159933"/>
                <a:gd name="connsiteX1" fmla="*/ 443441 w 443441"/>
                <a:gd name="connsiteY1" fmla="*/ 0 h 1159933"/>
                <a:gd name="connsiteX2" fmla="*/ 443441 w 443441"/>
                <a:gd name="connsiteY2" fmla="*/ 1159933 h 1159933"/>
                <a:gd name="connsiteX3" fmla="*/ 0 w 443441"/>
                <a:gd name="connsiteY3" fmla="*/ 1159933 h 1159933"/>
                <a:gd name="connsiteX4" fmla="*/ 0 w 443441"/>
                <a:gd name="connsiteY4" fmla="*/ 0 h 1159933"/>
                <a:gd name="connsiteX0" fmla="*/ 0 w 443441"/>
                <a:gd name="connsiteY0" fmla="*/ 0 h 1159933"/>
                <a:gd name="connsiteX1" fmla="*/ 443441 w 443441"/>
                <a:gd name="connsiteY1" fmla="*/ 0 h 1159933"/>
                <a:gd name="connsiteX2" fmla="*/ 262467 w 443441"/>
                <a:gd name="connsiteY2" fmla="*/ 555095 h 1159933"/>
                <a:gd name="connsiteX3" fmla="*/ 443441 w 443441"/>
                <a:gd name="connsiteY3" fmla="*/ 1159933 h 1159933"/>
                <a:gd name="connsiteX4" fmla="*/ 0 w 443441"/>
                <a:gd name="connsiteY4" fmla="*/ 1159933 h 1159933"/>
                <a:gd name="connsiteX5" fmla="*/ 0 w 443441"/>
                <a:gd name="connsiteY5" fmla="*/ 0 h 1159933"/>
                <a:gd name="connsiteX0" fmla="*/ 0 w 443441"/>
                <a:gd name="connsiteY0" fmla="*/ 0 h 1159933"/>
                <a:gd name="connsiteX1" fmla="*/ 443441 w 443441"/>
                <a:gd name="connsiteY1" fmla="*/ 0 h 1159933"/>
                <a:gd name="connsiteX2" fmla="*/ 262467 w 443441"/>
                <a:gd name="connsiteY2" fmla="*/ 555095 h 1159933"/>
                <a:gd name="connsiteX3" fmla="*/ 443441 w 443441"/>
                <a:gd name="connsiteY3" fmla="*/ 1159933 h 1159933"/>
                <a:gd name="connsiteX4" fmla="*/ 0 w 443441"/>
                <a:gd name="connsiteY4" fmla="*/ 1159933 h 1159933"/>
                <a:gd name="connsiteX5" fmla="*/ 0 w 443441"/>
                <a:gd name="connsiteY5" fmla="*/ 0 h 1159933"/>
                <a:gd name="connsiteX0" fmla="*/ 0 w 443441"/>
                <a:gd name="connsiteY0" fmla="*/ 0 h 1159933"/>
                <a:gd name="connsiteX1" fmla="*/ 443441 w 443441"/>
                <a:gd name="connsiteY1" fmla="*/ 0 h 1159933"/>
                <a:gd name="connsiteX2" fmla="*/ 262467 w 443441"/>
                <a:gd name="connsiteY2" fmla="*/ 555095 h 1159933"/>
                <a:gd name="connsiteX3" fmla="*/ 443441 w 443441"/>
                <a:gd name="connsiteY3" fmla="*/ 1159933 h 1159933"/>
                <a:gd name="connsiteX4" fmla="*/ 0 w 443441"/>
                <a:gd name="connsiteY4" fmla="*/ 1159933 h 1159933"/>
                <a:gd name="connsiteX5" fmla="*/ 0 w 443441"/>
                <a:gd name="connsiteY5" fmla="*/ 0 h 1159933"/>
                <a:gd name="connsiteX0" fmla="*/ 0 w 443441"/>
                <a:gd name="connsiteY0" fmla="*/ 0 h 1159933"/>
                <a:gd name="connsiteX1" fmla="*/ 443441 w 443441"/>
                <a:gd name="connsiteY1" fmla="*/ 0 h 1159933"/>
                <a:gd name="connsiteX2" fmla="*/ 262467 w 443441"/>
                <a:gd name="connsiteY2" fmla="*/ 583670 h 1159933"/>
                <a:gd name="connsiteX3" fmla="*/ 443441 w 443441"/>
                <a:gd name="connsiteY3" fmla="*/ 1159933 h 1159933"/>
                <a:gd name="connsiteX4" fmla="*/ 0 w 443441"/>
                <a:gd name="connsiteY4" fmla="*/ 1159933 h 1159933"/>
                <a:gd name="connsiteX5" fmla="*/ 0 w 443441"/>
                <a:gd name="connsiteY5" fmla="*/ 0 h 115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441" h="1159933">
                  <a:moveTo>
                    <a:pt x="0" y="0"/>
                  </a:moveTo>
                  <a:lnTo>
                    <a:pt x="443441" y="0"/>
                  </a:lnTo>
                  <a:lnTo>
                    <a:pt x="262467" y="583670"/>
                  </a:lnTo>
                  <a:lnTo>
                    <a:pt x="443441" y="1159933"/>
                  </a:lnTo>
                  <a:lnTo>
                    <a:pt x="0" y="1159933"/>
                  </a:lnTo>
                  <a:lnTo>
                    <a:pt x="0" y="0"/>
                  </a:lnTo>
                  <a:close/>
                </a:path>
              </a:pathLst>
            </a:custGeom>
            <a:solidFill>
              <a:srgbClr val="255898"/>
            </a:solidFill>
            <a:ln w="25400" cap="flat" cmpd="sng" algn="ctr">
              <a:solidFill>
                <a:srgbClr val="FFFFFF">
                  <a:lumMod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Helvetica Neue"/>
                <a:ea typeface="+mn-ea"/>
                <a:cs typeface="Helvetica Neue"/>
              </a:endParaRPr>
            </a:p>
          </p:txBody>
        </p:sp>
        <p:sp>
          <p:nvSpPr>
            <p:cNvPr id="25" name="Rectangle 24"/>
            <p:cNvSpPr/>
            <p:nvPr/>
          </p:nvSpPr>
          <p:spPr>
            <a:xfrm>
              <a:off x="0" y="1417638"/>
              <a:ext cx="7208596" cy="1159509"/>
            </a:xfrm>
            <a:prstGeom prst="rect">
              <a:avLst/>
            </a:prstGeom>
            <a:solidFill>
              <a:srgbClr val="255898"/>
            </a:solidFill>
            <a:ln w="25400" cap="flat" cmpd="sng" algn="ctr">
              <a:solidFill>
                <a:srgbClr val="FFFFFF">
                  <a:lumMod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Helvetica Neue"/>
                <a:ea typeface="+mn-ea"/>
                <a:cs typeface="Helvetica Neue"/>
              </a:endParaRPr>
            </a:p>
          </p:txBody>
        </p:sp>
        <p:sp>
          <p:nvSpPr>
            <p:cNvPr id="26" name="Freeform 25"/>
            <p:cNvSpPr>
              <a:spLocks/>
            </p:cNvSpPr>
            <p:nvPr/>
          </p:nvSpPr>
          <p:spPr bwMode="auto">
            <a:xfrm>
              <a:off x="7054850" y="2574925"/>
              <a:ext cx="149225" cy="142875"/>
            </a:xfrm>
            <a:custGeom>
              <a:avLst/>
              <a:gdLst>
                <a:gd name="T0" fmla="*/ 149225 w 149225"/>
                <a:gd name="T1" fmla="*/ 0 h 142875"/>
                <a:gd name="T2" fmla="*/ 0 w 149225"/>
                <a:gd name="T3" fmla="*/ 142875 h 142875"/>
                <a:gd name="T4" fmla="*/ 6350 w 149225"/>
                <a:gd name="T5" fmla="*/ 0 h 142875"/>
                <a:gd name="T6" fmla="*/ 149225 w 149225"/>
                <a:gd name="T7" fmla="*/ 0 h 1428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225" h="142875">
                  <a:moveTo>
                    <a:pt x="149225" y="0"/>
                  </a:moveTo>
                  <a:lnTo>
                    <a:pt x="0" y="142875"/>
                  </a:lnTo>
                  <a:lnTo>
                    <a:pt x="6350" y="0"/>
                  </a:lnTo>
                  <a:lnTo>
                    <a:pt x="149225" y="0"/>
                  </a:lnTo>
                  <a:close/>
                </a:path>
              </a:pathLst>
            </a:custGeom>
            <a:solidFill>
              <a:srgbClr val="7F7F7F"/>
            </a:solidFill>
            <a:ln>
              <a:noFill/>
            </a:ln>
            <a:effectLst>
              <a:outerShdw blurRad="63500" dist="23000" dir="5400000" rotWithShape="0">
                <a:srgbClr val="000000">
                  <a:alpha val="34999"/>
                </a:srgbClr>
              </a:outerShdw>
            </a:effectLst>
            <a:extLst>
              <a:ext uri="{91240B29-F687-4f45-9708-019B960494DF}">
                <a14:hiddenLine xmlns:a14="http://schemas.microsoft.com/office/drawing/2010/main" xmlns="" w="9525" cap="flat" cmpd="sng">
                  <a:solidFill>
                    <a:srgbClr val="000000"/>
                  </a:solidFill>
                  <a:prstDash val="solid"/>
                  <a:round/>
                  <a:headEnd/>
                  <a:tailEnd/>
                </a14:hiddenLine>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27" name="Title 1"/>
          <p:cNvSpPr txBox="1">
            <a:spLocks/>
          </p:cNvSpPr>
          <p:nvPr/>
        </p:nvSpPr>
        <p:spPr bwMode="auto">
          <a:xfrm>
            <a:off x="1231900" y="574675"/>
            <a:ext cx="4914900" cy="21669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defTabSz="914400" fontAlgn="auto">
              <a:lnSpc>
                <a:spcPct val="90000"/>
              </a:lnSpc>
              <a:spcBef>
                <a:spcPts val="0"/>
              </a:spcBef>
              <a:spcAft>
                <a:spcPts val="0"/>
              </a:spcAft>
            </a:pPr>
            <a:r>
              <a:rPr lang="en-US" sz="4400" b="1" dirty="0">
                <a:solidFill>
                  <a:schemeClr val="bg1"/>
                </a:solidFill>
              </a:rPr>
              <a:t>Supply Chain Management</a:t>
            </a:r>
          </a:p>
        </p:txBody>
      </p:sp>
      <p:sp>
        <p:nvSpPr>
          <p:cNvPr id="28" name="TextBox 27"/>
          <p:cNvSpPr txBox="1"/>
          <p:nvPr/>
        </p:nvSpPr>
        <p:spPr>
          <a:xfrm>
            <a:off x="6819900" y="874713"/>
            <a:ext cx="1255472" cy="2000548"/>
          </a:xfrm>
          <a:prstGeom prst="rect">
            <a:avLst/>
          </a:prstGeom>
          <a:noFill/>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2400" kern="0" spc="-1000" dirty="0">
                <a:solidFill>
                  <a:srgbClr val="FFFFFF"/>
                </a:solidFill>
                <a:effectLst>
                  <a:outerShdw blurRad="38100" dist="38100" dir="2700000" algn="tl">
                    <a:srgbClr val="DDDDDD"/>
                  </a:outerShdw>
                </a:effectLst>
              </a:rPr>
              <a:t> 7</a:t>
            </a:r>
            <a:endParaRPr kumimoji="0" lang="en-US" sz="12400" b="0" i="0" u="none" strike="noStrike" kern="0" cap="none" spc="-1000" normalizeH="0" baseline="0" noProof="0" dirty="0">
              <a:ln>
                <a:noFill/>
              </a:ln>
              <a:solidFill>
                <a:srgbClr val="FFFFFF"/>
              </a:solidFill>
              <a:effectLst>
                <a:outerShdw blurRad="38100" dist="38100" dir="2700000" algn="tl">
                  <a:srgbClr val="DDDDDD"/>
                </a:outerShdw>
              </a:effectLst>
              <a:uLnTx/>
              <a:uFillTx/>
              <a:latin typeface="Arial" charset="0"/>
              <a:ea typeface="ＭＳ Ｐゴシック" charset="0"/>
              <a:cs typeface="Arial" charset="0"/>
            </a:endParaRPr>
          </a:p>
        </p:txBody>
      </p:sp>
    </p:spTree>
  </p:cSld>
  <p:clrMapOvr>
    <a:masterClrMapping/>
  </p:clrMapOvr>
  <p:transition spd="slow">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457200" y="274638"/>
            <a:ext cx="8229600" cy="1617662"/>
          </a:xfrm>
        </p:spPr>
        <p:txBody>
          <a:bodyPr/>
          <a:lstStyle/>
          <a:p>
            <a:r>
              <a:rPr lang="en-US" dirty="0">
                <a:latin typeface="Arial" charset="0"/>
                <a:cs typeface="Arial" charset="0"/>
              </a:rPr>
              <a:t>Supply Chain </a:t>
            </a:r>
          </a:p>
        </p:txBody>
      </p:sp>
      <p:sp>
        <p:nvSpPr>
          <p:cNvPr id="30722" name="Content Placeholder 1"/>
          <p:cNvSpPr>
            <a:spLocks noGrp="1"/>
          </p:cNvSpPr>
          <p:nvPr>
            <p:ph idx="1"/>
          </p:nvPr>
        </p:nvSpPr>
        <p:spPr>
          <a:xfrm>
            <a:off x="685800" y="2120900"/>
            <a:ext cx="7772400" cy="4005263"/>
          </a:xfrm>
        </p:spPr>
        <p:txBody>
          <a:bodyPr/>
          <a:lstStyle/>
          <a:p>
            <a:pPr marL="0" indent="0">
              <a:buNone/>
            </a:pPr>
            <a:endParaRPr lang="en-US" dirty="0">
              <a:latin typeface="Arial" charset="0"/>
              <a:cs typeface="Arial" charset="0"/>
            </a:endParaRPr>
          </a:p>
          <a:p>
            <a:pPr marL="0" indent="0">
              <a:buNone/>
            </a:pPr>
            <a:r>
              <a:rPr lang="en-US" dirty="0">
                <a:latin typeface="Arial" charset="0"/>
                <a:cs typeface="Arial" charset="0"/>
              </a:rPr>
              <a:t>Includes everything starting with suppliers, manufacturers and/or service providers, distributors, wholesalers, retailers, and ending with final customers</a:t>
            </a:r>
          </a:p>
        </p:txBody>
      </p:sp>
    </p:spTree>
    <p:extLst>
      <p:ext uri="{BB962C8B-B14F-4D97-AF65-F5344CB8AC3E}">
        <p14:creationId xmlns:p14="http://schemas.microsoft.com/office/powerpoint/2010/main" val="1975166400"/>
      </p:ext>
    </p:extLst>
  </p:cSld>
  <p:clrMapOvr>
    <a:masterClrMapping/>
  </p:clrMapOvr>
  <p:transition>
    <p:pull dir="l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title"/>
          </p:nvPr>
        </p:nvSpPr>
        <p:spPr>
          <a:xfrm>
            <a:off x="685800" y="342900"/>
            <a:ext cx="7772400" cy="876300"/>
          </a:xfrm>
        </p:spPr>
        <p:txBody>
          <a:bodyPr/>
          <a:lstStyle/>
          <a:p>
            <a:r>
              <a:rPr lang="en-US" dirty="0">
                <a:latin typeface="Arial" charset="0"/>
                <a:cs typeface="Arial" charset="0"/>
              </a:rPr>
              <a:t>A Supply Chain for Beer</a:t>
            </a:r>
          </a:p>
        </p:txBody>
      </p:sp>
      <p:sp>
        <p:nvSpPr>
          <p:cNvPr id="38916" name="Rectangle 4"/>
          <p:cNvSpPr>
            <a:spLocks noChangeArrowheads="1"/>
          </p:cNvSpPr>
          <p:nvPr/>
        </p:nvSpPr>
        <p:spPr bwMode="auto">
          <a:xfrm>
            <a:off x="517525" y="1330325"/>
            <a:ext cx="1208088"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600" dirty="0"/>
              <a:t>Figure </a:t>
            </a:r>
            <a:r>
              <a:rPr lang="en-US" sz="1600" dirty="0">
                <a:solidFill>
                  <a:schemeClr val="tx2"/>
                </a:solidFill>
              </a:rPr>
              <a:t>11.1</a:t>
            </a:r>
          </a:p>
        </p:txBody>
      </p:sp>
      <p:pic>
        <p:nvPicPr>
          <p:cNvPr id="3" name="Picture 2" descr="f 11-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893" y="1677862"/>
            <a:ext cx="8469096" cy="4347585"/>
          </a:xfrm>
          <a:prstGeom prst="rect">
            <a:avLst/>
          </a:prstGeom>
        </p:spPr>
      </p:pic>
    </p:spTree>
    <p:extLst>
      <p:ext uri="{BB962C8B-B14F-4D97-AF65-F5344CB8AC3E}">
        <p14:creationId xmlns:p14="http://schemas.microsoft.com/office/powerpoint/2010/main" val="2254208321"/>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2/3*#ppt_w"/>
                                          </p:val>
                                        </p:tav>
                                        <p:tav tm="100000">
                                          <p:val>
                                            <p:strVal val="#ppt_w"/>
                                          </p:val>
                                        </p:tav>
                                      </p:tavLst>
                                    </p:anim>
                                    <p:anim calcmode="lin" valueType="num">
                                      <p:cBhvr>
                                        <p:cTn id="8" dur="1000" fill="hold"/>
                                        <p:tgtEl>
                                          <p:spTgt spid="3"/>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22" presetClass="entr" presetSubtype="8" fill="hold" grpId="0" nodeType="afterEffect">
                                  <p:stCondLst>
                                    <p:cond delay="0"/>
                                  </p:stCondLst>
                                  <p:childTnLst>
                                    <p:set>
                                      <p:cBhvr>
                                        <p:cTn id="11" dur="1" fill="hold">
                                          <p:stCondLst>
                                            <p:cond delay="0"/>
                                          </p:stCondLst>
                                        </p:cTn>
                                        <p:tgtEl>
                                          <p:spTgt spid="38916"/>
                                        </p:tgtEl>
                                        <p:attrNameLst>
                                          <p:attrName>style.visibility</p:attrName>
                                        </p:attrNameLst>
                                      </p:cBhvr>
                                      <p:to>
                                        <p:strVal val="visible"/>
                                      </p:to>
                                    </p:set>
                                    <p:animEffect transition="in" filter="wipe(left)">
                                      <p:cBhvr>
                                        <p:cTn id="12" dur="10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1D029-DA3A-9595-8E69-E2444F061C40}"/>
              </a:ext>
            </a:extLst>
          </p:cNvPr>
          <p:cNvSpPr>
            <a:spLocks noGrp="1"/>
          </p:cNvSpPr>
          <p:nvPr>
            <p:ph type="title"/>
          </p:nvPr>
        </p:nvSpPr>
        <p:spPr/>
        <p:txBody>
          <a:bodyPr/>
          <a:lstStyle/>
          <a:p>
            <a:r>
              <a:rPr lang="en-US" dirty="0"/>
              <a:t>Supply Chain Objective</a:t>
            </a:r>
          </a:p>
        </p:txBody>
      </p:sp>
      <p:sp>
        <p:nvSpPr>
          <p:cNvPr id="3" name="Content Placeholder 2">
            <a:extLst>
              <a:ext uri="{FF2B5EF4-FFF2-40B4-BE49-F238E27FC236}">
                <a16:creationId xmlns:a16="http://schemas.microsoft.com/office/drawing/2014/main" id="{0A9E0757-DC69-C568-9F9A-72FB22492388}"/>
              </a:ext>
            </a:extLst>
          </p:cNvPr>
          <p:cNvSpPr>
            <a:spLocks noGrp="1"/>
          </p:cNvSpPr>
          <p:nvPr>
            <p:ph idx="1"/>
          </p:nvPr>
        </p:nvSpPr>
        <p:spPr/>
        <p:txBody>
          <a:bodyPr/>
          <a:lstStyle/>
          <a:p>
            <a:endParaRPr lang="en-US" dirty="0">
              <a:latin typeface="Arial" charset="0"/>
              <a:cs typeface="Arial" charset="0"/>
            </a:endParaRPr>
          </a:p>
          <a:p>
            <a:endParaRPr lang="en-US" dirty="0">
              <a:latin typeface="Arial" charset="0"/>
              <a:cs typeface="Arial" charset="0"/>
            </a:endParaRPr>
          </a:p>
          <a:p>
            <a:pPr marL="0" indent="0">
              <a:buNone/>
            </a:pPr>
            <a:r>
              <a:rPr lang="en-US" dirty="0">
                <a:latin typeface="Arial" charset="0"/>
                <a:cs typeface="Arial" charset="0"/>
              </a:rPr>
              <a:t>The coordination of all supply chain activities, starting with raw materials and ending with the customer</a:t>
            </a:r>
          </a:p>
          <a:p>
            <a:endParaRPr lang="en-US" dirty="0"/>
          </a:p>
        </p:txBody>
      </p:sp>
    </p:spTree>
    <p:extLst>
      <p:ext uri="{BB962C8B-B14F-4D97-AF65-F5344CB8AC3E}">
        <p14:creationId xmlns:p14="http://schemas.microsoft.com/office/powerpoint/2010/main" val="52580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457200" y="596900"/>
            <a:ext cx="2692400" cy="2717800"/>
          </a:xfrm>
        </p:spPr>
        <p:txBody>
          <a:bodyPr/>
          <a:lstStyle/>
          <a:p>
            <a:pPr algn="l"/>
            <a:r>
              <a:rPr lang="en-US" dirty="0">
                <a:latin typeface="Arial" charset="0"/>
                <a:cs typeface="Arial" charset="0"/>
              </a:rPr>
              <a:t>Supply Chain Costs</a:t>
            </a:r>
          </a:p>
        </p:txBody>
      </p:sp>
      <p:graphicFrame>
        <p:nvGraphicFramePr>
          <p:cNvPr id="4" name="Table 3"/>
          <p:cNvGraphicFramePr>
            <a:graphicFrameLocks noGrp="1"/>
          </p:cNvGraphicFramePr>
          <p:nvPr>
            <p:extLst>
              <p:ext uri="{D42A27DB-BD31-4B8C-83A1-F6EECF244321}">
                <p14:modId xmlns:p14="http://schemas.microsoft.com/office/powerpoint/2010/main" val="2436500460"/>
              </p:ext>
            </p:extLst>
          </p:nvPr>
        </p:nvGraphicFramePr>
        <p:xfrm>
          <a:off x="3098800" y="965200"/>
          <a:ext cx="5359400" cy="4821232"/>
        </p:xfrm>
        <a:graphic>
          <a:graphicData uri="http://schemas.openxmlformats.org/drawingml/2006/table">
            <a:tbl>
              <a:tblPr firstRow="1" bandRow="1">
                <a:tableStyleId>{2D5ABB26-0587-4C30-8999-92F81FD0307C}</a:tableStyleId>
              </a:tblPr>
              <a:tblGrid>
                <a:gridCol w="16510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370864">
                <a:tc>
                  <a:txBody>
                    <a:bodyPr/>
                    <a:lstStyle/>
                    <a:p>
                      <a:r>
                        <a:rPr lang="en-US" sz="1800" dirty="0">
                          <a:solidFill>
                            <a:schemeClr val="bg1"/>
                          </a:solidFill>
                          <a:latin typeface="Arial"/>
                          <a:cs typeface="Arial"/>
                        </a:rPr>
                        <a:t>TABLE 11.1</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gridSpan="2">
                  <a:txBody>
                    <a:bodyPr/>
                    <a:lstStyle/>
                    <a:p>
                      <a:endParaRPr lang="en-US" sz="1800" dirty="0">
                        <a:latin typeface="Arial"/>
                        <a:cs typeface="Arial"/>
                      </a:endParaRPr>
                    </a:p>
                  </a:txBody>
                  <a:tcPr marT="45723" marB="45723">
                    <a:lnL w="12700" cap="flat" cmpd="sng" algn="ctr">
                      <a:solidFill>
                        <a:srgbClr val="FFFFFF">
                          <a:lumMod val="75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70864">
                <a:tc gridSpan="3">
                  <a:txBody>
                    <a:bodyPr/>
                    <a:lstStyle/>
                    <a:p>
                      <a:r>
                        <a:rPr lang="en-US" sz="1800" b="1" dirty="0">
                          <a:latin typeface="Arial"/>
                          <a:cs typeface="Arial"/>
                        </a:rPr>
                        <a:t>Supply Chain Costs as a Percentage of Sales</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1"/>
                  </a:ext>
                </a:extLst>
              </a:tr>
              <a:tr h="370864">
                <a:tc gridSpan="2">
                  <a:txBody>
                    <a:bodyPr/>
                    <a:lstStyle/>
                    <a:p>
                      <a:r>
                        <a:rPr lang="en-US" sz="1800" b="1" dirty="0">
                          <a:solidFill>
                            <a:srgbClr val="FFFFFF"/>
                          </a:solidFill>
                          <a:latin typeface="Arial"/>
                          <a:cs typeface="Arial"/>
                        </a:rPr>
                        <a:t>INDUSTRY</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dirty="0"/>
                    </a:p>
                  </a:txBody>
                  <a:tcPr/>
                </a:tc>
                <a:tc>
                  <a:txBody>
                    <a:bodyPr/>
                    <a:lstStyle/>
                    <a:p>
                      <a:pPr algn="ctr"/>
                      <a:r>
                        <a:rPr lang="en-US" sz="1800" b="1" dirty="0">
                          <a:solidFill>
                            <a:srgbClr val="FFFFFF"/>
                          </a:solidFill>
                          <a:latin typeface="Arial"/>
                          <a:cs typeface="Arial"/>
                        </a:rPr>
                        <a:t>% PURCHASED</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70864">
                <a:tc gridSpan="2">
                  <a:txBody>
                    <a:bodyPr/>
                    <a:lstStyle/>
                    <a:p>
                      <a:r>
                        <a:rPr lang="en-US" sz="1800" dirty="0">
                          <a:latin typeface="Arial"/>
                          <a:cs typeface="Arial"/>
                        </a:rPr>
                        <a:t>Automobiles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67</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370864">
                <a:tc gridSpan="2">
                  <a:txBody>
                    <a:bodyPr/>
                    <a:lstStyle/>
                    <a:p>
                      <a:r>
                        <a:rPr lang="en-US" sz="1800" dirty="0">
                          <a:latin typeface="Arial"/>
                          <a:cs typeface="Arial"/>
                        </a:rPr>
                        <a:t>Beverages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52</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370864">
                <a:tc gridSpan="2">
                  <a:txBody>
                    <a:bodyPr/>
                    <a:lstStyle/>
                    <a:p>
                      <a:r>
                        <a:rPr lang="en-US" sz="1800" dirty="0">
                          <a:latin typeface="Arial"/>
                          <a:cs typeface="Arial"/>
                        </a:rPr>
                        <a:t>Chemical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62</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5"/>
                  </a:ext>
                </a:extLst>
              </a:tr>
              <a:tr h="370864">
                <a:tc gridSpan="2">
                  <a:txBody>
                    <a:bodyPr/>
                    <a:lstStyle/>
                    <a:p>
                      <a:r>
                        <a:rPr lang="en-US" sz="1800" dirty="0">
                          <a:latin typeface="Arial"/>
                          <a:cs typeface="Arial"/>
                        </a:rPr>
                        <a:t>Food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60</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6"/>
                  </a:ext>
                </a:extLst>
              </a:tr>
              <a:tr h="370864">
                <a:tc gridSpan="2">
                  <a:txBody>
                    <a:bodyPr/>
                    <a:lstStyle/>
                    <a:p>
                      <a:r>
                        <a:rPr lang="en-US" sz="1800" dirty="0">
                          <a:latin typeface="Arial"/>
                          <a:cs typeface="Arial"/>
                        </a:rPr>
                        <a:t>Lumber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61</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7"/>
                  </a:ext>
                </a:extLst>
              </a:tr>
              <a:tr h="370864">
                <a:tc gridSpan="2">
                  <a:txBody>
                    <a:bodyPr/>
                    <a:lstStyle/>
                    <a:p>
                      <a:r>
                        <a:rPr lang="en-US" sz="1800" dirty="0">
                          <a:latin typeface="Arial"/>
                          <a:cs typeface="Arial"/>
                        </a:rPr>
                        <a:t>Metals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65</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8"/>
                  </a:ext>
                </a:extLst>
              </a:tr>
              <a:tr h="370864">
                <a:tc gridSpan="2">
                  <a:txBody>
                    <a:bodyPr/>
                    <a:lstStyle/>
                    <a:p>
                      <a:r>
                        <a:rPr lang="en-US" sz="1800" dirty="0">
                          <a:latin typeface="Arial"/>
                          <a:cs typeface="Arial"/>
                        </a:rPr>
                        <a:t>Paper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55</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9"/>
                  </a:ext>
                </a:extLst>
              </a:tr>
              <a:tr h="370864">
                <a:tc gridSpan="2">
                  <a:txBody>
                    <a:bodyPr/>
                    <a:lstStyle/>
                    <a:p>
                      <a:r>
                        <a:rPr lang="en-US" sz="1800" dirty="0">
                          <a:latin typeface="Arial"/>
                          <a:cs typeface="Arial"/>
                        </a:rPr>
                        <a:t>Petroleum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79</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10"/>
                  </a:ext>
                </a:extLst>
              </a:tr>
              <a:tr h="370864">
                <a:tc gridSpan="2">
                  <a:txBody>
                    <a:bodyPr/>
                    <a:lstStyle/>
                    <a:p>
                      <a:r>
                        <a:rPr lang="en-US" sz="1800" dirty="0">
                          <a:latin typeface="Arial"/>
                          <a:cs typeface="Arial"/>
                        </a:rPr>
                        <a:t>Restaurants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35</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11"/>
                  </a:ext>
                </a:extLst>
              </a:tr>
              <a:tr h="370864">
                <a:tc gridSpan="2">
                  <a:txBody>
                    <a:bodyPr/>
                    <a:lstStyle/>
                    <a:p>
                      <a:r>
                        <a:rPr lang="en-US" sz="1800" dirty="0">
                          <a:latin typeface="Arial"/>
                          <a:cs typeface="Arial"/>
                        </a:rPr>
                        <a:t>Transportation </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tc>
                <a:tc>
                  <a:txBody>
                    <a:bodyPr/>
                    <a:lstStyle/>
                    <a:p>
                      <a:pPr algn="ctr"/>
                      <a:r>
                        <a:rPr lang="en-US" sz="1800" dirty="0">
                          <a:latin typeface="Arial"/>
                          <a:cs typeface="Arial"/>
                        </a:rPr>
                        <a:t>62</a:t>
                      </a:r>
                    </a:p>
                  </a:txBody>
                  <a:tcPr marT="45723" marB="45723">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618340386"/>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2/3*#ppt_w"/>
                                          </p:val>
                                        </p:tav>
                                        <p:tav tm="100000">
                                          <p:val>
                                            <p:strVal val="#ppt_w"/>
                                          </p:val>
                                        </p:tav>
                                      </p:tavLst>
                                    </p:anim>
                                    <p:anim calcmode="lin" valueType="num">
                                      <p:cBhvr>
                                        <p:cTn id="8" dur="1000" fill="hold"/>
                                        <p:tgtEl>
                                          <p:spTgt spid="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3B56-A692-4378-B643-98E7BF6AC48E}"/>
              </a:ext>
            </a:extLst>
          </p:cNvPr>
          <p:cNvSpPr>
            <a:spLocks noGrp="1"/>
          </p:cNvSpPr>
          <p:nvPr>
            <p:ph type="title"/>
          </p:nvPr>
        </p:nvSpPr>
        <p:spPr/>
        <p:txBody>
          <a:bodyPr/>
          <a:lstStyle/>
          <a:p>
            <a:r>
              <a:rPr lang="en-US" dirty="0"/>
              <a:t>Supply Chain at Emerson Electric</a:t>
            </a:r>
          </a:p>
        </p:txBody>
      </p:sp>
      <p:graphicFrame>
        <p:nvGraphicFramePr>
          <p:cNvPr id="4" name="Content Placeholder 3">
            <a:extLst>
              <a:ext uri="{FF2B5EF4-FFF2-40B4-BE49-F238E27FC236}">
                <a16:creationId xmlns:a16="http://schemas.microsoft.com/office/drawing/2014/main" id="{B97A03B8-F47C-4B51-925C-60A1AE7F3A30}"/>
              </a:ext>
            </a:extLst>
          </p:cNvPr>
          <p:cNvGraphicFramePr>
            <a:graphicFrameLocks noGrp="1"/>
          </p:cNvGraphicFramePr>
          <p:nvPr>
            <p:ph idx="1"/>
            <p:extLst>
              <p:ext uri="{D42A27DB-BD31-4B8C-83A1-F6EECF244321}">
                <p14:modId xmlns:p14="http://schemas.microsoft.com/office/powerpoint/2010/main" val="2231732024"/>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590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685800" y="434975"/>
            <a:ext cx="7772400" cy="889000"/>
          </a:xfrm>
        </p:spPr>
        <p:txBody>
          <a:bodyPr/>
          <a:lstStyle/>
          <a:p>
            <a:r>
              <a:rPr lang="en-US" dirty="0">
                <a:latin typeface="Arial" charset="0"/>
                <a:cs typeface="Arial" charset="0"/>
              </a:rPr>
              <a:t>SCM Strategies</a:t>
            </a:r>
          </a:p>
        </p:txBody>
      </p:sp>
      <p:graphicFrame>
        <p:nvGraphicFramePr>
          <p:cNvPr id="2" name="Table 1"/>
          <p:cNvGraphicFramePr>
            <a:graphicFrameLocks noGrp="1"/>
          </p:cNvGraphicFramePr>
          <p:nvPr>
            <p:extLst>
              <p:ext uri="{D42A27DB-BD31-4B8C-83A1-F6EECF244321}">
                <p14:modId xmlns:p14="http://schemas.microsoft.com/office/powerpoint/2010/main" val="3407887343"/>
              </p:ext>
            </p:extLst>
          </p:nvPr>
        </p:nvGraphicFramePr>
        <p:xfrm>
          <a:off x="520700" y="1514475"/>
          <a:ext cx="8102599" cy="4602444"/>
        </p:xfrm>
        <a:graphic>
          <a:graphicData uri="http://schemas.openxmlformats.org/drawingml/2006/table">
            <a:tbl>
              <a:tblPr firstRow="1" bandRow="1">
                <a:tableStyleId>{2D5ABB26-0587-4C30-8999-92F81FD0307C}</a:tableStyleId>
              </a:tblPr>
              <a:tblGrid>
                <a:gridCol w="1397000">
                  <a:extLst>
                    <a:ext uri="{9D8B030D-6E8A-4147-A177-3AD203B41FA5}">
                      <a16:colId xmlns:a16="http://schemas.microsoft.com/office/drawing/2014/main" val="20000"/>
                    </a:ext>
                  </a:extLst>
                </a:gridCol>
                <a:gridCol w="416817">
                  <a:extLst>
                    <a:ext uri="{9D8B030D-6E8A-4147-A177-3AD203B41FA5}">
                      <a16:colId xmlns:a16="http://schemas.microsoft.com/office/drawing/2014/main" val="20001"/>
                    </a:ext>
                  </a:extLst>
                </a:gridCol>
                <a:gridCol w="1704083">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gridCol w="2717799">
                  <a:extLst>
                    <a:ext uri="{9D8B030D-6E8A-4147-A177-3AD203B41FA5}">
                      <a16:colId xmlns:a16="http://schemas.microsoft.com/office/drawing/2014/main" val="20004"/>
                    </a:ext>
                  </a:extLst>
                </a:gridCol>
              </a:tblGrid>
              <a:tr h="304779">
                <a:tc>
                  <a:txBody>
                    <a:bodyPr/>
                    <a:lstStyle/>
                    <a:p>
                      <a:pPr algn="ctr"/>
                      <a:r>
                        <a:rPr lang="en-US" sz="1400" dirty="0">
                          <a:solidFill>
                            <a:srgbClr val="FFFFFF"/>
                          </a:solidFill>
                          <a:latin typeface="Arial"/>
                          <a:cs typeface="Arial"/>
                        </a:rPr>
                        <a:t>TABLE 11.2</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gridSpan="4">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latin typeface="Arial"/>
                          <a:cs typeface="Arial"/>
                        </a:rPr>
                        <a:t>How Corporate Strategy Impacts Supply Chain Decisions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518124">
                <a:tc gridSpan="2">
                  <a:txBody>
                    <a:bodyPr/>
                    <a:lstStyle/>
                    <a:p>
                      <a:pPr algn="ctr"/>
                      <a:endParaRPr lang="en-US" sz="1400" b="1" dirty="0">
                        <a:solidFill>
                          <a:schemeClr val="bg1"/>
                        </a:solidFill>
                        <a:latin typeface="Arial"/>
                        <a:cs typeface="Arial"/>
                      </a:endParaRP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400" b="1" dirty="0">
                          <a:solidFill>
                            <a:schemeClr val="bg1"/>
                          </a:solidFill>
                          <a:latin typeface="Arial"/>
                          <a:cs typeface="Arial"/>
                        </a:rPr>
                        <a:t>LOW-COST STRATEGY</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400" b="1" dirty="0">
                          <a:solidFill>
                            <a:schemeClr val="bg1"/>
                          </a:solidFill>
                          <a:latin typeface="Arial"/>
                          <a:cs typeface="Arial"/>
                        </a:rPr>
                        <a:t>RESPONSE STRATEGY</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400" b="1" dirty="0">
                          <a:solidFill>
                            <a:schemeClr val="bg1"/>
                          </a:solidFill>
                          <a:latin typeface="Arial"/>
                          <a:cs typeface="Arial"/>
                        </a:rPr>
                        <a:t>DIFFERENTIATION STRATEGY</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944815">
                <a:tc gridSpan="2">
                  <a:txBody>
                    <a:bodyPr/>
                    <a:lstStyle/>
                    <a:p>
                      <a:r>
                        <a:rPr lang="en-US" sz="1400" b="1" dirty="0">
                          <a:latin typeface="Arial"/>
                          <a:cs typeface="Arial"/>
                        </a:rPr>
                        <a:t>Primary supplier selection criteria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indent="-177800">
                        <a:buFont typeface="Arial"/>
                        <a:buChar char="•"/>
                      </a:pPr>
                      <a:r>
                        <a:rPr lang="en-US" sz="1400" dirty="0">
                          <a:latin typeface="Arial"/>
                          <a:cs typeface="Arial"/>
                        </a:rPr>
                        <a:t>Cost</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indent="-177800">
                        <a:buFont typeface="Arial"/>
                        <a:buChar char="•"/>
                      </a:pPr>
                      <a:r>
                        <a:rPr lang="en-US" sz="1400" dirty="0">
                          <a:latin typeface="Arial"/>
                          <a:cs typeface="Arial"/>
                        </a:rPr>
                        <a:t>Capacity</a:t>
                      </a:r>
                    </a:p>
                    <a:p>
                      <a:pPr marL="177800" indent="-177800">
                        <a:buFont typeface="Arial"/>
                        <a:buChar char="•"/>
                      </a:pPr>
                      <a:r>
                        <a:rPr lang="en-US" sz="1400" dirty="0">
                          <a:latin typeface="Arial"/>
                          <a:cs typeface="Arial"/>
                        </a:rPr>
                        <a:t>Speed</a:t>
                      </a:r>
                    </a:p>
                    <a:p>
                      <a:pPr marL="177800" indent="-177800">
                        <a:buFont typeface="Arial"/>
                        <a:buChar char="•"/>
                      </a:pPr>
                      <a:r>
                        <a:rPr lang="en-US" sz="1400" dirty="0">
                          <a:latin typeface="Arial"/>
                          <a:cs typeface="Arial"/>
                        </a:rPr>
                        <a:t>Flexibility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indent="-177800">
                        <a:buFont typeface="Arial"/>
                        <a:buChar char="•"/>
                      </a:pPr>
                      <a:r>
                        <a:rPr lang="en-US" sz="1400" dirty="0">
                          <a:latin typeface="Arial"/>
                          <a:cs typeface="Arial"/>
                        </a:rPr>
                        <a:t>Product development skills</a:t>
                      </a:r>
                    </a:p>
                    <a:p>
                      <a:pPr marL="177800" indent="-177800">
                        <a:buFont typeface="Arial"/>
                        <a:buChar char="•"/>
                      </a:pPr>
                      <a:r>
                        <a:rPr lang="en-US" sz="1400" dirty="0">
                          <a:latin typeface="Arial"/>
                          <a:cs typeface="Arial"/>
                        </a:rPr>
                        <a:t>Willing to share information</a:t>
                      </a:r>
                    </a:p>
                    <a:p>
                      <a:pPr marL="177800" indent="-177800">
                        <a:buFont typeface="Arial"/>
                        <a:buChar char="•"/>
                      </a:pPr>
                      <a:r>
                        <a:rPr lang="en-US" sz="1400" dirty="0">
                          <a:latin typeface="Arial"/>
                          <a:cs typeface="Arial"/>
                        </a:rPr>
                        <a:t>Jointly and rapidly develop products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731470">
                <a:tc gridSpan="2">
                  <a:txBody>
                    <a:bodyPr/>
                    <a:lstStyle/>
                    <a:p>
                      <a:r>
                        <a:rPr lang="en-US" sz="1400" b="1" dirty="0">
                          <a:latin typeface="Arial"/>
                          <a:cs typeface="Arial"/>
                        </a:rPr>
                        <a:t>Supply chain inventory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2">
                        <a:lumMod val="60000"/>
                        <a:lumOff val="40000"/>
                      </a:schemeClr>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indent="-177800">
                        <a:buFont typeface="Arial"/>
                        <a:buChar char="•"/>
                      </a:pPr>
                      <a:r>
                        <a:rPr lang="en-US" sz="1400" dirty="0">
                          <a:latin typeface="Arial"/>
                          <a:cs typeface="Arial"/>
                        </a:rPr>
                        <a:t>Minimize inventory to hold down costs</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2">
                        <a:lumMod val="60000"/>
                        <a:lumOff val="40000"/>
                      </a:schemeClr>
                    </a:solidFill>
                  </a:tcPr>
                </a:tc>
                <a:tc>
                  <a:txBody>
                    <a:bodyPr/>
                    <a:lstStyle/>
                    <a:p>
                      <a:pPr marL="177800" indent="-177800">
                        <a:buFont typeface="Arial"/>
                        <a:buChar char="•"/>
                      </a:pPr>
                      <a:r>
                        <a:rPr lang="en-US" sz="1400" dirty="0">
                          <a:latin typeface="Arial"/>
                          <a:cs typeface="Arial"/>
                        </a:rPr>
                        <a:t>Use buffer stocks to ensure speedy supply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2">
                        <a:lumMod val="60000"/>
                        <a:lumOff val="40000"/>
                      </a:schemeClr>
                    </a:solidFill>
                  </a:tcPr>
                </a:tc>
                <a:tc>
                  <a:txBody>
                    <a:bodyPr/>
                    <a:lstStyle/>
                    <a:p>
                      <a:pPr marL="177800" indent="-177800">
                        <a:buFont typeface="Arial"/>
                        <a:buChar char="•"/>
                      </a:pPr>
                      <a:r>
                        <a:rPr lang="en-US" sz="1400" dirty="0">
                          <a:latin typeface="Arial"/>
                          <a:cs typeface="Arial"/>
                        </a:rPr>
                        <a:t>Minimize inventory to avoid product obsolescence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0003"/>
                  </a:ext>
                </a:extLst>
              </a:tr>
              <a:tr h="1371506">
                <a:tc gridSpan="2">
                  <a:txBody>
                    <a:bodyPr/>
                    <a:lstStyle/>
                    <a:p>
                      <a:r>
                        <a:rPr lang="en-US" sz="1400" b="1" dirty="0">
                          <a:latin typeface="Arial"/>
                          <a:cs typeface="Arial"/>
                        </a:rPr>
                        <a:t>Distribution network </a:t>
                      </a:r>
                    </a:p>
                    <a:p>
                      <a:endParaRPr lang="en-US" sz="1400" b="1" dirty="0">
                        <a:latin typeface="Arial"/>
                        <a:cs typeface="Arial"/>
                      </a:endParaRP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indent="-177800">
                        <a:buFont typeface="Arial"/>
                        <a:buChar char="•"/>
                      </a:pPr>
                      <a:r>
                        <a:rPr lang="en-US" sz="1400" dirty="0">
                          <a:latin typeface="Arial"/>
                          <a:cs typeface="Arial"/>
                        </a:rPr>
                        <a:t>Inexpensive transportation </a:t>
                      </a:r>
                    </a:p>
                    <a:p>
                      <a:pPr marL="177800" indent="-177800">
                        <a:buFont typeface="Arial"/>
                        <a:buChar char="•"/>
                      </a:pPr>
                      <a:r>
                        <a:rPr lang="en-US" sz="1400" dirty="0">
                          <a:latin typeface="Arial"/>
                          <a:cs typeface="Arial"/>
                        </a:rPr>
                        <a:t>Sell through discount distributors/</a:t>
                      </a:r>
                      <a:br>
                        <a:rPr lang="en-US" sz="1400" dirty="0">
                          <a:latin typeface="Arial"/>
                          <a:cs typeface="Arial"/>
                        </a:rPr>
                      </a:br>
                      <a:r>
                        <a:rPr lang="en-US" sz="1400" dirty="0">
                          <a:latin typeface="Arial"/>
                          <a:cs typeface="Arial"/>
                        </a:rPr>
                        <a:t>retailers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indent="-177800">
                        <a:buFont typeface="Arial"/>
                        <a:buChar char="•"/>
                      </a:pPr>
                      <a:r>
                        <a:rPr lang="en-US" sz="1400" dirty="0">
                          <a:latin typeface="Arial"/>
                          <a:cs typeface="Arial"/>
                        </a:rPr>
                        <a:t>Fast transportation</a:t>
                      </a:r>
                    </a:p>
                    <a:p>
                      <a:pPr marL="177800" indent="-177800">
                        <a:buFont typeface="Arial"/>
                        <a:buChar char="•"/>
                      </a:pPr>
                      <a:r>
                        <a:rPr lang="en-US" sz="1400" dirty="0">
                          <a:latin typeface="Arial"/>
                          <a:cs typeface="Arial"/>
                        </a:rPr>
                        <a:t>Provide premium customer service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indent="-177800">
                        <a:buFont typeface="Arial"/>
                        <a:buChar char="•"/>
                      </a:pPr>
                      <a:r>
                        <a:rPr lang="en-US" sz="1400" b="0" kern="1200" dirty="0">
                          <a:solidFill>
                            <a:schemeClr val="tx1"/>
                          </a:solidFill>
                          <a:effectLst/>
                          <a:latin typeface="Arial"/>
                          <a:ea typeface="+mn-ea"/>
                          <a:cs typeface="Arial"/>
                        </a:rPr>
                        <a:t>Gather and communicate market research data </a:t>
                      </a:r>
                    </a:p>
                    <a:p>
                      <a:pPr marL="177800" indent="-177800">
                        <a:buFont typeface="Arial"/>
                        <a:buChar char="•"/>
                      </a:pPr>
                      <a:r>
                        <a:rPr lang="en-US" sz="1400" b="0" kern="1200" dirty="0">
                          <a:solidFill>
                            <a:schemeClr val="tx1"/>
                          </a:solidFill>
                          <a:effectLst/>
                          <a:latin typeface="Arial"/>
                          <a:ea typeface="+mn-ea"/>
                          <a:cs typeface="Arial"/>
                        </a:rPr>
                        <a:t>Knowledgeable sales staff </a:t>
                      </a:r>
                      <a:endParaRPr lang="en-US" sz="1400" dirty="0">
                        <a:latin typeface="Arial"/>
                        <a:cs typeface="Arial"/>
                      </a:endParaRP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731470">
                <a:tc gridSpan="2">
                  <a:txBody>
                    <a:bodyPr/>
                    <a:lstStyle/>
                    <a:p>
                      <a:r>
                        <a:rPr lang="en-US" sz="1400" b="1" dirty="0">
                          <a:latin typeface="Arial"/>
                          <a:cs typeface="Arial"/>
                        </a:rPr>
                        <a:t>Product design characteristics </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C5CDDD"/>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177800" marR="0" indent="-177800" algn="l" defTabSz="457200" rtl="0" eaLnBrk="1" fontAlgn="auto" latinLnBrk="0" hangingPunct="1">
                        <a:lnSpc>
                          <a:spcPct val="100000"/>
                        </a:lnSpc>
                        <a:spcBef>
                          <a:spcPts val="0"/>
                        </a:spcBef>
                        <a:spcAft>
                          <a:spcPts val="0"/>
                        </a:spcAft>
                        <a:buClrTx/>
                        <a:buSzTx/>
                        <a:buFont typeface="Arial"/>
                        <a:buChar char="•"/>
                        <a:tabLst/>
                        <a:defRPr/>
                      </a:pPr>
                      <a:r>
                        <a:rPr lang="en-US" sz="1400" b="0" kern="1200" dirty="0">
                          <a:solidFill>
                            <a:schemeClr val="tx1"/>
                          </a:solidFill>
                          <a:effectLst/>
                          <a:latin typeface="Arial"/>
                          <a:ea typeface="+mn-ea"/>
                          <a:cs typeface="Arial"/>
                        </a:rPr>
                        <a:t>Maximize performance</a:t>
                      </a:r>
                    </a:p>
                    <a:p>
                      <a:pPr marL="177800" marR="0" indent="-177800" algn="l" defTabSz="457200" rtl="0" eaLnBrk="1" fontAlgn="auto" latinLnBrk="0" hangingPunct="1">
                        <a:lnSpc>
                          <a:spcPct val="100000"/>
                        </a:lnSpc>
                        <a:spcBef>
                          <a:spcPts val="0"/>
                        </a:spcBef>
                        <a:spcAft>
                          <a:spcPts val="0"/>
                        </a:spcAft>
                        <a:buClrTx/>
                        <a:buSzTx/>
                        <a:buFont typeface="Arial"/>
                        <a:buChar char="•"/>
                        <a:tabLst/>
                        <a:defRPr/>
                      </a:pPr>
                      <a:r>
                        <a:rPr lang="en-US" sz="1400" b="0" kern="1200" dirty="0">
                          <a:solidFill>
                            <a:schemeClr val="tx1"/>
                          </a:solidFill>
                          <a:effectLst/>
                          <a:latin typeface="Arial"/>
                          <a:ea typeface="+mn-ea"/>
                          <a:cs typeface="Arial"/>
                        </a:rPr>
                        <a:t>Minimize cost</a:t>
                      </a:r>
                      <a:endParaRPr lang="en-US" sz="1400" dirty="0">
                        <a:latin typeface="Arial"/>
                        <a:cs typeface="Arial"/>
                      </a:endParaRP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C5CDDD"/>
                    </a:solidFill>
                  </a:tcPr>
                </a:tc>
                <a:tc>
                  <a:txBody>
                    <a:bodyPr/>
                    <a:lstStyle/>
                    <a:p>
                      <a:pPr marL="177800" indent="-177800">
                        <a:buFont typeface="Arial"/>
                        <a:buChar char="•"/>
                      </a:pPr>
                      <a:r>
                        <a:rPr lang="en-US" sz="1400" b="0" kern="1200" dirty="0">
                          <a:solidFill>
                            <a:schemeClr val="tx1"/>
                          </a:solidFill>
                          <a:effectLst/>
                          <a:latin typeface="Arial"/>
                          <a:ea typeface="+mn-ea"/>
                          <a:cs typeface="Arial"/>
                        </a:rPr>
                        <a:t>Low setup time</a:t>
                      </a:r>
                    </a:p>
                    <a:p>
                      <a:pPr marL="177800" indent="-177800">
                        <a:buFont typeface="Arial"/>
                        <a:buChar char="•"/>
                      </a:pPr>
                      <a:r>
                        <a:rPr lang="en-US" sz="1400" b="0" kern="1200" dirty="0">
                          <a:solidFill>
                            <a:schemeClr val="tx1"/>
                          </a:solidFill>
                          <a:effectLst/>
                          <a:latin typeface="Arial"/>
                          <a:ea typeface="+mn-ea"/>
                          <a:cs typeface="Arial"/>
                        </a:rPr>
                        <a:t>Rapid production ramp-up </a:t>
                      </a:r>
                      <a:endParaRPr lang="en-US" sz="1400" dirty="0">
                        <a:latin typeface="Arial"/>
                        <a:cs typeface="Arial"/>
                      </a:endParaRP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C5CDDD"/>
                    </a:solidFill>
                  </a:tcPr>
                </a:tc>
                <a:tc>
                  <a:txBody>
                    <a:bodyPr/>
                    <a:lstStyle/>
                    <a:p>
                      <a:pPr marL="177800" indent="-177800">
                        <a:buFont typeface="Arial"/>
                        <a:buChar char="•"/>
                      </a:pPr>
                      <a:r>
                        <a:rPr lang="en-US" sz="1400" dirty="0">
                          <a:latin typeface="Arial"/>
                          <a:cs typeface="Arial"/>
                        </a:rPr>
                        <a:t>Modular design to aid product differentiation</a:t>
                      </a:r>
                    </a:p>
                  </a:txBody>
                  <a:tcPr marT="45717" marB="4571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C5CDDD"/>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07827268"/>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r>
              <a:rPr lang="en-US" dirty="0">
                <a:latin typeface="Arial" charset="0"/>
                <a:cs typeface="Arial" charset="0"/>
              </a:rPr>
              <a:t>Popular Supply Chain Setups</a:t>
            </a:r>
          </a:p>
        </p:txBody>
      </p:sp>
      <p:sp>
        <p:nvSpPr>
          <p:cNvPr id="45058" name="Content Placeholder 1"/>
          <p:cNvSpPr>
            <a:spLocks noGrp="1"/>
          </p:cNvSpPr>
          <p:nvPr>
            <p:ph idx="1"/>
          </p:nvPr>
        </p:nvSpPr>
        <p:spPr>
          <a:xfrm>
            <a:off x="1346200" y="1765300"/>
            <a:ext cx="5448300" cy="4114800"/>
          </a:xfrm>
        </p:spPr>
        <p:txBody>
          <a:bodyPr/>
          <a:lstStyle/>
          <a:p>
            <a:pPr>
              <a:buFont typeface="Arial Unicode MS" charset="0"/>
              <a:buChar char="▶"/>
            </a:pPr>
            <a:r>
              <a:rPr lang="en-US" dirty="0">
                <a:latin typeface="Arial" charset="0"/>
                <a:cs typeface="Arial" charset="0"/>
              </a:rPr>
              <a:t>Many suppliers</a:t>
            </a:r>
          </a:p>
          <a:p>
            <a:pPr>
              <a:buFont typeface="Arial Unicode MS" charset="0"/>
              <a:buChar char="▶"/>
            </a:pPr>
            <a:r>
              <a:rPr lang="en-US" dirty="0">
                <a:latin typeface="Arial" charset="0"/>
                <a:cs typeface="Arial" charset="0"/>
              </a:rPr>
              <a:t>Few suppliers</a:t>
            </a:r>
          </a:p>
          <a:p>
            <a:pPr>
              <a:buFont typeface="Arial Unicode MS" charset="0"/>
              <a:buChar char="▶"/>
            </a:pPr>
            <a:r>
              <a:rPr lang="en-US" dirty="0">
                <a:latin typeface="Arial" charset="0"/>
                <a:cs typeface="Arial" charset="0"/>
              </a:rPr>
              <a:t>Vertical integration</a:t>
            </a:r>
          </a:p>
          <a:p>
            <a:pPr>
              <a:buFont typeface="Arial Unicode MS" charset="0"/>
              <a:buChar char="▶"/>
            </a:pPr>
            <a:r>
              <a:rPr lang="en-US" i="1" dirty="0">
                <a:latin typeface="Arial" charset="0"/>
                <a:cs typeface="Arial" charset="0"/>
              </a:rPr>
              <a:t>Keiretsu</a:t>
            </a:r>
            <a:r>
              <a:rPr lang="en-US" dirty="0">
                <a:latin typeface="Arial" charset="0"/>
                <a:cs typeface="Arial" charset="0"/>
              </a:rPr>
              <a:t> networks</a:t>
            </a:r>
          </a:p>
        </p:txBody>
      </p:sp>
    </p:spTree>
    <p:extLst>
      <p:ext uri="{BB962C8B-B14F-4D97-AF65-F5344CB8AC3E}">
        <p14:creationId xmlns:p14="http://schemas.microsoft.com/office/powerpoint/2010/main" val="995314697"/>
      </p:ext>
    </p:extLst>
  </p:cSld>
  <p:clrMapOvr>
    <a:masterClrMapping/>
  </p:clrMapOvr>
  <p:transition>
    <p:pull dir="l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r>
              <a:rPr lang="en-US" dirty="0">
                <a:latin typeface="Arial" charset="0"/>
                <a:cs typeface="Arial" charset="0"/>
              </a:rPr>
              <a:t>Many Suppliers</a:t>
            </a:r>
          </a:p>
        </p:txBody>
      </p:sp>
      <p:sp>
        <p:nvSpPr>
          <p:cNvPr id="47106" name="Content Placeholder 1"/>
          <p:cNvSpPr>
            <a:spLocks noGrp="1"/>
          </p:cNvSpPr>
          <p:nvPr>
            <p:ph idx="1"/>
          </p:nvPr>
        </p:nvSpPr>
        <p:spPr>
          <a:xfrm>
            <a:off x="800100" y="1582738"/>
            <a:ext cx="7543800" cy="4525962"/>
          </a:xfrm>
        </p:spPr>
        <p:txBody>
          <a:bodyPr/>
          <a:lstStyle/>
          <a:p>
            <a:pPr>
              <a:buFont typeface="Arial Unicode MS" charset="0"/>
              <a:buChar char="▶"/>
            </a:pPr>
            <a:r>
              <a:rPr lang="en-US" dirty="0">
                <a:latin typeface="Arial" charset="0"/>
                <a:cs typeface="Arial" charset="0"/>
              </a:rPr>
              <a:t>Commonly used for commodity products</a:t>
            </a:r>
          </a:p>
          <a:p>
            <a:pPr>
              <a:buFont typeface="Arial Unicode MS" charset="0"/>
              <a:buChar char="▶"/>
            </a:pPr>
            <a:r>
              <a:rPr lang="en-US" dirty="0">
                <a:latin typeface="Arial" charset="0"/>
                <a:cs typeface="Arial" charset="0"/>
              </a:rPr>
              <a:t>Purchasing is typically based on price</a:t>
            </a:r>
          </a:p>
          <a:p>
            <a:pPr>
              <a:buFont typeface="Arial Unicode MS" charset="0"/>
              <a:buChar char="▶"/>
            </a:pPr>
            <a:r>
              <a:rPr lang="en-US" dirty="0">
                <a:latin typeface="Arial" charset="0"/>
                <a:cs typeface="Arial" charset="0"/>
              </a:rPr>
              <a:t>Suppliers compete with one another</a:t>
            </a:r>
          </a:p>
          <a:p>
            <a:pPr>
              <a:buFont typeface="Arial Unicode MS" charset="0"/>
              <a:buChar char="▶"/>
            </a:pPr>
            <a:r>
              <a:rPr lang="en-US" dirty="0">
                <a:latin typeface="Arial" charset="0"/>
                <a:cs typeface="Arial" charset="0"/>
              </a:rPr>
              <a:t>Supplier is responsible for technology, expertise, forecasting, cost, quality, and delivery</a:t>
            </a:r>
          </a:p>
          <a:p>
            <a:pPr>
              <a:buFont typeface="Arial Unicode MS" charset="0"/>
              <a:buChar char="▶"/>
            </a:pPr>
            <a:endParaRPr lang="en-US" dirty="0">
              <a:latin typeface="Arial" charset="0"/>
              <a:cs typeface="Arial" charset="0"/>
            </a:endParaRPr>
          </a:p>
        </p:txBody>
      </p:sp>
    </p:spTree>
    <p:extLst>
      <p:ext uri="{BB962C8B-B14F-4D97-AF65-F5344CB8AC3E}">
        <p14:creationId xmlns:p14="http://schemas.microsoft.com/office/powerpoint/2010/main" val="133560939"/>
      </p:ext>
    </p:extLst>
  </p:cSld>
  <p:clrMapOvr>
    <a:masterClrMapping/>
  </p:clrMapOvr>
  <p:transition>
    <p:pull dir="l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457200" y="134938"/>
            <a:ext cx="8229600" cy="1143000"/>
          </a:xfrm>
        </p:spPr>
        <p:txBody>
          <a:bodyPr/>
          <a:lstStyle/>
          <a:p>
            <a:r>
              <a:rPr lang="en-US" dirty="0">
                <a:latin typeface="Arial" charset="0"/>
                <a:cs typeface="Arial" charset="0"/>
              </a:rPr>
              <a:t>Few Suppliers</a:t>
            </a:r>
          </a:p>
        </p:txBody>
      </p:sp>
      <p:sp>
        <p:nvSpPr>
          <p:cNvPr id="49154" name="Content Placeholder 1"/>
          <p:cNvSpPr>
            <a:spLocks noGrp="1"/>
          </p:cNvSpPr>
          <p:nvPr>
            <p:ph idx="1"/>
          </p:nvPr>
        </p:nvSpPr>
        <p:spPr>
          <a:xfrm>
            <a:off x="457200" y="1270000"/>
            <a:ext cx="8229600" cy="4991100"/>
          </a:xfrm>
        </p:spPr>
        <p:txBody>
          <a:bodyPr/>
          <a:lstStyle/>
          <a:p>
            <a:pPr>
              <a:buFont typeface="Arial Unicode MS" charset="0"/>
              <a:buChar char="▶"/>
            </a:pPr>
            <a:r>
              <a:rPr lang="en-US" dirty="0">
                <a:latin typeface="Arial" charset="0"/>
                <a:cs typeface="Arial" charset="0"/>
              </a:rPr>
              <a:t>Buyer forms long term relationships with fewer suppliers</a:t>
            </a:r>
          </a:p>
          <a:p>
            <a:pPr>
              <a:buFont typeface="Arial Unicode MS" charset="0"/>
              <a:buChar char="▶"/>
            </a:pPr>
            <a:r>
              <a:rPr lang="en-US" dirty="0">
                <a:latin typeface="Arial" charset="0"/>
                <a:cs typeface="Arial" charset="0"/>
              </a:rPr>
              <a:t>Create value through economies of scale and learning curve improvements</a:t>
            </a:r>
          </a:p>
          <a:p>
            <a:pPr>
              <a:buFont typeface="Arial Unicode MS" charset="0"/>
              <a:buChar char="▶"/>
            </a:pPr>
            <a:r>
              <a:rPr lang="en-US" dirty="0">
                <a:latin typeface="Arial" charset="0"/>
                <a:cs typeface="Arial" charset="0"/>
              </a:rPr>
              <a:t>Suppliers more willing to participate in JIT programs and contribute design and technological expertise</a:t>
            </a:r>
          </a:p>
          <a:p>
            <a:pPr>
              <a:buFont typeface="Arial Unicode MS" charset="0"/>
              <a:buChar char="▶"/>
            </a:pPr>
            <a:r>
              <a:rPr lang="en-US" dirty="0">
                <a:latin typeface="Arial" charset="0"/>
                <a:cs typeface="Arial" charset="0"/>
              </a:rPr>
              <a:t>Cost of changing suppliers is huge</a:t>
            </a:r>
          </a:p>
          <a:p>
            <a:pPr>
              <a:buFont typeface="Arial Unicode MS" charset="0"/>
              <a:buChar char="▶"/>
            </a:pPr>
            <a:r>
              <a:rPr lang="en-US" dirty="0">
                <a:latin typeface="Arial" charset="0"/>
                <a:cs typeface="Arial" charset="0"/>
              </a:rPr>
              <a:t>Trade secrets and other alliances may be at risk</a:t>
            </a:r>
          </a:p>
        </p:txBody>
      </p:sp>
    </p:spTree>
    <p:extLst>
      <p:ext uri="{BB962C8B-B14F-4D97-AF65-F5344CB8AC3E}">
        <p14:creationId xmlns:p14="http://schemas.microsoft.com/office/powerpoint/2010/main" val="1705458068"/>
      </p:ext>
    </p:extLst>
  </p:cSld>
  <p:clrMapOvr>
    <a:masterClrMapping/>
  </p:clrMapOvr>
  <p:transition>
    <p:pull dir="l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6"/>
          <p:cNvSpPr>
            <a:spLocks noGrp="1" noChangeArrowheads="1"/>
          </p:cNvSpPr>
          <p:nvPr>
            <p:ph type="title"/>
          </p:nvPr>
        </p:nvSpPr>
        <p:spPr>
          <a:xfrm>
            <a:off x="685800" y="406400"/>
            <a:ext cx="7772400" cy="939800"/>
          </a:xfrm>
        </p:spPr>
        <p:txBody>
          <a:bodyPr/>
          <a:lstStyle/>
          <a:p>
            <a:pPr>
              <a:lnSpc>
                <a:spcPct val="80000"/>
              </a:lnSpc>
            </a:pPr>
            <a:r>
              <a:rPr lang="en-US" dirty="0">
                <a:latin typeface="Arial" charset="0"/>
                <a:cs typeface="Arial" charset="0"/>
              </a:rPr>
              <a:t>Vertical Integration</a:t>
            </a:r>
          </a:p>
        </p:txBody>
      </p:sp>
      <p:sp>
        <p:nvSpPr>
          <p:cNvPr id="75793" name="Rectangle 17"/>
          <p:cNvSpPr>
            <a:spLocks noChangeArrowheads="1"/>
          </p:cNvSpPr>
          <p:nvPr/>
        </p:nvSpPr>
        <p:spPr bwMode="auto">
          <a:xfrm>
            <a:off x="7108825" y="5597525"/>
            <a:ext cx="1208088"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600" dirty="0"/>
              <a:t>Figure </a:t>
            </a:r>
            <a:r>
              <a:rPr lang="en-US" sz="1600" dirty="0">
                <a:solidFill>
                  <a:schemeClr val="tx2"/>
                </a:solidFill>
              </a:rPr>
              <a:t>11.2</a:t>
            </a:r>
          </a:p>
        </p:txBody>
      </p:sp>
      <p:graphicFrame>
        <p:nvGraphicFramePr>
          <p:cNvPr id="75862" name="Group 86"/>
          <p:cNvGraphicFramePr>
            <a:graphicFrameLocks noGrp="1"/>
          </p:cNvGraphicFramePr>
          <p:nvPr>
            <p:extLst>
              <p:ext uri="{D42A27DB-BD31-4B8C-83A1-F6EECF244321}">
                <p14:modId xmlns:p14="http://schemas.microsoft.com/office/powerpoint/2010/main" val="2806576314"/>
              </p:ext>
            </p:extLst>
          </p:nvPr>
        </p:nvGraphicFramePr>
        <p:xfrm>
          <a:off x="685800" y="1981200"/>
          <a:ext cx="7772400" cy="4140200"/>
        </p:xfrm>
        <a:graphic>
          <a:graphicData uri="http://schemas.openxmlformats.org/drawingml/2006/table">
            <a:tbl>
              <a:tblPr/>
              <a:tblGrid>
                <a:gridCol w="2159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159000">
                  <a:extLst>
                    <a:ext uri="{9D8B030D-6E8A-4147-A177-3AD203B41FA5}">
                      <a16:colId xmlns:a16="http://schemas.microsoft.com/office/drawing/2014/main" val="20002"/>
                    </a:ext>
                  </a:extLst>
                </a:gridCol>
                <a:gridCol w="1854200">
                  <a:extLst>
                    <a:ext uri="{9D8B030D-6E8A-4147-A177-3AD203B41FA5}">
                      <a16:colId xmlns:a16="http://schemas.microsoft.com/office/drawing/2014/main" val="20003"/>
                    </a:ext>
                  </a:extLst>
                </a:gridCol>
              </a:tblGrid>
              <a:tr h="530450">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Raw material (suppliers)</a:t>
                      </a:r>
                    </a:p>
                  </a:txBody>
                  <a:tcPr marT="45728" marB="45728"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Tree Harvesting</a:t>
                      </a:r>
                    </a:p>
                  </a:txBody>
                  <a:tcPr marT="45728" marB="45728" anchor="ctr" anchorCtr="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10953">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50933">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Backward integration</a:t>
                      </a:r>
                    </a:p>
                  </a:txBody>
                  <a:tcPr marT="45728" marB="45728" horzOverflow="overflow">
                    <a:lnL cap="flat">
                      <a:noFill/>
                    </a:lnL>
                    <a:lnR>
                      <a:noFill/>
                    </a:lnR>
                    <a:lnT>
                      <a:noFill/>
                    </a:lnT>
                    <a:lnB>
                      <a:noFill/>
                    </a:lnB>
                    <a:lnTlToBr>
                      <a:noFill/>
                    </a:lnTlToBr>
                    <a:lnBlToTr>
                      <a:noFill/>
                    </a:lnBlToTr>
                    <a:solidFill>
                      <a:srgbClr val="FF9900"/>
                    </a:solid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Chipmakers</a:t>
                      </a: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Pulpmaking</a:t>
                      </a:r>
                    </a:p>
                  </a:txBody>
                  <a:tcPr marT="45728" marB="45728"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10953">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30450">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Current transformation</a:t>
                      </a:r>
                    </a:p>
                  </a:txBody>
                  <a:tcPr marT="45728" marB="45728" horzOverflow="overflow">
                    <a:lnL cap="flat">
                      <a:noFill/>
                    </a:lnL>
                    <a:lnR>
                      <a:noFill/>
                    </a:lnR>
                    <a:lnT>
                      <a:noFill/>
                    </a:lnT>
                    <a:lnB>
                      <a:noFill/>
                    </a:lnB>
                    <a:lnTlToBr>
                      <a:noFill/>
                    </a:lnTlToBr>
                    <a:lnBlToTr>
                      <a:noFill/>
                    </a:lnBlToTr>
                    <a:solidFill>
                      <a:srgbClr val="FFB280"/>
                    </a:solid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Pepsi</a:t>
                      </a:r>
                    </a:p>
                  </a:txBody>
                  <a:tcPr marT="45728" marB="45728" anchor="ctr" anchorCtr="1" horzOverflow="overflow">
                    <a:lnL>
                      <a:noFill/>
                    </a:lnL>
                    <a:lnR>
                      <a:noFill/>
                    </a:lnR>
                    <a:lnT>
                      <a:noFill/>
                    </a:lnT>
                    <a:lnB>
                      <a:noFill/>
                    </a:lnB>
                    <a:lnTlToBr>
                      <a:noFill/>
                    </a:lnTlToBr>
                    <a:lnBlToTr>
                      <a:noFill/>
                    </a:lnBlToTr>
                    <a:solidFill>
                      <a:srgbClr val="FFB280"/>
                    </a:solid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Apple</a:t>
                      </a:r>
                    </a:p>
                  </a:txBody>
                  <a:tcPr marT="45728" marB="45728" anchor="ctr" anchorCtr="1" horzOverflow="overflow">
                    <a:lnL>
                      <a:noFill/>
                    </a:lnL>
                    <a:lnR>
                      <a:noFill/>
                    </a:lnR>
                    <a:lnT>
                      <a:noFill/>
                    </a:lnT>
                    <a:lnB>
                      <a:noFill/>
                    </a:lnB>
                    <a:lnTlToBr>
                      <a:noFill/>
                    </a:lnTlToBr>
                    <a:lnBlToTr>
                      <a:noFill/>
                    </a:lnBlToTr>
                    <a:solidFill>
                      <a:srgbClr val="FFB280"/>
                    </a:solid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International Paper</a:t>
                      </a:r>
                    </a:p>
                  </a:txBody>
                  <a:tcPr marT="45728" marB="45728" anchor="ctr" anchorCtr="1" horzOverflow="overflow">
                    <a:lnL>
                      <a:noFill/>
                    </a:lnL>
                    <a:lnR cap="flat">
                      <a:noFill/>
                    </a:lnR>
                    <a:lnT>
                      <a:noFill/>
                    </a:lnT>
                    <a:lnB>
                      <a:noFill/>
                    </a:lnB>
                    <a:lnTlToBr>
                      <a:noFill/>
                    </a:lnTlToBr>
                    <a:lnBlToTr>
                      <a:noFill/>
                    </a:lnBlToTr>
                    <a:solidFill>
                      <a:srgbClr val="FFB280"/>
                    </a:solidFill>
                  </a:tcPr>
                </a:tc>
                <a:extLst>
                  <a:ext uri="{0D108BD9-81ED-4DB2-BD59-A6C34878D82A}">
                    <a16:rowId xmlns:a16="http://schemas.microsoft.com/office/drawing/2014/main" val="10004"/>
                  </a:ext>
                </a:extLst>
              </a:tr>
              <a:tr h="310953">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0450">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Forward integration</a:t>
                      </a:r>
                    </a:p>
                  </a:txBody>
                  <a:tcPr marT="45728" marB="45728" anchor="ctr" horzOverflow="overflow">
                    <a:lnL cap="flat">
                      <a:noFill/>
                    </a:lnL>
                    <a:lnR>
                      <a:noFill/>
                    </a:lnR>
                    <a:lnT>
                      <a:noFill/>
                    </a:lnT>
                    <a:lnB>
                      <a:noFill/>
                    </a:lnB>
                    <a:lnTlToBr>
                      <a:noFill/>
                    </a:lnTlToBr>
                    <a:lnBlToTr>
                      <a:noFill/>
                    </a:lnBlToTr>
                    <a:solidFill>
                      <a:srgbClr val="FF9900"/>
                    </a:solid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Bottling</a:t>
                      </a: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Retail stores</a:t>
                      </a: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End-User Paper Conversion</a:t>
                      </a:r>
                    </a:p>
                  </a:txBody>
                  <a:tcPr marT="45728" marB="45728"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17558">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847500">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r>
                        <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rPr>
                        <a:t>Finished goods (customers)</a:t>
                      </a:r>
                    </a:p>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40000"/>
                        </a:spcAft>
                        <a:buClr>
                          <a:srgbClr val="BF0922"/>
                        </a:buClr>
                        <a:buSzTx/>
                        <a:buFont typeface="Wingdings" charset="0"/>
                        <a:buNone/>
                        <a:tabLst/>
                      </a:pPr>
                      <a:endParaRPr kumimoji="0" lang="en-US" sz="16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marT="45728" marB="45728" anchor="ctr" anchorCtr="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75857" name="Group 81"/>
          <p:cNvGrpSpPr>
            <a:grpSpLocks/>
          </p:cNvGrpSpPr>
          <p:nvPr/>
        </p:nvGrpSpPr>
        <p:grpSpPr bwMode="auto">
          <a:xfrm>
            <a:off x="533400" y="1573213"/>
            <a:ext cx="7785100" cy="382587"/>
            <a:chOff x="336" y="991"/>
            <a:chExt cx="4904" cy="241"/>
          </a:xfrm>
        </p:grpSpPr>
        <p:sp>
          <p:nvSpPr>
            <p:cNvPr id="51253" name="Rectangle 82"/>
            <p:cNvSpPr>
              <a:spLocks noChangeArrowheads="1"/>
            </p:cNvSpPr>
            <p:nvPr/>
          </p:nvSpPr>
          <p:spPr bwMode="auto">
            <a:xfrm>
              <a:off x="390" y="991"/>
              <a:ext cx="4378" cy="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tabLst>
                  <a:tab pos="4953000" algn="ctr"/>
                </a:tabLst>
              </a:pPr>
              <a:r>
                <a:rPr lang="en-US" dirty="0"/>
                <a:t>Vertical Integration	Examples of Vertical Integration</a:t>
              </a:r>
            </a:p>
          </p:txBody>
        </p:sp>
        <p:sp>
          <p:nvSpPr>
            <p:cNvPr id="51254" name="Line 83"/>
            <p:cNvSpPr>
              <a:spLocks noChangeShapeType="1"/>
            </p:cNvSpPr>
            <p:nvPr/>
          </p:nvSpPr>
          <p:spPr bwMode="auto">
            <a:xfrm>
              <a:off x="336" y="1232"/>
              <a:ext cx="1528"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55" name="Line 84"/>
            <p:cNvSpPr>
              <a:spLocks noChangeShapeType="1"/>
            </p:cNvSpPr>
            <p:nvPr/>
          </p:nvSpPr>
          <p:spPr bwMode="auto">
            <a:xfrm>
              <a:off x="2032" y="1232"/>
              <a:ext cx="3208" cy="0"/>
            </a:xfrm>
            <a:prstGeom prst="line">
              <a:avLst/>
            </a:prstGeom>
            <a:noFill/>
            <a:ln w="381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dirty="0"/>
            </a:p>
          </p:txBody>
        </p:sp>
      </p:grpSp>
      <p:grpSp>
        <p:nvGrpSpPr>
          <p:cNvPr id="2" name="Group 1"/>
          <p:cNvGrpSpPr>
            <a:grpSpLocks/>
          </p:cNvGrpSpPr>
          <p:nvPr/>
        </p:nvGrpSpPr>
        <p:grpSpPr bwMode="auto">
          <a:xfrm>
            <a:off x="1690688" y="2400300"/>
            <a:ext cx="5830887" cy="2946400"/>
            <a:chOff x="1690688" y="2400300"/>
            <a:chExt cx="5830887" cy="2946400"/>
          </a:xfrm>
        </p:grpSpPr>
        <p:grpSp>
          <p:nvGrpSpPr>
            <p:cNvPr id="51242" name="Group 2"/>
            <p:cNvGrpSpPr>
              <a:grpSpLocks/>
            </p:cNvGrpSpPr>
            <p:nvPr/>
          </p:nvGrpSpPr>
          <p:grpSpPr bwMode="auto">
            <a:xfrm>
              <a:off x="1690688" y="2400300"/>
              <a:ext cx="5830887" cy="2946400"/>
              <a:chOff x="1065" y="1512"/>
              <a:chExt cx="3673" cy="1856"/>
            </a:xfrm>
          </p:grpSpPr>
          <p:sp>
            <p:nvSpPr>
              <p:cNvPr id="51244" name="Line 3"/>
              <p:cNvSpPr>
                <a:spLocks noChangeShapeType="1"/>
              </p:cNvSpPr>
              <p:nvPr/>
            </p:nvSpPr>
            <p:spPr bwMode="auto">
              <a:xfrm>
                <a:off x="4738" y="1512"/>
                <a:ext cx="0" cy="264"/>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45" name="Line 4"/>
              <p:cNvSpPr>
                <a:spLocks noChangeShapeType="1"/>
              </p:cNvSpPr>
              <p:nvPr/>
            </p:nvSpPr>
            <p:spPr bwMode="auto">
              <a:xfrm>
                <a:off x="3494" y="1992"/>
                <a:ext cx="0" cy="312"/>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46" name="Line 5"/>
              <p:cNvSpPr>
                <a:spLocks noChangeShapeType="1"/>
              </p:cNvSpPr>
              <p:nvPr/>
            </p:nvSpPr>
            <p:spPr bwMode="auto">
              <a:xfrm flipV="1">
                <a:off x="3494" y="2600"/>
                <a:ext cx="0" cy="272"/>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47" name="Line 9"/>
              <p:cNvSpPr>
                <a:spLocks noChangeShapeType="1"/>
              </p:cNvSpPr>
              <p:nvPr/>
            </p:nvSpPr>
            <p:spPr bwMode="auto">
              <a:xfrm flipV="1">
                <a:off x="2312" y="2616"/>
                <a:ext cx="0" cy="224"/>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48" name="Line 10"/>
              <p:cNvSpPr>
                <a:spLocks noChangeShapeType="1"/>
              </p:cNvSpPr>
              <p:nvPr/>
            </p:nvSpPr>
            <p:spPr bwMode="auto">
              <a:xfrm>
                <a:off x="1073" y="1552"/>
                <a:ext cx="0" cy="224"/>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49" name="Line 11"/>
              <p:cNvSpPr>
                <a:spLocks noChangeShapeType="1"/>
              </p:cNvSpPr>
              <p:nvPr/>
            </p:nvSpPr>
            <p:spPr bwMode="auto">
              <a:xfrm>
                <a:off x="1073" y="2072"/>
                <a:ext cx="0" cy="224"/>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50" name="Line 12"/>
              <p:cNvSpPr>
                <a:spLocks noChangeShapeType="1"/>
              </p:cNvSpPr>
              <p:nvPr/>
            </p:nvSpPr>
            <p:spPr bwMode="auto">
              <a:xfrm flipV="1">
                <a:off x="1065" y="2592"/>
                <a:ext cx="0" cy="224"/>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51" name="Line 13"/>
              <p:cNvSpPr>
                <a:spLocks noChangeShapeType="1"/>
              </p:cNvSpPr>
              <p:nvPr/>
            </p:nvSpPr>
            <p:spPr bwMode="auto">
              <a:xfrm flipV="1">
                <a:off x="1073" y="3144"/>
                <a:ext cx="0" cy="224"/>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51252" name="Line 14"/>
              <p:cNvSpPr>
                <a:spLocks noChangeShapeType="1"/>
              </p:cNvSpPr>
              <p:nvPr/>
            </p:nvSpPr>
            <p:spPr bwMode="auto">
              <a:xfrm flipV="1">
                <a:off x="4738" y="2632"/>
                <a:ext cx="0" cy="208"/>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grpSp>
        <p:sp>
          <p:nvSpPr>
            <p:cNvPr id="51243" name="Line 4"/>
            <p:cNvSpPr>
              <a:spLocks noChangeShapeType="1"/>
            </p:cNvSpPr>
            <p:nvPr/>
          </p:nvSpPr>
          <p:spPr bwMode="auto">
            <a:xfrm>
              <a:off x="7505700" y="3162300"/>
              <a:ext cx="0" cy="495300"/>
            </a:xfrm>
            <a:prstGeom prst="line">
              <a:avLst/>
            </a:prstGeom>
            <a:noFill/>
            <a:ln w="76200">
              <a:solidFill>
                <a:srgbClr val="BF0922"/>
              </a:solidFill>
              <a:round/>
              <a:headEnd type="triangle" w="sm" len="sm"/>
              <a:tailEnd/>
            </a:ln>
            <a:extLst>
              <a:ext uri="{909E8E84-426E-40dd-AFC4-6F175D3DCCD1}">
                <a14:hiddenFill xmlns:a14="http://schemas.microsoft.com/office/drawing/2010/main" xmlns="">
                  <a:noFill/>
                </a14:hiddenFill>
              </a:ext>
            </a:extLst>
          </p:spPr>
          <p:txBody>
            <a:bodyPr wrap="none" anchor="ctr"/>
            <a:lstStyle/>
            <a:p>
              <a:endParaRPr lang="en-US" dirty="0"/>
            </a:p>
          </p:txBody>
        </p:sp>
      </p:grpSp>
    </p:spTree>
    <p:extLst>
      <p:ext uri="{BB962C8B-B14F-4D97-AF65-F5344CB8AC3E}">
        <p14:creationId xmlns:p14="http://schemas.microsoft.com/office/powerpoint/2010/main" val="2623085795"/>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75857"/>
                                        </p:tgtEl>
                                        <p:attrNameLst>
                                          <p:attrName>style.visibility</p:attrName>
                                        </p:attrNameLst>
                                      </p:cBhvr>
                                      <p:to>
                                        <p:strVal val="visible"/>
                                      </p:to>
                                    </p:set>
                                    <p:animEffect transition="in" filter="wipe(left)">
                                      <p:cBhvr>
                                        <p:cTn id="7" dur="1000"/>
                                        <p:tgtEl>
                                          <p:spTgt spid="75857"/>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75862"/>
                                        </p:tgtEl>
                                        <p:attrNameLst>
                                          <p:attrName>style.visibility</p:attrName>
                                        </p:attrNameLst>
                                      </p:cBhvr>
                                      <p:to>
                                        <p:strVal val="visible"/>
                                      </p:to>
                                    </p:set>
                                    <p:animEffect transition="in" filter="wipe(left)">
                                      <p:cBhvr>
                                        <p:cTn id="11" dur="1000"/>
                                        <p:tgtEl>
                                          <p:spTgt spid="75862"/>
                                        </p:tgtEl>
                                      </p:cBhvr>
                                    </p:animEffect>
                                  </p:childTnLst>
                                </p:cTn>
                              </p:par>
                              <p:par>
                                <p:cTn id="12" presetID="22" presetClass="entr" presetSubtype="8" fill="hold" nodeType="withEffect">
                                  <p:stCondLst>
                                    <p:cond delay="100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1000"/>
                                        <p:tgtEl>
                                          <p:spTgt spid="2"/>
                                        </p:tgtEl>
                                      </p:cBhvr>
                                    </p:animEffect>
                                  </p:childTnLst>
                                </p:cTn>
                              </p:par>
                            </p:childTnLst>
                          </p:cTn>
                        </p:par>
                        <p:par>
                          <p:cTn id="15" fill="hold" nodeType="afterGroup">
                            <p:stCondLst>
                              <p:cond delay="4000"/>
                            </p:stCondLst>
                            <p:childTnLst>
                              <p:par>
                                <p:cTn id="16" presetID="22" presetClass="entr" presetSubtype="8" fill="hold" grpId="0" nodeType="afterEffect">
                                  <p:stCondLst>
                                    <p:cond delay="0"/>
                                  </p:stCondLst>
                                  <p:childTnLst>
                                    <p:set>
                                      <p:cBhvr>
                                        <p:cTn id="17" dur="1" fill="hold">
                                          <p:stCondLst>
                                            <p:cond delay="0"/>
                                          </p:stCondLst>
                                        </p:cTn>
                                        <p:tgtEl>
                                          <p:spTgt spid="75793"/>
                                        </p:tgtEl>
                                        <p:attrNameLst>
                                          <p:attrName>style.visibility</p:attrName>
                                        </p:attrNameLst>
                                      </p:cBhvr>
                                      <p:to>
                                        <p:strVal val="visible"/>
                                      </p:to>
                                    </p:set>
                                    <p:animEffect transition="in" filter="wipe(left)">
                                      <p:cBhvr>
                                        <p:cTn id="18" dur="1000"/>
                                        <p:tgtEl>
                                          <p:spTgt spid="75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9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6"/>
          <p:cNvSpPr>
            <a:spLocks noGrp="1" noChangeArrowheads="1"/>
          </p:cNvSpPr>
          <p:nvPr>
            <p:ph type="title"/>
          </p:nvPr>
        </p:nvSpPr>
        <p:spPr>
          <a:xfrm>
            <a:off x="685800" y="406400"/>
            <a:ext cx="7772400" cy="939800"/>
          </a:xfrm>
        </p:spPr>
        <p:txBody>
          <a:bodyPr/>
          <a:lstStyle/>
          <a:p>
            <a:pPr>
              <a:lnSpc>
                <a:spcPct val="80000"/>
              </a:lnSpc>
            </a:pPr>
            <a:r>
              <a:rPr lang="en-US" dirty="0">
                <a:latin typeface="Arial" charset="0"/>
                <a:cs typeface="Arial" charset="0"/>
              </a:rPr>
              <a:t>Vertical Integration</a:t>
            </a:r>
          </a:p>
        </p:txBody>
      </p:sp>
      <p:sp>
        <p:nvSpPr>
          <p:cNvPr id="53250" name="Rectangle 85"/>
          <p:cNvSpPr>
            <a:spLocks noGrp="1" noChangeArrowheads="1"/>
          </p:cNvSpPr>
          <p:nvPr>
            <p:ph type="body" idx="1"/>
          </p:nvPr>
        </p:nvSpPr>
        <p:spPr>
          <a:xfrm>
            <a:off x="685800" y="1492250"/>
            <a:ext cx="7772400" cy="4540250"/>
          </a:xfrm>
        </p:spPr>
        <p:txBody>
          <a:bodyPr/>
          <a:lstStyle/>
          <a:p>
            <a:pPr>
              <a:buFont typeface="Arial Unicode MS" charset="0"/>
              <a:buChar char="▶"/>
            </a:pPr>
            <a:r>
              <a:rPr lang="en-US" sz="2800" dirty="0">
                <a:latin typeface="Arial" charset="0"/>
                <a:cs typeface="Arial" charset="0"/>
              </a:rPr>
              <a:t>Developing the ability to produce goods or services previously purchased</a:t>
            </a:r>
          </a:p>
          <a:p>
            <a:pPr>
              <a:buFont typeface="Arial Unicode MS" charset="0"/>
              <a:buChar char="▶"/>
            </a:pPr>
            <a:r>
              <a:rPr lang="en-US" sz="2800" dirty="0">
                <a:latin typeface="Arial" charset="0"/>
                <a:cs typeface="Arial" charset="0"/>
              </a:rPr>
              <a:t>Integration may be </a:t>
            </a:r>
            <a:r>
              <a:rPr lang="en-US" sz="2800" i="1" dirty="0">
                <a:latin typeface="Arial" charset="0"/>
                <a:cs typeface="Arial" charset="0"/>
              </a:rPr>
              <a:t>forward</a:t>
            </a:r>
            <a:r>
              <a:rPr lang="en-US" sz="2800" dirty="0">
                <a:latin typeface="Arial" charset="0"/>
                <a:cs typeface="Arial" charset="0"/>
              </a:rPr>
              <a:t>, towards the customer, or </a:t>
            </a:r>
            <a:r>
              <a:rPr lang="en-US" sz="2800" i="1" dirty="0">
                <a:latin typeface="Arial" charset="0"/>
                <a:cs typeface="Arial" charset="0"/>
              </a:rPr>
              <a:t>backward</a:t>
            </a:r>
            <a:r>
              <a:rPr lang="en-US" sz="2800" dirty="0">
                <a:latin typeface="Arial" charset="0"/>
                <a:cs typeface="Arial" charset="0"/>
              </a:rPr>
              <a:t>, towards suppliers</a:t>
            </a:r>
          </a:p>
          <a:p>
            <a:pPr>
              <a:buFont typeface="Arial Unicode MS" charset="0"/>
              <a:buChar char="▶"/>
            </a:pPr>
            <a:r>
              <a:rPr lang="en-US" sz="2800" dirty="0">
                <a:latin typeface="Arial" charset="0"/>
                <a:cs typeface="Arial" charset="0"/>
              </a:rPr>
              <a:t>Can improve cost, quality, delivery, and inventory but requires capital, managerial skills, and demand</a:t>
            </a:r>
          </a:p>
          <a:p>
            <a:pPr>
              <a:buFont typeface="Arial Unicode MS" charset="0"/>
              <a:buChar char="▶"/>
            </a:pPr>
            <a:r>
              <a:rPr lang="en-US" sz="2800" dirty="0">
                <a:latin typeface="Arial" charset="0"/>
                <a:cs typeface="Arial" charset="0"/>
              </a:rPr>
              <a:t>Risky in industries with rapid technological change</a:t>
            </a:r>
          </a:p>
        </p:txBody>
      </p:sp>
    </p:spTree>
    <p:extLst>
      <p:ext uri="{BB962C8B-B14F-4D97-AF65-F5344CB8AC3E}">
        <p14:creationId xmlns:p14="http://schemas.microsoft.com/office/powerpoint/2010/main" val="3372623996"/>
      </p:ext>
    </p:extLst>
  </p:cSld>
  <p:clrMapOvr>
    <a:masterClrMapping/>
  </p:clrMapOvr>
  <p:transition spd="slow">
    <p:strips/>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n-US" i="1" dirty="0">
                <a:latin typeface="Arial" charset="0"/>
                <a:cs typeface="Arial" charset="0"/>
              </a:rPr>
              <a:t>Keiretsu</a:t>
            </a:r>
            <a:r>
              <a:rPr lang="en-US" dirty="0">
                <a:latin typeface="Arial" charset="0"/>
                <a:cs typeface="Arial" charset="0"/>
              </a:rPr>
              <a:t> Networks</a:t>
            </a:r>
          </a:p>
        </p:txBody>
      </p:sp>
      <p:sp>
        <p:nvSpPr>
          <p:cNvPr id="56322" name="Content Placeholder 1"/>
          <p:cNvSpPr>
            <a:spLocks noGrp="1"/>
          </p:cNvSpPr>
          <p:nvPr>
            <p:ph idx="1"/>
          </p:nvPr>
        </p:nvSpPr>
        <p:spPr/>
        <p:txBody>
          <a:bodyPr/>
          <a:lstStyle/>
          <a:p>
            <a:pPr>
              <a:buFont typeface="Arial Unicode MS" charset="0"/>
              <a:buChar char="▶"/>
            </a:pPr>
            <a:r>
              <a:rPr lang="en-US" sz="2800" dirty="0">
                <a:latin typeface="Arial" charset="0"/>
                <a:cs typeface="Arial" charset="0"/>
              </a:rPr>
              <a:t>A middle ground between few suppliers and vertical integration</a:t>
            </a:r>
          </a:p>
          <a:p>
            <a:pPr>
              <a:buFont typeface="Arial Unicode MS" charset="0"/>
              <a:buChar char="▶"/>
            </a:pPr>
            <a:r>
              <a:rPr lang="en-US" sz="2800" dirty="0">
                <a:latin typeface="Arial" charset="0"/>
                <a:cs typeface="Arial" charset="0"/>
              </a:rPr>
              <a:t>Supplier becomes part of the company coalition</a:t>
            </a:r>
          </a:p>
          <a:p>
            <a:pPr>
              <a:buFont typeface="Arial Unicode MS" charset="0"/>
              <a:buChar char="▶"/>
            </a:pPr>
            <a:r>
              <a:rPr lang="en-US" sz="2800" dirty="0">
                <a:latin typeface="Arial" charset="0"/>
                <a:cs typeface="Arial" charset="0"/>
              </a:rPr>
              <a:t>Often provide financial support for suppliers through ownership or loans</a:t>
            </a:r>
          </a:p>
          <a:p>
            <a:pPr>
              <a:buFont typeface="Arial Unicode MS" charset="0"/>
              <a:buChar char="▶"/>
            </a:pPr>
            <a:r>
              <a:rPr lang="en-US" sz="2800" dirty="0">
                <a:latin typeface="Arial" charset="0"/>
                <a:cs typeface="Arial" charset="0"/>
              </a:rPr>
              <a:t>Members expect long-term relationships and provide technical expertise and stable deliveries</a:t>
            </a:r>
          </a:p>
          <a:p>
            <a:pPr>
              <a:buFont typeface="Arial Unicode MS" charset="0"/>
              <a:buChar char="▶"/>
            </a:pPr>
            <a:r>
              <a:rPr lang="en-US" sz="2800" dirty="0">
                <a:latin typeface="Arial" charset="0"/>
                <a:cs typeface="Arial" charset="0"/>
              </a:rPr>
              <a:t>May extend through several levels of the supply chain</a:t>
            </a:r>
          </a:p>
        </p:txBody>
      </p:sp>
    </p:spTree>
    <p:extLst>
      <p:ext uri="{BB962C8B-B14F-4D97-AF65-F5344CB8AC3E}">
        <p14:creationId xmlns:p14="http://schemas.microsoft.com/office/powerpoint/2010/main" val="3595173916"/>
      </p:ext>
    </p:extLst>
  </p:cSld>
  <p:clrMapOvr>
    <a:masterClrMapping/>
  </p:clrMapOvr>
  <p:transition>
    <p:pull dir="l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6B1F-34E8-48CB-E7F6-2B2527DA370F}"/>
              </a:ext>
            </a:extLst>
          </p:cNvPr>
          <p:cNvSpPr>
            <a:spLocks noGrp="1"/>
          </p:cNvSpPr>
          <p:nvPr>
            <p:ph type="title"/>
          </p:nvPr>
        </p:nvSpPr>
        <p:spPr/>
        <p:txBody>
          <a:bodyPr/>
          <a:lstStyle/>
          <a:p>
            <a:r>
              <a:rPr lang="en-US" dirty="0"/>
              <a:t>Supplier Recruitment</a:t>
            </a:r>
          </a:p>
        </p:txBody>
      </p:sp>
      <p:sp>
        <p:nvSpPr>
          <p:cNvPr id="3" name="Text Placeholder 2">
            <a:extLst>
              <a:ext uri="{FF2B5EF4-FFF2-40B4-BE49-F238E27FC236}">
                <a16:creationId xmlns:a16="http://schemas.microsoft.com/office/drawing/2014/main" id="{F8C828C7-929E-403A-D9B5-EBAF53A84BF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04267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Supplier Relationship Process </a:t>
            </a:r>
            <a:r>
              <a:rPr lang="en-US" sz="2000" b="0" kern="1200" dirty="0">
                <a:latin typeface="Times New Roman" panose="02020603050405020304" pitchFamily="18" charset="0"/>
                <a:ea typeface="+mj-ea"/>
                <a:cs typeface="Times New Roman" panose="02020603050405020304" pitchFamily="18" charset="0"/>
              </a:rPr>
              <a:t>(1 of 5)</a:t>
            </a:r>
          </a:p>
        </p:txBody>
      </p:sp>
      <p:sp>
        <p:nvSpPr>
          <p:cNvPr id="3" name="Text Placeholder 2"/>
          <p:cNvSpPr>
            <a:spLocks noGrp="1"/>
          </p:cNvSpPr>
          <p:nvPr>
            <p:ph type="body" idx="1"/>
          </p:nvPr>
        </p:nvSpPr>
        <p:spPr>
          <a:xfrm>
            <a:off x="457200" y="1600201"/>
            <a:ext cx="8229600" cy="536510"/>
          </a:xfrm>
        </p:spPr>
        <p:txBody>
          <a:bodyPr wrap="square" lIns="91425" tIns="91425" rIns="91425" bIns="91425">
            <a:noAutofit/>
          </a:bodyPr>
          <a:lstStyle/>
          <a:p>
            <a:pPr marL="256032" lvl="0" indent="-256032">
              <a:buSzPts val="2400"/>
              <a:tabLst/>
            </a:pPr>
            <a:r>
              <a:rPr lang="en-US" sz="2400" b="1" kern="1200" dirty="0">
                <a:solidFill>
                  <a:srgbClr val="000000"/>
                </a:solidFill>
                <a:latin typeface="Arial (Body)"/>
                <a:ea typeface="+mn-ea"/>
                <a:cs typeface="+mn-cs"/>
              </a:rPr>
              <a:t>Purchasing: </a:t>
            </a:r>
            <a:r>
              <a:rPr lang="en-US" sz="2400" kern="1200" dirty="0">
                <a:solidFill>
                  <a:srgbClr val="000000"/>
                </a:solidFill>
                <a:latin typeface="Arial (Body)"/>
                <a:ea typeface="+mn-ea"/>
                <a:cs typeface="+mn-cs"/>
              </a:rPr>
              <a:t>the activity that decides which suppliers to use and negotiates contracts.</a:t>
            </a:r>
            <a:endParaRPr lang="en-US" sz="2400" b="1" kern="1200" dirty="0">
              <a:solidFill>
                <a:srgbClr val="000000"/>
              </a:solidFill>
              <a:latin typeface="Arial (Body)"/>
              <a:ea typeface="+mn-ea"/>
              <a:cs typeface="+mn-cs"/>
            </a:endParaRPr>
          </a:p>
          <a:p>
            <a:pPr marL="256032" lvl="0" indent="-256032">
              <a:buSzPts val="2400"/>
              <a:tabLst/>
            </a:pPr>
            <a:r>
              <a:rPr lang="en-US" sz="2400" b="1" kern="1200" dirty="0">
                <a:solidFill>
                  <a:srgbClr val="000000"/>
                </a:solidFill>
                <a:latin typeface="Arial (Body)"/>
                <a:ea typeface="+mn-ea"/>
                <a:cs typeface="+mn-cs"/>
              </a:rPr>
              <a:t>Involves five nested processes</a:t>
            </a:r>
          </a:p>
        </p:txBody>
      </p:sp>
      <p:sp>
        <p:nvSpPr>
          <p:cNvPr id="4" name="Text Placeholder 3"/>
          <p:cNvSpPr>
            <a:spLocks noGrp="1"/>
          </p:cNvSpPr>
          <p:nvPr>
            <p:ph type="body" idx="2"/>
          </p:nvPr>
        </p:nvSpPr>
        <p:spPr>
          <a:xfrm>
            <a:off x="457200" y="3422505"/>
            <a:ext cx="8229600" cy="2270451"/>
          </a:xfrm>
        </p:spPr>
        <p:txBody>
          <a:bodyPr/>
          <a:lstStyle/>
          <a:p>
            <a:pPr marL="741600" lvl="1" indent="-428400">
              <a:buSzPts val="2400"/>
              <a:buFont typeface="+mj-lt"/>
              <a:buAutoNum type="arabicPeriod"/>
            </a:pPr>
            <a:r>
              <a:rPr lang="en-US" sz="2400" kern="1200" dirty="0">
                <a:solidFill>
                  <a:srgbClr val="000000"/>
                </a:solidFill>
                <a:latin typeface="Arial (Body)"/>
              </a:rPr>
              <a:t>Sourcing</a:t>
            </a:r>
          </a:p>
          <a:p>
            <a:pPr marL="741600" lvl="1" indent="-428400">
              <a:buSzPts val="2400"/>
              <a:buFont typeface="+mj-lt"/>
              <a:buAutoNum type="arabicPeriod"/>
            </a:pPr>
            <a:r>
              <a:rPr lang="en-US" sz="2400" kern="1200" dirty="0">
                <a:solidFill>
                  <a:srgbClr val="000000"/>
                </a:solidFill>
                <a:latin typeface="Arial (Body)"/>
              </a:rPr>
              <a:t>Design collaboration</a:t>
            </a:r>
          </a:p>
          <a:p>
            <a:pPr marL="741600" lvl="1" indent="-428400">
              <a:buSzPts val="2400"/>
              <a:buFont typeface="+mj-lt"/>
              <a:buAutoNum type="arabicPeriod"/>
            </a:pPr>
            <a:r>
              <a:rPr lang="en-US" sz="2400" kern="1200" dirty="0">
                <a:solidFill>
                  <a:srgbClr val="000000"/>
                </a:solidFill>
                <a:latin typeface="Arial (Body)"/>
              </a:rPr>
              <a:t>Negotiation</a:t>
            </a:r>
          </a:p>
          <a:p>
            <a:pPr marL="741600" lvl="1" indent="-428400">
              <a:buSzPts val="2400"/>
              <a:buFont typeface="+mj-lt"/>
              <a:buAutoNum type="arabicPeriod"/>
            </a:pPr>
            <a:r>
              <a:rPr lang="en-US" sz="2400" kern="1200" dirty="0">
                <a:solidFill>
                  <a:srgbClr val="000000"/>
                </a:solidFill>
                <a:latin typeface="Arial (Body)"/>
              </a:rPr>
              <a:t>Buying</a:t>
            </a:r>
          </a:p>
          <a:p>
            <a:pPr marL="741600" lvl="1" indent="-428400">
              <a:buSzPts val="2400"/>
              <a:buFont typeface="+mj-lt"/>
              <a:buAutoNum type="arabicPeriod"/>
            </a:pPr>
            <a:r>
              <a:rPr lang="en-US" sz="2400" kern="1200" dirty="0">
                <a:solidFill>
                  <a:srgbClr val="000000"/>
                </a:solidFill>
                <a:latin typeface="Arial (Body)"/>
              </a:rPr>
              <a:t>Vendor-managed inventories</a:t>
            </a:r>
          </a:p>
        </p:txBody>
      </p:sp>
    </p:spTree>
    <p:extLst>
      <p:ext uri="{BB962C8B-B14F-4D97-AF65-F5344CB8AC3E}">
        <p14:creationId xmlns:p14="http://schemas.microsoft.com/office/powerpoint/2010/main" val="1187855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Supplier Relationship Process </a:t>
            </a:r>
            <a:r>
              <a:rPr lang="en-US" sz="2000" b="0" kern="1200" dirty="0">
                <a:latin typeface="Times New Roman" panose="02020603050405020304" pitchFamily="18" charset="0"/>
                <a:ea typeface="+mj-ea"/>
                <a:cs typeface="Times New Roman" panose="02020603050405020304" pitchFamily="18" charset="0"/>
              </a:rPr>
              <a:t>(2 of 5)</a:t>
            </a:r>
          </a:p>
        </p:txBody>
      </p:sp>
      <p:sp>
        <p:nvSpPr>
          <p:cNvPr id="3" name="Content Placeholder 2"/>
          <p:cNvSpPr>
            <a:spLocks noGrp="1"/>
          </p:cNvSpPr>
          <p:nvPr>
            <p:ph idx="1"/>
          </p:nvPr>
        </p:nvSpPr>
        <p:spPr>
          <a:xfrm>
            <a:off x="457200" y="1600199"/>
            <a:ext cx="8229600" cy="2493913"/>
          </a:xfrm>
        </p:spPr>
        <p:txBody>
          <a:bodyPr wrap="square" lIns="91425" tIns="91425" rIns="91425" bIns="91425">
            <a:noAutofit/>
          </a:bodyPr>
          <a:lstStyle/>
          <a:p>
            <a:pPr lvl="0" indent="-256032">
              <a:buFont typeface="Arial" panose="020B0604020202020204" pitchFamily="34" charset="0"/>
              <a:buChar char="•"/>
            </a:pPr>
            <a:r>
              <a:rPr lang="en-US" sz="2000" b="1" kern="1200" dirty="0">
                <a:solidFill>
                  <a:srgbClr val="000000"/>
                </a:solidFill>
                <a:latin typeface="Arial (Body)"/>
                <a:ea typeface="+mn-ea"/>
                <a:cs typeface="+mn-cs"/>
              </a:rPr>
              <a:t>Supplier selection</a:t>
            </a:r>
          </a:p>
          <a:p>
            <a:pPr marL="741600" lvl="1" indent="-284400">
              <a:buFontTx/>
              <a:buChar char="–"/>
            </a:pPr>
            <a:r>
              <a:rPr lang="en-US" sz="2000" kern="1200" dirty="0">
                <a:solidFill>
                  <a:srgbClr val="000000"/>
                </a:solidFill>
                <a:latin typeface="Arial (Body)"/>
                <a:ea typeface="+mn-ea"/>
                <a:cs typeface="+mn-cs"/>
              </a:rPr>
              <a:t>Material costs</a:t>
            </a:r>
          </a:p>
          <a:p>
            <a:pPr marL="1144800" lvl="2" indent="-230400">
              <a:buFont typeface="Arial" panose="020B0604020202020204" pitchFamily="34" charset="0"/>
              <a:buChar char="▪"/>
            </a:pPr>
            <a:r>
              <a:rPr lang="en-US" sz="2000" kern="1200" dirty="0">
                <a:solidFill>
                  <a:srgbClr val="000000"/>
                </a:solidFill>
                <a:latin typeface="Arial (Body)"/>
                <a:ea typeface="+mn-ea"/>
                <a:cs typeface="+mn-cs"/>
              </a:rPr>
              <a:t>Annual material costs = </a:t>
            </a:r>
            <a:r>
              <a:rPr lang="en-US" sz="2000" i="1" kern="1200" dirty="0">
                <a:solidFill>
                  <a:srgbClr val="000000"/>
                </a:solidFill>
                <a:latin typeface="Arial (Body)"/>
                <a:ea typeface="+mn-ea"/>
                <a:cs typeface="+mn-cs"/>
              </a:rPr>
              <a:t>pD</a:t>
            </a:r>
          </a:p>
          <a:p>
            <a:pPr marL="741600" lvl="1" indent="-284400">
              <a:buFontTx/>
              <a:buChar char="–"/>
            </a:pPr>
            <a:r>
              <a:rPr lang="en-US" sz="2000" kern="1200" dirty="0">
                <a:solidFill>
                  <a:srgbClr val="000000"/>
                </a:solidFill>
                <a:latin typeface="Arial (Body)"/>
                <a:ea typeface="+mn-ea"/>
                <a:cs typeface="+mn-cs"/>
              </a:rPr>
              <a:t>Freight costs</a:t>
            </a:r>
          </a:p>
          <a:p>
            <a:pPr marL="741600" lvl="1" indent="-284400">
              <a:buFontTx/>
              <a:buChar char="–"/>
            </a:pPr>
            <a:r>
              <a:rPr lang="en-US" sz="2000" kern="1200" dirty="0">
                <a:solidFill>
                  <a:srgbClr val="000000"/>
                </a:solidFill>
                <a:latin typeface="Arial (Body)"/>
                <a:ea typeface="+mn-ea"/>
                <a:cs typeface="+mn-cs"/>
              </a:rPr>
              <a:t>Inventory costs</a:t>
            </a:r>
          </a:p>
          <a:p>
            <a:pPr marL="1144800" lvl="2" indent="-230400"/>
            <a:r>
              <a:rPr lang="en-US" sz="2000" kern="1200" dirty="0">
                <a:solidFill>
                  <a:srgbClr val="000000"/>
                </a:solidFill>
                <a:latin typeface="Arial (Body)"/>
                <a:ea typeface="+mn-ea"/>
                <a:cs typeface="+mn-cs"/>
              </a:rPr>
              <a:t>Cycle inventory =</a:t>
            </a:r>
            <a:endParaRPr lang="en-US" sz="2000" kern="1200" dirty="0">
              <a:solidFill>
                <a:srgbClr val="000000"/>
              </a:solidFill>
              <a:latin typeface="Arial (Body)"/>
              <a:ea typeface="+mn-ea"/>
              <a:cs typeface="Arial" panose="020B0604020202020204" pitchFamily="34" charset="0"/>
            </a:endParaRPr>
          </a:p>
        </p:txBody>
      </p:sp>
      <p:graphicFrame>
        <p:nvGraphicFramePr>
          <p:cNvPr id="11" name="Object 2" descr="Q over 2."/>
          <p:cNvGraphicFramePr>
            <a:graphicFrameLocks noChangeAspect="1"/>
          </p:cNvGraphicFramePr>
          <p:nvPr/>
        </p:nvGraphicFramePr>
        <p:xfrm>
          <a:off x="3806041" y="3396317"/>
          <a:ext cx="328039" cy="681308"/>
        </p:xfrm>
        <a:graphic>
          <a:graphicData uri="http://schemas.openxmlformats.org/presentationml/2006/ole">
            <mc:AlternateContent xmlns:mc="http://schemas.openxmlformats.org/markup-compatibility/2006">
              <mc:Choice xmlns:v="urn:schemas-microsoft-com:vml" Requires="v">
                <p:oleObj name="Equation" r:id="rId2" imgW="164880" imgH="342720" progId="Equation.DSMT4">
                  <p:embed/>
                </p:oleObj>
              </mc:Choice>
              <mc:Fallback>
                <p:oleObj name="Equation" r:id="rId2" imgW="164880" imgH="342720" progId="Equation.DSMT4">
                  <p:embed/>
                  <p:pic>
                    <p:nvPicPr>
                      <p:cNvPr id="11" name="Object 2" descr="Q over 2."/>
                      <p:cNvPicPr/>
                      <p:nvPr/>
                    </p:nvPicPr>
                    <p:blipFill>
                      <a:blip r:embed="rId3"/>
                      <a:stretch>
                        <a:fillRect/>
                      </a:stretch>
                    </p:blipFill>
                    <p:spPr>
                      <a:xfrm>
                        <a:off x="3806041" y="3396317"/>
                        <a:ext cx="328039" cy="681308"/>
                      </a:xfrm>
                      <a:prstGeom prst="rect">
                        <a:avLst/>
                      </a:prstGeom>
                    </p:spPr>
                  </p:pic>
                </p:oleObj>
              </mc:Fallback>
            </mc:AlternateContent>
          </a:graphicData>
        </a:graphic>
      </p:graphicFrame>
      <p:sp>
        <p:nvSpPr>
          <p:cNvPr id="4" name="Content Placeholder 3"/>
          <p:cNvSpPr>
            <a:spLocks noGrp="1"/>
          </p:cNvSpPr>
          <p:nvPr>
            <p:ph idx="13"/>
          </p:nvPr>
        </p:nvSpPr>
        <p:spPr>
          <a:xfrm>
            <a:off x="457200" y="4053006"/>
            <a:ext cx="3563128" cy="482440"/>
          </a:xfrm>
        </p:spPr>
        <p:txBody>
          <a:bodyPr wrap="square" lIns="91425" tIns="91425" rIns="91425" bIns="91425">
            <a:noAutofit/>
          </a:bodyPr>
          <a:lstStyle/>
          <a:p>
            <a:pPr marL="1144800" lvl="2" indent="-230400"/>
            <a:r>
              <a:rPr lang="en-US" sz="2000" kern="1200" dirty="0">
                <a:solidFill>
                  <a:srgbClr val="000000"/>
                </a:solidFill>
                <a:latin typeface="Arial (Body)"/>
                <a:ea typeface="+mn-ea"/>
                <a:cs typeface="+mn-cs"/>
              </a:rPr>
              <a:t>Pipeline inventory =</a:t>
            </a:r>
          </a:p>
        </p:txBody>
      </p:sp>
      <p:graphicFrame>
        <p:nvGraphicFramePr>
          <p:cNvPr id="12" name="Object 4" descr="Lower d bar upper L."/>
          <p:cNvGraphicFramePr>
            <a:graphicFrameLocks noChangeAspect="1"/>
          </p:cNvGraphicFramePr>
          <p:nvPr/>
        </p:nvGraphicFramePr>
        <p:xfrm>
          <a:off x="4134816" y="4066755"/>
          <a:ext cx="416350" cy="416350"/>
        </p:xfrm>
        <a:graphic>
          <a:graphicData uri="http://schemas.openxmlformats.org/presentationml/2006/ole">
            <mc:AlternateContent xmlns:mc="http://schemas.openxmlformats.org/markup-compatibility/2006">
              <mc:Choice xmlns:v="urn:schemas-microsoft-com:vml" Requires="v">
                <p:oleObj name="Equation" r:id="rId4" imgW="190440" imgH="190440" progId="Equation.DSMT4">
                  <p:embed/>
                </p:oleObj>
              </mc:Choice>
              <mc:Fallback>
                <p:oleObj name="Equation" r:id="rId4" imgW="190440" imgH="190440" progId="Equation.DSMT4">
                  <p:embed/>
                  <p:pic>
                    <p:nvPicPr>
                      <p:cNvPr id="12" name="Object 4" descr="Lower d bar upper L."/>
                      <p:cNvPicPr/>
                      <p:nvPr/>
                    </p:nvPicPr>
                    <p:blipFill>
                      <a:blip r:embed="rId5"/>
                      <a:stretch>
                        <a:fillRect/>
                      </a:stretch>
                    </p:blipFill>
                    <p:spPr>
                      <a:xfrm>
                        <a:off x="4134816" y="4066755"/>
                        <a:ext cx="416350" cy="416350"/>
                      </a:xfrm>
                      <a:prstGeom prst="rect">
                        <a:avLst/>
                      </a:prstGeom>
                    </p:spPr>
                  </p:pic>
                </p:oleObj>
              </mc:Fallback>
            </mc:AlternateContent>
          </a:graphicData>
        </a:graphic>
      </p:graphicFrame>
      <p:sp>
        <p:nvSpPr>
          <p:cNvPr id="5" name="Content Placeholder 4"/>
          <p:cNvSpPr>
            <a:spLocks noGrp="1"/>
          </p:cNvSpPr>
          <p:nvPr>
            <p:ph idx="14"/>
          </p:nvPr>
        </p:nvSpPr>
        <p:spPr>
          <a:xfrm>
            <a:off x="457200" y="4580107"/>
            <a:ext cx="4180114" cy="405087"/>
          </a:xfrm>
        </p:spPr>
        <p:txBody>
          <a:bodyPr wrap="square" lIns="91425" tIns="91425" rIns="91425" bIns="91425">
            <a:noAutofit/>
          </a:bodyPr>
          <a:lstStyle/>
          <a:p>
            <a:pPr marL="1144800" lvl="2" indent="-230400"/>
            <a:r>
              <a:rPr lang="en-US" sz="2000" kern="1200" dirty="0">
                <a:solidFill>
                  <a:srgbClr val="000000"/>
                </a:solidFill>
                <a:latin typeface="Arial (Body)"/>
                <a:ea typeface="+mn-ea"/>
                <a:cs typeface="+mn-cs"/>
              </a:rPr>
              <a:t>Annual inventory costs =</a:t>
            </a:r>
          </a:p>
        </p:txBody>
      </p:sp>
      <p:graphicFrame>
        <p:nvGraphicFramePr>
          <p:cNvPr id="13" name="Object 6" descr="Q over 2, + lower d bar upper L, times H."/>
          <p:cNvGraphicFramePr>
            <a:graphicFrameLocks noChangeAspect="1"/>
          </p:cNvGraphicFramePr>
          <p:nvPr/>
        </p:nvGraphicFramePr>
        <p:xfrm>
          <a:off x="4665654" y="4479461"/>
          <a:ext cx="1174234" cy="642077"/>
        </p:xfrm>
        <a:graphic>
          <a:graphicData uri="http://schemas.openxmlformats.org/presentationml/2006/ole">
            <mc:AlternateContent xmlns:mc="http://schemas.openxmlformats.org/markup-compatibility/2006">
              <mc:Choice xmlns:v="urn:schemas-microsoft-com:vml" Requires="v">
                <p:oleObj name="Equation" r:id="rId6" imgW="672840" imgH="368280" progId="Equation.DSMT4">
                  <p:embed/>
                </p:oleObj>
              </mc:Choice>
              <mc:Fallback>
                <p:oleObj name="Equation" r:id="rId6" imgW="672840" imgH="368280" progId="Equation.DSMT4">
                  <p:embed/>
                  <p:pic>
                    <p:nvPicPr>
                      <p:cNvPr id="13" name="Object 6" descr="Q over 2, + lower d bar upper L, times H."/>
                      <p:cNvPicPr/>
                      <p:nvPr/>
                    </p:nvPicPr>
                    <p:blipFill>
                      <a:blip r:embed="rId7"/>
                      <a:stretch>
                        <a:fillRect/>
                      </a:stretch>
                    </p:blipFill>
                    <p:spPr>
                      <a:xfrm>
                        <a:off x="4665654" y="4479461"/>
                        <a:ext cx="1174234" cy="642077"/>
                      </a:xfrm>
                      <a:prstGeom prst="rect">
                        <a:avLst/>
                      </a:prstGeom>
                    </p:spPr>
                  </p:pic>
                </p:oleObj>
              </mc:Fallback>
            </mc:AlternateContent>
          </a:graphicData>
        </a:graphic>
      </p:graphicFrame>
      <p:sp>
        <p:nvSpPr>
          <p:cNvPr id="6" name="Content Placeholder 5"/>
          <p:cNvSpPr>
            <a:spLocks noGrp="1"/>
          </p:cNvSpPr>
          <p:nvPr>
            <p:ph idx="15"/>
          </p:nvPr>
        </p:nvSpPr>
        <p:spPr>
          <a:xfrm>
            <a:off x="457201" y="5110543"/>
            <a:ext cx="3200400" cy="711176"/>
          </a:xfrm>
        </p:spPr>
        <p:txBody>
          <a:bodyPr wrap="square" lIns="91425" tIns="91425" rIns="91425" bIns="91425">
            <a:noAutofit/>
          </a:bodyPr>
          <a:lstStyle/>
          <a:p>
            <a:pPr marL="741600" lvl="1" indent="-284400">
              <a:buFontTx/>
              <a:buChar char="–"/>
            </a:pPr>
            <a:r>
              <a:rPr lang="en-US" sz="2000" kern="1200" dirty="0">
                <a:solidFill>
                  <a:srgbClr val="000000"/>
                </a:solidFill>
                <a:latin typeface="Arial (Body)"/>
                <a:ea typeface="+mn-ea"/>
                <a:cs typeface="+mn-cs"/>
              </a:rPr>
              <a:t>Administrative costs</a:t>
            </a:r>
          </a:p>
          <a:p>
            <a:pPr marL="741600" lvl="1" indent="-284400">
              <a:buFontTx/>
              <a:buChar char="–"/>
            </a:pPr>
            <a:r>
              <a:rPr lang="en-US" sz="2000" kern="1200" dirty="0">
                <a:solidFill>
                  <a:srgbClr val="000000"/>
                </a:solidFill>
                <a:latin typeface="Arial (Body)"/>
                <a:ea typeface="+mn-ea"/>
                <a:cs typeface="+mn-cs"/>
              </a:rPr>
              <a:t>Total Annual Cost =</a:t>
            </a:r>
          </a:p>
        </p:txBody>
      </p:sp>
      <p:graphicFrame>
        <p:nvGraphicFramePr>
          <p:cNvPr id="14" name="Object 8" descr="Lower p upper D + freight costs plus, Q over 2, + lower d bar upper L, times H, + administrative costs."/>
          <p:cNvGraphicFramePr>
            <a:graphicFrameLocks noChangeAspect="1"/>
          </p:cNvGraphicFramePr>
          <p:nvPr/>
        </p:nvGraphicFramePr>
        <p:xfrm>
          <a:off x="3755287" y="5382799"/>
          <a:ext cx="3470619" cy="981938"/>
        </p:xfrm>
        <a:graphic>
          <a:graphicData uri="http://schemas.openxmlformats.org/presentationml/2006/ole">
            <mc:AlternateContent xmlns:mc="http://schemas.openxmlformats.org/markup-compatibility/2006">
              <mc:Choice xmlns:v="urn:schemas-microsoft-com:vml" Requires="v">
                <p:oleObj name="Equation" r:id="rId8" imgW="1930320" imgH="545760" progId="Equation.DSMT4">
                  <p:embed/>
                </p:oleObj>
              </mc:Choice>
              <mc:Fallback>
                <p:oleObj name="Equation" r:id="rId8" imgW="1930320" imgH="545760" progId="Equation.DSMT4">
                  <p:embed/>
                  <p:pic>
                    <p:nvPicPr>
                      <p:cNvPr id="14" name="Object 8" descr="Lower p upper D + freight costs plus, Q over 2, + lower d bar upper L, times H, + administrative costs."/>
                      <p:cNvPicPr/>
                      <p:nvPr/>
                    </p:nvPicPr>
                    <p:blipFill>
                      <a:blip r:embed="rId9"/>
                      <a:stretch>
                        <a:fillRect/>
                      </a:stretch>
                    </p:blipFill>
                    <p:spPr>
                      <a:xfrm>
                        <a:off x="3755287" y="5382799"/>
                        <a:ext cx="3470619" cy="981938"/>
                      </a:xfrm>
                      <a:prstGeom prst="rect">
                        <a:avLst/>
                      </a:prstGeom>
                    </p:spPr>
                  </p:pic>
                </p:oleObj>
              </mc:Fallback>
            </mc:AlternateContent>
          </a:graphicData>
        </a:graphic>
      </p:graphicFrame>
    </p:spTree>
    <p:extLst>
      <p:ext uri="{BB962C8B-B14F-4D97-AF65-F5344CB8AC3E}">
        <p14:creationId xmlns:p14="http://schemas.microsoft.com/office/powerpoint/2010/main" val="554682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Example 1 </a:t>
            </a:r>
            <a:r>
              <a:rPr lang="en-US" sz="2000" b="0" kern="1200" dirty="0">
                <a:latin typeface="Times New Roman" panose="02020603050405020304" pitchFamily="18" charset="0"/>
                <a:ea typeface="+mj-ea"/>
                <a:cs typeface="Times New Roman" panose="02020603050405020304" pitchFamily="18" charset="0"/>
              </a:rPr>
              <a:t>(1 of 5)</a:t>
            </a:r>
          </a:p>
        </p:txBody>
      </p:sp>
      <p:sp>
        <p:nvSpPr>
          <p:cNvPr id="3" name="Text Placeholder 2"/>
          <p:cNvSpPr>
            <a:spLocks noGrp="1"/>
          </p:cNvSpPr>
          <p:nvPr>
            <p:ph type="body" idx="1"/>
          </p:nvPr>
        </p:nvSpPr>
        <p:spPr>
          <a:xfrm>
            <a:off x="457200" y="1600200"/>
            <a:ext cx="8229600" cy="4679302"/>
          </a:xfrm>
        </p:spPr>
        <p:txBody>
          <a:bodyPr wrap="square" lIns="91425" tIns="91425" rIns="91425" bIns="91425">
            <a:noAutofit/>
          </a:bodyPr>
          <a:lstStyle/>
          <a:p>
            <a:pPr marL="0" lvl="0" indent="0">
              <a:buSzPts val="2400"/>
              <a:buNone/>
              <a:tabLst/>
            </a:pPr>
            <a:r>
              <a:rPr lang="en-US" sz="2400" kern="1200" dirty="0">
                <a:solidFill>
                  <a:srgbClr val="000000"/>
                </a:solidFill>
                <a:latin typeface="Arial (Body)"/>
                <a:ea typeface="+mn-ea"/>
                <a:cs typeface="+mn-cs"/>
              </a:rPr>
              <a:t>Compton Electronics manufactures laptops for major computer manufacturers. A key element of the laptop is the keyboard. Compton has identified three potential suppliers for the keyboard, each located in a different part of the world. Important cost considerations are the price per keyboard, freight costs, inventory costs, and contract administrative costs. The annual requirements for the keyboard are 300,000 units. Assume Compton has 250 business days a year. Managers have acquired the following data for each supplier.</a:t>
            </a:r>
          </a:p>
          <a:p>
            <a:pPr marL="0" lvl="0" indent="0">
              <a:buSzPts val="2400"/>
              <a:buNone/>
              <a:tabLst/>
            </a:pPr>
            <a:r>
              <a:rPr lang="en-US" sz="2400" kern="1200" dirty="0">
                <a:solidFill>
                  <a:srgbClr val="000000"/>
                </a:solidFill>
                <a:latin typeface="Arial (Body)"/>
                <a:ea typeface="+mn-ea"/>
                <a:cs typeface="+mn-cs"/>
              </a:rPr>
              <a:t>Which supplier provides the lowest annual total cost to Compton?</a:t>
            </a:r>
          </a:p>
        </p:txBody>
      </p:sp>
    </p:spTree>
    <p:extLst>
      <p:ext uri="{BB962C8B-B14F-4D97-AF65-F5344CB8AC3E}">
        <p14:creationId xmlns:p14="http://schemas.microsoft.com/office/powerpoint/2010/main" val="3367921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Example 1 </a:t>
            </a:r>
            <a:r>
              <a:rPr lang="en-US" sz="2000" b="0" kern="1200" dirty="0">
                <a:latin typeface="Times New Roman" panose="02020603050405020304" pitchFamily="18" charset="0"/>
                <a:ea typeface="+mj-ea"/>
                <a:cs typeface="Times New Roman" panose="02020603050405020304" pitchFamily="18" charset="0"/>
              </a:rPr>
              <a:t>(2 of 5)</a:t>
            </a:r>
          </a:p>
        </p:txBody>
      </p:sp>
      <p:sp>
        <p:nvSpPr>
          <p:cNvPr id="3" name="Content Placeholder 2"/>
          <p:cNvSpPr>
            <a:spLocks noGrp="1"/>
          </p:cNvSpPr>
          <p:nvPr>
            <p:ph type="body" idx="1"/>
          </p:nvPr>
        </p:nvSpPr>
        <p:spPr>
          <a:xfrm>
            <a:off x="457200" y="1600201"/>
            <a:ext cx="8229600" cy="488643"/>
          </a:xfrm>
        </p:spPr>
        <p:txBody>
          <a:bodyPr wrap="square" lIns="91425" tIns="91425" rIns="91425" bIns="91425">
            <a:noAutofit/>
          </a:bodyPr>
          <a:lstStyle/>
          <a:p>
            <a:pPr marL="0" lvl="0" indent="0">
              <a:buSzPts val="2400"/>
              <a:buNone/>
            </a:pPr>
            <a:r>
              <a:rPr lang="en-US" sz="2200" b="1" kern="1200" dirty="0">
                <a:solidFill>
                  <a:srgbClr val="000000"/>
                </a:solidFill>
                <a:latin typeface="Arial (Body)"/>
                <a:ea typeface="+mn-ea"/>
                <a:cs typeface="+mn-cs"/>
              </a:rPr>
              <a:t>Annual Freight Costs</a:t>
            </a:r>
          </a:p>
        </p:txBody>
      </p:sp>
      <p:graphicFrame>
        <p:nvGraphicFramePr>
          <p:cNvPr id="7" name="Table 6"/>
          <p:cNvGraphicFramePr>
            <a:graphicFrameLocks noGrp="1"/>
          </p:cNvGraphicFramePr>
          <p:nvPr/>
        </p:nvGraphicFramePr>
        <p:xfrm>
          <a:off x="457201" y="2263833"/>
          <a:ext cx="8229599" cy="1645920"/>
        </p:xfrm>
        <a:graphic>
          <a:graphicData uri="http://schemas.openxmlformats.org/drawingml/2006/table">
            <a:tbl>
              <a:tblPr firstRow="1" bandRow="1">
                <a:tableStyleId>{3B4B98B0-60AC-42C2-AFA5-B58CD77FA1E5}</a:tableStyleId>
              </a:tblPr>
              <a:tblGrid>
                <a:gridCol w="1202877">
                  <a:extLst>
                    <a:ext uri="{9D8B030D-6E8A-4147-A177-3AD203B41FA5}">
                      <a16:colId xmlns:a16="http://schemas.microsoft.com/office/drawing/2014/main" val="244750698"/>
                    </a:ext>
                  </a:extLst>
                </a:gridCol>
                <a:gridCol w="1932208">
                  <a:extLst>
                    <a:ext uri="{9D8B030D-6E8A-4147-A177-3AD203B41FA5}">
                      <a16:colId xmlns:a16="http://schemas.microsoft.com/office/drawing/2014/main" val="2781946859"/>
                    </a:ext>
                  </a:extLst>
                </a:gridCol>
                <a:gridCol w="2341983">
                  <a:extLst>
                    <a:ext uri="{9D8B030D-6E8A-4147-A177-3AD203B41FA5}">
                      <a16:colId xmlns:a16="http://schemas.microsoft.com/office/drawing/2014/main" val="4204145235"/>
                    </a:ext>
                  </a:extLst>
                </a:gridCol>
                <a:gridCol w="2752531">
                  <a:extLst>
                    <a:ext uri="{9D8B030D-6E8A-4147-A177-3AD203B41FA5}">
                      <a16:colId xmlns:a16="http://schemas.microsoft.com/office/drawing/2014/main" val="3314117253"/>
                    </a:ext>
                  </a:extLst>
                </a:gridCol>
              </a:tblGrid>
              <a:tr h="0">
                <a:tc>
                  <a:txBody>
                    <a:bodyPr/>
                    <a:lstStyle/>
                    <a:p>
                      <a:r>
                        <a:rPr kumimoji="0" lang="en-US" sz="1400" b="1" i="0" u="none" strike="noStrike" cap="none" normalizeH="0" baseline="0" dirty="0">
                          <a:ln>
                            <a:noFill/>
                          </a:ln>
                          <a:solidFill>
                            <a:srgbClr val="000000"/>
                          </a:solidFill>
                          <a:effectLst/>
                          <a:latin typeface="+mn-lt"/>
                        </a:rPr>
                        <a:t>Supplier</a:t>
                      </a:r>
                      <a:endParaRPr lang="en-US" sz="1400" dirty="0">
                        <a:solidFill>
                          <a:srgbClr val="00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1" i="0" u="none" strike="noStrike" cap="none" normalizeH="0" baseline="0" dirty="0">
                          <a:ln>
                            <a:noFill/>
                          </a:ln>
                          <a:solidFill>
                            <a:srgbClr val="000000"/>
                          </a:solidFill>
                          <a:effectLst/>
                          <a:latin typeface="+mn-lt"/>
                        </a:rPr>
                        <a:t>Shipping Quantity (units/shipment) 10,000</a:t>
                      </a:r>
                      <a:endParaRPr lang="en-US" sz="1400" dirty="0">
                        <a:solidFill>
                          <a:srgbClr val="00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1" i="0" u="none" strike="noStrike" cap="none" normalizeH="0" baseline="0" dirty="0">
                          <a:ln>
                            <a:noFill/>
                          </a:ln>
                          <a:solidFill>
                            <a:srgbClr val="000000"/>
                          </a:solidFill>
                          <a:effectLst/>
                          <a:latin typeface="+mn-lt"/>
                        </a:rPr>
                        <a:t>Shipping Quantity (units/shipment) 20,000</a:t>
                      </a:r>
                      <a:endParaRPr lang="en-US" sz="1400" dirty="0">
                        <a:solidFill>
                          <a:srgbClr val="00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1" i="0" u="none" strike="noStrike" cap="none" normalizeH="0" baseline="0" dirty="0">
                          <a:ln>
                            <a:noFill/>
                          </a:ln>
                          <a:solidFill>
                            <a:srgbClr val="000000"/>
                          </a:solidFill>
                          <a:effectLst/>
                          <a:latin typeface="+mn-lt"/>
                        </a:rPr>
                        <a:t>Shipping Quantity (units/shipment) 30,000</a:t>
                      </a:r>
                      <a:endParaRPr lang="en-US" sz="1400" dirty="0">
                        <a:solidFill>
                          <a:srgbClr val="00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295382"/>
                  </a:ext>
                </a:extLst>
              </a:tr>
              <a:tr h="0">
                <a:tc>
                  <a:txBody>
                    <a:bodyPr/>
                    <a:lstStyle/>
                    <a:p>
                      <a:r>
                        <a:rPr kumimoji="0" lang="en-US" sz="1400" b="0" i="0" u="none" strike="noStrike" cap="none" normalizeH="0" baseline="0" dirty="0">
                          <a:ln>
                            <a:noFill/>
                          </a:ln>
                          <a:solidFill>
                            <a:schemeClr val="tx1"/>
                          </a:solidFill>
                          <a:effectLst/>
                          <a:latin typeface="+mn-lt"/>
                        </a:rPr>
                        <a:t>Belfast</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$380,000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$260,000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$237,000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9175838"/>
                  </a:ext>
                </a:extLst>
              </a:tr>
              <a:tr h="0">
                <a:tc>
                  <a:txBody>
                    <a:bodyPr/>
                    <a:lstStyle/>
                    <a:p>
                      <a:r>
                        <a:rPr kumimoji="0" lang="en-US" sz="1400" b="0" i="0" u="none" strike="noStrike" cap="none" normalizeH="0" baseline="0" dirty="0">
                          <a:ln>
                            <a:noFill/>
                          </a:ln>
                          <a:solidFill>
                            <a:schemeClr val="tx1"/>
                          </a:solidFill>
                          <a:effectLst/>
                          <a:latin typeface="+mn-lt"/>
                        </a:rPr>
                        <a:t>Hong Kong</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$615,000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$547,000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$470,000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33188059"/>
                  </a:ext>
                </a:extLst>
              </a:tr>
              <a:tr h="0">
                <a:tc>
                  <a:txBody>
                    <a:bodyPr/>
                    <a:lstStyle/>
                    <a:p>
                      <a:r>
                        <a:rPr kumimoji="0" lang="en-US" sz="1400" b="0" i="0" u="none" strike="noStrike" cap="none" normalizeH="0" baseline="0" dirty="0">
                          <a:ln>
                            <a:noFill/>
                          </a:ln>
                          <a:solidFill>
                            <a:schemeClr val="tx1"/>
                          </a:solidFill>
                          <a:effectLst/>
                          <a:latin typeface="+mn-lt"/>
                        </a:rPr>
                        <a:t>Shreveport</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$285,000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$240,000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$200,000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8220347"/>
                  </a:ext>
                </a:extLst>
              </a:tr>
            </a:tbl>
          </a:graphicData>
        </a:graphic>
      </p:graphicFrame>
      <p:sp>
        <p:nvSpPr>
          <p:cNvPr id="4" name="Content Placeholder 3"/>
          <p:cNvSpPr>
            <a:spLocks noGrp="1"/>
          </p:cNvSpPr>
          <p:nvPr>
            <p:ph idx="4294967295"/>
          </p:nvPr>
        </p:nvSpPr>
        <p:spPr>
          <a:xfrm>
            <a:off x="457200" y="4144333"/>
            <a:ext cx="6913983" cy="442556"/>
          </a:xfrm>
        </p:spPr>
        <p:txBody>
          <a:bodyPr wrap="square" lIns="91425" tIns="91425" rIns="91425" bIns="91425">
            <a:noAutofit/>
          </a:bodyPr>
          <a:lstStyle/>
          <a:p>
            <a:pPr marL="0" lvl="0" indent="0">
              <a:buSzPts val="2400"/>
              <a:buNone/>
            </a:pPr>
            <a:r>
              <a:rPr lang="en-US" sz="2200" b="1" kern="1200" dirty="0">
                <a:solidFill>
                  <a:srgbClr val="000000"/>
                </a:solidFill>
                <a:latin typeface="Arial (Body)"/>
                <a:ea typeface="+mn-ea"/>
                <a:cs typeface="+mn-cs"/>
              </a:rPr>
              <a:t>Keyboard Costs and Shipping Lead Times</a:t>
            </a:r>
          </a:p>
        </p:txBody>
      </p:sp>
      <p:graphicFrame>
        <p:nvGraphicFramePr>
          <p:cNvPr id="8" name="Table 7"/>
          <p:cNvGraphicFramePr>
            <a:graphicFrameLocks noGrp="1"/>
          </p:cNvGraphicFramePr>
          <p:nvPr/>
        </p:nvGraphicFramePr>
        <p:xfrm>
          <a:off x="487537" y="4760593"/>
          <a:ext cx="8199263" cy="1432560"/>
        </p:xfrm>
        <a:graphic>
          <a:graphicData uri="http://schemas.openxmlformats.org/drawingml/2006/table">
            <a:tbl>
              <a:tblPr firstRow="1" bandRow="1">
                <a:tableStyleId>{3B4B98B0-60AC-42C2-AFA5-B58CD77FA1E5}</a:tableStyleId>
              </a:tblPr>
              <a:tblGrid>
                <a:gridCol w="1127588">
                  <a:extLst>
                    <a:ext uri="{9D8B030D-6E8A-4147-A177-3AD203B41FA5}">
                      <a16:colId xmlns:a16="http://schemas.microsoft.com/office/drawing/2014/main" val="244750698"/>
                    </a:ext>
                  </a:extLst>
                </a:gridCol>
                <a:gridCol w="1284780">
                  <a:extLst>
                    <a:ext uri="{9D8B030D-6E8A-4147-A177-3AD203B41FA5}">
                      <a16:colId xmlns:a16="http://schemas.microsoft.com/office/drawing/2014/main" val="2781946859"/>
                    </a:ext>
                  </a:extLst>
                </a:gridCol>
                <a:gridCol w="2041069">
                  <a:extLst>
                    <a:ext uri="{9D8B030D-6E8A-4147-A177-3AD203B41FA5}">
                      <a16:colId xmlns:a16="http://schemas.microsoft.com/office/drawing/2014/main" val="4204145235"/>
                    </a:ext>
                  </a:extLst>
                </a:gridCol>
                <a:gridCol w="1831495">
                  <a:extLst>
                    <a:ext uri="{9D8B030D-6E8A-4147-A177-3AD203B41FA5}">
                      <a16:colId xmlns:a16="http://schemas.microsoft.com/office/drawing/2014/main" val="41869189"/>
                    </a:ext>
                  </a:extLst>
                </a:gridCol>
                <a:gridCol w="1914331">
                  <a:extLst>
                    <a:ext uri="{9D8B030D-6E8A-4147-A177-3AD203B41FA5}">
                      <a16:colId xmlns:a16="http://schemas.microsoft.com/office/drawing/2014/main" val="3314117253"/>
                    </a:ext>
                  </a:extLst>
                </a:gridCol>
              </a:tblGrid>
              <a:tr h="0">
                <a:tc>
                  <a:txBody>
                    <a:bodyPr/>
                    <a:lstStyle/>
                    <a:p>
                      <a:r>
                        <a:rPr kumimoji="0" lang="en-US" sz="1400" b="1" i="0" u="none" strike="noStrike" cap="none" normalizeH="0" baseline="0" dirty="0">
                          <a:ln>
                            <a:noFill/>
                          </a:ln>
                          <a:solidFill>
                            <a:srgbClr val="000000"/>
                          </a:solidFill>
                          <a:effectLst/>
                          <a:latin typeface="+mn-lt"/>
                        </a:rPr>
                        <a:t>Supplier</a:t>
                      </a:r>
                      <a:endParaRPr lang="en-US" sz="1400" dirty="0">
                        <a:solidFill>
                          <a:srgbClr val="000000"/>
                        </a:solidFill>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cap="none" normalizeH="0" baseline="0" dirty="0">
                          <a:ln>
                            <a:noFill/>
                          </a:ln>
                          <a:solidFill>
                            <a:srgbClr val="000000"/>
                          </a:solidFill>
                          <a:effectLst/>
                          <a:latin typeface="+mn-lt"/>
                        </a:rPr>
                        <a:t>Price/Unit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1" i="0" u="none" strike="noStrike" cap="none" normalizeH="0" baseline="0" dirty="0">
                          <a:ln>
                            <a:noFill/>
                          </a:ln>
                          <a:solidFill>
                            <a:srgbClr val="000000"/>
                          </a:solidFill>
                          <a:effectLst/>
                          <a:latin typeface="+mn-lt"/>
                        </a:rPr>
                        <a:t>Annual Inventory Carrying Cost/Unit</a:t>
                      </a:r>
                      <a:endParaRPr lang="en-US" sz="14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1" i="0" u="none" strike="noStrike" cap="none" normalizeH="0" baseline="0" dirty="0">
                          <a:ln>
                            <a:noFill/>
                          </a:ln>
                          <a:solidFill>
                            <a:srgbClr val="000000"/>
                          </a:solidFill>
                          <a:effectLst/>
                          <a:latin typeface="+mn-lt"/>
                        </a:rPr>
                        <a:t>Shipping Lead Time (days)</a:t>
                      </a:r>
                      <a:endParaRPr lang="en-US" sz="14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1" i="0" u="none" strike="noStrike" cap="none" normalizeH="0" baseline="0" dirty="0">
                          <a:ln>
                            <a:noFill/>
                          </a:ln>
                          <a:solidFill>
                            <a:srgbClr val="000000"/>
                          </a:solidFill>
                          <a:effectLst/>
                          <a:latin typeface="+mn-lt"/>
                        </a:rPr>
                        <a:t>Administrative Costs</a:t>
                      </a:r>
                      <a:endParaRPr lang="en-US" sz="14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295382"/>
                  </a:ext>
                </a:extLst>
              </a:tr>
              <a:tr h="0">
                <a:tc>
                  <a:txBody>
                    <a:bodyPr/>
                    <a:lstStyle/>
                    <a:p>
                      <a:r>
                        <a:rPr kumimoji="0" lang="en-US" sz="1400" b="0" i="0" u="none" strike="noStrike" cap="none" normalizeH="0" baseline="0" dirty="0">
                          <a:ln>
                            <a:noFill/>
                          </a:ln>
                          <a:solidFill>
                            <a:schemeClr val="tx1"/>
                          </a:solidFill>
                          <a:effectLst/>
                          <a:latin typeface="+mn-lt"/>
                        </a:rPr>
                        <a:t>Belfast</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$100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$20.00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15</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$180,000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9175838"/>
                  </a:ext>
                </a:extLst>
              </a:tr>
              <a:tr h="0">
                <a:tc>
                  <a:txBody>
                    <a:bodyPr/>
                    <a:lstStyle/>
                    <a:p>
                      <a:r>
                        <a:rPr kumimoji="0" lang="en-US" sz="1400" b="0" i="0" u="none" strike="noStrike" cap="none" normalizeH="0" baseline="0" dirty="0">
                          <a:ln>
                            <a:noFill/>
                          </a:ln>
                          <a:solidFill>
                            <a:schemeClr val="tx1"/>
                          </a:solidFill>
                          <a:effectLst/>
                          <a:latin typeface="+mn-lt"/>
                        </a:rPr>
                        <a:t>Hong Kong</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$96</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$19.20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25</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$300,000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33188059"/>
                  </a:ext>
                </a:extLst>
              </a:tr>
              <a:tr h="0">
                <a:tc>
                  <a:txBody>
                    <a:bodyPr/>
                    <a:lstStyle/>
                    <a:p>
                      <a:r>
                        <a:rPr kumimoji="0" lang="en-US" sz="1400" b="0" i="0" u="none" strike="noStrike" cap="none" normalizeH="0" baseline="0" dirty="0">
                          <a:ln>
                            <a:noFill/>
                          </a:ln>
                          <a:solidFill>
                            <a:schemeClr val="tx1"/>
                          </a:solidFill>
                          <a:effectLst/>
                          <a:latin typeface="+mn-lt"/>
                        </a:rPr>
                        <a:t>Shreveport</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$99</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$19.80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5</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400" b="0" i="0" u="none" strike="noStrike" cap="none" normalizeH="0" baseline="0" dirty="0">
                          <a:ln>
                            <a:noFill/>
                          </a:ln>
                          <a:solidFill>
                            <a:schemeClr val="tx1"/>
                          </a:solidFill>
                          <a:effectLst/>
                          <a:latin typeface="+mn-lt"/>
                        </a:rPr>
                        <a:t>$150,000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8220347"/>
                  </a:ext>
                </a:extLst>
              </a:tr>
            </a:tbl>
          </a:graphicData>
        </a:graphic>
      </p:graphicFrame>
    </p:spTree>
    <p:extLst>
      <p:ext uri="{BB962C8B-B14F-4D97-AF65-F5344CB8AC3E}">
        <p14:creationId xmlns:p14="http://schemas.microsoft.com/office/powerpoint/2010/main" val="2111469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Example 1 </a:t>
            </a:r>
            <a:r>
              <a:rPr lang="en-US" sz="2000" b="0" kern="1200" dirty="0">
                <a:latin typeface="Times New Roman" panose="02020603050405020304" pitchFamily="18" charset="0"/>
                <a:ea typeface="+mj-ea"/>
                <a:cs typeface="Times New Roman" panose="02020603050405020304" pitchFamily="18" charset="0"/>
              </a:rPr>
              <a:t>(3 of 5)</a:t>
            </a:r>
          </a:p>
        </p:txBody>
      </p:sp>
      <p:sp>
        <p:nvSpPr>
          <p:cNvPr id="3" name="Content Placeholder 2"/>
          <p:cNvSpPr>
            <a:spLocks noGrp="1"/>
          </p:cNvSpPr>
          <p:nvPr>
            <p:ph type="body" idx="1"/>
          </p:nvPr>
        </p:nvSpPr>
        <p:spPr>
          <a:xfrm>
            <a:off x="457200" y="1600201"/>
            <a:ext cx="8229600" cy="496100"/>
          </a:xfrm>
        </p:spPr>
        <p:txBody>
          <a:bodyPr wrap="square" lIns="91425" tIns="91425" rIns="91425" bIns="91425">
            <a:noAutofit/>
          </a:bodyPr>
          <a:lstStyle/>
          <a:p>
            <a:pPr marL="0" lvl="0" indent="0">
              <a:buSzPts val="2400"/>
              <a:buNone/>
            </a:pPr>
            <a:r>
              <a:rPr lang="en-US" sz="2400" b="1" kern="1200" dirty="0">
                <a:solidFill>
                  <a:srgbClr val="000000"/>
                </a:solidFill>
                <a:latin typeface="Arial (Body)"/>
                <a:ea typeface="+mn-ea"/>
                <a:cs typeface="+mn-cs"/>
              </a:rPr>
              <a:t>The average requirements per day are:</a:t>
            </a:r>
            <a:endParaRPr lang="en-US" sz="2400" b="1" kern="1200" dirty="0">
              <a:solidFill>
                <a:srgbClr val="000000"/>
              </a:solidFill>
              <a:latin typeface="Arial (Body)"/>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7" name="Object 4" descr="Lower d bar upper L = 300,000 over 250, = 1,200 keyboards."/>
              <p:cNvSpPr txBox="1"/>
              <p:nvPr/>
            </p:nvSpPr>
            <p:spPr>
              <a:xfrm>
                <a:off x="1731963" y="2320925"/>
                <a:ext cx="4787900" cy="852488"/>
              </a:xfrm>
              <a:prstGeom prst="rect">
                <a:avLst/>
              </a:prstGeom>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𝑑</m:t>
                          </m:r>
                        </m:e>
                      </m:acc>
                      <m:r>
                        <m:rPr>
                          <m:nor/>
                        </m:rPr>
                        <a:rPr lang="en-US" i="0">
                          <a:solidFill>
                            <a:srgbClr val="000000"/>
                          </a:solidFill>
                          <a:latin typeface="Cambria Math" panose="02040503050406030204" pitchFamily="18" charset="0"/>
                        </a:rPr>
                        <m:t> = </m:t>
                      </m:r>
                      <m:f>
                        <m:fPr>
                          <m:ctrlPr>
                            <a:rPr lang="en-US" i="1">
                              <a:solidFill>
                                <a:srgbClr val="000000"/>
                              </a:solidFill>
                              <a:latin typeface="Cambria Math" panose="02040503050406030204" pitchFamily="18" charset="0"/>
                            </a:rPr>
                          </m:ctrlPr>
                        </m:fPr>
                        <m:num>
                          <m:r>
                            <m:rPr>
                              <m:nor/>
                            </m:rPr>
                            <a:rPr lang="en-US" i="0">
                              <a:solidFill>
                                <a:srgbClr val="000000"/>
                              </a:solidFill>
                              <a:latin typeface="Cambria Math" panose="02040503050406030204" pitchFamily="18" charset="0"/>
                            </a:rPr>
                            <m:t>300,000</m:t>
                          </m:r>
                        </m:num>
                        <m:den>
                          <m:r>
                            <m:rPr>
                              <m:nor/>
                            </m:rPr>
                            <a:rPr lang="en-US" i="0">
                              <a:solidFill>
                                <a:srgbClr val="000000"/>
                              </a:solidFill>
                              <a:latin typeface="Cambria Math" panose="02040503050406030204" pitchFamily="18" charset="0"/>
                            </a:rPr>
                            <m:t>250</m:t>
                          </m:r>
                        </m:den>
                      </m:f>
                      <m:r>
                        <m:rPr>
                          <m:nor/>
                        </m:rPr>
                        <a:rPr lang="en-US" i="0">
                          <a:solidFill>
                            <a:srgbClr val="000000"/>
                          </a:solidFill>
                          <a:latin typeface="Cambria Math" panose="02040503050406030204" pitchFamily="18" charset="0"/>
                        </a:rPr>
                        <m:t> = </m:t>
                      </m:r>
                      <m:r>
                        <a:rPr lang="en-US" i="1">
                          <a:solidFill>
                            <a:srgbClr val="000000"/>
                          </a:solidFill>
                          <a:latin typeface="Cambria Math" panose="02040503050406030204" pitchFamily="18" charset="0"/>
                        </a:rPr>
                        <m:t>1,200 </m:t>
                      </m:r>
                      <m:r>
                        <m:rPr>
                          <m:sty m:val="p"/>
                        </m:rPr>
                        <a:rPr lang="en-US" i="1">
                          <a:solidFill>
                            <a:srgbClr val="000000"/>
                          </a:solidFill>
                          <a:latin typeface="Cambria Math" panose="02040503050406030204" pitchFamily="18" charset="0"/>
                        </a:rPr>
                        <m:t>keyboards</m:t>
                      </m:r>
                    </m:oMath>
                  </m:oMathPara>
                </a14:m>
                <a:endParaRPr lang="en-US" dirty="0"/>
              </a:p>
            </p:txBody>
          </p:sp>
        </mc:Choice>
        <mc:Fallback xmlns="">
          <p:sp>
            <p:nvSpPr>
              <p:cNvPr id="7" name="Object 4" descr="Lower d bar upper L = 300,000 over 250, = 1,200 keyboards."/>
              <p:cNvSpPr txBox="1">
                <a:spLocks noRot="1" noChangeAspect="1" noMove="1" noResize="1" noEditPoints="1" noAdjustHandles="1" noChangeArrowheads="1" noChangeShapeType="1" noTextEdit="1"/>
              </p:cNvSpPr>
              <p:nvPr/>
            </p:nvSpPr>
            <p:spPr>
              <a:xfrm>
                <a:off x="1731963" y="2320925"/>
                <a:ext cx="4787900" cy="852488"/>
              </a:xfrm>
              <a:prstGeom prst="rect">
                <a:avLst/>
              </a:prstGeom>
              <a:blipFill>
                <a:blip r:embed="rId3"/>
                <a:stretch>
                  <a:fillRect/>
                </a:stretch>
              </a:blipFill>
            </p:spPr>
            <p:txBody>
              <a:bodyPr/>
              <a:lstStyle/>
              <a:p>
                <a:r>
                  <a:rPr lang="en-US">
                    <a:noFill/>
                  </a:rPr>
                  <a:t> </a:t>
                </a:r>
              </a:p>
            </p:txBody>
          </p:sp>
        </mc:Fallback>
      </mc:AlternateContent>
      <p:sp>
        <p:nvSpPr>
          <p:cNvPr id="4" name="Content Placeholder 3"/>
          <p:cNvSpPr>
            <a:spLocks noGrp="1"/>
          </p:cNvSpPr>
          <p:nvPr>
            <p:ph idx="4294967295"/>
          </p:nvPr>
        </p:nvSpPr>
        <p:spPr>
          <a:xfrm>
            <a:off x="457200" y="3276600"/>
            <a:ext cx="3005138" cy="533400"/>
          </a:xfrm>
        </p:spPr>
        <p:txBody>
          <a:bodyPr wrap="square" lIns="91425" tIns="91425" rIns="91425" bIns="91425">
            <a:noAutofit/>
          </a:bodyPr>
          <a:lstStyle/>
          <a:p>
            <a:pPr marL="0" lvl="1" indent="0">
              <a:buSzPts val="2400"/>
              <a:buNone/>
            </a:pPr>
            <a:r>
              <a:rPr lang="en-US" sz="2400" kern="1200" dirty="0">
                <a:solidFill>
                  <a:srgbClr val="000000"/>
                </a:solidFill>
                <a:latin typeface="Arial (Body)"/>
                <a:ea typeface="+mn-ea"/>
                <a:cs typeface="+mn-cs"/>
              </a:rPr>
              <a:t>Total Annual Cost =</a:t>
            </a:r>
          </a:p>
        </p:txBody>
      </p:sp>
      <p:graphicFrame>
        <p:nvGraphicFramePr>
          <p:cNvPr id="8" name="Object 8" descr="Lower p upper D + freight costs plus, Q over 2, + lower d bar upper L, times H, + administrative costs."/>
          <p:cNvGraphicFramePr>
            <a:graphicFrameLocks noChangeAspect="1"/>
          </p:cNvGraphicFramePr>
          <p:nvPr/>
        </p:nvGraphicFramePr>
        <p:xfrm>
          <a:off x="956989" y="3959292"/>
          <a:ext cx="7248683" cy="838200"/>
        </p:xfrm>
        <a:graphic>
          <a:graphicData uri="http://schemas.openxmlformats.org/presentationml/2006/ole">
            <mc:AlternateContent xmlns:mc="http://schemas.openxmlformats.org/markup-compatibility/2006">
              <mc:Choice xmlns:v="urn:schemas-microsoft-com:vml" Requires="v">
                <p:oleObj name="Equation" r:id="rId4" imgW="3187440" imgH="368280" progId="Equation.DSMT4">
                  <p:embed/>
                </p:oleObj>
              </mc:Choice>
              <mc:Fallback>
                <p:oleObj name="Equation" r:id="rId4" imgW="3187440" imgH="368280" progId="Equation.DSMT4">
                  <p:embed/>
                  <p:pic>
                    <p:nvPicPr>
                      <p:cNvPr id="8" name="Object 8" descr="Lower p upper D + freight costs plus, Q over 2, + lower d bar upper L, times H, + administrative costs."/>
                      <p:cNvPicPr/>
                      <p:nvPr/>
                    </p:nvPicPr>
                    <p:blipFill>
                      <a:blip r:embed="rId5"/>
                      <a:stretch>
                        <a:fillRect/>
                      </a:stretch>
                    </p:blipFill>
                    <p:spPr>
                      <a:xfrm>
                        <a:off x="956989" y="3959292"/>
                        <a:ext cx="7248683" cy="838200"/>
                      </a:xfrm>
                      <a:prstGeom prst="rect">
                        <a:avLst/>
                      </a:prstGeom>
                    </p:spPr>
                  </p:pic>
                </p:oleObj>
              </mc:Fallback>
            </mc:AlternateContent>
          </a:graphicData>
        </a:graphic>
      </p:graphicFrame>
    </p:spTree>
    <p:extLst>
      <p:ext uri="{BB962C8B-B14F-4D97-AF65-F5344CB8AC3E}">
        <p14:creationId xmlns:p14="http://schemas.microsoft.com/office/powerpoint/2010/main" val="2586253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Example 1 </a:t>
            </a:r>
            <a:r>
              <a:rPr lang="en-US" sz="2000" b="0" kern="1200" dirty="0">
                <a:latin typeface="Times New Roman" panose="02020603050405020304" pitchFamily="18" charset="0"/>
                <a:ea typeface="+mj-ea"/>
                <a:cs typeface="Times New Roman" panose="02020603050405020304" pitchFamily="18" charset="0"/>
              </a:rPr>
              <a:t>(4 of 5)</a:t>
            </a:r>
          </a:p>
        </p:txBody>
      </p:sp>
      <p:sp>
        <p:nvSpPr>
          <p:cNvPr id="3" name="Content Placeholder 2"/>
          <p:cNvSpPr>
            <a:spLocks noGrp="1"/>
          </p:cNvSpPr>
          <p:nvPr>
            <p:ph idx="1"/>
          </p:nvPr>
        </p:nvSpPr>
        <p:spPr>
          <a:xfrm>
            <a:off x="457200" y="1600200"/>
            <a:ext cx="3573624" cy="919336"/>
          </a:xfrm>
        </p:spPr>
        <p:txBody>
          <a:bodyPr wrap="square" lIns="91425" tIns="91425" rIns="91425" bIns="91425">
            <a:noAutofit/>
          </a:bodyPr>
          <a:lstStyle/>
          <a:p>
            <a:pPr marL="0" lvl="0" indent="0">
              <a:buSzPts val="2400"/>
              <a:buNone/>
            </a:pPr>
            <a:r>
              <a:rPr lang="en-US" sz="2000" b="1" kern="1200" dirty="0">
                <a:solidFill>
                  <a:srgbClr val="000000"/>
                </a:solidFill>
                <a:latin typeface="Arial (Body)"/>
                <a:ea typeface="+mn-ea"/>
                <a:cs typeface="+mn-cs"/>
              </a:rPr>
              <a:t>BELFAST: Q = 10,000 units.</a:t>
            </a:r>
          </a:p>
          <a:p>
            <a:pPr marL="485775" lvl="1" indent="260350">
              <a:buSzPts val="2400"/>
              <a:buNone/>
            </a:pPr>
            <a:r>
              <a:rPr lang="en-US" sz="2000" kern="1200" dirty="0">
                <a:solidFill>
                  <a:srgbClr val="000000"/>
                </a:solidFill>
                <a:latin typeface="Arial (Body)"/>
                <a:ea typeface="+mn-ea"/>
                <a:cs typeface="+mn-cs"/>
              </a:rPr>
              <a:t>Material costs = </a:t>
            </a:r>
            <a:r>
              <a:rPr lang="en-US" sz="2000" i="1" kern="1200" dirty="0">
                <a:solidFill>
                  <a:srgbClr val="000000"/>
                </a:solidFill>
                <a:latin typeface="Arial (Body)"/>
                <a:ea typeface="+mn-ea"/>
                <a:cs typeface="+mn-cs"/>
              </a:rPr>
              <a:t>pD =</a:t>
            </a:r>
            <a:endParaRPr lang="en-US" sz="2000" kern="1200" dirty="0">
              <a:solidFill>
                <a:srgbClr val="000000"/>
              </a:solidFill>
              <a:latin typeface="Arial (Body)"/>
              <a:ea typeface="+mn-ea"/>
              <a:cs typeface="+mn-cs"/>
            </a:endParaRPr>
          </a:p>
        </p:txBody>
      </p:sp>
      <p:graphicFrame>
        <p:nvGraphicFramePr>
          <p:cNvPr id="8" name="Object 8" descr="$100 per unit times 300,000 units"/>
          <p:cNvGraphicFramePr>
            <a:graphicFrameLocks noChangeAspect="1"/>
          </p:cNvGraphicFramePr>
          <p:nvPr/>
        </p:nvGraphicFramePr>
        <p:xfrm>
          <a:off x="3781425" y="2062163"/>
          <a:ext cx="3009900" cy="374650"/>
        </p:xfrm>
        <a:graphic>
          <a:graphicData uri="http://schemas.openxmlformats.org/presentationml/2006/ole">
            <mc:AlternateContent xmlns:mc="http://schemas.openxmlformats.org/markup-compatibility/2006">
              <mc:Choice xmlns:v="urn:schemas-microsoft-com:vml" Requires="v">
                <p:oleObj name="Equation" r:id="rId2" imgW="1536480" imgH="190440" progId="Equation.DSMT4">
                  <p:embed/>
                </p:oleObj>
              </mc:Choice>
              <mc:Fallback>
                <p:oleObj name="Equation" r:id="rId2" imgW="1536480" imgH="190440" progId="Equation.DSMT4">
                  <p:embed/>
                  <p:pic>
                    <p:nvPicPr>
                      <p:cNvPr id="8" name="Object 8" descr="$100 per unit times 300,000 units"/>
                      <p:cNvPicPr/>
                      <p:nvPr/>
                    </p:nvPicPr>
                    <p:blipFill>
                      <a:blip r:embed="rId3"/>
                      <a:stretch>
                        <a:fillRect/>
                      </a:stretch>
                    </p:blipFill>
                    <p:spPr>
                      <a:xfrm>
                        <a:off x="3781425" y="2062163"/>
                        <a:ext cx="3009900" cy="374650"/>
                      </a:xfrm>
                      <a:prstGeom prst="rect">
                        <a:avLst/>
                      </a:prstGeom>
                    </p:spPr>
                  </p:pic>
                </p:oleObj>
              </mc:Fallback>
            </mc:AlternateContent>
          </a:graphicData>
        </a:graphic>
      </p:graphicFrame>
      <p:sp>
        <p:nvSpPr>
          <p:cNvPr id="5" name="Content Placeholder 4"/>
          <p:cNvSpPr>
            <a:spLocks noGrp="1"/>
          </p:cNvSpPr>
          <p:nvPr>
            <p:ph idx="13"/>
          </p:nvPr>
        </p:nvSpPr>
        <p:spPr>
          <a:xfrm>
            <a:off x="464389" y="2356505"/>
            <a:ext cx="8229600" cy="1255115"/>
          </a:xfrm>
        </p:spPr>
        <p:txBody>
          <a:bodyPr/>
          <a:lstStyle/>
          <a:p>
            <a:pPr marL="2416175" lvl="1" indent="0">
              <a:buSzPts val="2400"/>
              <a:buNone/>
              <a:tabLst>
                <a:tab pos="2603500" algn="l"/>
              </a:tabLst>
            </a:pPr>
            <a:r>
              <a:rPr lang="en-US" sz="2000" kern="1200" dirty="0">
                <a:solidFill>
                  <a:srgbClr val="000000"/>
                </a:solidFill>
                <a:latin typeface="Arial (Body)"/>
              </a:rPr>
              <a:t>=</a:t>
            </a:r>
            <a:r>
              <a:rPr lang="en-US" sz="2000" b="1" kern="1200" dirty="0">
                <a:solidFill>
                  <a:srgbClr val="000000"/>
                </a:solidFill>
                <a:latin typeface="Arial (Body)"/>
              </a:rPr>
              <a:t> $30,000,000</a:t>
            </a:r>
          </a:p>
          <a:p>
            <a:pPr marL="457200" lvl="1" indent="438150">
              <a:buSzPts val="2400"/>
              <a:buNone/>
            </a:pPr>
            <a:r>
              <a:rPr lang="en-US" sz="2000" kern="1200" dirty="0">
                <a:solidFill>
                  <a:srgbClr val="000000"/>
                </a:solidFill>
                <a:latin typeface="Arial (Body)"/>
              </a:rPr>
              <a:t>Freight costs = </a:t>
            </a:r>
            <a:r>
              <a:rPr lang="en-US" sz="2000" b="1" kern="1200" dirty="0">
                <a:solidFill>
                  <a:srgbClr val="000000"/>
                </a:solidFill>
                <a:latin typeface="Arial (Body)"/>
              </a:rPr>
              <a:t>$380,000</a:t>
            </a:r>
          </a:p>
          <a:p>
            <a:pPr marL="625475" lvl="1" indent="0">
              <a:buSzPts val="2400"/>
              <a:buNone/>
            </a:pPr>
            <a:r>
              <a:rPr lang="en-US" sz="2000" kern="1200" dirty="0">
                <a:solidFill>
                  <a:srgbClr val="000000"/>
                </a:solidFill>
                <a:latin typeface="Arial (Body)"/>
              </a:rPr>
              <a:t>Inventory costs = (cycle inventory + pipeline inventory) </a:t>
            </a:r>
            <a:r>
              <a:rPr lang="en-US" sz="2000" i="1" kern="1200" dirty="0">
                <a:solidFill>
                  <a:srgbClr val="000000"/>
                </a:solidFill>
                <a:latin typeface="Arial (Body)"/>
              </a:rPr>
              <a:t>H</a:t>
            </a:r>
          </a:p>
        </p:txBody>
      </p:sp>
      <p:graphicFrame>
        <p:nvGraphicFramePr>
          <p:cNvPr id="6" name="Object 8" descr="Equals Q over 2, + lower d bar upper L, times H."/>
          <p:cNvGraphicFramePr>
            <a:graphicFrameLocks noChangeAspect="1"/>
          </p:cNvGraphicFramePr>
          <p:nvPr/>
        </p:nvGraphicFramePr>
        <p:xfrm>
          <a:off x="2907802" y="3678306"/>
          <a:ext cx="1402945" cy="656350"/>
        </p:xfrm>
        <a:graphic>
          <a:graphicData uri="http://schemas.openxmlformats.org/presentationml/2006/ole">
            <mc:AlternateContent xmlns:mc="http://schemas.openxmlformats.org/markup-compatibility/2006">
              <mc:Choice xmlns:v="urn:schemas-microsoft-com:vml" Requires="v">
                <p:oleObj name="Equation" r:id="rId4" imgW="787320" imgH="368280" progId="Equation.DSMT4">
                  <p:embed/>
                </p:oleObj>
              </mc:Choice>
              <mc:Fallback>
                <p:oleObj name="Equation" r:id="rId4" imgW="787320" imgH="368280" progId="Equation.DSMT4">
                  <p:embed/>
                  <p:pic>
                    <p:nvPicPr>
                      <p:cNvPr id="6" name="Object 8" descr="Equals Q over 2, + lower d bar upper L, times H."/>
                      <p:cNvPicPr/>
                      <p:nvPr/>
                    </p:nvPicPr>
                    <p:blipFill>
                      <a:blip r:embed="rId5"/>
                      <a:stretch>
                        <a:fillRect/>
                      </a:stretch>
                    </p:blipFill>
                    <p:spPr>
                      <a:xfrm>
                        <a:off x="2907802" y="3678306"/>
                        <a:ext cx="1402945" cy="656350"/>
                      </a:xfrm>
                      <a:prstGeom prst="rect">
                        <a:avLst/>
                      </a:prstGeom>
                    </p:spPr>
                  </p:pic>
                </p:oleObj>
              </mc:Fallback>
            </mc:AlternateContent>
          </a:graphicData>
        </a:graphic>
      </p:graphicFrame>
      <p:sp>
        <p:nvSpPr>
          <p:cNvPr id="7" name="Content Placeholder 6"/>
          <p:cNvSpPr>
            <a:spLocks noGrp="1"/>
          </p:cNvSpPr>
          <p:nvPr>
            <p:ph idx="14"/>
          </p:nvPr>
        </p:nvSpPr>
        <p:spPr>
          <a:xfrm>
            <a:off x="473720" y="4401343"/>
            <a:ext cx="8229600" cy="1539551"/>
          </a:xfrm>
        </p:spPr>
        <p:txBody>
          <a:bodyPr/>
          <a:lstStyle/>
          <a:p>
            <a:pPr marL="2332038" lvl="1" indent="0">
              <a:buNone/>
            </a:pPr>
            <a:r>
              <a:rPr lang="en-US" sz="2000" dirty="0">
                <a:latin typeface="+mn-lt"/>
              </a:rPr>
              <a:t>=</a:t>
            </a:r>
            <a:r>
              <a:rPr lang="en-US" sz="2000" b="1" dirty="0">
                <a:latin typeface="+mn-lt"/>
              </a:rPr>
              <a:t> $460,000</a:t>
            </a:r>
          </a:p>
          <a:p>
            <a:pPr marL="2574925" lvl="1" indent="-2574925">
              <a:buNone/>
            </a:pPr>
            <a:r>
              <a:rPr lang="en-US" sz="2000" dirty="0">
                <a:latin typeface="+mn-lt"/>
              </a:rPr>
              <a:t>Administrative costs = </a:t>
            </a:r>
            <a:r>
              <a:rPr lang="en-US" sz="2000" b="1" dirty="0">
                <a:latin typeface="+mn-lt"/>
              </a:rPr>
              <a:t>$180,000</a:t>
            </a:r>
          </a:p>
          <a:p>
            <a:pPr marL="2160000" lvl="1" indent="-2574925">
              <a:buNone/>
            </a:pPr>
            <a:r>
              <a:rPr lang="en-US" sz="2000" dirty="0">
                <a:latin typeface="+mn-lt"/>
              </a:rPr>
              <a:t>Total Annual Cost = $30,000,000 + $380,000 + $460,000 + $180,000 =</a:t>
            </a:r>
            <a:r>
              <a:rPr lang="en-US" sz="2000" b="1" dirty="0">
                <a:latin typeface="+mn-lt"/>
              </a:rPr>
              <a:t> $31,020,000</a:t>
            </a:r>
            <a:endParaRPr lang="en-US" sz="2000" dirty="0">
              <a:latin typeface="+mn-lt"/>
            </a:endParaRPr>
          </a:p>
        </p:txBody>
      </p:sp>
    </p:spTree>
    <p:extLst>
      <p:ext uri="{BB962C8B-B14F-4D97-AF65-F5344CB8AC3E}">
        <p14:creationId xmlns:p14="http://schemas.microsoft.com/office/powerpoint/2010/main" val="1242613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Example 1 </a:t>
            </a:r>
            <a:r>
              <a:rPr lang="en-US" sz="2000" b="0" kern="1200" dirty="0">
                <a:latin typeface="Times New Roman" panose="02020603050405020304" pitchFamily="18" charset="0"/>
                <a:ea typeface="+mj-ea"/>
                <a:cs typeface="Times New Roman" panose="02020603050405020304" pitchFamily="18" charset="0"/>
              </a:rPr>
              <a:t>(5 of 5)</a:t>
            </a:r>
          </a:p>
        </p:txBody>
      </p:sp>
      <p:sp>
        <p:nvSpPr>
          <p:cNvPr id="3" name="Text Placeholder 2"/>
          <p:cNvSpPr>
            <a:spLocks noGrp="1"/>
          </p:cNvSpPr>
          <p:nvPr>
            <p:ph type="body" idx="1"/>
          </p:nvPr>
        </p:nvSpPr>
        <p:spPr>
          <a:xfrm>
            <a:off x="457200" y="1600201"/>
            <a:ext cx="8229600" cy="835090"/>
          </a:xfrm>
        </p:spPr>
        <p:txBody>
          <a:bodyPr wrap="square" lIns="91425" tIns="91425" rIns="91425" bIns="91425">
            <a:noAutofit/>
          </a:bodyPr>
          <a:lstStyle/>
          <a:p>
            <a:pPr marL="0" lvl="0" indent="0">
              <a:buSzPts val="2400"/>
              <a:buNone/>
            </a:pPr>
            <a:r>
              <a:rPr lang="en-US" sz="2400" kern="1200" dirty="0">
                <a:solidFill>
                  <a:srgbClr val="000000"/>
                </a:solidFill>
                <a:latin typeface="Arial (Body)"/>
                <a:ea typeface="+mn-ea"/>
                <a:cs typeface="+mn-cs"/>
              </a:rPr>
              <a:t>The total costs for all three shipping quantity options are similarly calculated and are contained in the following table.</a:t>
            </a:r>
          </a:p>
        </p:txBody>
      </p:sp>
      <p:graphicFrame>
        <p:nvGraphicFramePr>
          <p:cNvPr id="5" name="Table 4"/>
          <p:cNvGraphicFramePr>
            <a:graphicFrameLocks noGrp="1"/>
          </p:cNvGraphicFramePr>
          <p:nvPr/>
        </p:nvGraphicFramePr>
        <p:xfrm>
          <a:off x="581607" y="2725444"/>
          <a:ext cx="8001001" cy="1584960"/>
        </p:xfrm>
        <a:graphic>
          <a:graphicData uri="http://schemas.openxmlformats.org/drawingml/2006/table">
            <a:tbl>
              <a:tblPr firstRow="1" bandRow="1">
                <a:tableStyleId>{3B4B98B0-60AC-42C2-AFA5-B58CD77FA1E5}</a:tableStyleId>
              </a:tblPr>
              <a:tblGrid>
                <a:gridCol w="1321837">
                  <a:extLst>
                    <a:ext uri="{9D8B030D-6E8A-4147-A177-3AD203B41FA5}">
                      <a16:colId xmlns:a16="http://schemas.microsoft.com/office/drawing/2014/main" val="3542427664"/>
                    </a:ext>
                  </a:extLst>
                </a:gridCol>
                <a:gridCol w="2259563">
                  <a:extLst>
                    <a:ext uri="{9D8B030D-6E8A-4147-A177-3AD203B41FA5}">
                      <a16:colId xmlns:a16="http://schemas.microsoft.com/office/drawing/2014/main" val="3187567069"/>
                    </a:ext>
                  </a:extLst>
                </a:gridCol>
                <a:gridCol w="2209800">
                  <a:extLst>
                    <a:ext uri="{9D8B030D-6E8A-4147-A177-3AD203B41FA5}">
                      <a16:colId xmlns:a16="http://schemas.microsoft.com/office/drawing/2014/main" val="2484970642"/>
                    </a:ext>
                  </a:extLst>
                </a:gridCol>
                <a:gridCol w="2209801">
                  <a:extLst>
                    <a:ext uri="{9D8B030D-6E8A-4147-A177-3AD203B41FA5}">
                      <a16:colId xmlns:a16="http://schemas.microsoft.com/office/drawing/2014/main" val="640428217"/>
                    </a:ext>
                  </a:extLst>
                </a:gridCol>
              </a:tblGrid>
              <a:tr h="0">
                <a:tc>
                  <a:txBody>
                    <a:bodyPr/>
                    <a:lstStyle/>
                    <a:p>
                      <a:pPr algn="ctr"/>
                      <a:r>
                        <a:rPr kumimoji="0" lang="en-US" sz="1600" b="1" i="0" u="none" strike="noStrike" cap="none" normalizeH="0" baseline="0" dirty="0">
                          <a:ln>
                            <a:noFill/>
                          </a:ln>
                          <a:solidFill>
                            <a:srgbClr val="000000"/>
                          </a:solidFill>
                          <a:effectLst/>
                          <a:latin typeface="+mn-lt"/>
                        </a:rPr>
                        <a:t>Supplier</a:t>
                      </a:r>
                      <a:endParaRPr lang="en-US" sz="1600" dirty="0">
                        <a:solidFill>
                          <a:srgbClr val="000000"/>
                        </a:solidFill>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1" i="0" u="none" strike="noStrike" cap="none" normalizeH="0" baseline="0" dirty="0">
                          <a:ln>
                            <a:noFill/>
                          </a:ln>
                          <a:solidFill>
                            <a:srgbClr val="000000"/>
                          </a:solidFill>
                          <a:effectLst/>
                          <a:latin typeface="+mn-lt"/>
                        </a:rPr>
                        <a:t>Shipping Quantity</a:t>
                      </a:r>
                    </a:p>
                    <a:p>
                      <a:pPr algn="ctr"/>
                      <a:r>
                        <a:rPr kumimoji="0" lang="en-US" sz="1600" b="1" i="0" u="none" strike="noStrike" cap="none" normalizeH="0" baseline="0" dirty="0">
                          <a:ln>
                            <a:noFill/>
                          </a:ln>
                          <a:solidFill>
                            <a:srgbClr val="000000"/>
                          </a:solidFill>
                          <a:effectLst/>
                          <a:latin typeface="+mn-lt"/>
                        </a:rPr>
                        <a:t>10,000</a:t>
                      </a:r>
                      <a:endParaRPr lang="en-US" sz="1600" dirty="0">
                        <a:solidFill>
                          <a:srgbClr val="000000"/>
                        </a:solidFill>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1" i="0" u="none" strike="noStrike" cap="none" normalizeH="0" baseline="0" dirty="0">
                          <a:ln>
                            <a:noFill/>
                          </a:ln>
                          <a:solidFill>
                            <a:srgbClr val="000000"/>
                          </a:solidFill>
                          <a:effectLst/>
                          <a:latin typeface="+mn-lt"/>
                        </a:rPr>
                        <a:t>Shipping Quantity</a:t>
                      </a:r>
                    </a:p>
                    <a:p>
                      <a:pPr algn="ctr"/>
                      <a:r>
                        <a:rPr kumimoji="0" lang="en-US" sz="1600" b="1" i="0" u="none" strike="noStrike" cap="none" normalizeH="0" baseline="0" dirty="0">
                          <a:ln>
                            <a:noFill/>
                          </a:ln>
                          <a:solidFill>
                            <a:srgbClr val="000000"/>
                          </a:solidFill>
                          <a:effectLst/>
                          <a:latin typeface="+mn-lt"/>
                        </a:rPr>
                        <a:t>20,000</a:t>
                      </a:r>
                      <a:endParaRPr lang="en-US" sz="1600" dirty="0">
                        <a:solidFill>
                          <a:srgbClr val="000000"/>
                        </a:solidFill>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1" i="0" u="none" strike="noStrike" cap="none" normalizeH="0" baseline="0" dirty="0">
                          <a:ln>
                            <a:noFill/>
                          </a:ln>
                          <a:solidFill>
                            <a:srgbClr val="000000"/>
                          </a:solidFill>
                          <a:effectLst/>
                          <a:latin typeface="+mn-lt"/>
                        </a:rPr>
                        <a:t>Shipping Quantity</a:t>
                      </a:r>
                    </a:p>
                    <a:p>
                      <a:pPr algn="ctr"/>
                      <a:r>
                        <a:rPr kumimoji="0" lang="en-US" sz="1600" b="1" i="0" u="none" strike="noStrike" cap="none" normalizeH="0" baseline="0" dirty="0">
                          <a:ln>
                            <a:noFill/>
                          </a:ln>
                          <a:solidFill>
                            <a:srgbClr val="000000"/>
                          </a:solidFill>
                          <a:effectLst/>
                          <a:latin typeface="+mn-lt"/>
                        </a:rPr>
                        <a:t>30,000</a:t>
                      </a:r>
                      <a:endParaRPr lang="en-US" sz="1600" dirty="0">
                        <a:solidFill>
                          <a:srgbClr val="000000"/>
                        </a:solidFill>
                        <a:latin typeface="+mn-lt"/>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26698207"/>
                  </a:ext>
                </a:extLst>
              </a:tr>
              <a:tr h="0">
                <a:tc>
                  <a:txBody>
                    <a:bodyPr/>
                    <a:lstStyle/>
                    <a:p>
                      <a:r>
                        <a:rPr kumimoji="0" lang="en-US" sz="1600" b="0" i="0" u="none" strike="noStrike" cap="none" normalizeH="0" baseline="0" dirty="0">
                          <a:ln>
                            <a:noFill/>
                          </a:ln>
                          <a:solidFill>
                            <a:schemeClr val="tx1"/>
                          </a:solidFill>
                          <a:effectLst/>
                          <a:latin typeface="+mn-lt"/>
                        </a:rPr>
                        <a:t>Belfast</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$31,020,000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$31,000,000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$31,077,000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31291695"/>
                  </a:ext>
                </a:extLst>
              </a:tr>
              <a:tr h="0">
                <a:tc>
                  <a:txBody>
                    <a:bodyPr/>
                    <a:lstStyle/>
                    <a:p>
                      <a:r>
                        <a:rPr kumimoji="0" lang="en-US" sz="1600" b="0" i="0" u="none" strike="noStrike" cap="none" normalizeH="0" baseline="0" dirty="0">
                          <a:ln>
                            <a:noFill/>
                          </a:ln>
                          <a:solidFill>
                            <a:schemeClr val="tx1"/>
                          </a:solidFill>
                          <a:effectLst/>
                          <a:latin typeface="+mn-lt"/>
                        </a:rPr>
                        <a:t>Hong Kong</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$30,387,000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$30,415,000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$30,434,000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04642188"/>
                  </a:ext>
                </a:extLst>
              </a:tr>
              <a:tr h="0">
                <a:tc>
                  <a:txBody>
                    <a:bodyPr/>
                    <a:lstStyle/>
                    <a:p>
                      <a:r>
                        <a:rPr kumimoji="0" lang="en-US" sz="1600" b="0" i="0" u="none" strike="noStrike" cap="none" normalizeH="0" baseline="0" dirty="0">
                          <a:ln>
                            <a:noFill/>
                          </a:ln>
                          <a:solidFill>
                            <a:schemeClr val="tx1"/>
                          </a:solidFill>
                          <a:effectLst/>
                          <a:latin typeface="+mn-lt"/>
                        </a:rPr>
                        <a:t>Shreveport</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$30,352,800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$30,406,800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0" lang="en-US" sz="1600" b="0" i="0" u="none" strike="noStrike" cap="none" normalizeH="0" baseline="0" dirty="0">
                          <a:ln>
                            <a:noFill/>
                          </a:ln>
                          <a:solidFill>
                            <a:schemeClr val="tx1"/>
                          </a:solidFill>
                          <a:effectLst/>
                          <a:latin typeface="+mn-lt"/>
                        </a:rPr>
                        <a:t>$30,465,800</a:t>
                      </a:r>
                      <a:endParaRPr lang="en-US" sz="16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38656897"/>
                  </a:ext>
                </a:extLst>
              </a:tr>
            </a:tbl>
          </a:graphicData>
        </a:graphic>
      </p:graphicFrame>
    </p:spTree>
    <p:extLst>
      <p:ext uri="{BB962C8B-B14F-4D97-AF65-F5344CB8AC3E}">
        <p14:creationId xmlns:p14="http://schemas.microsoft.com/office/powerpoint/2010/main" val="4066512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992B-9324-DBFA-4D18-DAC8A1ED0A3F}"/>
              </a:ext>
            </a:extLst>
          </p:cNvPr>
          <p:cNvSpPr>
            <a:spLocks noGrp="1"/>
          </p:cNvSpPr>
          <p:nvPr>
            <p:ph type="title"/>
          </p:nvPr>
        </p:nvSpPr>
        <p:spPr/>
        <p:txBody>
          <a:bodyPr/>
          <a:lstStyle/>
          <a:p>
            <a:r>
              <a:rPr lang="en-US" dirty="0"/>
              <a:t>A Mini Case Study</a:t>
            </a:r>
          </a:p>
        </p:txBody>
      </p:sp>
      <p:sp>
        <p:nvSpPr>
          <p:cNvPr id="3" name="Text Placeholder 2">
            <a:extLst>
              <a:ext uri="{FF2B5EF4-FFF2-40B4-BE49-F238E27FC236}">
                <a16:creationId xmlns:a16="http://schemas.microsoft.com/office/drawing/2014/main" id="{574CDBEE-D7E4-7A0E-FE81-A240E1B61B08}"/>
              </a:ext>
            </a:extLst>
          </p:cNvPr>
          <p:cNvSpPr>
            <a:spLocks noGrp="1"/>
          </p:cNvSpPr>
          <p:nvPr>
            <p:ph type="body" idx="1"/>
          </p:nvPr>
        </p:nvSpPr>
        <p:spPr/>
        <p:txBody>
          <a:bodyPr/>
          <a:lstStyle/>
          <a:p>
            <a:r>
              <a:rPr lang="en-US" dirty="0"/>
              <a:t>BMW Supply Chain</a:t>
            </a:r>
          </a:p>
        </p:txBody>
      </p:sp>
    </p:spTree>
    <p:extLst>
      <p:ext uri="{BB962C8B-B14F-4D97-AF65-F5344CB8AC3E}">
        <p14:creationId xmlns:p14="http://schemas.microsoft.com/office/powerpoint/2010/main" val="137447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028A6AA-1BAB-4DDA-A163-6B4D9B8AA928}"/>
              </a:ext>
            </a:extLst>
          </p:cNvPr>
          <p:cNvSpPr>
            <a:spLocks noGrp="1"/>
          </p:cNvSpPr>
          <p:nvPr>
            <p:ph type="body" sz="quarter" idx="20"/>
          </p:nvPr>
        </p:nvSpPr>
        <p:spPr/>
        <p:txBody>
          <a:bodyPr/>
          <a:lstStyle/>
          <a:p>
            <a:r>
              <a:rPr lang="en-US" dirty="0"/>
              <a:t>01 | Motivation</a:t>
            </a:r>
          </a:p>
        </p:txBody>
      </p:sp>
      <p:sp>
        <p:nvSpPr>
          <p:cNvPr id="10" name="Text Placeholder 9"/>
          <p:cNvSpPr>
            <a:spLocks noGrp="1"/>
          </p:cNvSpPr>
          <p:nvPr>
            <p:ph type="body" sz="quarter" idx="11"/>
          </p:nvPr>
        </p:nvSpPr>
        <p:spPr/>
        <p:txBody>
          <a:bodyPr/>
          <a:lstStyle/>
          <a:p>
            <a:endParaRPr lang="en-US"/>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908" y="1187122"/>
            <a:ext cx="6633681" cy="3805986"/>
          </a:xfrm>
          <a:prstGeom prst="rect">
            <a:avLst/>
          </a:prstGeom>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0E0164FB-F59A-4A2D-946C-74CEFAFB9F7F}"/>
              </a:ext>
            </a:extLst>
          </p:cNvPr>
          <p:cNvSpPr txBox="1"/>
          <p:nvPr/>
        </p:nvSpPr>
        <p:spPr>
          <a:xfrm>
            <a:off x="5783828" y="5113110"/>
            <a:ext cx="1709122" cy="213585"/>
          </a:xfrm>
          <a:prstGeom prst="rect">
            <a:avLst/>
          </a:prstGeom>
          <a:noFill/>
        </p:spPr>
        <p:txBody>
          <a:bodyPr wrap="none" rtlCol="0">
            <a:spAutoFit/>
          </a:bodyPr>
          <a:lstStyle/>
          <a:p>
            <a:r>
              <a:rPr lang="en-US" sz="788" dirty="0"/>
              <a:t>Source: Automotive News Europe</a:t>
            </a:r>
          </a:p>
        </p:txBody>
      </p:sp>
    </p:spTree>
    <p:extLst>
      <p:ext uri="{BB962C8B-B14F-4D97-AF65-F5344CB8AC3E}">
        <p14:creationId xmlns:p14="http://schemas.microsoft.com/office/powerpoint/2010/main" val="2231751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CFF9C97-395F-482B-87E1-772AE825673E}"/>
              </a:ext>
            </a:extLst>
          </p:cNvPr>
          <p:cNvSpPr>
            <a:spLocks noGrp="1"/>
          </p:cNvSpPr>
          <p:nvPr>
            <p:ph type="body" sz="quarter" idx="13"/>
          </p:nvPr>
        </p:nvSpPr>
        <p:spPr/>
        <p:txBody>
          <a:bodyPr/>
          <a:lstStyle/>
          <a:p>
            <a:r>
              <a:rPr lang="en-US" sz="1400" dirty="0"/>
              <a:t>Automotive procurement protocol</a:t>
            </a:r>
          </a:p>
          <a:p>
            <a:pPr lvl="1"/>
            <a:r>
              <a:rPr lang="en-US" sz="1400" dirty="0"/>
              <a:t>Commitment + Top-up stage (±10%)</a:t>
            </a:r>
          </a:p>
          <a:p>
            <a:pPr lvl="2"/>
            <a:r>
              <a:rPr lang="en-US" sz="1400" dirty="0"/>
              <a:t>Vs. Traditional ordering in each decision period happens in a single shot</a:t>
            </a:r>
          </a:p>
          <a:p>
            <a:pPr lvl="1"/>
            <a:r>
              <a:rPr lang="en-US" sz="1400" dirty="0"/>
              <a:t>Both pricing &amp; supplier are decided via auction by buyer</a:t>
            </a:r>
          </a:p>
          <a:p>
            <a:pPr lvl="2"/>
            <a:r>
              <a:rPr lang="en-US" sz="1400" dirty="0"/>
              <a:t>Vs. Traditional prices set strategically by supplier</a:t>
            </a:r>
          </a:p>
          <a:p>
            <a:pPr lvl="1"/>
            <a:r>
              <a:rPr lang="en-US" sz="1400" dirty="0"/>
              <a:t>Cost + Demand uncertainty</a:t>
            </a:r>
          </a:p>
          <a:p>
            <a:pPr lvl="2"/>
            <a:r>
              <a:rPr lang="en-US" sz="1400" dirty="0"/>
              <a:t>Vs. Traditional only demand uncertainty</a:t>
            </a:r>
          </a:p>
          <a:p>
            <a:pPr lvl="1"/>
            <a:r>
              <a:rPr lang="en-US" sz="1400" dirty="0"/>
              <a:t>Asymmetric information: Upstream party has </a:t>
            </a:r>
            <a:br>
              <a:rPr lang="en-US" sz="1400" dirty="0"/>
            </a:br>
            <a:r>
              <a:rPr lang="en-US" sz="1400" dirty="0"/>
              <a:t>private information about cost</a:t>
            </a:r>
          </a:p>
          <a:p>
            <a:pPr lvl="2"/>
            <a:r>
              <a:rPr lang="en-US" sz="1400" dirty="0"/>
              <a:t>Vs. Traditional: downstream party holds private information about demand</a:t>
            </a:r>
          </a:p>
          <a:p>
            <a:pPr lvl="1"/>
            <a:endParaRPr lang="en-US" dirty="0"/>
          </a:p>
        </p:txBody>
      </p:sp>
      <p:sp>
        <p:nvSpPr>
          <p:cNvPr id="2" name="Title 1">
            <a:extLst>
              <a:ext uri="{FF2B5EF4-FFF2-40B4-BE49-F238E27FC236}">
                <a16:creationId xmlns:a16="http://schemas.microsoft.com/office/drawing/2014/main" id="{F16279AC-CF5A-4E54-82C8-A3A4DF259C3F}"/>
              </a:ext>
            </a:extLst>
          </p:cNvPr>
          <p:cNvSpPr>
            <a:spLocks noGrp="1"/>
          </p:cNvSpPr>
          <p:nvPr>
            <p:ph type="title"/>
          </p:nvPr>
        </p:nvSpPr>
        <p:spPr/>
        <p:txBody>
          <a:bodyPr/>
          <a:lstStyle/>
          <a:p>
            <a:r>
              <a:rPr lang="en-US" dirty="0"/>
              <a:t>Procurement Protocol</a:t>
            </a:r>
          </a:p>
        </p:txBody>
      </p:sp>
      <p:sp>
        <p:nvSpPr>
          <p:cNvPr id="9" name="Text Placeholder 8">
            <a:extLst>
              <a:ext uri="{FF2B5EF4-FFF2-40B4-BE49-F238E27FC236}">
                <a16:creationId xmlns:a16="http://schemas.microsoft.com/office/drawing/2014/main" id="{C641BE52-0CFC-41A0-8CF4-1E4AF0E68B42}"/>
              </a:ext>
            </a:extLst>
          </p:cNvPr>
          <p:cNvSpPr>
            <a:spLocks noGrp="1"/>
          </p:cNvSpPr>
          <p:nvPr>
            <p:ph type="body" sz="quarter" idx="12"/>
          </p:nvPr>
        </p:nvSpPr>
        <p:spPr/>
        <p:txBody>
          <a:bodyPr/>
          <a:lstStyle/>
          <a:p>
            <a:r>
              <a:rPr lang="en-US" dirty="0"/>
              <a:t>02 | Model &amp; Hypotheses</a:t>
            </a:r>
          </a:p>
        </p:txBody>
      </p:sp>
      <p:graphicFrame>
        <p:nvGraphicFramePr>
          <p:cNvPr id="8" name="Chart 7"/>
          <p:cNvGraphicFramePr/>
          <p:nvPr/>
        </p:nvGraphicFramePr>
        <p:xfrm>
          <a:off x="4947557" y="1835827"/>
          <a:ext cx="4365172" cy="3259244"/>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9"/>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620904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CFF9C97-395F-482B-87E1-772AE825673E}"/>
              </a:ext>
            </a:extLst>
          </p:cNvPr>
          <p:cNvSpPr>
            <a:spLocks noGrp="1"/>
          </p:cNvSpPr>
          <p:nvPr>
            <p:ph type="body" sz="quarter" idx="13"/>
          </p:nvPr>
        </p:nvSpPr>
        <p:spPr>
          <a:xfrm>
            <a:off x="360210" y="2359529"/>
            <a:ext cx="6502424" cy="2814996"/>
          </a:xfrm>
        </p:spPr>
        <p:txBody>
          <a:bodyPr/>
          <a:lstStyle/>
          <a:p>
            <a:r>
              <a:rPr lang="en-US" dirty="0"/>
              <a:t>Fixed-price (Price Adjustment)</a:t>
            </a:r>
          </a:p>
          <a:p>
            <a:pPr lvl="1"/>
            <a:r>
              <a:rPr lang="en-US" dirty="0"/>
              <a:t>BMW pays R&amp;D/tooling cost +</a:t>
            </a:r>
            <a:br>
              <a:rPr lang="en-US" dirty="0"/>
            </a:br>
            <a:r>
              <a:rPr lang="en-US" u="sng" dirty="0"/>
              <a:t>fixed</a:t>
            </a:r>
            <a:r>
              <a:rPr lang="en-US" dirty="0"/>
              <a:t> raw material cost</a:t>
            </a:r>
          </a:p>
          <a:p>
            <a:pPr lvl="1"/>
            <a:r>
              <a:rPr lang="en-US" b="1" dirty="0"/>
              <a:t>Supplier is absorbing </a:t>
            </a:r>
            <a:r>
              <a:rPr lang="en-US" dirty="0"/>
              <a:t>all raw material </a:t>
            </a:r>
            <a:br>
              <a:rPr lang="en-US" dirty="0"/>
            </a:br>
            <a:r>
              <a:rPr lang="en-US" dirty="0"/>
              <a:t>cost volatility</a:t>
            </a:r>
          </a:p>
          <a:p>
            <a:pPr lvl="0"/>
            <a:endParaRPr lang="en-US" dirty="0"/>
          </a:p>
          <a:p>
            <a:pPr lvl="0"/>
            <a:r>
              <a:rPr lang="en-US" dirty="0"/>
              <a:t>Cost-Plus (Material-Plus-Surcharge)</a:t>
            </a:r>
          </a:p>
          <a:p>
            <a:pPr lvl="1"/>
            <a:r>
              <a:rPr lang="en-US" dirty="0"/>
              <a:t>BMW reimburses R&amp;D/tooling cost + </a:t>
            </a:r>
            <a:br>
              <a:rPr lang="en-US" dirty="0"/>
            </a:br>
            <a:r>
              <a:rPr lang="en-US" u="sng" dirty="0"/>
              <a:t>floating</a:t>
            </a:r>
            <a:r>
              <a:rPr lang="en-US" dirty="0"/>
              <a:t> raw material cost </a:t>
            </a:r>
          </a:p>
          <a:p>
            <a:pPr lvl="1"/>
            <a:r>
              <a:rPr lang="en-US" b="1" dirty="0"/>
              <a:t>BMW is absorbing </a:t>
            </a:r>
            <a:r>
              <a:rPr lang="en-US" dirty="0"/>
              <a:t>all raw material </a:t>
            </a:r>
            <a:br>
              <a:rPr lang="en-US" dirty="0"/>
            </a:br>
            <a:r>
              <a:rPr lang="en-US" dirty="0"/>
              <a:t>cost volatility</a:t>
            </a:r>
          </a:p>
          <a:p>
            <a:endParaRPr lang="en-US" dirty="0"/>
          </a:p>
          <a:p>
            <a:pPr lvl="1"/>
            <a:endParaRPr lang="en-US" sz="900" i="1" dirty="0"/>
          </a:p>
        </p:txBody>
      </p:sp>
      <p:sp>
        <p:nvSpPr>
          <p:cNvPr id="2" name="Title 1">
            <a:extLst>
              <a:ext uri="{FF2B5EF4-FFF2-40B4-BE49-F238E27FC236}">
                <a16:creationId xmlns:a16="http://schemas.microsoft.com/office/drawing/2014/main" id="{F16279AC-CF5A-4E54-82C8-A3A4DF259C3F}"/>
              </a:ext>
            </a:extLst>
          </p:cNvPr>
          <p:cNvSpPr>
            <a:spLocks noGrp="1"/>
          </p:cNvSpPr>
          <p:nvPr>
            <p:ph type="title"/>
          </p:nvPr>
        </p:nvSpPr>
        <p:spPr/>
        <p:txBody>
          <a:bodyPr/>
          <a:lstStyle/>
          <a:p>
            <a:r>
              <a:rPr lang="en-US" dirty="0"/>
              <a:t>Contracts at BMW</a:t>
            </a:r>
          </a:p>
        </p:txBody>
      </p:sp>
      <p:sp>
        <p:nvSpPr>
          <p:cNvPr id="9" name="Text Placeholder 8">
            <a:extLst>
              <a:ext uri="{FF2B5EF4-FFF2-40B4-BE49-F238E27FC236}">
                <a16:creationId xmlns:a16="http://schemas.microsoft.com/office/drawing/2014/main" id="{C641BE52-0CFC-41A0-8CF4-1E4AF0E68B42}"/>
              </a:ext>
            </a:extLst>
          </p:cNvPr>
          <p:cNvSpPr>
            <a:spLocks noGrp="1"/>
          </p:cNvSpPr>
          <p:nvPr>
            <p:ph type="body" sz="quarter" idx="12"/>
          </p:nvPr>
        </p:nvSpPr>
        <p:spPr/>
        <p:txBody>
          <a:bodyPr/>
          <a:lstStyle/>
          <a:p>
            <a:r>
              <a:rPr lang="en-US" dirty="0"/>
              <a:t>03 | Model &amp; Hypotheses</a:t>
            </a:r>
          </a:p>
        </p:txBody>
      </p:sp>
      <p:pic>
        <p:nvPicPr>
          <p:cNvPr id="3" name="Picture 2"/>
          <p:cNvPicPr>
            <a:picLocks noChangeAspect="1"/>
          </p:cNvPicPr>
          <p:nvPr/>
        </p:nvPicPr>
        <p:blipFill>
          <a:blip r:embed="rId2"/>
          <a:stretch>
            <a:fillRect/>
          </a:stretch>
        </p:blipFill>
        <p:spPr>
          <a:xfrm>
            <a:off x="3979924" y="2138791"/>
            <a:ext cx="4873013" cy="2970419"/>
          </a:xfrm>
          <a:prstGeom prst="rect">
            <a:avLst/>
          </a:prstGeom>
        </p:spPr>
      </p:pic>
      <p:cxnSp>
        <p:nvCxnSpPr>
          <p:cNvPr id="6" name="Straight Connector 5"/>
          <p:cNvCxnSpPr/>
          <p:nvPr/>
        </p:nvCxnSpPr>
        <p:spPr>
          <a:xfrm>
            <a:off x="4896123" y="5285388"/>
            <a:ext cx="1856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238005" y="5285387"/>
            <a:ext cx="185655"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288416" y="5278686"/>
            <a:ext cx="185655"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081778" y="5181513"/>
            <a:ext cx="1059906" cy="230832"/>
          </a:xfrm>
          <a:prstGeom prst="rect">
            <a:avLst/>
          </a:prstGeom>
          <a:noFill/>
        </p:spPr>
        <p:txBody>
          <a:bodyPr wrap="none" rtlCol="0">
            <a:spAutoFit/>
          </a:bodyPr>
          <a:lstStyle/>
          <a:p>
            <a:r>
              <a:rPr lang="en-US" sz="900" dirty="0">
                <a:latin typeface="Century" panose="02040604050505020304" pitchFamily="18" charset="0"/>
              </a:rPr>
              <a:t>LME Aluminum</a:t>
            </a:r>
          </a:p>
        </p:txBody>
      </p:sp>
      <p:sp>
        <p:nvSpPr>
          <p:cNvPr id="11" name="TextBox 10"/>
          <p:cNvSpPr txBox="1"/>
          <p:nvPr/>
        </p:nvSpPr>
        <p:spPr>
          <a:xfrm>
            <a:off x="6423660" y="5181512"/>
            <a:ext cx="797013" cy="230832"/>
          </a:xfrm>
          <a:prstGeom prst="rect">
            <a:avLst/>
          </a:prstGeom>
          <a:noFill/>
        </p:spPr>
        <p:txBody>
          <a:bodyPr wrap="none" rtlCol="0">
            <a:spAutoFit/>
          </a:bodyPr>
          <a:lstStyle/>
          <a:p>
            <a:r>
              <a:rPr lang="en-US" sz="900" dirty="0">
                <a:latin typeface="Century" panose="02040604050505020304" pitchFamily="18" charset="0"/>
              </a:rPr>
              <a:t>Fixed-Price</a:t>
            </a:r>
          </a:p>
        </p:txBody>
      </p:sp>
      <p:sp>
        <p:nvSpPr>
          <p:cNvPr id="12" name="TextBox 11"/>
          <p:cNvSpPr txBox="1"/>
          <p:nvPr/>
        </p:nvSpPr>
        <p:spPr>
          <a:xfrm>
            <a:off x="7474071" y="5174811"/>
            <a:ext cx="699230" cy="230832"/>
          </a:xfrm>
          <a:prstGeom prst="rect">
            <a:avLst/>
          </a:prstGeom>
          <a:noFill/>
        </p:spPr>
        <p:txBody>
          <a:bodyPr wrap="none" rtlCol="0">
            <a:spAutoFit/>
          </a:bodyPr>
          <a:lstStyle/>
          <a:p>
            <a:r>
              <a:rPr lang="en-US" sz="900" dirty="0">
                <a:latin typeface="Century" panose="02040604050505020304" pitchFamily="18" charset="0"/>
              </a:rPr>
              <a:t>Cost-Plus</a:t>
            </a:r>
          </a:p>
        </p:txBody>
      </p:sp>
    </p:spTree>
    <p:extLst>
      <p:ext uri="{BB962C8B-B14F-4D97-AF65-F5344CB8AC3E}">
        <p14:creationId xmlns:p14="http://schemas.microsoft.com/office/powerpoint/2010/main" val="310094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028A6AA-1BAB-4DDA-A163-6B4D9B8AA928}"/>
              </a:ext>
            </a:extLst>
          </p:cNvPr>
          <p:cNvSpPr>
            <a:spLocks noGrp="1"/>
          </p:cNvSpPr>
          <p:nvPr>
            <p:ph type="body" sz="quarter" idx="20"/>
          </p:nvPr>
        </p:nvSpPr>
        <p:spPr/>
        <p:txBody>
          <a:bodyPr/>
          <a:lstStyle/>
          <a:p>
            <a:r>
              <a:rPr lang="en-US" dirty="0"/>
              <a:t>01 | Motivation</a:t>
            </a:r>
          </a:p>
        </p:txBody>
      </p:sp>
      <p:sp>
        <p:nvSpPr>
          <p:cNvPr id="7" name="Title 6"/>
          <p:cNvSpPr>
            <a:spLocks noGrp="1"/>
          </p:cNvSpPr>
          <p:nvPr>
            <p:ph type="title"/>
          </p:nvPr>
        </p:nvSpPr>
        <p:spPr/>
        <p:txBody>
          <a:bodyPr/>
          <a:lstStyle/>
          <a:p>
            <a:r>
              <a:rPr lang="en-US" dirty="0"/>
              <a:t>Price Distortion</a:t>
            </a:r>
          </a:p>
        </p:txBody>
      </p:sp>
      <p:sp>
        <p:nvSpPr>
          <p:cNvPr id="10" name="Text Placeholder 9"/>
          <p:cNvSpPr>
            <a:spLocks noGrp="1"/>
          </p:cNvSpPr>
          <p:nvPr>
            <p:ph type="body" sz="quarter" idx="11"/>
          </p:nvPr>
        </p:nvSpPr>
        <p:spPr/>
        <p:txBody>
          <a:bodyPr/>
          <a:lstStyle/>
          <a:p>
            <a:endParaRPr lang="en-US"/>
          </a:p>
        </p:txBody>
      </p:sp>
      <p:sp>
        <p:nvSpPr>
          <p:cNvPr id="2" name="Content Placeholder 1"/>
          <p:cNvSpPr>
            <a:spLocks noGrp="1"/>
          </p:cNvSpPr>
          <p:nvPr>
            <p:ph sz="quarter" idx="19"/>
          </p:nvPr>
        </p:nvSpPr>
        <p:spPr>
          <a:xfrm>
            <a:off x="2209048" y="2059347"/>
            <a:ext cx="4126445" cy="2814801"/>
          </a:xfrm>
        </p:spPr>
        <p:txBody>
          <a:bodyPr/>
          <a:lstStyle/>
          <a:p>
            <a:pPr marL="0" indent="0">
              <a:buNone/>
            </a:pPr>
            <a:r>
              <a:rPr lang="en-US" dirty="0"/>
              <a:t>Price increases on LME,</a:t>
            </a:r>
            <a:br>
              <a:rPr lang="en-US" dirty="0"/>
            </a:br>
            <a:r>
              <a:rPr lang="en-US" dirty="0"/>
              <a:t>Trade group index follows</a:t>
            </a:r>
          </a:p>
        </p:txBody>
      </p:sp>
      <p:sp>
        <p:nvSpPr>
          <p:cNvPr id="3" name="Content Placeholder 2"/>
          <p:cNvSpPr>
            <a:spLocks noGrp="1"/>
          </p:cNvSpPr>
          <p:nvPr>
            <p:ph sz="quarter" idx="18"/>
          </p:nvPr>
        </p:nvSpPr>
        <p:spPr>
          <a:xfrm>
            <a:off x="4793998" y="2059347"/>
            <a:ext cx="2865017" cy="601659"/>
          </a:xfrm>
        </p:spPr>
        <p:txBody>
          <a:bodyPr/>
          <a:lstStyle/>
          <a:p>
            <a:pPr marL="0" indent="0">
              <a:buNone/>
            </a:pPr>
            <a:r>
              <a:rPr lang="en-US" dirty="0"/>
              <a:t>Price decreases on LME,</a:t>
            </a:r>
            <a:br>
              <a:rPr lang="en-US" dirty="0"/>
            </a:br>
            <a:r>
              <a:rPr lang="en-US" dirty="0"/>
              <a:t>Trade group index slow to respond</a:t>
            </a:r>
          </a:p>
        </p:txBody>
      </p:sp>
      <p:pic>
        <p:nvPicPr>
          <p:cNvPr id="11" name="Picture 10"/>
          <p:cNvPicPr>
            <a:picLocks noChangeAspect="1"/>
          </p:cNvPicPr>
          <p:nvPr/>
        </p:nvPicPr>
        <p:blipFill rotWithShape="1">
          <a:blip r:embed="rId2"/>
          <a:srcRect t="19762"/>
          <a:stretch/>
        </p:blipFill>
        <p:spPr>
          <a:xfrm>
            <a:off x="1765056" y="2856873"/>
            <a:ext cx="5613890" cy="2765027"/>
          </a:xfrm>
          <a:prstGeom prst="rect">
            <a:avLst/>
          </a:prstGeom>
          <a:effectLst>
            <a:outerShdw blurRad="50800" dist="38100" dir="2700000" algn="tl" rotWithShape="0">
              <a:prstClr val="black">
                <a:alpha val="40000"/>
              </a:prstClr>
            </a:outerShdw>
          </a:effectLst>
        </p:spPr>
      </p:pic>
      <p:cxnSp>
        <p:nvCxnSpPr>
          <p:cNvPr id="6" name="Straight Arrow Connector 5"/>
          <p:cNvCxnSpPr/>
          <p:nvPr/>
        </p:nvCxnSpPr>
        <p:spPr>
          <a:xfrm>
            <a:off x="3276086" y="2543948"/>
            <a:ext cx="97309" cy="31292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276086" y="2543948"/>
            <a:ext cx="1705232" cy="31292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184307" y="2436007"/>
            <a:ext cx="565322" cy="42086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1" idx="0"/>
          </p:cNvCxnSpPr>
          <p:nvPr/>
        </p:nvCxnSpPr>
        <p:spPr>
          <a:xfrm flipH="1">
            <a:off x="4572001" y="2436007"/>
            <a:ext cx="177628" cy="42086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0CE628-FDAB-4800-BE63-EC3DF9703E7F}"/>
              </a:ext>
            </a:extLst>
          </p:cNvPr>
          <p:cNvSpPr txBox="1"/>
          <p:nvPr/>
        </p:nvSpPr>
        <p:spPr>
          <a:xfrm>
            <a:off x="5712383" y="5621900"/>
            <a:ext cx="1721946" cy="213585"/>
          </a:xfrm>
          <a:prstGeom prst="rect">
            <a:avLst/>
          </a:prstGeom>
          <a:noFill/>
        </p:spPr>
        <p:txBody>
          <a:bodyPr wrap="none" rtlCol="0">
            <a:spAutoFit/>
          </a:bodyPr>
          <a:lstStyle/>
          <a:p>
            <a:r>
              <a:rPr lang="en-US" sz="788" dirty="0"/>
              <a:t>Source: BMW Internal Documents</a:t>
            </a:r>
          </a:p>
        </p:txBody>
      </p:sp>
    </p:spTree>
    <p:extLst>
      <p:ext uri="{BB962C8B-B14F-4D97-AF65-F5344CB8AC3E}">
        <p14:creationId xmlns:p14="http://schemas.microsoft.com/office/powerpoint/2010/main" val="1659071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9D106-6F21-FC20-4768-1DC5464A24A4}"/>
              </a:ext>
            </a:extLst>
          </p:cNvPr>
          <p:cNvSpPr>
            <a:spLocks noGrp="1"/>
          </p:cNvSpPr>
          <p:nvPr>
            <p:ph type="title"/>
          </p:nvPr>
        </p:nvSpPr>
        <p:spPr/>
        <p:txBody>
          <a:bodyPr/>
          <a:lstStyle/>
          <a:p>
            <a:r>
              <a:rPr lang="en-US" dirty="0"/>
              <a:t>Supply chain risk</a:t>
            </a:r>
          </a:p>
        </p:txBody>
      </p:sp>
      <p:sp>
        <p:nvSpPr>
          <p:cNvPr id="3" name="Text Placeholder 2">
            <a:extLst>
              <a:ext uri="{FF2B5EF4-FFF2-40B4-BE49-F238E27FC236}">
                <a16:creationId xmlns:a16="http://schemas.microsoft.com/office/drawing/2014/main" id="{46CA6061-5364-A0FA-7BC6-884E75195E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446178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r>
              <a:rPr lang="en-US" dirty="0">
                <a:latin typeface="Arial" charset="0"/>
                <a:cs typeface="Arial" charset="0"/>
              </a:rPr>
              <a:t>Supply Chain Risk</a:t>
            </a:r>
          </a:p>
        </p:txBody>
      </p:sp>
      <p:sp>
        <p:nvSpPr>
          <p:cNvPr id="60418" name="Content Placeholder 1"/>
          <p:cNvSpPr>
            <a:spLocks noGrp="1"/>
          </p:cNvSpPr>
          <p:nvPr>
            <p:ph idx="1"/>
          </p:nvPr>
        </p:nvSpPr>
        <p:spPr>
          <a:xfrm>
            <a:off x="698500" y="1473200"/>
            <a:ext cx="7747000" cy="4813300"/>
          </a:xfrm>
        </p:spPr>
        <p:txBody>
          <a:bodyPr/>
          <a:lstStyle/>
          <a:p>
            <a:pPr>
              <a:buFont typeface="Arial Unicode MS" charset="0"/>
              <a:buChar char="▶"/>
            </a:pPr>
            <a:r>
              <a:rPr lang="en-US" dirty="0">
                <a:latin typeface="Arial" charset="0"/>
                <a:cs typeface="Arial" charset="0"/>
              </a:rPr>
              <a:t>More reliance on supply chains means more risk</a:t>
            </a:r>
          </a:p>
          <a:p>
            <a:pPr>
              <a:buFont typeface="Arial Unicode MS" charset="0"/>
              <a:buChar char="▶"/>
            </a:pPr>
            <a:r>
              <a:rPr lang="en-US" dirty="0">
                <a:latin typeface="Arial" charset="0"/>
                <a:cs typeface="Arial" charset="0"/>
              </a:rPr>
              <a:t>Fewer suppliers increase dependence</a:t>
            </a:r>
          </a:p>
          <a:p>
            <a:pPr>
              <a:buFont typeface="Arial Unicode MS" charset="0"/>
              <a:buChar char="▶"/>
            </a:pPr>
            <a:r>
              <a:rPr lang="en-US" dirty="0">
                <a:latin typeface="Arial" charset="0"/>
                <a:cs typeface="Arial" charset="0"/>
              </a:rPr>
              <a:t>Compounded by globalization and logistical complexity</a:t>
            </a:r>
          </a:p>
          <a:p>
            <a:pPr>
              <a:buFont typeface="Arial Unicode MS" charset="0"/>
              <a:buChar char="▶"/>
            </a:pPr>
            <a:r>
              <a:rPr lang="en-US" dirty="0">
                <a:latin typeface="Arial" charset="0"/>
                <a:cs typeface="Arial" charset="0"/>
              </a:rPr>
              <a:t>Vendor reliability and </a:t>
            </a:r>
            <a:br>
              <a:rPr lang="en-US" dirty="0">
                <a:latin typeface="Arial" charset="0"/>
                <a:cs typeface="Arial" charset="0"/>
              </a:rPr>
            </a:br>
            <a:r>
              <a:rPr lang="en-US" dirty="0">
                <a:latin typeface="Arial" charset="0"/>
                <a:cs typeface="Arial" charset="0"/>
              </a:rPr>
              <a:t>quality risks</a:t>
            </a:r>
          </a:p>
          <a:p>
            <a:pPr>
              <a:buFont typeface="Arial Unicode MS" charset="0"/>
              <a:buChar char="▶"/>
            </a:pPr>
            <a:r>
              <a:rPr lang="en-US" dirty="0">
                <a:latin typeface="Arial" charset="0"/>
                <a:cs typeface="Arial" charset="0"/>
              </a:rPr>
              <a:t>Political and </a:t>
            </a:r>
            <a:br>
              <a:rPr lang="en-US" dirty="0">
                <a:latin typeface="Arial" charset="0"/>
                <a:cs typeface="Arial" charset="0"/>
              </a:rPr>
            </a:br>
            <a:r>
              <a:rPr lang="en-US" dirty="0">
                <a:latin typeface="Arial" charset="0"/>
                <a:cs typeface="Arial" charset="0"/>
              </a:rPr>
              <a:t>currency risks</a:t>
            </a:r>
          </a:p>
        </p:txBody>
      </p:sp>
      <p:pic>
        <p:nvPicPr>
          <p:cNvPr id="2" name="Picture 1" descr="container ship.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7000" y="3782325"/>
            <a:ext cx="3403600" cy="2254938"/>
          </a:xfrm>
          <a:prstGeom prst="rect">
            <a:avLst/>
          </a:prstGeom>
        </p:spPr>
      </p:pic>
    </p:spTree>
    <p:extLst>
      <p:ext uri="{BB962C8B-B14F-4D97-AF65-F5344CB8AC3E}">
        <p14:creationId xmlns:p14="http://schemas.microsoft.com/office/powerpoint/2010/main" val="114286591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Supply Chain Disruptions</a:t>
            </a:r>
            <a:endParaRPr lang="en-US" sz="2000" b="0" kern="1200" dirty="0">
              <a:latin typeface="Times New Roman" panose="02020603050405020304" pitchFamily="18" charset="0"/>
              <a:ea typeface="+mj-ea"/>
              <a:cs typeface="Times New Roman" panose="02020603050405020304" pitchFamily="18" charset="0"/>
            </a:endParaRPr>
          </a:p>
        </p:txBody>
      </p:sp>
      <p:sp>
        <p:nvSpPr>
          <p:cNvPr id="3" name="Text Placeholder 2"/>
          <p:cNvSpPr>
            <a:spLocks noGrp="1"/>
          </p:cNvSpPr>
          <p:nvPr>
            <p:ph type="body" idx="1"/>
          </p:nvPr>
        </p:nvSpPr>
        <p:spPr/>
        <p:txBody>
          <a:bodyPr wrap="square" lIns="91425" tIns="91425" rIns="91425" bIns="91425">
            <a:noAutofit/>
          </a:bodyPr>
          <a:lstStyle/>
          <a:p>
            <a:pPr>
              <a:buSzPts val="2400"/>
            </a:pPr>
            <a:endParaRPr lang="en-US" sz="2400" b="1" kern="1200" dirty="0">
              <a:solidFill>
                <a:srgbClr val="000000"/>
              </a:solidFill>
              <a:latin typeface="Arial (Body)"/>
              <a:ea typeface="+mn-ea"/>
              <a:cs typeface="+mn-cs"/>
            </a:endParaRPr>
          </a:p>
          <a:p>
            <a:pPr lvl="1">
              <a:buSzPts val="2400"/>
            </a:pPr>
            <a:r>
              <a:rPr lang="en-US" sz="2400" kern="1200" dirty="0">
                <a:solidFill>
                  <a:srgbClr val="000000"/>
                </a:solidFill>
                <a:latin typeface="Arial (Body)"/>
                <a:ea typeface="+mn-ea"/>
                <a:cs typeface="+mn-cs"/>
              </a:rPr>
              <a:t>Environmental Disruptions</a:t>
            </a:r>
          </a:p>
          <a:p>
            <a:pPr lvl="1">
              <a:buSzPts val="2400"/>
            </a:pPr>
            <a:r>
              <a:rPr lang="en-US" sz="2400" dirty="0">
                <a:solidFill>
                  <a:srgbClr val="000000"/>
                </a:solidFill>
                <a:latin typeface="Arial (Body)"/>
                <a:ea typeface="+mn-ea"/>
                <a:cs typeface="+mn-cs"/>
              </a:rPr>
              <a:t>Supplier</a:t>
            </a:r>
            <a:r>
              <a:rPr lang="en-US" sz="2400" kern="1200" dirty="0">
                <a:solidFill>
                  <a:srgbClr val="000000"/>
                </a:solidFill>
                <a:latin typeface="Arial (Body)"/>
                <a:ea typeface="+mn-ea"/>
                <a:cs typeface="+mn-cs"/>
              </a:rPr>
              <a:t>-Induced Volume Changes</a:t>
            </a:r>
          </a:p>
          <a:p>
            <a:pPr lvl="1">
              <a:buSzPts val="2400"/>
            </a:pPr>
            <a:r>
              <a:rPr lang="en-US" sz="2400" kern="1200" dirty="0">
                <a:solidFill>
                  <a:srgbClr val="000000"/>
                </a:solidFill>
                <a:latin typeface="Arial (Body)"/>
                <a:ea typeface="+mn-ea"/>
                <a:cs typeface="+mn-cs"/>
              </a:rPr>
              <a:t>Product Mix Changes</a:t>
            </a:r>
          </a:p>
          <a:p>
            <a:pPr lvl="1">
              <a:buSzPts val="2400"/>
            </a:pPr>
            <a:r>
              <a:rPr lang="en-US" sz="2400" kern="1200" dirty="0">
                <a:solidFill>
                  <a:srgbClr val="000000"/>
                </a:solidFill>
                <a:latin typeface="Arial (Body)"/>
                <a:ea typeface="+mn-ea"/>
                <a:cs typeface="+mn-cs"/>
              </a:rPr>
              <a:t>Late Deliveries</a:t>
            </a:r>
          </a:p>
        </p:txBody>
      </p:sp>
    </p:spTree>
    <p:extLst>
      <p:ext uri="{BB962C8B-B14F-4D97-AF65-F5344CB8AC3E}">
        <p14:creationId xmlns:p14="http://schemas.microsoft.com/office/powerpoint/2010/main" val="1059512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EB0BA-A10B-4AB1-96AF-1C916D746E7A}"/>
              </a:ext>
            </a:extLst>
          </p:cNvPr>
          <p:cNvSpPr>
            <a:spLocks noGrp="1"/>
          </p:cNvSpPr>
          <p:nvPr>
            <p:ph type="title"/>
          </p:nvPr>
        </p:nvSpPr>
        <p:spPr/>
        <p:txBody>
          <a:bodyPr/>
          <a:lstStyle/>
          <a:p>
            <a:r>
              <a:rPr lang="en-US" dirty="0"/>
              <a:t>Hedging Operational Disruption</a:t>
            </a:r>
          </a:p>
        </p:txBody>
      </p:sp>
      <p:sp>
        <p:nvSpPr>
          <p:cNvPr id="3" name="Text Placeholder 2">
            <a:extLst>
              <a:ext uri="{FF2B5EF4-FFF2-40B4-BE49-F238E27FC236}">
                <a16:creationId xmlns:a16="http://schemas.microsoft.com/office/drawing/2014/main" id="{CC6493B2-CF4D-473C-ABBB-4193C76E56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12382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49" name="Title 1"/>
          <p:cNvSpPr>
            <a:spLocks noGrp="1"/>
          </p:cNvSpPr>
          <p:nvPr>
            <p:ph type="title"/>
          </p:nvPr>
        </p:nvSpPr>
        <p:spPr/>
        <p:txBody>
          <a:bodyPr/>
          <a:lstStyle/>
          <a:p>
            <a:r>
              <a:rPr lang="en-US" dirty="0">
                <a:latin typeface="Arial" charset="0"/>
                <a:cs typeface="Arial" charset="0"/>
              </a:rPr>
              <a:t>Supplier Diversification Model</a:t>
            </a:r>
          </a:p>
        </p:txBody>
      </p:sp>
      <p:sp>
        <p:nvSpPr>
          <p:cNvPr id="43050" name="Content Placeholder 2"/>
          <p:cNvSpPr>
            <a:spLocks noGrp="1"/>
          </p:cNvSpPr>
          <p:nvPr>
            <p:ph idx="1"/>
          </p:nvPr>
        </p:nvSpPr>
        <p:spPr>
          <a:xfrm>
            <a:off x="457200" y="1460500"/>
            <a:ext cx="8229600" cy="1473200"/>
          </a:xfrm>
        </p:spPr>
        <p:txBody>
          <a:bodyPr/>
          <a:lstStyle/>
          <a:p>
            <a:pPr>
              <a:buFont typeface="Arial Unicode MS" charset="0"/>
              <a:buChar char="▶"/>
            </a:pPr>
            <a:r>
              <a:rPr lang="en-US" sz="2400" dirty="0">
                <a:highlight>
                  <a:srgbClr val="FFFF00"/>
                </a:highlight>
                <a:latin typeface="Arial" charset="0"/>
                <a:cs typeface="Arial" charset="0"/>
              </a:rPr>
              <a:t>Hedge risk by having </a:t>
            </a:r>
            <a:r>
              <a:rPr lang="en-US" sz="2400" i="1" dirty="0">
                <a:highlight>
                  <a:srgbClr val="FFFF00"/>
                </a:highlight>
                <a:latin typeface="Times New Roman" charset="0"/>
                <a:cs typeface="Times New Roman" charset="0"/>
              </a:rPr>
              <a:t>n</a:t>
            </a:r>
            <a:r>
              <a:rPr lang="en-US" sz="2400" dirty="0">
                <a:highlight>
                  <a:srgbClr val="FFFF00"/>
                </a:highlight>
                <a:latin typeface="Arial" charset="0"/>
                <a:cs typeface="Arial" charset="0"/>
              </a:rPr>
              <a:t> suppliers for the same item</a:t>
            </a:r>
          </a:p>
          <a:p>
            <a:pPr>
              <a:buFont typeface="Arial Unicode MS" charset="0"/>
              <a:buChar char="▶"/>
            </a:pPr>
            <a:r>
              <a:rPr lang="en-US" sz="2400" dirty="0">
                <a:latin typeface="Arial" charset="0"/>
                <a:cs typeface="Arial" charset="0"/>
              </a:rPr>
              <a:t>For a given supply cycle, the probability of </a:t>
            </a:r>
            <a:r>
              <a:rPr lang="en-US" sz="2400" i="1" dirty="0">
                <a:latin typeface="Times New Roman" charset="0"/>
                <a:cs typeface="Times New Roman" charset="0"/>
              </a:rPr>
              <a:t>n</a:t>
            </a:r>
            <a:r>
              <a:rPr lang="en-US" sz="2400" dirty="0">
                <a:latin typeface="Arial" charset="0"/>
                <a:cs typeface="Arial" charset="0"/>
              </a:rPr>
              <a:t> suppliers being disrupted is</a:t>
            </a:r>
          </a:p>
        </p:txBody>
      </p:sp>
      <p:sp>
        <p:nvSpPr>
          <p:cNvPr id="4" name="TextBox 3"/>
          <p:cNvSpPr txBox="1">
            <a:spLocks noChangeArrowheads="1"/>
          </p:cNvSpPr>
          <p:nvPr/>
        </p:nvSpPr>
        <p:spPr bwMode="auto">
          <a:xfrm>
            <a:off x="1003300" y="3911600"/>
            <a:ext cx="7188200" cy="2266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444500" indent="-444500">
              <a:tabLst>
                <a:tab pos="266700" algn="r"/>
              </a:tabLst>
              <a:defRPr>
                <a:solidFill>
                  <a:schemeClr val="tx1"/>
                </a:solidFill>
                <a:latin typeface="Arial" charset="0"/>
                <a:ea typeface="ＭＳ Ｐゴシック" charset="0"/>
                <a:cs typeface="Arial" charset="0"/>
              </a:defRPr>
            </a:lvl1pPr>
            <a:lvl2pPr marL="742950" indent="-285750">
              <a:tabLst>
                <a:tab pos="266700" algn="r"/>
              </a:tabLst>
              <a:defRPr>
                <a:solidFill>
                  <a:schemeClr val="tx1"/>
                </a:solidFill>
                <a:latin typeface="Arial" charset="0"/>
                <a:ea typeface="Arial" charset="0"/>
                <a:cs typeface="Arial" charset="0"/>
              </a:defRPr>
            </a:lvl2pPr>
            <a:lvl3pPr marL="1143000" indent="-228600">
              <a:tabLst>
                <a:tab pos="266700" algn="r"/>
              </a:tabLst>
              <a:defRPr>
                <a:solidFill>
                  <a:schemeClr val="tx1"/>
                </a:solidFill>
                <a:latin typeface="Arial" charset="0"/>
                <a:ea typeface="Arial" charset="0"/>
                <a:cs typeface="Arial" charset="0"/>
              </a:defRPr>
            </a:lvl3pPr>
            <a:lvl4pPr marL="1600200" indent="-228600">
              <a:tabLst>
                <a:tab pos="266700" algn="r"/>
              </a:tabLst>
              <a:defRPr>
                <a:solidFill>
                  <a:schemeClr val="tx1"/>
                </a:solidFill>
                <a:latin typeface="Arial" charset="0"/>
                <a:ea typeface="Arial" charset="0"/>
                <a:cs typeface="Arial" charset="0"/>
              </a:defRPr>
            </a:lvl4pPr>
            <a:lvl5pPr marL="2057400" indent="-228600">
              <a:tabLst>
                <a:tab pos="266700" algn="r"/>
              </a:tabLst>
              <a:defRPr>
                <a:solidFill>
                  <a:schemeClr val="tx1"/>
                </a:solidFill>
                <a:latin typeface="Arial" charset="0"/>
                <a:ea typeface="Arial" charset="0"/>
                <a:cs typeface="Arial" charset="0"/>
              </a:defRPr>
            </a:lvl5pPr>
            <a:lvl6pPr marL="2514600" indent="-228600" fontAlgn="base">
              <a:spcBef>
                <a:spcPct val="0"/>
              </a:spcBef>
              <a:spcAft>
                <a:spcPct val="0"/>
              </a:spcAft>
              <a:tabLst>
                <a:tab pos="266700" algn="r"/>
              </a:tabLst>
              <a:defRPr>
                <a:solidFill>
                  <a:schemeClr val="tx1"/>
                </a:solidFill>
                <a:latin typeface="Arial" charset="0"/>
                <a:ea typeface="Arial" charset="0"/>
                <a:cs typeface="Arial" charset="0"/>
              </a:defRPr>
            </a:lvl6pPr>
            <a:lvl7pPr marL="2971800" indent="-228600" fontAlgn="base">
              <a:spcBef>
                <a:spcPct val="0"/>
              </a:spcBef>
              <a:spcAft>
                <a:spcPct val="0"/>
              </a:spcAft>
              <a:tabLst>
                <a:tab pos="266700" algn="r"/>
              </a:tabLst>
              <a:defRPr>
                <a:solidFill>
                  <a:schemeClr val="tx1"/>
                </a:solidFill>
                <a:latin typeface="Arial" charset="0"/>
                <a:ea typeface="Arial" charset="0"/>
                <a:cs typeface="Arial" charset="0"/>
              </a:defRPr>
            </a:lvl7pPr>
            <a:lvl8pPr marL="3429000" indent="-228600" fontAlgn="base">
              <a:spcBef>
                <a:spcPct val="0"/>
              </a:spcBef>
              <a:spcAft>
                <a:spcPct val="0"/>
              </a:spcAft>
              <a:tabLst>
                <a:tab pos="266700" algn="r"/>
              </a:tabLst>
              <a:defRPr>
                <a:solidFill>
                  <a:schemeClr val="tx1"/>
                </a:solidFill>
                <a:latin typeface="Arial" charset="0"/>
                <a:ea typeface="Arial" charset="0"/>
                <a:cs typeface="Arial" charset="0"/>
              </a:defRPr>
            </a:lvl8pPr>
            <a:lvl9pPr marL="3886200" indent="-228600" fontAlgn="base">
              <a:spcBef>
                <a:spcPct val="0"/>
              </a:spcBef>
              <a:spcAft>
                <a:spcPct val="0"/>
              </a:spcAft>
              <a:tabLst>
                <a:tab pos="266700" algn="r"/>
              </a:tabLst>
              <a:defRPr>
                <a:solidFill>
                  <a:schemeClr val="tx1"/>
                </a:solidFill>
                <a:latin typeface="Arial" charset="0"/>
                <a:ea typeface="Arial" charset="0"/>
                <a:cs typeface="Arial" charset="0"/>
              </a:defRPr>
            </a:lvl9pPr>
          </a:lstStyle>
          <a:p>
            <a:pPr>
              <a:lnSpc>
                <a:spcPct val="90000"/>
              </a:lnSpc>
              <a:spcAft>
                <a:spcPts val="600"/>
              </a:spcAft>
            </a:pPr>
            <a:r>
              <a:rPr lang="en-US" sz="2000" i="1" dirty="0">
                <a:latin typeface="Times New Roman" charset="0"/>
                <a:cs typeface="Times New Roman" charset="0"/>
              </a:rPr>
              <a:t>	S</a:t>
            </a:r>
            <a:r>
              <a:rPr lang="en-US" sz="2000" dirty="0"/>
              <a:t> =	the probability of a </a:t>
            </a:r>
            <a:r>
              <a:rPr lang="ja-JP" altLang="en-US" sz="2000"/>
              <a:t>“</a:t>
            </a:r>
            <a:r>
              <a:rPr lang="en-US" sz="2000" dirty="0"/>
              <a:t>super-event</a:t>
            </a:r>
            <a:r>
              <a:rPr lang="ja-JP" altLang="en-US" sz="2000"/>
              <a:t>”</a:t>
            </a:r>
            <a:r>
              <a:rPr lang="en-US" sz="2000" dirty="0"/>
              <a:t> that would disrupt </a:t>
            </a:r>
            <a:r>
              <a:rPr lang="en-US" sz="2000" i="1" dirty="0"/>
              <a:t>all</a:t>
            </a:r>
            <a:r>
              <a:rPr lang="en-US" sz="2000" dirty="0"/>
              <a:t> suppliers simultaneously</a:t>
            </a:r>
          </a:p>
          <a:p>
            <a:pPr>
              <a:lnSpc>
                <a:spcPct val="90000"/>
              </a:lnSpc>
              <a:spcAft>
                <a:spcPts val="600"/>
              </a:spcAft>
            </a:pPr>
            <a:r>
              <a:rPr lang="en-US" sz="2000" i="1" dirty="0">
                <a:latin typeface="Times New Roman" charset="0"/>
                <a:cs typeface="Times New Roman" charset="0"/>
              </a:rPr>
              <a:t>	U</a:t>
            </a:r>
            <a:r>
              <a:rPr lang="en-US" sz="2000" dirty="0"/>
              <a:t> =	the probability of a </a:t>
            </a:r>
            <a:r>
              <a:rPr lang="ja-JP" altLang="en-US" sz="2000"/>
              <a:t>“</a:t>
            </a:r>
            <a:r>
              <a:rPr lang="en-US" sz="2000" dirty="0"/>
              <a:t>unique-event</a:t>
            </a:r>
            <a:r>
              <a:rPr lang="ja-JP" altLang="en-US" sz="2000"/>
              <a:t>”</a:t>
            </a:r>
            <a:r>
              <a:rPr lang="en-US" sz="2000" dirty="0"/>
              <a:t> that would disrupt only one supplier</a:t>
            </a:r>
          </a:p>
          <a:p>
            <a:pPr>
              <a:lnSpc>
                <a:spcPct val="90000"/>
              </a:lnSpc>
              <a:spcAft>
                <a:spcPts val="600"/>
              </a:spcAft>
            </a:pPr>
            <a:r>
              <a:rPr lang="en-US" sz="2000" i="1" dirty="0">
                <a:latin typeface="Times New Roman" charset="0"/>
                <a:cs typeface="Times New Roman" charset="0"/>
              </a:rPr>
              <a:t>	L</a:t>
            </a:r>
            <a:r>
              <a:rPr lang="en-US" sz="2000" dirty="0"/>
              <a:t> =	the financial loss incurred in a supply cycle if </a:t>
            </a:r>
            <a:r>
              <a:rPr lang="en-US" sz="2000" i="1" dirty="0"/>
              <a:t>all</a:t>
            </a:r>
            <a:r>
              <a:rPr lang="en-US" sz="2000" dirty="0"/>
              <a:t> suppliers were disrupted</a:t>
            </a:r>
          </a:p>
          <a:p>
            <a:pPr>
              <a:lnSpc>
                <a:spcPct val="90000"/>
              </a:lnSpc>
              <a:spcAft>
                <a:spcPts val="600"/>
              </a:spcAft>
            </a:pPr>
            <a:r>
              <a:rPr lang="en-US" sz="2000" i="1" dirty="0">
                <a:latin typeface="Times New Roman" charset="0"/>
                <a:cs typeface="Times New Roman" charset="0"/>
              </a:rPr>
              <a:t>	C</a:t>
            </a:r>
            <a:r>
              <a:rPr lang="en-US" sz="2000" dirty="0"/>
              <a:t> =	the marginal cost of managing a supplier</a:t>
            </a:r>
          </a:p>
        </p:txBody>
      </p:sp>
      <p:graphicFrame>
        <p:nvGraphicFramePr>
          <p:cNvPr id="5" name="Object 40"/>
          <p:cNvGraphicFramePr>
            <a:graphicFrameLocks noChangeAspect="1"/>
          </p:cNvGraphicFramePr>
          <p:nvPr/>
        </p:nvGraphicFramePr>
        <p:xfrm>
          <a:off x="3105150" y="3092450"/>
          <a:ext cx="2857500" cy="469900"/>
        </p:xfrm>
        <a:graphic>
          <a:graphicData uri="http://schemas.openxmlformats.org/presentationml/2006/ole">
            <mc:AlternateContent xmlns:mc="http://schemas.openxmlformats.org/markup-compatibility/2006">
              <mc:Choice xmlns:v="urn:schemas-microsoft-com:vml" Requires="v">
                <p:oleObj name="Equation" r:id="rId2" imgW="2843280" imgH="456840" progId="Equation.3">
                  <p:embed/>
                </p:oleObj>
              </mc:Choice>
              <mc:Fallback>
                <p:oleObj name="Equation" r:id="rId2" imgW="2843280" imgH="456840" progId="Equation.3">
                  <p:embed/>
                  <p:pic>
                    <p:nvPicPr>
                      <p:cNvPr id="5" name="Object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5150" y="3092450"/>
                        <a:ext cx="2857500" cy="469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0009867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r>
              <a:rPr lang="en-US" dirty="0">
                <a:latin typeface="Arial" charset="0"/>
                <a:cs typeface="Arial" charset="0"/>
              </a:rPr>
              <a:t>How Many Suppliers?</a:t>
            </a:r>
          </a:p>
        </p:txBody>
      </p:sp>
      <p:sp>
        <p:nvSpPr>
          <p:cNvPr id="44034" name="Content Placeholder 2"/>
          <p:cNvSpPr>
            <a:spLocks noGrp="1"/>
          </p:cNvSpPr>
          <p:nvPr>
            <p:ph idx="1"/>
          </p:nvPr>
        </p:nvSpPr>
        <p:spPr>
          <a:xfrm>
            <a:off x="457200" y="1511300"/>
            <a:ext cx="8229600" cy="1549400"/>
          </a:xfrm>
        </p:spPr>
        <p:txBody>
          <a:bodyPr/>
          <a:lstStyle/>
          <a:p>
            <a:pPr>
              <a:buFont typeface="Arial Unicode MS" charset="0"/>
              <a:buChar char="▶"/>
            </a:pPr>
            <a:r>
              <a:rPr lang="en-US" sz="2800" dirty="0">
                <a:latin typeface="Arial" charset="0"/>
                <a:cs typeface="Arial" charset="0"/>
              </a:rPr>
              <a:t>Portfolio of suppliers to balance costs and risks</a:t>
            </a:r>
          </a:p>
          <a:p>
            <a:pPr>
              <a:buFont typeface="Arial Unicode MS" charset="0"/>
              <a:buChar char="▶"/>
            </a:pPr>
            <a:r>
              <a:rPr lang="en-US" sz="2800" dirty="0">
                <a:latin typeface="Arial" charset="0"/>
                <a:cs typeface="Arial" charset="0"/>
              </a:rPr>
              <a:t>Evaluate one, two, or three suppliers using a decision tree</a:t>
            </a:r>
          </a:p>
        </p:txBody>
      </p:sp>
      <p:sp>
        <p:nvSpPr>
          <p:cNvPr id="5" name="TextBox 4"/>
          <p:cNvSpPr txBox="1">
            <a:spLocks noChangeArrowheads="1"/>
          </p:cNvSpPr>
          <p:nvPr/>
        </p:nvSpPr>
        <p:spPr bwMode="auto">
          <a:xfrm>
            <a:off x="965200" y="3124200"/>
            <a:ext cx="7188200" cy="43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444500" indent="-444500">
              <a:tabLst>
                <a:tab pos="266700" algn="r"/>
              </a:tabLst>
              <a:defRPr>
                <a:solidFill>
                  <a:schemeClr val="tx1"/>
                </a:solidFill>
                <a:latin typeface="Arial" charset="0"/>
                <a:ea typeface="ＭＳ Ｐゴシック" charset="0"/>
                <a:cs typeface="Arial" charset="0"/>
              </a:defRPr>
            </a:lvl1pPr>
            <a:lvl2pPr marL="742950" indent="-285750">
              <a:tabLst>
                <a:tab pos="266700" algn="r"/>
              </a:tabLst>
              <a:defRPr>
                <a:solidFill>
                  <a:schemeClr val="tx1"/>
                </a:solidFill>
                <a:latin typeface="Arial" charset="0"/>
                <a:ea typeface="Arial" charset="0"/>
                <a:cs typeface="Arial" charset="0"/>
              </a:defRPr>
            </a:lvl2pPr>
            <a:lvl3pPr marL="1143000" indent="-228600">
              <a:tabLst>
                <a:tab pos="266700" algn="r"/>
              </a:tabLst>
              <a:defRPr>
                <a:solidFill>
                  <a:schemeClr val="tx1"/>
                </a:solidFill>
                <a:latin typeface="Arial" charset="0"/>
                <a:ea typeface="Arial" charset="0"/>
                <a:cs typeface="Arial" charset="0"/>
              </a:defRPr>
            </a:lvl3pPr>
            <a:lvl4pPr marL="1600200" indent="-228600">
              <a:tabLst>
                <a:tab pos="266700" algn="r"/>
              </a:tabLst>
              <a:defRPr>
                <a:solidFill>
                  <a:schemeClr val="tx1"/>
                </a:solidFill>
                <a:latin typeface="Arial" charset="0"/>
                <a:ea typeface="Arial" charset="0"/>
                <a:cs typeface="Arial" charset="0"/>
              </a:defRPr>
            </a:lvl4pPr>
            <a:lvl5pPr marL="2057400" indent="-228600">
              <a:tabLst>
                <a:tab pos="266700" algn="r"/>
              </a:tabLst>
              <a:defRPr>
                <a:solidFill>
                  <a:schemeClr val="tx1"/>
                </a:solidFill>
                <a:latin typeface="Arial" charset="0"/>
                <a:ea typeface="Arial" charset="0"/>
                <a:cs typeface="Arial" charset="0"/>
              </a:defRPr>
            </a:lvl5pPr>
            <a:lvl6pPr marL="2514600" indent="-228600" fontAlgn="base">
              <a:spcBef>
                <a:spcPct val="0"/>
              </a:spcBef>
              <a:spcAft>
                <a:spcPct val="0"/>
              </a:spcAft>
              <a:tabLst>
                <a:tab pos="266700" algn="r"/>
              </a:tabLst>
              <a:defRPr>
                <a:solidFill>
                  <a:schemeClr val="tx1"/>
                </a:solidFill>
                <a:latin typeface="Arial" charset="0"/>
                <a:ea typeface="Arial" charset="0"/>
                <a:cs typeface="Arial" charset="0"/>
              </a:defRPr>
            </a:lvl6pPr>
            <a:lvl7pPr marL="2971800" indent="-228600" fontAlgn="base">
              <a:spcBef>
                <a:spcPct val="0"/>
              </a:spcBef>
              <a:spcAft>
                <a:spcPct val="0"/>
              </a:spcAft>
              <a:tabLst>
                <a:tab pos="266700" algn="r"/>
              </a:tabLst>
              <a:defRPr>
                <a:solidFill>
                  <a:schemeClr val="tx1"/>
                </a:solidFill>
                <a:latin typeface="Arial" charset="0"/>
                <a:ea typeface="Arial" charset="0"/>
                <a:cs typeface="Arial" charset="0"/>
              </a:defRPr>
            </a:lvl7pPr>
            <a:lvl8pPr marL="3429000" indent="-228600" fontAlgn="base">
              <a:spcBef>
                <a:spcPct val="0"/>
              </a:spcBef>
              <a:spcAft>
                <a:spcPct val="0"/>
              </a:spcAft>
              <a:tabLst>
                <a:tab pos="266700" algn="r"/>
              </a:tabLst>
              <a:defRPr>
                <a:solidFill>
                  <a:schemeClr val="tx1"/>
                </a:solidFill>
                <a:latin typeface="Arial" charset="0"/>
                <a:ea typeface="Arial" charset="0"/>
                <a:cs typeface="Arial" charset="0"/>
              </a:defRPr>
            </a:lvl8pPr>
            <a:lvl9pPr marL="3886200" indent="-228600" fontAlgn="base">
              <a:spcBef>
                <a:spcPct val="0"/>
              </a:spcBef>
              <a:spcAft>
                <a:spcPct val="0"/>
              </a:spcAft>
              <a:tabLst>
                <a:tab pos="266700" algn="r"/>
              </a:tabLst>
              <a:defRPr>
                <a:solidFill>
                  <a:schemeClr val="tx1"/>
                </a:solidFill>
                <a:latin typeface="Arial" charset="0"/>
                <a:ea typeface="Arial" charset="0"/>
                <a:cs typeface="Arial" charset="0"/>
              </a:defRPr>
            </a:lvl9pPr>
          </a:lstStyle>
          <a:p>
            <a:pPr>
              <a:lnSpc>
                <a:spcPct val="90000"/>
              </a:lnSpc>
              <a:spcAft>
                <a:spcPts val="600"/>
              </a:spcAft>
            </a:pPr>
            <a:r>
              <a:rPr lang="en-US" sz="2400" i="1" dirty="0">
                <a:latin typeface="Times New Roman" charset="0"/>
                <a:cs typeface="Times New Roman" charset="0"/>
              </a:rPr>
              <a:t>	S</a:t>
            </a:r>
            <a:r>
              <a:rPr lang="en-US" sz="2400" dirty="0"/>
              <a:t> = 0.5%, </a:t>
            </a:r>
            <a:r>
              <a:rPr lang="en-US" sz="2400" i="1" dirty="0">
                <a:latin typeface="Times New Roman" charset="0"/>
                <a:cs typeface="Times New Roman" charset="0"/>
              </a:rPr>
              <a:t>U</a:t>
            </a:r>
            <a:r>
              <a:rPr lang="en-US" sz="2400" dirty="0"/>
              <a:t> = 4%, </a:t>
            </a:r>
            <a:r>
              <a:rPr lang="en-US" sz="2400" i="1" dirty="0">
                <a:latin typeface="Times New Roman" charset="0"/>
                <a:cs typeface="Times New Roman" charset="0"/>
              </a:rPr>
              <a:t>C</a:t>
            </a:r>
            <a:r>
              <a:rPr lang="en-US" sz="2400" dirty="0"/>
              <a:t> = $10,000, </a:t>
            </a:r>
            <a:r>
              <a:rPr lang="en-US" sz="2400" i="1" dirty="0">
                <a:latin typeface="Times New Roman" charset="0"/>
                <a:cs typeface="Times New Roman" charset="0"/>
              </a:rPr>
              <a:t>L</a:t>
            </a:r>
            <a:r>
              <a:rPr lang="en-US" sz="2400" dirty="0"/>
              <a:t> = $10,000,000</a:t>
            </a:r>
          </a:p>
        </p:txBody>
      </p:sp>
      <p:sp>
        <p:nvSpPr>
          <p:cNvPr id="6" name="TextBox 5"/>
          <p:cNvSpPr txBox="1">
            <a:spLocks noChangeArrowheads="1"/>
          </p:cNvSpPr>
          <p:nvPr/>
        </p:nvSpPr>
        <p:spPr bwMode="auto">
          <a:xfrm>
            <a:off x="990600" y="3797300"/>
            <a:ext cx="7281863" cy="2462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723900" indent="-723900">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spcAft>
                <a:spcPts val="600"/>
              </a:spcAft>
            </a:pPr>
            <a:r>
              <a:rPr lang="en-US" sz="2400" i="1" dirty="0">
                <a:latin typeface="Times New Roman" charset="0"/>
                <a:cs typeface="Times New Roman" charset="0"/>
              </a:rPr>
              <a:t>P</a:t>
            </a:r>
            <a:r>
              <a:rPr lang="en-US" sz="2400" dirty="0"/>
              <a:t>(1)	= 0.005 + (1 – 0.005)0.04 = 0.005 + 0.0398 </a:t>
            </a:r>
            <a:br>
              <a:rPr lang="en-US" sz="2400" dirty="0"/>
            </a:br>
            <a:r>
              <a:rPr lang="en-US" sz="2400" dirty="0"/>
              <a:t>= 0.044800, or 4.4800%</a:t>
            </a:r>
          </a:p>
          <a:p>
            <a:pPr>
              <a:spcAft>
                <a:spcPts val="600"/>
              </a:spcAft>
            </a:pPr>
            <a:r>
              <a:rPr lang="en-US" sz="2400" i="1" dirty="0">
                <a:latin typeface="Times New Roman" charset="0"/>
                <a:cs typeface="Times New Roman" charset="0"/>
              </a:rPr>
              <a:t>P</a:t>
            </a:r>
            <a:r>
              <a:rPr lang="en-US" sz="2400" dirty="0"/>
              <a:t>(2)	= 0.005 + (1 – 0.005)0.04</a:t>
            </a:r>
            <a:r>
              <a:rPr lang="en-US" sz="2400" baseline="30000" dirty="0"/>
              <a:t>2</a:t>
            </a:r>
            <a:r>
              <a:rPr lang="en-US" sz="2400" dirty="0"/>
              <a:t> = 0.005 + 0.001592</a:t>
            </a:r>
            <a:br>
              <a:rPr lang="en-US" sz="2400" dirty="0"/>
            </a:br>
            <a:r>
              <a:rPr lang="en-US" sz="2400" dirty="0"/>
              <a:t>= 0.006592, or 0.6592%</a:t>
            </a:r>
          </a:p>
          <a:p>
            <a:pPr>
              <a:spcAft>
                <a:spcPts val="600"/>
              </a:spcAft>
            </a:pPr>
            <a:r>
              <a:rPr lang="en-US" sz="2400" i="1" dirty="0">
                <a:latin typeface="Times New Roman" charset="0"/>
                <a:cs typeface="Times New Roman" charset="0"/>
              </a:rPr>
              <a:t>P</a:t>
            </a:r>
            <a:r>
              <a:rPr lang="en-US" sz="2400" dirty="0"/>
              <a:t>(3)	= 0.005 + (1 – 0.005)0.04</a:t>
            </a:r>
            <a:r>
              <a:rPr lang="en-US" sz="2400" baseline="30000" dirty="0"/>
              <a:t>3</a:t>
            </a:r>
            <a:r>
              <a:rPr lang="en-US" sz="2400" dirty="0"/>
              <a:t> = 0.005 + 0.000064</a:t>
            </a:r>
            <a:br>
              <a:rPr lang="en-US" sz="2400" dirty="0"/>
            </a:br>
            <a:r>
              <a:rPr lang="en-US" sz="2400" dirty="0"/>
              <a:t>= 0.005064, or 0.5064%</a:t>
            </a:r>
          </a:p>
        </p:txBody>
      </p:sp>
    </p:spTree>
    <p:extLst>
      <p:ext uri="{BB962C8B-B14F-4D97-AF65-F5344CB8AC3E}">
        <p14:creationId xmlns:p14="http://schemas.microsoft.com/office/powerpoint/2010/main" val="1790494107"/>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1000"/>
                                        <p:tgtEl>
                                          <p:spTgt spid="5"/>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6"/>
                                        </p:tgtEl>
                                        <p:attrNameLst>
                                          <p:attrName>style.visibility</p:attrName>
                                        </p:attrNameLst>
                                      </p:cBhvr>
                                      <p:to>
                                        <p:strVal val="visible"/>
                                      </p:to>
                                    </p:set>
                                    <p:animEffect transition="in" filter="strips(downRight)">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r>
              <a:rPr lang="en-US" dirty="0">
                <a:latin typeface="Arial" charset="0"/>
                <a:cs typeface="Arial" charset="0"/>
              </a:rPr>
              <a:t>How Many Suppliers?</a:t>
            </a:r>
          </a:p>
        </p:txBody>
      </p:sp>
      <p:grpSp>
        <p:nvGrpSpPr>
          <p:cNvPr id="58" name="Group 57"/>
          <p:cNvGrpSpPr>
            <a:grpSpLocks/>
          </p:cNvGrpSpPr>
          <p:nvPr/>
        </p:nvGrpSpPr>
        <p:grpSpPr bwMode="auto">
          <a:xfrm>
            <a:off x="4038600" y="1392238"/>
            <a:ext cx="1676400" cy="1230312"/>
            <a:chOff x="4038600" y="1392238"/>
            <a:chExt cx="1676886" cy="1230231"/>
          </a:xfrm>
        </p:grpSpPr>
        <p:sp>
          <p:nvSpPr>
            <p:cNvPr id="45101" name="TextBox 8"/>
            <p:cNvSpPr txBox="1">
              <a:spLocks noChangeArrowheads="1"/>
            </p:cNvSpPr>
            <p:nvPr/>
          </p:nvSpPr>
          <p:spPr bwMode="auto">
            <a:xfrm>
              <a:off x="4038600" y="1392238"/>
              <a:ext cx="1676886" cy="600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spcAft>
                  <a:spcPts val="600"/>
                </a:spcAft>
              </a:pPr>
              <a:r>
                <a:rPr lang="en-US" sz="1400" dirty="0"/>
                <a:t>1 – </a:t>
              </a:r>
              <a:r>
                <a:rPr lang="en-US" sz="1400" i="1" dirty="0"/>
                <a:t>P</a:t>
              </a:r>
              <a:r>
                <a:rPr lang="en-US" sz="1400" dirty="0"/>
                <a:t>(1) = .955200</a:t>
              </a:r>
            </a:p>
            <a:p>
              <a:pPr algn="ctr">
                <a:spcAft>
                  <a:spcPts val="600"/>
                </a:spcAft>
              </a:pPr>
              <a:r>
                <a:rPr lang="en-US" sz="1400" dirty="0"/>
                <a:t>No failure</a:t>
              </a:r>
            </a:p>
          </p:txBody>
        </p:sp>
        <p:sp>
          <p:nvSpPr>
            <p:cNvPr id="45102" name="TextBox 9"/>
            <p:cNvSpPr txBox="1">
              <a:spLocks noChangeArrowheads="1"/>
            </p:cNvSpPr>
            <p:nvPr/>
          </p:nvSpPr>
          <p:spPr bwMode="auto">
            <a:xfrm>
              <a:off x="4038600" y="2022305"/>
              <a:ext cx="1385586" cy="600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spcAft>
                  <a:spcPts val="600"/>
                </a:spcAft>
              </a:pPr>
              <a:r>
                <a:rPr lang="en-US" sz="1400" i="1" dirty="0"/>
                <a:t>P</a:t>
              </a:r>
              <a:r>
                <a:rPr lang="en-US" sz="1400" dirty="0"/>
                <a:t>(1) = .044800</a:t>
              </a:r>
            </a:p>
            <a:p>
              <a:pPr algn="ctr">
                <a:spcAft>
                  <a:spcPts val="600"/>
                </a:spcAft>
              </a:pPr>
              <a:r>
                <a:rPr lang="en-US" sz="1400" dirty="0"/>
                <a:t>Failure</a:t>
              </a:r>
            </a:p>
          </p:txBody>
        </p:sp>
      </p:grpSp>
      <p:grpSp>
        <p:nvGrpSpPr>
          <p:cNvPr id="59" name="Group 58"/>
          <p:cNvGrpSpPr>
            <a:grpSpLocks/>
          </p:cNvGrpSpPr>
          <p:nvPr/>
        </p:nvGrpSpPr>
        <p:grpSpPr bwMode="auto">
          <a:xfrm>
            <a:off x="4038600" y="3062288"/>
            <a:ext cx="1676400" cy="1220787"/>
            <a:chOff x="4038600" y="3061669"/>
            <a:chExt cx="1676886" cy="1221978"/>
          </a:xfrm>
        </p:grpSpPr>
        <p:sp>
          <p:nvSpPr>
            <p:cNvPr id="45099" name="TextBox 10"/>
            <p:cNvSpPr txBox="1">
              <a:spLocks noChangeArrowheads="1"/>
            </p:cNvSpPr>
            <p:nvPr/>
          </p:nvSpPr>
          <p:spPr bwMode="auto">
            <a:xfrm>
              <a:off x="4038600" y="3061669"/>
              <a:ext cx="1676886" cy="600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spcAft>
                  <a:spcPts val="600"/>
                </a:spcAft>
              </a:pPr>
              <a:r>
                <a:rPr lang="en-US" sz="1400" dirty="0"/>
                <a:t>1 – </a:t>
              </a:r>
              <a:r>
                <a:rPr lang="en-US" sz="1400" i="1" dirty="0"/>
                <a:t>P</a:t>
              </a:r>
              <a:r>
                <a:rPr lang="en-US" sz="1400" dirty="0"/>
                <a:t>(2) = .993408</a:t>
              </a:r>
            </a:p>
            <a:p>
              <a:pPr algn="ctr">
                <a:spcAft>
                  <a:spcPts val="600"/>
                </a:spcAft>
              </a:pPr>
              <a:r>
                <a:rPr lang="en-US" sz="1400" dirty="0"/>
                <a:t>≤ 1 Fail</a:t>
              </a:r>
            </a:p>
          </p:txBody>
        </p:sp>
        <p:sp>
          <p:nvSpPr>
            <p:cNvPr id="45100" name="TextBox 11"/>
            <p:cNvSpPr txBox="1">
              <a:spLocks noChangeArrowheads="1"/>
            </p:cNvSpPr>
            <p:nvPr/>
          </p:nvSpPr>
          <p:spPr bwMode="auto">
            <a:xfrm>
              <a:off x="4064000" y="3683483"/>
              <a:ext cx="1385586" cy="600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spcAft>
                  <a:spcPts val="600"/>
                </a:spcAft>
              </a:pPr>
              <a:r>
                <a:rPr lang="en-US" sz="1400" i="1" dirty="0"/>
                <a:t>P</a:t>
              </a:r>
              <a:r>
                <a:rPr lang="en-US" sz="1400" dirty="0"/>
                <a:t>(2) = .006592</a:t>
              </a:r>
            </a:p>
            <a:p>
              <a:pPr algn="ctr">
                <a:spcAft>
                  <a:spcPts val="600"/>
                </a:spcAft>
              </a:pPr>
              <a:r>
                <a:rPr lang="en-US" sz="1400" dirty="0"/>
                <a:t>Both fail</a:t>
              </a:r>
            </a:p>
          </p:txBody>
        </p:sp>
      </p:grpSp>
      <p:grpSp>
        <p:nvGrpSpPr>
          <p:cNvPr id="60" name="Group 59"/>
          <p:cNvGrpSpPr>
            <a:grpSpLocks/>
          </p:cNvGrpSpPr>
          <p:nvPr/>
        </p:nvGrpSpPr>
        <p:grpSpPr bwMode="auto">
          <a:xfrm>
            <a:off x="3989388" y="4549775"/>
            <a:ext cx="1676400" cy="1225550"/>
            <a:chOff x="3988676" y="4549120"/>
            <a:chExt cx="1676886" cy="1225728"/>
          </a:xfrm>
        </p:grpSpPr>
        <p:sp>
          <p:nvSpPr>
            <p:cNvPr id="45097" name="TextBox 12"/>
            <p:cNvSpPr txBox="1">
              <a:spLocks noChangeArrowheads="1"/>
            </p:cNvSpPr>
            <p:nvPr/>
          </p:nvSpPr>
          <p:spPr bwMode="auto">
            <a:xfrm>
              <a:off x="3988676" y="4549120"/>
              <a:ext cx="1676886" cy="600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spcAft>
                  <a:spcPts val="600"/>
                </a:spcAft>
              </a:pPr>
              <a:r>
                <a:rPr lang="en-US" sz="1400" dirty="0"/>
                <a:t>1 – </a:t>
              </a:r>
              <a:r>
                <a:rPr lang="en-US" sz="1400" i="1" dirty="0"/>
                <a:t>P</a:t>
              </a:r>
              <a:r>
                <a:rPr lang="en-US" sz="1400" dirty="0"/>
                <a:t>(3) = .994936</a:t>
              </a:r>
            </a:p>
            <a:p>
              <a:pPr algn="ctr">
                <a:spcAft>
                  <a:spcPts val="600"/>
                </a:spcAft>
              </a:pPr>
              <a:r>
                <a:rPr lang="en-US" sz="1400" dirty="0"/>
                <a:t>≤ 2 Fail</a:t>
              </a:r>
            </a:p>
          </p:txBody>
        </p:sp>
        <p:sp>
          <p:nvSpPr>
            <p:cNvPr id="45098" name="TextBox 13"/>
            <p:cNvSpPr txBox="1">
              <a:spLocks noChangeArrowheads="1"/>
            </p:cNvSpPr>
            <p:nvPr/>
          </p:nvSpPr>
          <p:spPr bwMode="auto">
            <a:xfrm>
              <a:off x="4051300" y="5174684"/>
              <a:ext cx="1385586" cy="600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spcAft>
                  <a:spcPts val="600"/>
                </a:spcAft>
              </a:pPr>
              <a:r>
                <a:rPr lang="en-US" sz="1400" i="1" dirty="0"/>
                <a:t>P</a:t>
              </a:r>
              <a:r>
                <a:rPr lang="en-US" sz="1400" dirty="0"/>
                <a:t>(3) = .005064</a:t>
              </a:r>
            </a:p>
            <a:p>
              <a:pPr algn="ctr">
                <a:spcAft>
                  <a:spcPts val="600"/>
                </a:spcAft>
              </a:pPr>
              <a:r>
                <a:rPr lang="en-US" sz="1400" dirty="0"/>
                <a:t>All three fail</a:t>
              </a:r>
            </a:p>
          </p:txBody>
        </p:sp>
      </p:grpSp>
      <p:grpSp>
        <p:nvGrpSpPr>
          <p:cNvPr id="56" name="Group 55"/>
          <p:cNvGrpSpPr>
            <a:grpSpLocks/>
          </p:cNvGrpSpPr>
          <p:nvPr/>
        </p:nvGrpSpPr>
        <p:grpSpPr bwMode="auto">
          <a:xfrm>
            <a:off x="5675313" y="3230563"/>
            <a:ext cx="3038475" cy="1031875"/>
            <a:chOff x="5674578" y="3230627"/>
            <a:chExt cx="3039188" cy="1031855"/>
          </a:xfrm>
        </p:grpSpPr>
        <p:sp>
          <p:nvSpPr>
            <p:cNvPr id="45095" name="TextBox 22"/>
            <p:cNvSpPr txBox="1">
              <a:spLocks noChangeArrowheads="1"/>
            </p:cNvSpPr>
            <p:nvPr/>
          </p:nvSpPr>
          <p:spPr bwMode="auto">
            <a:xfrm>
              <a:off x="5674578" y="3739262"/>
              <a:ext cx="3039188"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622300" indent="-622300">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i="1" dirty="0"/>
                <a:t>L</a:t>
              </a:r>
              <a:r>
                <a:rPr lang="en-US" sz="1400" dirty="0"/>
                <a:t> +  2</a:t>
              </a:r>
              <a:r>
                <a:rPr lang="en-US" sz="1400" i="1" dirty="0"/>
                <a:t>C</a:t>
              </a:r>
              <a:r>
                <a:rPr lang="en-US" sz="1400" dirty="0"/>
                <a:t>	= $10,000,000 + (2)$10,000 </a:t>
              </a:r>
            </a:p>
            <a:p>
              <a:r>
                <a:rPr lang="en-US" sz="1400" dirty="0"/>
                <a:t>	= $10,020,000</a:t>
              </a:r>
            </a:p>
          </p:txBody>
        </p:sp>
        <p:sp>
          <p:nvSpPr>
            <p:cNvPr id="45096" name="TextBox 24"/>
            <p:cNvSpPr txBox="1">
              <a:spLocks noChangeArrowheads="1"/>
            </p:cNvSpPr>
            <p:nvPr/>
          </p:nvSpPr>
          <p:spPr bwMode="auto">
            <a:xfrm>
              <a:off x="5674578" y="3230627"/>
              <a:ext cx="234076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t>2</a:t>
              </a:r>
              <a:r>
                <a:rPr lang="en-US" sz="1400" i="1" dirty="0"/>
                <a:t>C</a:t>
              </a:r>
              <a:r>
                <a:rPr lang="en-US" sz="1400" dirty="0"/>
                <a:t> = (2)$10,000 = $20,000</a:t>
              </a:r>
            </a:p>
          </p:txBody>
        </p:sp>
      </p:grpSp>
      <p:grpSp>
        <p:nvGrpSpPr>
          <p:cNvPr id="57" name="Group 56"/>
          <p:cNvGrpSpPr>
            <a:grpSpLocks/>
          </p:cNvGrpSpPr>
          <p:nvPr/>
        </p:nvGrpSpPr>
        <p:grpSpPr bwMode="auto">
          <a:xfrm>
            <a:off x="5675313" y="4705350"/>
            <a:ext cx="3038475" cy="1031875"/>
            <a:chOff x="5674578" y="4705646"/>
            <a:chExt cx="3039188" cy="1031102"/>
          </a:xfrm>
        </p:grpSpPr>
        <p:sp>
          <p:nvSpPr>
            <p:cNvPr id="45093" name="TextBox 23"/>
            <p:cNvSpPr txBox="1">
              <a:spLocks noChangeArrowheads="1"/>
            </p:cNvSpPr>
            <p:nvPr/>
          </p:nvSpPr>
          <p:spPr bwMode="auto">
            <a:xfrm>
              <a:off x="5674578" y="4705646"/>
              <a:ext cx="234076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t>3</a:t>
              </a:r>
              <a:r>
                <a:rPr lang="en-US" sz="1400" i="1" dirty="0"/>
                <a:t>C</a:t>
              </a:r>
              <a:r>
                <a:rPr lang="en-US" sz="1400" dirty="0"/>
                <a:t> = (3)$10,000 = $30,000</a:t>
              </a:r>
            </a:p>
          </p:txBody>
        </p:sp>
        <p:sp>
          <p:nvSpPr>
            <p:cNvPr id="45094" name="TextBox 25"/>
            <p:cNvSpPr txBox="1">
              <a:spLocks noChangeArrowheads="1"/>
            </p:cNvSpPr>
            <p:nvPr/>
          </p:nvSpPr>
          <p:spPr bwMode="auto">
            <a:xfrm>
              <a:off x="5674578" y="5213528"/>
              <a:ext cx="3039188"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622300" indent="-622300">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i="1" dirty="0"/>
                <a:t>L</a:t>
              </a:r>
              <a:r>
                <a:rPr lang="en-US" sz="1400" dirty="0"/>
                <a:t> + 3</a:t>
              </a:r>
              <a:r>
                <a:rPr lang="en-US" sz="1400" i="1" dirty="0"/>
                <a:t>C</a:t>
              </a:r>
              <a:r>
                <a:rPr lang="en-US" sz="1400" dirty="0"/>
                <a:t>	= $10,000,000 + (3)$10,000 </a:t>
              </a:r>
            </a:p>
            <a:p>
              <a:r>
                <a:rPr lang="en-US" sz="1400" dirty="0"/>
                <a:t>	= $10,030,000</a:t>
              </a:r>
            </a:p>
          </p:txBody>
        </p:sp>
      </p:grpSp>
      <p:grpSp>
        <p:nvGrpSpPr>
          <p:cNvPr id="55" name="Group 54"/>
          <p:cNvGrpSpPr>
            <a:grpSpLocks/>
          </p:cNvGrpSpPr>
          <p:nvPr/>
        </p:nvGrpSpPr>
        <p:grpSpPr bwMode="auto">
          <a:xfrm>
            <a:off x="5675313" y="1544638"/>
            <a:ext cx="3038475" cy="1044575"/>
            <a:chOff x="5674578" y="1544638"/>
            <a:chExt cx="3039188" cy="1043786"/>
          </a:xfrm>
        </p:grpSpPr>
        <p:sp>
          <p:nvSpPr>
            <p:cNvPr id="45091" name="TextBox 20"/>
            <p:cNvSpPr txBox="1">
              <a:spLocks noChangeArrowheads="1"/>
            </p:cNvSpPr>
            <p:nvPr/>
          </p:nvSpPr>
          <p:spPr bwMode="auto">
            <a:xfrm>
              <a:off x="5674578" y="1544638"/>
              <a:ext cx="234076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t>1</a:t>
              </a:r>
              <a:r>
                <a:rPr lang="en-US" sz="1400" i="1" dirty="0"/>
                <a:t>C</a:t>
              </a:r>
              <a:r>
                <a:rPr lang="en-US" sz="1400" dirty="0"/>
                <a:t> = (1)$10,000 = $10,000</a:t>
              </a:r>
            </a:p>
          </p:txBody>
        </p:sp>
        <p:sp>
          <p:nvSpPr>
            <p:cNvPr id="45092" name="TextBox 26"/>
            <p:cNvSpPr txBox="1">
              <a:spLocks noChangeArrowheads="1"/>
            </p:cNvSpPr>
            <p:nvPr/>
          </p:nvSpPr>
          <p:spPr bwMode="auto">
            <a:xfrm>
              <a:off x="5674578" y="2065204"/>
              <a:ext cx="3039188"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marL="622300" indent="-622300">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i="1" dirty="0"/>
                <a:t>L</a:t>
              </a:r>
              <a:r>
                <a:rPr lang="en-US" sz="1400" dirty="0"/>
                <a:t> + 1</a:t>
              </a:r>
              <a:r>
                <a:rPr lang="en-US" sz="1400" i="1" dirty="0"/>
                <a:t>C</a:t>
              </a:r>
              <a:r>
                <a:rPr lang="en-US" sz="1400" dirty="0"/>
                <a:t>	= $10,000,000 + (1)$10,000 </a:t>
              </a:r>
            </a:p>
            <a:p>
              <a:r>
                <a:rPr lang="en-US" sz="1400" dirty="0"/>
                <a:t>	= $10,010,000</a:t>
              </a:r>
            </a:p>
          </p:txBody>
        </p:sp>
      </p:grpSp>
      <p:grpSp>
        <p:nvGrpSpPr>
          <p:cNvPr id="52" name="Group 51"/>
          <p:cNvGrpSpPr>
            <a:grpSpLocks/>
          </p:cNvGrpSpPr>
          <p:nvPr/>
        </p:nvGrpSpPr>
        <p:grpSpPr bwMode="auto">
          <a:xfrm>
            <a:off x="1435100" y="1471613"/>
            <a:ext cx="1612900" cy="522287"/>
            <a:chOff x="1435100" y="1470958"/>
            <a:chExt cx="1613113" cy="523220"/>
          </a:xfrm>
        </p:grpSpPr>
        <p:sp>
          <p:nvSpPr>
            <p:cNvPr id="6" name="TextBox 5"/>
            <p:cNvSpPr txBox="1"/>
            <p:nvPr/>
          </p:nvSpPr>
          <p:spPr>
            <a:xfrm>
              <a:off x="1435100" y="1470958"/>
              <a:ext cx="1209835" cy="523220"/>
            </a:xfrm>
            <a:prstGeom prst="rect">
              <a:avLst/>
            </a:prstGeom>
            <a:solidFill>
              <a:schemeClr val="accent5"/>
            </a:solidFill>
            <a:ln>
              <a:solidFill>
                <a:schemeClr val="tx1"/>
              </a:solidFill>
            </a:ln>
          </p:spPr>
          <p:txBody>
            <a:bodyPr wrap="none">
              <a:spAutoFit/>
            </a:bodyPr>
            <a:lstStyle/>
            <a:p>
              <a:pPr algn="ctr" fontAlgn="auto">
                <a:spcBef>
                  <a:spcPts val="0"/>
                </a:spcBef>
                <a:spcAft>
                  <a:spcPts val="0"/>
                </a:spcAft>
                <a:defRPr/>
              </a:pPr>
              <a:r>
                <a:rPr lang="en-US" sz="1400" dirty="0">
                  <a:latin typeface="+mn-lt"/>
                  <a:ea typeface="+mn-ea"/>
                  <a:cs typeface="+mn-cs"/>
                </a:rPr>
                <a:t>One supplier</a:t>
              </a:r>
            </a:p>
            <a:p>
              <a:pPr algn="ctr" fontAlgn="auto">
                <a:spcBef>
                  <a:spcPts val="0"/>
                </a:spcBef>
                <a:spcAft>
                  <a:spcPts val="0"/>
                </a:spcAft>
                <a:defRPr/>
              </a:pPr>
              <a:r>
                <a:rPr lang="en-US" sz="1400" dirty="0">
                  <a:latin typeface="+mn-lt"/>
                  <a:ea typeface="+mn-ea"/>
                  <a:cs typeface="+mn-cs"/>
                </a:rPr>
                <a:t>$458,000</a:t>
              </a:r>
            </a:p>
          </p:txBody>
        </p:sp>
        <p:cxnSp>
          <p:nvCxnSpPr>
            <p:cNvPr id="37" name="Straight Arrow Connector 36"/>
            <p:cNvCxnSpPr>
              <a:stCxn id="6" idx="3"/>
            </p:cNvCxnSpPr>
            <p:nvPr/>
          </p:nvCxnSpPr>
          <p:spPr>
            <a:xfrm>
              <a:off x="2644935" y="1733363"/>
              <a:ext cx="403278" cy="190840"/>
            </a:xfrm>
            <a:prstGeom prst="straightConnector1">
              <a:avLst/>
            </a:prstGeom>
            <a:ln w="381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54" name="Group 53"/>
          <p:cNvGrpSpPr>
            <a:grpSpLocks/>
          </p:cNvGrpSpPr>
          <p:nvPr/>
        </p:nvGrpSpPr>
        <p:grpSpPr bwMode="auto">
          <a:xfrm>
            <a:off x="2070100" y="5360988"/>
            <a:ext cx="1422400" cy="801687"/>
            <a:chOff x="2070667" y="5361448"/>
            <a:chExt cx="1422046" cy="800572"/>
          </a:xfrm>
        </p:grpSpPr>
        <p:sp>
          <p:nvSpPr>
            <p:cNvPr id="8" name="TextBox 7"/>
            <p:cNvSpPr txBox="1"/>
            <p:nvPr/>
          </p:nvSpPr>
          <p:spPr>
            <a:xfrm>
              <a:off x="2070667" y="5638874"/>
              <a:ext cx="1422046" cy="523146"/>
            </a:xfrm>
            <a:prstGeom prst="rect">
              <a:avLst/>
            </a:prstGeom>
            <a:solidFill>
              <a:schemeClr val="accent5"/>
            </a:solidFill>
            <a:ln>
              <a:solidFill>
                <a:schemeClr val="tx1"/>
              </a:solidFill>
            </a:ln>
          </p:spPr>
          <p:txBody>
            <a:bodyPr wrap="none">
              <a:spAutoFit/>
            </a:bodyPr>
            <a:lstStyle/>
            <a:p>
              <a:pPr algn="ctr" fontAlgn="auto">
                <a:spcBef>
                  <a:spcPts val="0"/>
                </a:spcBef>
                <a:spcAft>
                  <a:spcPts val="0"/>
                </a:spcAft>
                <a:defRPr/>
              </a:pPr>
              <a:r>
                <a:rPr lang="en-US" sz="1400" dirty="0">
                  <a:latin typeface="+mn-lt"/>
                  <a:ea typeface="+mn-ea"/>
                  <a:cs typeface="+mn-cs"/>
                </a:rPr>
                <a:t>Three suppliers</a:t>
              </a:r>
            </a:p>
            <a:p>
              <a:pPr algn="ctr" fontAlgn="auto">
                <a:spcBef>
                  <a:spcPts val="0"/>
                </a:spcBef>
                <a:spcAft>
                  <a:spcPts val="0"/>
                </a:spcAft>
                <a:defRPr/>
              </a:pPr>
              <a:r>
                <a:rPr lang="en-US" sz="1400" dirty="0">
                  <a:latin typeface="+mn-lt"/>
                  <a:ea typeface="+mn-ea"/>
                  <a:cs typeface="+mn-cs"/>
                </a:rPr>
                <a:t>$80,640</a:t>
              </a:r>
            </a:p>
          </p:txBody>
        </p:sp>
        <p:cxnSp>
          <p:nvCxnSpPr>
            <p:cNvPr id="39" name="Straight Arrow Connector 38"/>
            <p:cNvCxnSpPr/>
            <p:nvPr/>
          </p:nvCxnSpPr>
          <p:spPr>
            <a:xfrm flipV="1">
              <a:off x="2781690" y="5361448"/>
              <a:ext cx="449151" cy="277426"/>
            </a:xfrm>
            <a:prstGeom prst="straightConnector1">
              <a:avLst/>
            </a:prstGeom>
            <a:ln w="381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53" name="Group 52"/>
          <p:cNvGrpSpPr>
            <a:grpSpLocks/>
          </p:cNvGrpSpPr>
          <p:nvPr/>
        </p:nvGrpSpPr>
        <p:grpSpPr bwMode="auto">
          <a:xfrm>
            <a:off x="2781300" y="2546350"/>
            <a:ext cx="1282700" cy="958850"/>
            <a:chOff x="2781690" y="2546916"/>
            <a:chExt cx="1282310" cy="958631"/>
          </a:xfrm>
        </p:grpSpPr>
        <p:sp>
          <p:nvSpPr>
            <p:cNvPr id="7" name="TextBox 6"/>
            <p:cNvSpPr txBox="1"/>
            <p:nvPr/>
          </p:nvSpPr>
          <p:spPr>
            <a:xfrm>
              <a:off x="2781690" y="2546916"/>
              <a:ext cx="1282310" cy="523755"/>
            </a:xfrm>
            <a:prstGeom prst="rect">
              <a:avLst/>
            </a:prstGeom>
            <a:solidFill>
              <a:schemeClr val="accent5"/>
            </a:solidFill>
            <a:ln>
              <a:solidFill>
                <a:schemeClr val="tx1"/>
              </a:solidFill>
            </a:ln>
          </p:spPr>
          <p:txBody>
            <a:bodyPr wrap="none">
              <a:spAutoFit/>
            </a:bodyPr>
            <a:lstStyle/>
            <a:p>
              <a:pPr algn="ctr" fontAlgn="auto">
                <a:spcBef>
                  <a:spcPts val="0"/>
                </a:spcBef>
                <a:spcAft>
                  <a:spcPts val="0"/>
                </a:spcAft>
                <a:defRPr/>
              </a:pPr>
              <a:r>
                <a:rPr lang="en-US" sz="1400" dirty="0">
                  <a:latin typeface="+mn-lt"/>
                  <a:ea typeface="+mn-ea"/>
                  <a:cs typeface="+mn-cs"/>
                </a:rPr>
                <a:t>Two suppliers</a:t>
              </a:r>
            </a:p>
            <a:p>
              <a:pPr algn="ctr" fontAlgn="auto">
                <a:spcBef>
                  <a:spcPts val="0"/>
                </a:spcBef>
                <a:spcAft>
                  <a:spcPts val="0"/>
                </a:spcAft>
                <a:defRPr/>
              </a:pPr>
              <a:r>
                <a:rPr lang="en-US" sz="1400" dirty="0">
                  <a:latin typeface="+mn-lt"/>
                  <a:ea typeface="+mn-ea"/>
                  <a:cs typeface="+mn-cs"/>
                </a:rPr>
                <a:t>$85,920</a:t>
              </a:r>
            </a:p>
          </p:txBody>
        </p:sp>
        <p:cxnSp>
          <p:nvCxnSpPr>
            <p:cNvPr id="40" name="Straight Arrow Connector 39"/>
            <p:cNvCxnSpPr>
              <a:stCxn id="7" idx="2"/>
            </p:cNvCxnSpPr>
            <p:nvPr/>
          </p:nvCxnSpPr>
          <p:spPr>
            <a:xfrm flipH="1">
              <a:off x="3346668" y="3070671"/>
              <a:ext cx="76177" cy="434876"/>
            </a:xfrm>
            <a:prstGeom prst="straightConnector1">
              <a:avLst/>
            </a:prstGeom>
            <a:ln w="381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61" name="Group 60"/>
          <p:cNvGrpSpPr>
            <a:grpSpLocks/>
          </p:cNvGrpSpPr>
          <p:nvPr/>
        </p:nvGrpSpPr>
        <p:grpSpPr bwMode="auto">
          <a:xfrm>
            <a:off x="654050" y="1716088"/>
            <a:ext cx="4997450" cy="3773487"/>
            <a:chOff x="654050" y="1715388"/>
            <a:chExt cx="4997449" cy="3773621"/>
          </a:xfrm>
        </p:grpSpPr>
        <p:sp>
          <p:nvSpPr>
            <p:cNvPr id="15" name="Rectangle 14"/>
            <p:cNvSpPr/>
            <p:nvPr/>
          </p:nvSpPr>
          <p:spPr>
            <a:xfrm>
              <a:off x="654050" y="3477576"/>
              <a:ext cx="444500" cy="444516"/>
            </a:xfrm>
            <a:prstGeom prst="rect">
              <a:avLst/>
            </a:prstGeom>
            <a:solidFill>
              <a:schemeClr val="accent1">
                <a:lumMod val="60000"/>
                <a:lumOff val="40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20" name="Straight Connector 19"/>
            <p:cNvCxnSpPr>
              <a:endCxn id="15" idx="3"/>
            </p:cNvCxnSpPr>
            <p:nvPr/>
          </p:nvCxnSpPr>
          <p:spPr>
            <a:xfrm flipH="1">
              <a:off x="1098550" y="1994798"/>
              <a:ext cx="2165350" cy="1705036"/>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H="1">
              <a:off x="1098550" y="3699833"/>
              <a:ext cx="2247900" cy="0"/>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a:endCxn id="15" idx="3"/>
            </p:cNvCxnSpPr>
            <p:nvPr/>
          </p:nvCxnSpPr>
          <p:spPr>
            <a:xfrm flipH="1" flipV="1">
              <a:off x="1098550" y="3699833"/>
              <a:ext cx="2165350" cy="1474839"/>
            </a:xfrm>
            <a:prstGeom prst="line">
              <a:avLst/>
            </a:pr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cxnSp>
        <p:grpSp>
          <p:nvGrpSpPr>
            <p:cNvPr id="45073" name="Group 44"/>
            <p:cNvGrpSpPr>
              <a:grpSpLocks/>
            </p:cNvGrpSpPr>
            <p:nvPr/>
          </p:nvGrpSpPr>
          <p:grpSpPr bwMode="auto">
            <a:xfrm>
              <a:off x="3505199" y="3378200"/>
              <a:ext cx="2146300" cy="628650"/>
              <a:chOff x="3860800" y="3378200"/>
              <a:chExt cx="2146300" cy="628650"/>
            </a:xfrm>
          </p:grpSpPr>
          <p:sp>
            <p:nvSpPr>
              <p:cNvPr id="43" name="Freeform 42"/>
              <p:cNvSpPr/>
              <p:nvPr/>
            </p:nvSpPr>
            <p:spPr>
              <a:xfrm>
                <a:off x="3860800" y="3377559"/>
                <a:ext cx="2146300" cy="317511"/>
              </a:xfrm>
              <a:custGeom>
                <a:avLst/>
                <a:gdLst>
                  <a:gd name="connsiteX0" fmla="*/ 2146300 w 2146300"/>
                  <a:gd name="connsiteY0" fmla="*/ 6350 h 317500"/>
                  <a:gd name="connsiteX1" fmla="*/ 488950 w 2146300"/>
                  <a:gd name="connsiteY1" fmla="*/ 0 h 317500"/>
                  <a:gd name="connsiteX2" fmla="*/ 0 w 2146300"/>
                  <a:gd name="connsiteY2" fmla="*/ 317500 h 317500"/>
                </a:gdLst>
                <a:ahLst/>
                <a:cxnLst>
                  <a:cxn ang="0">
                    <a:pos x="connsiteX0" y="connsiteY0"/>
                  </a:cxn>
                  <a:cxn ang="0">
                    <a:pos x="connsiteX1" y="connsiteY1"/>
                  </a:cxn>
                  <a:cxn ang="0">
                    <a:pos x="connsiteX2" y="connsiteY2"/>
                  </a:cxn>
                </a:cxnLst>
                <a:rect l="l" t="t" r="r" b="b"/>
                <a:pathLst>
                  <a:path w="2146300" h="317500">
                    <a:moveTo>
                      <a:pt x="2146300" y="6350"/>
                    </a:moveTo>
                    <a:lnTo>
                      <a:pt x="488950" y="0"/>
                    </a:lnTo>
                    <a:lnTo>
                      <a:pt x="0" y="317500"/>
                    </a:lnTo>
                  </a:path>
                </a:pathLst>
              </a:cu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44" name="Freeform 43"/>
              <p:cNvSpPr/>
              <p:nvPr/>
            </p:nvSpPr>
            <p:spPr>
              <a:xfrm flipV="1">
                <a:off x="3860800" y="3688720"/>
                <a:ext cx="2146300" cy="317511"/>
              </a:xfrm>
              <a:custGeom>
                <a:avLst/>
                <a:gdLst>
                  <a:gd name="connsiteX0" fmla="*/ 2146300 w 2146300"/>
                  <a:gd name="connsiteY0" fmla="*/ 6350 h 317500"/>
                  <a:gd name="connsiteX1" fmla="*/ 488950 w 2146300"/>
                  <a:gd name="connsiteY1" fmla="*/ 0 h 317500"/>
                  <a:gd name="connsiteX2" fmla="*/ 0 w 2146300"/>
                  <a:gd name="connsiteY2" fmla="*/ 317500 h 317500"/>
                </a:gdLst>
                <a:ahLst/>
                <a:cxnLst>
                  <a:cxn ang="0">
                    <a:pos x="connsiteX0" y="connsiteY0"/>
                  </a:cxn>
                  <a:cxn ang="0">
                    <a:pos x="connsiteX1" y="connsiteY1"/>
                  </a:cxn>
                  <a:cxn ang="0">
                    <a:pos x="connsiteX2" y="connsiteY2"/>
                  </a:cxn>
                </a:cxnLst>
                <a:rect l="l" t="t" r="r" b="b"/>
                <a:pathLst>
                  <a:path w="2146300" h="317500">
                    <a:moveTo>
                      <a:pt x="2146300" y="6350"/>
                    </a:moveTo>
                    <a:lnTo>
                      <a:pt x="488950" y="0"/>
                    </a:lnTo>
                    <a:lnTo>
                      <a:pt x="0" y="317500"/>
                    </a:lnTo>
                  </a:path>
                </a:pathLst>
              </a:cu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anchor="ctr"/>
              <a:lstStyle/>
              <a:p>
                <a:pPr algn="ctr" fontAlgn="auto">
                  <a:spcBef>
                    <a:spcPts val="0"/>
                  </a:spcBef>
                  <a:spcAft>
                    <a:spcPts val="0"/>
                  </a:spcAft>
                  <a:defRPr/>
                </a:pPr>
                <a:endParaRPr lang="en-US" dirty="0"/>
              </a:p>
            </p:txBody>
          </p:sp>
        </p:grpSp>
        <p:grpSp>
          <p:nvGrpSpPr>
            <p:cNvPr id="45074" name="Group 45"/>
            <p:cNvGrpSpPr>
              <a:grpSpLocks/>
            </p:cNvGrpSpPr>
            <p:nvPr/>
          </p:nvGrpSpPr>
          <p:grpSpPr bwMode="auto">
            <a:xfrm>
              <a:off x="3492713" y="4860359"/>
              <a:ext cx="2146300" cy="628650"/>
              <a:chOff x="3860800" y="3378200"/>
              <a:chExt cx="2146300" cy="628650"/>
            </a:xfrm>
          </p:grpSpPr>
          <p:sp>
            <p:nvSpPr>
              <p:cNvPr id="47" name="Freeform 46"/>
              <p:cNvSpPr/>
              <p:nvPr/>
            </p:nvSpPr>
            <p:spPr>
              <a:xfrm>
                <a:off x="3860586" y="3378178"/>
                <a:ext cx="2146300" cy="317511"/>
              </a:xfrm>
              <a:custGeom>
                <a:avLst/>
                <a:gdLst>
                  <a:gd name="connsiteX0" fmla="*/ 2146300 w 2146300"/>
                  <a:gd name="connsiteY0" fmla="*/ 6350 h 317500"/>
                  <a:gd name="connsiteX1" fmla="*/ 488950 w 2146300"/>
                  <a:gd name="connsiteY1" fmla="*/ 0 h 317500"/>
                  <a:gd name="connsiteX2" fmla="*/ 0 w 2146300"/>
                  <a:gd name="connsiteY2" fmla="*/ 317500 h 317500"/>
                </a:gdLst>
                <a:ahLst/>
                <a:cxnLst>
                  <a:cxn ang="0">
                    <a:pos x="connsiteX0" y="connsiteY0"/>
                  </a:cxn>
                  <a:cxn ang="0">
                    <a:pos x="connsiteX1" y="connsiteY1"/>
                  </a:cxn>
                  <a:cxn ang="0">
                    <a:pos x="connsiteX2" y="connsiteY2"/>
                  </a:cxn>
                </a:cxnLst>
                <a:rect l="l" t="t" r="r" b="b"/>
                <a:pathLst>
                  <a:path w="2146300" h="317500">
                    <a:moveTo>
                      <a:pt x="2146300" y="6350"/>
                    </a:moveTo>
                    <a:lnTo>
                      <a:pt x="488950" y="0"/>
                    </a:lnTo>
                    <a:lnTo>
                      <a:pt x="0" y="317500"/>
                    </a:lnTo>
                  </a:path>
                </a:pathLst>
              </a:cu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48" name="Freeform 47"/>
              <p:cNvSpPr/>
              <p:nvPr/>
            </p:nvSpPr>
            <p:spPr>
              <a:xfrm flipV="1">
                <a:off x="3860586" y="3689339"/>
                <a:ext cx="2146300" cy="317511"/>
              </a:xfrm>
              <a:custGeom>
                <a:avLst/>
                <a:gdLst>
                  <a:gd name="connsiteX0" fmla="*/ 2146300 w 2146300"/>
                  <a:gd name="connsiteY0" fmla="*/ 6350 h 317500"/>
                  <a:gd name="connsiteX1" fmla="*/ 488950 w 2146300"/>
                  <a:gd name="connsiteY1" fmla="*/ 0 h 317500"/>
                  <a:gd name="connsiteX2" fmla="*/ 0 w 2146300"/>
                  <a:gd name="connsiteY2" fmla="*/ 317500 h 317500"/>
                </a:gdLst>
                <a:ahLst/>
                <a:cxnLst>
                  <a:cxn ang="0">
                    <a:pos x="connsiteX0" y="connsiteY0"/>
                  </a:cxn>
                  <a:cxn ang="0">
                    <a:pos x="connsiteX1" y="connsiteY1"/>
                  </a:cxn>
                  <a:cxn ang="0">
                    <a:pos x="connsiteX2" y="connsiteY2"/>
                  </a:cxn>
                </a:cxnLst>
                <a:rect l="l" t="t" r="r" b="b"/>
                <a:pathLst>
                  <a:path w="2146300" h="317500">
                    <a:moveTo>
                      <a:pt x="2146300" y="6350"/>
                    </a:moveTo>
                    <a:lnTo>
                      <a:pt x="488950" y="0"/>
                    </a:lnTo>
                    <a:lnTo>
                      <a:pt x="0" y="317500"/>
                    </a:lnTo>
                  </a:path>
                </a:pathLst>
              </a:cu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anchor="ctr"/>
              <a:lstStyle/>
              <a:p>
                <a:pPr algn="ctr" fontAlgn="auto">
                  <a:spcBef>
                    <a:spcPts val="0"/>
                  </a:spcBef>
                  <a:spcAft>
                    <a:spcPts val="0"/>
                  </a:spcAft>
                  <a:defRPr/>
                </a:pPr>
                <a:endParaRPr lang="en-US" dirty="0"/>
              </a:p>
            </p:txBody>
          </p:sp>
        </p:grpSp>
        <p:grpSp>
          <p:nvGrpSpPr>
            <p:cNvPr id="45075" name="Group 48"/>
            <p:cNvGrpSpPr>
              <a:grpSpLocks/>
            </p:cNvGrpSpPr>
            <p:nvPr/>
          </p:nvGrpSpPr>
          <p:grpSpPr bwMode="auto">
            <a:xfrm>
              <a:off x="3496732" y="1715388"/>
              <a:ext cx="2146300" cy="628650"/>
              <a:chOff x="3860800" y="3378200"/>
              <a:chExt cx="2146300" cy="628650"/>
            </a:xfrm>
          </p:grpSpPr>
          <p:sp>
            <p:nvSpPr>
              <p:cNvPr id="50" name="Freeform 49"/>
              <p:cNvSpPr/>
              <p:nvPr/>
            </p:nvSpPr>
            <p:spPr>
              <a:xfrm>
                <a:off x="3861330" y="3378200"/>
                <a:ext cx="2146300" cy="317511"/>
              </a:xfrm>
              <a:custGeom>
                <a:avLst/>
                <a:gdLst>
                  <a:gd name="connsiteX0" fmla="*/ 2146300 w 2146300"/>
                  <a:gd name="connsiteY0" fmla="*/ 6350 h 317500"/>
                  <a:gd name="connsiteX1" fmla="*/ 488950 w 2146300"/>
                  <a:gd name="connsiteY1" fmla="*/ 0 h 317500"/>
                  <a:gd name="connsiteX2" fmla="*/ 0 w 2146300"/>
                  <a:gd name="connsiteY2" fmla="*/ 317500 h 317500"/>
                </a:gdLst>
                <a:ahLst/>
                <a:cxnLst>
                  <a:cxn ang="0">
                    <a:pos x="connsiteX0" y="connsiteY0"/>
                  </a:cxn>
                  <a:cxn ang="0">
                    <a:pos x="connsiteX1" y="connsiteY1"/>
                  </a:cxn>
                  <a:cxn ang="0">
                    <a:pos x="connsiteX2" y="connsiteY2"/>
                  </a:cxn>
                </a:cxnLst>
                <a:rect l="l" t="t" r="r" b="b"/>
                <a:pathLst>
                  <a:path w="2146300" h="317500">
                    <a:moveTo>
                      <a:pt x="2146300" y="6350"/>
                    </a:moveTo>
                    <a:lnTo>
                      <a:pt x="488950" y="0"/>
                    </a:lnTo>
                    <a:lnTo>
                      <a:pt x="0" y="317500"/>
                    </a:lnTo>
                  </a:path>
                </a:pathLst>
              </a:cu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51" name="Freeform 50"/>
              <p:cNvSpPr/>
              <p:nvPr/>
            </p:nvSpPr>
            <p:spPr>
              <a:xfrm flipV="1">
                <a:off x="3861330" y="3689361"/>
                <a:ext cx="2146300" cy="317511"/>
              </a:xfrm>
              <a:custGeom>
                <a:avLst/>
                <a:gdLst>
                  <a:gd name="connsiteX0" fmla="*/ 2146300 w 2146300"/>
                  <a:gd name="connsiteY0" fmla="*/ 6350 h 317500"/>
                  <a:gd name="connsiteX1" fmla="*/ 488950 w 2146300"/>
                  <a:gd name="connsiteY1" fmla="*/ 0 h 317500"/>
                  <a:gd name="connsiteX2" fmla="*/ 0 w 2146300"/>
                  <a:gd name="connsiteY2" fmla="*/ 317500 h 317500"/>
                </a:gdLst>
                <a:ahLst/>
                <a:cxnLst>
                  <a:cxn ang="0">
                    <a:pos x="connsiteX0" y="connsiteY0"/>
                  </a:cxn>
                  <a:cxn ang="0">
                    <a:pos x="connsiteX1" y="connsiteY1"/>
                  </a:cxn>
                  <a:cxn ang="0">
                    <a:pos x="connsiteX2" y="connsiteY2"/>
                  </a:cxn>
                </a:cxnLst>
                <a:rect l="l" t="t" r="r" b="b"/>
                <a:pathLst>
                  <a:path w="2146300" h="317500">
                    <a:moveTo>
                      <a:pt x="2146300" y="6350"/>
                    </a:moveTo>
                    <a:lnTo>
                      <a:pt x="488950" y="0"/>
                    </a:lnTo>
                    <a:lnTo>
                      <a:pt x="0" y="317500"/>
                    </a:lnTo>
                  </a:path>
                </a:pathLst>
              </a:custGeom>
              <a:ln w="38100" cmpd="sng">
                <a:solidFill>
                  <a:srgbClr val="000000"/>
                </a:solidFill>
              </a:ln>
              <a:effectLst/>
            </p:spPr>
            <p:style>
              <a:lnRef idx="2">
                <a:schemeClr val="accent1"/>
              </a:lnRef>
              <a:fillRef idx="0">
                <a:schemeClr val="accent1"/>
              </a:fillRef>
              <a:effectRef idx="1">
                <a:schemeClr val="accent1"/>
              </a:effectRef>
              <a:fontRef idx="minor">
                <a:schemeClr val="tx1"/>
              </a:fontRef>
            </p:style>
            <p:txBody>
              <a:bodyPr anchor="ctr"/>
              <a:lstStyle/>
              <a:p>
                <a:pPr algn="ctr" fontAlgn="auto">
                  <a:spcBef>
                    <a:spcPts val="0"/>
                  </a:spcBef>
                  <a:spcAft>
                    <a:spcPts val="0"/>
                  </a:spcAft>
                  <a:defRPr/>
                </a:pPr>
                <a:endParaRPr lang="en-US" dirty="0"/>
              </a:p>
            </p:txBody>
          </p:sp>
        </p:grpSp>
        <p:sp>
          <p:nvSpPr>
            <p:cNvPr id="16" name="Oval 15"/>
            <p:cNvSpPr/>
            <p:nvPr/>
          </p:nvSpPr>
          <p:spPr>
            <a:xfrm>
              <a:off x="3048000" y="1791591"/>
              <a:ext cx="444500" cy="444516"/>
            </a:xfrm>
            <a:prstGeom prst="ellipse">
              <a:avLst/>
            </a:prstGeom>
            <a:solidFill>
              <a:schemeClr val="accent3">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Oval 17"/>
            <p:cNvSpPr/>
            <p:nvPr/>
          </p:nvSpPr>
          <p:spPr>
            <a:xfrm>
              <a:off x="3048000" y="3477576"/>
              <a:ext cx="444500" cy="444516"/>
            </a:xfrm>
            <a:prstGeom prst="ellipse">
              <a:avLst/>
            </a:prstGeom>
            <a:solidFill>
              <a:schemeClr val="accent3">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Oval 16"/>
            <p:cNvSpPr/>
            <p:nvPr/>
          </p:nvSpPr>
          <p:spPr>
            <a:xfrm>
              <a:off x="3048000" y="4927014"/>
              <a:ext cx="444500" cy="444516"/>
            </a:xfrm>
            <a:prstGeom prst="ellipse">
              <a:avLst/>
            </a:prstGeom>
            <a:solidFill>
              <a:schemeClr val="accent3">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62" name="TextBox 61"/>
          <p:cNvSpPr txBox="1">
            <a:spLocks noChangeArrowheads="1"/>
          </p:cNvSpPr>
          <p:nvPr/>
        </p:nvSpPr>
        <p:spPr bwMode="auto">
          <a:xfrm>
            <a:off x="5930900" y="5992813"/>
            <a:ext cx="1344613"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600" dirty="0"/>
              <a:t>Figure </a:t>
            </a:r>
            <a:r>
              <a:rPr lang="en-US" sz="1600" dirty="0">
                <a:solidFill>
                  <a:schemeClr val="tx2"/>
                </a:solidFill>
              </a:rPr>
              <a:t>S11.1</a:t>
            </a:r>
          </a:p>
        </p:txBody>
      </p:sp>
      <p:grpSp>
        <p:nvGrpSpPr>
          <p:cNvPr id="19" name="Group 18"/>
          <p:cNvGrpSpPr/>
          <p:nvPr/>
        </p:nvGrpSpPr>
        <p:grpSpPr>
          <a:xfrm>
            <a:off x="2093967" y="2748757"/>
            <a:ext cx="230139" cy="1046426"/>
            <a:chOff x="2093967" y="2748757"/>
            <a:chExt cx="230139" cy="1046426"/>
          </a:xfrm>
        </p:grpSpPr>
        <p:grpSp>
          <p:nvGrpSpPr>
            <p:cNvPr id="4" name="Group 3"/>
            <p:cNvGrpSpPr/>
            <p:nvPr/>
          </p:nvGrpSpPr>
          <p:grpSpPr>
            <a:xfrm>
              <a:off x="2247900" y="3604683"/>
              <a:ext cx="76206" cy="190500"/>
              <a:chOff x="2247900" y="3600450"/>
              <a:chExt cx="76206" cy="190500"/>
            </a:xfrm>
          </p:grpSpPr>
          <p:cxnSp>
            <p:nvCxnSpPr>
              <p:cNvPr id="3" name="Straight Connector 2"/>
              <p:cNvCxnSpPr/>
              <p:nvPr/>
            </p:nvCxnSpPr>
            <p:spPr>
              <a:xfrm>
                <a:off x="2247900" y="3600450"/>
                <a:ext cx="0" cy="190500"/>
              </a:xfrm>
              <a:prstGeom prst="line">
                <a:avLst/>
              </a:prstGeom>
              <a:ln w="317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2324106" y="3600450"/>
                <a:ext cx="0" cy="190500"/>
              </a:xfrm>
              <a:prstGeom prst="line">
                <a:avLst/>
              </a:prstGeom>
              <a:ln w="317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p:nvGrpSpPr>
          <p:grpSpPr>
            <a:xfrm>
              <a:off x="2093967" y="2748757"/>
              <a:ext cx="188553" cy="187899"/>
              <a:chOff x="2093967" y="2748757"/>
              <a:chExt cx="188553" cy="187899"/>
            </a:xfrm>
          </p:grpSpPr>
          <p:cxnSp>
            <p:nvCxnSpPr>
              <p:cNvPr id="13" name="Straight Connector 12"/>
              <p:cNvCxnSpPr/>
              <p:nvPr/>
            </p:nvCxnSpPr>
            <p:spPr>
              <a:xfrm>
                <a:off x="2150307" y="2748757"/>
                <a:ext cx="132213" cy="142664"/>
              </a:xfrm>
              <a:prstGeom prst="line">
                <a:avLst/>
              </a:prstGeom>
              <a:ln w="317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2093967" y="2796787"/>
                <a:ext cx="122442" cy="139869"/>
              </a:xfrm>
              <a:prstGeom prst="line">
                <a:avLst/>
              </a:prstGeom>
              <a:ln w="31750">
                <a:solidFill>
                  <a:schemeClr val="tx1"/>
                </a:solidFill>
              </a:ln>
              <a:effectLst/>
            </p:spPr>
            <p:style>
              <a:lnRef idx="2">
                <a:schemeClr val="accent1"/>
              </a:lnRef>
              <a:fillRef idx="0">
                <a:schemeClr val="accent1"/>
              </a:fillRef>
              <a:effectRef idx="1">
                <a:schemeClr val="accent1"/>
              </a:effectRef>
              <a:fontRef idx="minor">
                <a:schemeClr val="tx1"/>
              </a:fontRef>
            </p:style>
          </p:cxnSp>
        </p:grpSp>
      </p:gr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8BCA034-38E9-D314-7A92-5FBE31C6B13C}"/>
                  </a:ext>
                </a:extLst>
              </p14:cNvPr>
              <p14:cNvContentPartPr/>
              <p14:nvPr/>
            </p14:nvContentPartPr>
            <p14:xfrm>
              <a:off x="7173262" y="1375004"/>
              <a:ext cx="925920" cy="607320"/>
            </p14:xfrm>
          </p:contentPart>
        </mc:Choice>
        <mc:Fallback xmlns="">
          <p:pic>
            <p:nvPicPr>
              <p:cNvPr id="2" name="Ink 1">
                <a:extLst>
                  <a:ext uri="{FF2B5EF4-FFF2-40B4-BE49-F238E27FC236}">
                    <a16:creationId xmlns:a16="http://schemas.microsoft.com/office/drawing/2014/main" id="{58BCA034-38E9-D314-7A92-5FBE31C6B13C}"/>
                  </a:ext>
                </a:extLst>
              </p:cNvPr>
              <p:cNvPicPr/>
              <p:nvPr/>
            </p:nvPicPr>
            <p:blipFill>
              <a:blip r:embed="rId3"/>
              <a:stretch>
                <a:fillRect/>
              </a:stretch>
            </p:blipFill>
            <p:spPr>
              <a:xfrm>
                <a:off x="7164262" y="1366004"/>
                <a:ext cx="943560" cy="624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AC24D6D-85B4-4818-8BF9-68CC2721CB2F}"/>
                  </a:ext>
                </a:extLst>
              </p14:cNvPr>
              <p14:cNvContentPartPr/>
              <p14:nvPr/>
            </p14:nvContentPartPr>
            <p14:xfrm>
              <a:off x="4886542" y="1274204"/>
              <a:ext cx="743040" cy="501480"/>
            </p14:xfrm>
          </p:contentPart>
        </mc:Choice>
        <mc:Fallback xmlns="">
          <p:pic>
            <p:nvPicPr>
              <p:cNvPr id="5" name="Ink 4">
                <a:extLst>
                  <a:ext uri="{FF2B5EF4-FFF2-40B4-BE49-F238E27FC236}">
                    <a16:creationId xmlns:a16="http://schemas.microsoft.com/office/drawing/2014/main" id="{6AC24D6D-85B4-4818-8BF9-68CC2721CB2F}"/>
                  </a:ext>
                </a:extLst>
              </p:cNvPr>
              <p:cNvPicPr/>
              <p:nvPr/>
            </p:nvPicPr>
            <p:blipFill>
              <a:blip r:embed="rId5"/>
              <a:stretch>
                <a:fillRect/>
              </a:stretch>
            </p:blipFill>
            <p:spPr>
              <a:xfrm>
                <a:off x="4877902" y="1265564"/>
                <a:ext cx="760680" cy="519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6921C57-9532-FE3C-D222-54DBB3D6C9B6}"/>
                  </a:ext>
                </a:extLst>
              </p14:cNvPr>
              <p14:cNvContentPartPr/>
              <p14:nvPr/>
            </p14:nvContentPartPr>
            <p14:xfrm>
              <a:off x="6416182" y="2289404"/>
              <a:ext cx="1285200" cy="415800"/>
            </p14:xfrm>
          </p:contentPart>
        </mc:Choice>
        <mc:Fallback xmlns="">
          <p:pic>
            <p:nvPicPr>
              <p:cNvPr id="9" name="Ink 8">
                <a:extLst>
                  <a:ext uri="{FF2B5EF4-FFF2-40B4-BE49-F238E27FC236}">
                    <a16:creationId xmlns:a16="http://schemas.microsoft.com/office/drawing/2014/main" id="{D6921C57-9532-FE3C-D222-54DBB3D6C9B6}"/>
                  </a:ext>
                </a:extLst>
              </p:cNvPr>
              <p:cNvPicPr/>
              <p:nvPr/>
            </p:nvPicPr>
            <p:blipFill>
              <a:blip r:embed="rId7"/>
              <a:stretch>
                <a:fillRect/>
              </a:stretch>
            </p:blipFill>
            <p:spPr>
              <a:xfrm>
                <a:off x="6407182" y="2280764"/>
                <a:ext cx="130284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3F4F68B-80A4-91A6-A105-08310F7116C5}"/>
                  </a:ext>
                </a:extLst>
              </p14:cNvPr>
              <p14:cNvContentPartPr/>
              <p14:nvPr/>
            </p14:nvContentPartPr>
            <p14:xfrm>
              <a:off x="4604302" y="1950284"/>
              <a:ext cx="779040" cy="381960"/>
            </p14:xfrm>
          </p:contentPart>
        </mc:Choice>
        <mc:Fallback xmlns="">
          <p:pic>
            <p:nvPicPr>
              <p:cNvPr id="10" name="Ink 9">
                <a:extLst>
                  <a:ext uri="{FF2B5EF4-FFF2-40B4-BE49-F238E27FC236}">
                    <a16:creationId xmlns:a16="http://schemas.microsoft.com/office/drawing/2014/main" id="{03F4F68B-80A4-91A6-A105-08310F7116C5}"/>
                  </a:ext>
                </a:extLst>
              </p:cNvPr>
              <p:cNvPicPr/>
              <p:nvPr/>
            </p:nvPicPr>
            <p:blipFill>
              <a:blip r:embed="rId9"/>
              <a:stretch>
                <a:fillRect/>
              </a:stretch>
            </p:blipFill>
            <p:spPr>
              <a:xfrm>
                <a:off x="4595302" y="1941644"/>
                <a:ext cx="79668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2D7004B0-2DB1-AC5E-9AB0-8A5BA8331A19}"/>
                  </a:ext>
                </a:extLst>
              </p14:cNvPr>
              <p14:cNvContentPartPr/>
              <p14:nvPr/>
            </p14:nvContentPartPr>
            <p14:xfrm>
              <a:off x="1226422" y="1146404"/>
              <a:ext cx="1618560" cy="1179360"/>
            </p14:xfrm>
          </p:contentPart>
        </mc:Choice>
        <mc:Fallback xmlns="">
          <p:pic>
            <p:nvPicPr>
              <p:cNvPr id="11" name="Ink 10">
                <a:extLst>
                  <a:ext uri="{FF2B5EF4-FFF2-40B4-BE49-F238E27FC236}">
                    <a16:creationId xmlns:a16="http://schemas.microsoft.com/office/drawing/2014/main" id="{2D7004B0-2DB1-AC5E-9AB0-8A5BA8331A19}"/>
                  </a:ext>
                </a:extLst>
              </p:cNvPr>
              <p:cNvPicPr/>
              <p:nvPr/>
            </p:nvPicPr>
            <p:blipFill>
              <a:blip r:embed="rId11"/>
              <a:stretch>
                <a:fillRect/>
              </a:stretch>
            </p:blipFill>
            <p:spPr>
              <a:xfrm>
                <a:off x="1217782" y="1137404"/>
                <a:ext cx="1636200" cy="1197000"/>
              </a:xfrm>
              <a:prstGeom prst="rect">
                <a:avLst/>
              </a:prstGeom>
            </p:spPr>
          </p:pic>
        </mc:Fallback>
      </mc:AlternateContent>
    </p:spTree>
    <p:extLst>
      <p:ext uri="{BB962C8B-B14F-4D97-AF65-F5344CB8AC3E}">
        <p14:creationId xmlns:p14="http://schemas.microsoft.com/office/powerpoint/2010/main" val="1429250127"/>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1000"/>
                                        <p:tgtEl>
                                          <p:spTgt spid="61"/>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58"/>
                                        </p:tgtEl>
                                        <p:attrNameLst>
                                          <p:attrName>style.visibility</p:attrName>
                                        </p:attrNameLst>
                                      </p:cBhvr>
                                      <p:to>
                                        <p:strVal val="visible"/>
                                      </p:to>
                                    </p:set>
                                    <p:animEffect transition="in" filter="wipe(left)">
                                      <p:cBhvr>
                                        <p:cTn id="11" dur="1000"/>
                                        <p:tgtEl>
                                          <p:spTgt spid="58"/>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1000"/>
                                        <p:tgtEl>
                                          <p:spTgt spid="59"/>
                                        </p:tgtEl>
                                      </p:cBhvr>
                                    </p:animEffect>
                                  </p:childTnLst>
                                </p:cTn>
                              </p:par>
                            </p:childTnLst>
                          </p:cTn>
                        </p:par>
                        <p:par>
                          <p:cTn id="16" fill="hold" nodeType="afterGroup">
                            <p:stCondLst>
                              <p:cond delay="5000"/>
                            </p:stCondLst>
                            <p:childTnLst>
                              <p:par>
                                <p:cTn id="17" presetID="22" presetClass="entr" presetSubtype="8" fill="hold" nodeType="after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wipe(left)">
                                      <p:cBhvr>
                                        <p:cTn id="19" dur="1000"/>
                                        <p:tgtEl>
                                          <p:spTgt spid="6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wipe(left)">
                                      <p:cBhvr>
                                        <p:cTn id="24" dur="1000"/>
                                        <p:tgtEl>
                                          <p:spTgt spid="55"/>
                                        </p:tgtEl>
                                      </p:cBhvr>
                                    </p:animEffect>
                                  </p:childTnLst>
                                </p:cTn>
                              </p:par>
                            </p:childTnLst>
                          </p:cTn>
                        </p:par>
                        <p:par>
                          <p:cTn id="25" fill="hold" nodeType="afterGroup">
                            <p:stCondLst>
                              <p:cond delay="1000"/>
                            </p:stCondLst>
                            <p:childTnLst>
                              <p:par>
                                <p:cTn id="26" presetID="22" presetClass="entr" presetSubtype="8" fill="hold" nodeType="afterEffect">
                                  <p:stCondLst>
                                    <p:cond delay="1000"/>
                                  </p:stCondLst>
                                  <p:childTnLst>
                                    <p:set>
                                      <p:cBhvr>
                                        <p:cTn id="27" dur="1" fill="hold">
                                          <p:stCondLst>
                                            <p:cond delay="0"/>
                                          </p:stCondLst>
                                        </p:cTn>
                                        <p:tgtEl>
                                          <p:spTgt spid="56"/>
                                        </p:tgtEl>
                                        <p:attrNameLst>
                                          <p:attrName>style.visibility</p:attrName>
                                        </p:attrNameLst>
                                      </p:cBhvr>
                                      <p:to>
                                        <p:strVal val="visible"/>
                                      </p:to>
                                    </p:set>
                                    <p:animEffect transition="in" filter="wipe(left)">
                                      <p:cBhvr>
                                        <p:cTn id="28" dur="1000"/>
                                        <p:tgtEl>
                                          <p:spTgt spid="56"/>
                                        </p:tgtEl>
                                      </p:cBhvr>
                                    </p:animEffect>
                                  </p:childTnLst>
                                </p:cTn>
                              </p:par>
                            </p:childTnLst>
                          </p:cTn>
                        </p:par>
                        <p:par>
                          <p:cTn id="29" fill="hold" nodeType="afterGroup">
                            <p:stCondLst>
                              <p:cond delay="3000"/>
                            </p:stCondLst>
                            <p:childTnLst>
                              <p:par>
                                <p:cTn id="30" presetID="22" presetClass="entr" presetSubtype="8" fill="hold" nodeType="afterEffect">
                                  <p:stCondLst>
                                    <p:cond delay="1000"/>
                                  </p:stCondLst>
                                  <p:childTnLst>
                                    <p:set>
                                      <p:cBhvr>
                                        <p:cTn id="31" dur="1" fill="hold">
                                          <p:stCondLst>
                                            <p:cond delay="0"/>
                                          </p:stCondLst>
                                        </p:cTn>
                                        <p:tgtEl>
                                          <p:spTgt spid="57"/>
                                        </p:tgtEl>
                                        <p:attrNameLst>
                                          <p:attrName>style.visibility</p:attrName>
                                        </p:attrNameLst>
                                      </p:cBhvr>
                                      <p:to>
                                        <p:strVal val="visible"/>
                                      </p:to>
                                    </p:set>
                                    <p:animEffect transition="in" filter="wipe(left)">
                                      <p:cBhvr>
                                        <p:cTn id="32" dur="1000"/>
                                        <p:tgtEl>
                                          <p:spTgt spid="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ipe(left)">
                                      <p:cBhvr>
                                        <p:cTn id="37" dur="1000"/>
                                        <p:tgtEl>
                                          <p:spTgt spid="52"/>
                                        </p:tgtEl>
                                      </p:cBhvr>
                                    </p:animEffect>
                                  </p:childTnLst>
                                </p:cTn>
                              </p:par>
                            </p:childTnLst>
                          </p:cTn>
                        </p:par>
                        <p:par>
                          <p:cTn id="38" fill="hold" nodeType="afterGroup">
                            <p:stCondLst>
                              <p:cond delay="1000"/>
                            </p:stCondLst>
                            <p:childTnLst>
                              <p:par>
                                <p:cTn id="39" presetID="22" presetClass="entr" presetSubtype="8" fill="hold" nodeType="afterEffect">
                                  <p:stCondLst>
                                    <p:cond delay="1000"/>
                                  </p:stCondLst>
                                  <p:childTnLst>
                                    <p:set>
                                      <p:cBhvr>
                                        <p:cTn id="40" dur="1" fill="hold">
                                          <p:stCondLst>
                                            <p:cond delay="0"/>
                                          </p:stCondLst>
                                        </p:cTn>
                                        <p:tgtEl>
                                          <p:spTgt spid="53"/>
                                        </p:tgtEl>
                                        <p:attrNameLst>
                                          <p:attrName>style.visibility</p:attrName>
                                        </p:attrNameLst>
                                      </p:cBhvr>
                                      <p:to>
                                        <p:strVal val="visible"/>
                                      </p:to>
                                    </p:set>
                                    <p:animEffect transition="in" filter="wipe(left)">
                                      <p:cBhvr>
                                        <p:cTn id="41" dur="1000"/>
                                        <p:tgtEl>
                                          <p:spTgt spid="53"/>
                                        </p:tgtEl>
                                      </p:cBhvr>
                                    </p:animEffect>
                                  </p:childTnLst>
                                </p:cTn>
                              </p:par>
                            </p:childTnLst>
                          </p:cTn>
                        </p:par>
                        <p:par>
                          <p:cTn id="42" fill="hold" nodeType="afterGroup">
                            <p:stCondLst>
                              <p:cond delay="3000"/>
                            </p:stCondLst>
                            <p:childTnLst>
                              <p:par>
                                <p:cTn id="43" presetID="22" presetClass="entr" presetSubtype="8" fill="hold" nodeType="afterEffect">
                                  <p:stCondLst>
                                    <p:cond delay="1000"/>
                                  </p:stCondLst>
                                  <p:childTnLst>
                                    <p:set>
                                      <p:cBhvr>
                                        <p:cTn id="44" dur="1" fill="hold">
                                          <p:stCondLst>
                                            <p:cond delay="0"/>
                                          </p:stCondLst>
                                        </p:cTn>
                                        <p:tgtEl>
                                          <p:spTgt spid="54"/>
                                        </p:tgtEl>
                                        <p:attrNameLst>
                                          <p:attrName>style.visibility</p:attrName>
                                        </p:attrNameLst>
                                      </p:cBhvr>
                                      <p:to>
                                        <p:strVal val="visible"/>
                                      </p:to>
                                    </p:set>
                                    <p:animEffect transition="in" filter="wipe(left)">
                                      <p:cBhvr>
                                        <p:cTn id="45" dur="1000"/>
                                        <p:tgtEl>
                                          <p:spTgt spid="54"/>
                                        </p:tgtEl>
                                      </p:cBhvr>
                                    </p:animEffect>
                                  </p:childTnLst>
                                </p:cTn>
                              </p:par>
                            </p:childTnLst>
                          </p:cTn>
                        </p:par>
                        <p:par>
                          <p:cTn id="46" fill="hold">
                            <p:stCondLst>
                              <p:cond delay="5000"/>
                            </p:stCondLst>
                            <p:childTnLst>
                              <p:par>
                                <p:cTn id="47" presetID="18" presetClass="entr" presetSubtype="6" fill="hold" nodeType="afterEffect">
                                  <p:stCondLst>
                                    <p:cond delay="2000"/>
                                  </p:stCondLst>
                                  <p:childTnLst>
                                    <p:set>
                                      <p:cBhvr>
                                        <p:cTn id="48" dur="1" fill="hold">
                                          <p:stCondLst>
                                            <p:cond delay="0"/>
                                          </p:stCondLst>
                                        </p:cTn>
                                        <p:tgtEl>
                                          <p:spTgt spid="19"/>
                                        </p:tgtEl>
                                        <p:attrNameLst>
                                          <p:attrName>style.visibility</p:attrName>
                                        </p:attrNameLst>
                                      </p:cBhvr>
                                      <p:to>
                                        <p:strVal val="visible"/>
                                      </p:to>
                                    </p:set>
                                    <p:animEffect transition="in" filter="strips(downRight)">
                                      <p:cBhvr>
                                        <p:cTn id="49" dur="1000"/>
                                        <p:tgtEl>
                                          <p:spTgt spid="19"/>
                                        </p:tgtEl>
                                      </p:cBhvr>
                                    </p:animEffect>
                                  </p:childTnLst>
                                </p:cTn>
                              </p:par>
                            </p:childTnLst>
                          </p:cTn>
                        </p:par>
                        <p:par>
                          <p:cTn id="50" fill="hold">
                            <p:stCondLst>
                              <p:cond delay="8000"/>
                            </p:stCondLst>
                            <p:childTnLst>
                              <p:par>
                                <p:cTn id="51" presetID="22" presetClass="entr" presetSubtype="8" fill="hold" grpId="0" nodeType="afterEffect">
                                  <p:stCondLst>
                                    <p:cond delay="0"/>
                                  </p:stCondLst>
                                  <p:childTnLst>
                                    <p:set>
                                      <p:cBhvr>
                                        <p:cTn id="52" dur="1" fill="hold">
                                          <p:stCondLst>
                                            <p:cond delay="0"/>
                                          </p:stCondLst>
                                        </p:cTn>
                                        <p:tgtEl>
                                          <p:spTgt spid="62"/>
                                        </p:tgtEl>
                                        <p:attrNameLst>
                                          <p:attrName>style.visibility</p:attrName>
                                        </p:attrNameLst>
                                      </p:cBhvr>
                                      <p:to>
                                        <p:strVal val="visible"/>
                                      </p:to>
                                    </p:set>
                                    <p:animEffect transition="in" filter="wipe(left)">
                                      <p:cBhvr>
                                        <p:cTn id="53"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Supply Chain Risk Management </a:t>
            </a:r>
            <a:r>
              <a:rPr lang="en-US" sz="2000" b="0" dirty="0">
                <a:latin typeface="Times New Roman" panose="02020603050405020304" pitchFamily="18" charset="0"/>
                <a:ea typeface="+mj-ea"/>
                <a:cs typeface="Times New Roman" panose="02020603050405020304" pitchFamily="18" charset="0"/>
              </a:rPr>
              <a:t>(continued)</a:t>
            </a:r>
            <a:endParaRPr lang="en-US" sz="2000" b="0" kern="1200" dirty="0">
              <a:latin typeface="Times New Roman" panose="02020603050405020304" pitchFamily="18" charset="0"/>
              <a:ea typeface="+mj-ea"/>
              <a:cs typeface="Times New Roman" panose="02020603050405020304" pitchFamily="18" charset="0"/>
            </a:endParaRPr>
          </a:p>
        </p:txBody>
      </p:sp>
      <p:sp>
        <p:nvSpPr>
          <p:cNvPr id="3" name="Text Placeholder 2"/>
          <p:cNvSpPr>
            <a:spLocks noGrp="1"/>
          </p:cNvSpPr>
          <p:nvPr>
            <p:ph type="body" idx="1"/>
          </p:nvPr>
        </p:nvSpPr>
        <p:spPr/>
        <p:txBody>
          <a:bodyPr wrap="square" lIns="91425" tIns="91425" rIns="91425" bIns="91425">
            <a:noAutofit/>
          </a:bodyPr>
          <a:lstStyle/>
          <a:p>
            <a:pPr marL="256032" lvl="0" indent="-256032">
              <a:spcBef>
                <a:spcPts val="600"/>
              </a:spcBef>
              <a:tabLst/>
            </a:pPr>
            <a:r>
              <a:rPr lang="en-US" sz="2200" kern="1200" dirty="0">
                <a:solidFill>
                  <a:srgbClr val="000000"/>
                </a:solidFill>
                <a:latin typeface="Arial (Body)"/>
                <a:ea typeface="+mn-ea"/>
                <a:cs typeface="+mn-cs"/>
              </a:rPr>
              <a:t>Managing the risk of SC disruption by using multiple suppliers: operational hedging</a:t>
            </a:r>
          </a:p>
          <a:p>
            <a:pPr marL="256032" lvl="0" indent="-256032">
              <a:spcBef>
                <a:spcPts val="600"/>
              </a:spcBef>
              <a:tabLst/>
            </a:pPr>
            <a:r>
              <a:rPr lang="en-US" sz="2200" dirty="0">
                <a:solidFill>
                  <a:srgbClr val="000000"/>
                </a:solidFill>
                <a:latin typeface="Arial (Body)"/>
                <a:ea typeface="+mn-ea"/>
                <a:cs typeface="+mn-cs"/>
              </a:rPr>
              <a:t>Hedging threats to financial flows in the supply chain: financial hedging</a:t>
            </a:r>
            <a:endParaRPr lang="en-US" sz="2200" kern="1200" dirty="0">
              <a:solidFill>
                <a:srgbClr val="000000"/>
              </a:solidFill>
              <a:latin typeface="Arial (Body)"/>
              <a:ea typeface="+mn-ea"/>
              <a:cs typeface="+mn-cs"/>
            </a:endParaRPr>
          </a:p>
        </p:txBody>
      </p:sp>
    </p:spTree>
    <p:extLst>
      <p:ext uri="{BB962C8B-B14F-4D97-AF65-F5344CB8AC3E}">
        <p14:creationId xmlns:p14="http://schemas.microsoft.com/office/powerpoint/2010/main" val="2017485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EB0BA-A10B-4AB1-96AF-1C916D746E7A}"/>
              </a:ext>
            </a:extLst>
          </p:cNvPr>
          <p:cNvSpPr>
            <a:spLocks noGrp="1"/>
          </p:cNvSpPr>
          <p:nvPr>
            <p:ph type="title"/>
          </p:nvPr>
        </p:nvSpPr>
        <p:spPr/>
        <p:txBody>
          <a:bodyPr/>
          <a:lstStyle/>
          <a:p>
            <a:r>
              <a:rPr lang="en-US" dirty="0"/>
              <a:t>Hedging financial Disruption</a:t>
            </a:r>
          </a:p>
        </p:txBody>
      </p:sp>
      <p:sp>
        <p:nvSpPr>
          <p:cNvPr id="3" name="Text Placeholder 2">
            <a:extLst>
              <a:ext uri="{FF2B5EF4-FFF2-40B4-BE49-F238E27FC236}">
                <a16:creationId xmlns:a16="http://schemas.microsoft.com/office/drawing/2014/main" id="{CC6493B2-CF4D-473C-ABBB-4193C76E56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0643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81000"/>
            <a:ext cx="8229600" cy="990600"/>
          </a:xfrm>
        </p:spPr>
        <p:txBody>
          <a:bodyPr>
            <a:normAutofit/>
          </a:bodyPr>
          <a:lstStyle/>
          <a:p>
            <a:r>
              <a:rPr lang="en-US" b="1" cap="all" dirty="0">
                <a:latin typeface="Trade Gothic LT Std Cn" pitchFamily="50" charset="0"/>
              </a:rPr>
              <a:t>AN Example</a:t>
            </a:r>
          </a:p>
        </p:txBody>
      </p:sp>
      <p:sp>
        <p:nvSpPr>
          <p:cNvPr id="3" name="Content Placeholder 2"/>
          <p:cNvSpPr>
            <a:spLocks noGrp="1"/>
          </p:cNvSpPr>
          <p:nvPr>
            <p:ph idx="1"/>
          </p:nvPr>
        </p:nvSpPr>
        <p:spPr>
          <a:xfrm>
            <a:off x="457201" y="1447800"/>
            <a:ext cx="8229600" cy="990600"/>
          </a:xfrm>
        </p:spPr>
        <p:txBody>
          <a:bodyPr>
            <a:normAutofit/>
          </a:bodyPr>
          <a:lstStyle/>
          <a:p>
            <a:pPr marL="0" indent="0">
              <a:buNone/>
            </a:pPr>
            <a:r>
              <a:rPr lang="en-US" b="1" u="sng" dirty="0">
                <a:latin typeface="Trade Gothic LT Std Cn" pitchFamily="50" charset="0"/>
              </a:rPr>
              <a:t>Example</a:t>
            </a:r>
            <a:r>
              <a:rPr lang="en-US" dirty="0"/>
              <a:t>: </a:t>
            </a:r>
            <a:r>
              <a:rPr lang="en-US" dirty="0">
                <a:latin typeface="Trade Gothic LT Std" pitchFamily="50" charset="0"/>
              </a:rPr>
              <a:t>Omega Drug, a hypothetical multinational pharmaceutical company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2514600"/>
            <a:ext cx="9144000" cy="14753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343400"/>
            <a:ext cx="9144001" cy="156504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52400" y="6195283"/>
            <a:ext cx="2514600" cy="261610"/>
          </a:xfrm>
          <a:prstGeom prst="rect">
            <a:avLst/>
          </a:prstGeom>
          <a:noFill/>
        </p:spPr>
        <p:txBody>
          <a:bodyPr wrap="square" rtlCol="0">
            <a:spAutoFit/>
          </a:bodyPr>
          <a:lstStyle/>
          <a:p>
            <a:r>
              <a:rPr lang="en-US" sz="1100" b="1" dirty="0"/>
              <a:t>Supply Chain Risk Management</a:t>
            </a:r>
          </a:p>
        </p:txBody>
      </p:sp>
    </p:spTree>
    <p:extLst>
      <p:ext uri="{BB962C8B-B14F-4D97-AF65-F5344CB8AC3E}">
        <p14:creationId xmlns:p14="http://schemas.microsoft.com/office/powerpoint/2010/main" val="3568055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726" y="407377"/>
            <a:ext cx="8229600" cy="1066800"/>
          </a:xfrm>
        </p:spPr>
        <p:txBody>
          <a:bodyPr/>
          <a:lstStyle/>
          <a:p>
            <a:r>
              <a:rPr lang="en-US" b="1" cap="small" dirty="0">
                <a:latin typeface="Trade Gothic LT Std Cn" pitchFamily="50" charset="0"/>
              </a:rPr>
              <a:t>why hedge? </a:t>
            </a:r>
            <a:r>
              <a:rPr lang="en-US" sz="3200" b="1" i="1" dirty="0">
                <a:latin typeface="Trade Gothic LT Std Cn" pitchFamily="50" charset="0"/>
              </a:rPr>
              <a:t>(continued)</a:t>
            </a:r>
          </a:p>
        </p:txBody>
      </p:sp>
      <p:sp>
        <p:nvSpPr>
          <p:cNvPr id="3" name="Content Placeholder 2"/>
          <p:cNvSpPr>
            <a:spLocks noGrp="1"/>
          </p:cNvSpPr>
          <p:nvPr>
            <p:ph idx="1"/>
          </p:nvPr>
        </p:nvSpPr>
        <p:spPr>
          <a:xfrm>
            <a:off x="475726" y="5123765"/>
            <a:ext cx="8229600" cy="972235"/>
          </a:xfrm>
        </p:spPr>
        <p:txBody>
          <a:bodyPr>
            <a:normAutofit/>
          </a:bodyPr>
          <a:lstStyle/>
          <a:p>
            <a:pPr marL="0" indent="0">
              <a:buNone/>
            </a:pPr>
            <a:r>
              <a:rPr lang="en-US" sz="1800" dirty="0">
                <a:latin typeface="Trade Gothic LT Std" pitchFamily="50" charset="0"/>
              </a:rPr>
              <a:t>Risk management lets companies transfer funds from situation in which they have an excess supply to situations in which they have shortage</a:t>
            </a:r>
          </a:p>
          <a:p>
            <a:pPr marL="274320" lvl="1" indent="0">
              <a:buNone/>
            </a:pPr>
            <a:r>
              <a:rPr lang="en-US" sz="1600" i="1" dirty="0">
                <a:latin typeface="Trade Gothic LT Std" pitchFamily="50" charset="0"/>
              </a:rPr>
              <a:t>… borrow from themselves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371600"/>
            <a:ext cx="5523452" cy="367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52400" y="6195283"/>
            <a:ext cx="2514600" cy="261610"/>
          </a:xfrm>
          <a:prstGeom prst="rect">
            <a:avLst/>
          </a:prstGeom>
          <a:noFill/>
        </p:spPr>
        <p:txBody>
          <a:bodyPr wrap="square" rtlCol="0">
            <a:spAutoFit/>
          </a:bodyPr>
          <a:lstStyle/>
          <a:p>
            <a:r>
              <a:rPr lang="en-US" sz="1100" b="1" dirty="0"/>
              <a:t>Supply Chain Risk Management</a:t>
            </a:r>
          </a:p>
        </p:txBody>
      </p:sp>
    </p:spTree>
    <p:extLst>
      <p:ext uri="{BB962C8B-B14F-4D97-AF65-F5344CB8AC3E}">
        <p14:creationId xmlns:p14="http://schemas.microsoft.com/office/powerpoint/2010/main" val="1518712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164F-EB94-4CCF-8381-541194562E2E}"/>
              </a:ext>
            </a:extLst>
          </p:cNvPr>
          <p:cNvSpPr>
            <a:spLocks noGrp="1"/>
          </p:cNvSpPr>
          <p:nvPr>
            <p:ph type="title"/>
          </p:nvPr>
        </p:nvSpPr>
        <p:spPr/>
        <p:txBody>
          <a:bodyPr/>
          <a:lstStyle/>
          <a:p>
            <a:r>
              <a:rPr lang="en-US" dirty="0"/>
              <a:t>Supply Chain Dynamics</a:t>
            </a:r>
          </a:p>
        </p:txBody>
      </p:sp>
      <p:sp>
        <p:nvSpPr>
          <p:cNvPr id="3" name="Text Placeholder 2">
            <a:extLst>
              <a:ext uri="{FF2B5EF4-FFF2-40B4-BE49-F238E27FC236}">
                <a16:creationId xmlns:a16="http://schemas.microsoft.com/office/drawing/2014/main" id="{13877EFE-A5EE-4BCC-9780-7A3604AE244D}"/>
              </a:ext>
            </a:extLst>
          </p:cNvPr>
          <p:cNvSpPr>
            <a:spLocks noGrp="1"/>
          </p:cNvSpPr>
          <p:nvPr>
            <p:ph type="body" idx="1"/>
          </p:nvPr>
        </p:nvSpPr>
        <p:spPr/>
        <p:txBody>
          <a:bodyPr/>
          <a:lstStyle/>
          <a:p>
            <a:r>
              <a:rPr lang="en-US" dirty="0"/>
              <a:t>Bullwhip Effect</a:t>
            </a:r>
          </a:p>
        </p:txBody>
      </p:sp>
    </p:spTree>
    <p:extLst>
      <p:ext uri="{BB962C8B-B14F-4D97-AF65-F5344CB8AC3E}">
        <p14:creationId xmlns:p14="http://schemas.microsoft.com/office/powerpoint/2010/main" val="1093751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tIns="91425">
            <a:noAutofit/>
          </a:bodyPr>
          <a:lstStyle/>
          <a:p>
            <a:pPr lvl="0">
              <a:spcBef>
                <a:spcPct val="0"/>
              </a:spcBef>
              <a:buClrTx/>
            </a:pPr>
            <a:r>
              <a:rPr lang="en-US" kern="1200" dirty="0">
                <a:latin typeface="Times New Roman" panose="02020603050405020304" pitchFamily="18" charset="0"/>
                <a:ea typeface="+mj-ea"/>
                <a:cs typeface="Times New Roman" panose="02020603050405020304" pitchFamily="18" charset="0"/>
              </a:rPr>
              <a:t>Supply Chain Dynamics </a:t>
            </a:r>
            <a:r>
              <a:rPr lang="en-US" sz="2000" b="0" kern="1200" dirty="0">
                <a:latin typeface="Times New Roman" panose="02020603050405020304" pitchFamily="18" charset="0"/>
                <a:ea typeface="+mj-ea"/>
                <a:cs typeface="Times New Roman" panose="02020603050405020304" pitchFamily="18" charset="0"/>
              </a:rPr>
              <a:t>(2 of 2)</a:t>
            </a:r>
          </a:p>
        </p:txBody>
      </p:sp>
      <p:sp>
        <p:nvSpPr>
          <p:cNvPr id="3" name="Content Placeholder 2"/>
          <p:cNvSpPr>
            <a:spLocks noGrp="1"/>
          </p:cNvSpPr>
          <p:nvPr>
            <p:ph type="body" idx="1"/>
          </p:nvPr>
        </p:nvSpPr>
        <p:spPr>
          <a:xfrm>
            <a:off x="457200" y="1600201"/>
            <a:ext cx="8229600" cy="527180"/>
          </a:xfrm>
        </p:spPr>
        <p:txBody>
          <a:bodyPr wrap="square" lIns="91425" tIns="91425" rIns="91425" bIns="91425">
            <a:noAutofit/>
          </a:bodyPr>
          <a:lstStyle/>
          <a:p>
            <a:pPr marL="0" lvl="0" indent="0">
              <a:buSzPts val="2400"/>
              <a:buNone/>
            </a:pPr>
            <a:r>
              <a:rPr lang="en-US" sz="2400" b="1" kern="1200" dirty="0">
                <a:solidFill>
                  <a:srgbClr val="000000"/>
                </a:solidFill>
                <a:latin typeface="Arial (Body)"/>
                <a:ea typeface="+mn-ea"/>
                <a:cs typeface="+mn-cs"/>
              </a:rPr>
              <a:t>The Bullwhip Effect</a:t>
            </a:r>
          </a:p>
        </p:txBody>
      </p:sp>
      <p:sp>
        <p:nvSpPr>
          <p:cNvPr id="4" name="Content Placeholder 3"/>
          <p:cNvSpPr>
            <a:spLocks noGrp="1"/>
          </p:cNvSpPr>
          <p:nvPr>
            <p:ph type="body" idx="2"/>
          </p:nvPr>
        </p:nvSpPr>
        <p:spPr>
          <a:xfrm>
            <a:off x="457200" y="2329542"/>
            <a:ext cx="7908484" cy="460311"/>
          </a:xfrm>
        </p:spPr>
        <p:txBody>
          <a:bodyPr wrap="square" lIns="91425" tIns="91425" rIns="91425" bIns="91425">
            <a:noAutofit/>
          </a:bodyPr>
          <a:lstStyle/>
          <a:p>
            <a:pPr marL="0" lvl="0" indent="0">
              <a:buSzPts val="2400"/>
              <a:buNone/>
            </a:pPr>
            <a:r>
              <a:rPr lang="en-IN" sz="2200" b="1" kern="1200" dirty="0">
                <a:solidFill>
                  <a:srgbClr val="000000"/>
                </a:solidFill>
                <a:latin typeface="Arial (Body)"/>
                <a:ea typeface="+mn-ea"/>
                <a:cs typeface="+mn-cs"/>
              </a:rPr>
              <a:t>Figure 14.2 </a:t>
            </a:r>
            <a:r>
              <a:rPr lang="en-IN" sz="2200" kern="1200" dirty="0">
                <a:solidFill>
                  <a:srgbClr val="000000"/>
                </a:solidFill>
                <a:latin typeface="Arial (Body)"/>
                <a:ea typeface="+mn-ea"/>
                <a:cs typeface="+mn-cs"/>
              </a:rPr>
              <a:t>Supply Chain Dynamics for Facial Tissue</a:t>
            </a:r>
          </a:p>
        </p:txBody>
      </p:sp>
      <p:pic>
        <p:nvPicPr>
          <p:cNvPr id="6" name="Picture 5" descr="A graph plots order quantity versus the month of April. The x-axis is divided into 4 sections, with plots from left to right for consumers’ daily demands; retailers’ daily orders to manufacturer; manufacturer’s weekly orders to package supplier; and package supplier’s weekly orders to cardboard supplier. Each section on the x-axis extends from day 1 to day 30, for the month of April. The plots in each section spike irregularly up and down, with increasing ranges and decreasing frequency from left to right, as follows. The plot for consumers’ daily demands ranges between 3,200 and 4,700, with approximately 14 spikes from day 1 to day 30. The plot for retailers’ daily orders to manufacturer ranges generally between 3,000 and 4,700, with a low spike of 2,700 and a high spike of 6,300; the plot spikes approximately 12 times from day 1 to day 30. The plot for manufacturer’s weekly orders to package supplier ranges generally between 1,500 and 6,750, with approximately 3 spikes from day 1 to day 30.  The plot for package supplier’s weekly orders to cardboard supplier ranges from 200 to 8,100, with approximately 2 spikes from day 1 to day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3513" y="3194168"/>
            <a:ext cx="6716974" cy="3038632"/>
          </a:xfrm>
          <a:prstGeom prst="rect">
            <a:avLst/>
          </a:prstGeom>
        </p:spPr>
      </p:pic>
    </p:spTree>
    <p:extLst>
      <p:ext uri="{BB962C8B-B14F-4D97-AF65-F5344CB8AC3E}">
        <p14:creationId xmlns:p14="http://schemas.microsoft.com/office/powerpoint/2010/main" val="3064939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3A7E4-084E-165F-C922-1FBECD142D79}"/>
              </a:ext>
            </a:extLst>
          </p:cNvPr>
          <p:cNvSpPr>
            <a:spLocks noGrp="1"/>
          </p:cNvSpPr>
          <p:nvPr>
            <p:ph type="title"/>
          </p:nvPr>
        </p:nvSpPr>
        <p:spPr/>
        <p:txBody>
          <a:bodyPr/>
          <a:lstStyle/>
          <a:p>
            <a:r>
              <a:rPr lang="en-US" dirty="0"/>
              <a:t>Definition and Characteristics</a:t>
            </a:r>
          </a:p>
        </p:txBody>
      </p:sp>
      <p:sp>
        <p:nvSpPr>
          <p:cNvPr id="5" name="Content Placeholder 4">
            <a:extLst>
              <a:ext uri="{FF2B5EF4-FFF2-40B4-BE49-F238E27FC236}">
                <a16:creationId xmlns:a16="http://schemas.microsoft.com/office/drawing/2014/main" id="{D20FEA8A-8A77-0AE4-72D0-460F7384EB4E}"/>
              </a:ext>
            </a:extLst>
          </p:cNvPr>
          <p:cNvSpPr>
            <a:spLocks noGrp="1"/>
          </p:cNvSpPr>
          <p:nvPr>
            <p:ph idx="1"/>
          </p:nvPr>
        </p:nvSpPr>
        <p:spPr/>
        <p:txBody>
          <a:bodyPr/>
          <a:lstStyle/>
          <a:p>
            <a:r>
              <a:rPr lang="en-US" dirty="0"/>
              <a:t>Definition: A phenomenon where small fluctuations in demand at the retail level are amplified as they move up the supply chain.</a:t>
            </a:r>
          </a:p>
          <a:p>
            <a:r>
              <a:rPr lang="en-US" dirty="0"/>
              <a:t>Key Characteristic: Each stage of the supply chain orders more goods than necessary to meet demand, leading to excess inventory and inefficiencies.</a:t>
            </a:r>
          </a:p>
        </p:txBody>
      </p:sp>
    </p:spTree>
    <p:extLst>
      <p:ext uri="{BB962C8B-B14F-4D97-AF65-F5344CB8AC3E}">
        <p14:creationId xmlns:p14="http://schemas.microsoft.com/office/powerpoint/2010/main" val="3256048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B13C2-E3F2-1B1E-C382-16EF56BC2010}"/>
              </a:ext>
            </a:extLst>
          </p:cNvPr>
          <p:cNvSpPr>
            <a:spLocks noGrp="1"/>
          </p:cNvSpPr>
          <p:nvPr>
            <p:ph type="title"/>
          </p:nvPr>
        </p:nvSpPr>
        <p:spPr/>
        <p:txBody>
          <a:bodyPr/>
          <a:lstStyle/>
          <a:p>
            <a:r>
              <a:rPr lang="en-US" dirty="0"/>
              <a:t>Example</a:t>
            </a:r>
          </a:p>
        </p:txBody>
      </p:sp>
      <p:graphicFrame>
        <p:nvGraphicFramePr>
          <p:cNvPr id="4" name="Content Placeholder 3">
            <a:extLst>
              <a:ext uri="{FF2B5EF4-FFF2-40B4-BE49-F238E27FC236}">
                <a16:creationId xmlns:a16="http://schemas.microsoft.com/office/drawing/2014/main" id="{377A4D59-CCA2-E779-8AAE-D6B567A6081D}"/>
              </a:ext>
            </a:extLst>
          </p:cNvPr>
          <p:cNvGraphicFramePr>
            <a:graphicFrameLocks noGrp="1"/>
          </p:cNvGraphicFramePr>
          <p:nvPr>
            <p:ph idx="1"/>
            <p:extLst>
              <p:ext uri="{D42A27DB-BD31-4B8C-83A1-F6EECF244321}">
                <p14:modId xmlns:p14="http://schemas.microsoft.com/office/powerpoint/2010/main" val="739973871"/>
              </p:ext>
            </p:extLst>
          </p:nvPr>
        </p:nvGraphicFramePr>
        <p:xfrm>
          <a:off x="609600" y="2075545"/>
          <a:ext cx="8128002" cy="1211334"/>
        </p:xfrm>
        <a:graphic>
          <a:graphicData uri="http://schemas.openxmlformats.org/drawingml/2006/table">
            <a:tbl>
              <a:tblPr/>
              <a:tblGrid>
                <a:gridCol w="1354667">
                  <a:extLst>
                    <a:ext uri="{9D8B030D-6E8A-4147-A177-3AD203B41FA5}">
                      <a16:colId xmlns:a16="http://schemas.microsoft.com/office/drawing/2014/main" val="1683597253"/>
                    </a:ext>
                  </a:extLst>
                </a:gridCol>
                <a:gridCol w="1354667">
                  <a:extLst>
                    <a:ext uri="{9D8B030D-6E8A-4147-A177-3AD203B41FA5}">
                      <a16:colId xmlns:a16="http://schemas.microsoft.com/office/drawing/2014/main" val="2000102360"/>
                    </a:ext>
                  </a:extLst>
                </a:gridCol>
                <a:gridCol w="1354667">
                  <a:extLst>
                    <a:ext uri="{9D8B030D-6E8A-4147-A177-3AD203B41FA5}">
                      <a16:colId xmlns:a16="http://schemas.microsoft.com/office/drawing/2014/main" val="543312139"/>
                    </a:ext>
                  </a:extLst>
                </a:gridCol>
                <a:gridCol w="1354667">
                  <a:extLst>
                    <a:ext uri="{9D8B030D-6E8A-4147-A177-3AD203B41FA5}">
                      <a16:colId xmlns:a16="http://schemas.microsoft.com/office/drawing/2014/main" val="141447421"/>
                    </a:ext>
                  </a:extLst>
                </a:gridCol>
                <a:gridCol w="1354667">
                  <a:extLst>
                    <a:ext uri="{9D8B030D-6E8A-4147-A177-3AD203B41FA5}">
                      <a16:colId xmlns:a16="http://schemas.microsoft.com/office/drawing/2014/main" val="4137148243"/>
                    </a:ext>
                  </a:extLst>
                </a:gridCol>
                <a:gridCol w="1354667">
                  <a:extLst>
                    <a:ext uri="{9D8B030D-6E8A-4147-A177-3AD203B41FA5}">
                      <a16:colId xmlns:a16="http://schemas.microsoft.com/office/drawing/2014/main" val="602623574"/>
                    </a:ext>
                  </a:extLst>
                </a:gridCol>
              </a:tblGrid>
              <a:tr h="672854">
                <a:tc>
                  <a:txBody>
                    <a:bodyPr/>
                    <a:lstStyle/>
                    <a:p>
                      <a:pPr rtl="0" fontAlgn="b"/>
                      <a:r>
                        <a:rPr lang="en-US" sz="1600">
                          <a:effectLst/>
                        </a:rPr>
                        <a:t>Week</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a:effectLst/>
                        </a:rPr>
                        <a:t>Retailer Demand</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a:effectLst/>
                        </a:rPr>
                        <a:t>Retailer Order</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a:effectLst/>
                        </a:rPr>
                        <a:t>Distributor Order</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a:effectLst/>
                        </a:rPr>
                        <a:t>Wholesaler Order</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30B75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a:effectLst/>
                        </a:rPr>
                        <a:t>Manufacturer Order</a:t>
                      </a:r>
                    </a:p>
                  </a:txBody>
                  <a:tcPr marL="0" marR="0" marT="12700" marB="12700" anchor="b">
                    <a:lnL w="6350" cap="flat" cmpd="sng" algn="ctr">
                      <a:solidFill>
                        <a:srgbClr val="30B750"/>
                      </a:solidFill>
                      <a:prstDash val="solid"/>
                      <a:round/>
                      <a:headEnd type="none" w="med" len="med"/>
                      <a:tailEnd type="none" w="med" len="med"/>
                    </a:lnL>
                    <a:lnR w="6350" cap="flat" cmpd="sng" algn="ctr">
                      <a:solidFill>
                        <a:srgbClr val="30B750"/>
                      </a:solidFill>
                      <a:prstDash val="solid"/>
                      <a:round/>
                      <a:headEnd type="none" w="med" len="med"/>
                      <a:tailEnd type="none" w="med" len="med"/>
                    </a:lnR>
                    <a:lnT w="6350" cap="flat" cmpd="sng" algn="ctr">
                      <a:solidFill>
                        <a:srgbClr val="30B750"/>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86047696"/>
                  </a:ext>
                </a:extLst>
              </a:tr>
              <a:tr h="235073">
                <a:tc>
                  <a:txBody>
                    <a:bodyPr/>
                    <a:lstStyle/>
                    <a:p>
                      <a:pPr algn="r" rtl="0" fontAlgn="b"/>
                      <a:r>
                        <a:rPr lang="en-US" sz="16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r>
                        <a:rPr lang="en-US" sz="1600">
                          <a:effectLst/>
                        </a:rPr>
                        <a:t>110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r>
                        <a:rPr lang="en-US" sz="1600">
                          <a:effectLst/>
                        </a:rPr>
                        <a:t>120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r>
                        <a:rPr lang="en-US" sz="1600">
                          <a:effectLst/>
                        </a:rPr>
                        <a:t>140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r>
                        <a:rPr lang="en-US" sz="1600">
                          <a:effectLst/>
                        </a:rPr>
                        <a:t>180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r>
                        <a:rPr lang="en-US" sz="1600">
                          <a:effectLst/>
                        </a:rPr>
                        <a:t>220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56576161"/>
                  </a:ext>
                </a:extLst>
              </a:tr>
              <a:tr h="235073">
                <a:tc>
                  <a:txBody>
                    <a:bodyPr/>
                    <a:lstStyle/>
                    <a:p>
                      <a:pPr algn="r" rtl="0" fontAlgn="b"/>
                      <a:r>
                        <a:rPr lang="en-US" sz="16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r>
                        <a:rPr lang="en-US" sz="1600">
                          <a:effectLst/>
                        </a:rPr>
                        <a:t>110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r>
                        <a:rPr lang="en-US" sz="1600">
                          <a:effectLst/>
                        </a:rPr>
                        <a:t>110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a:effectLst/>
                        </a:rPr>
                        <a:t>-</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a:effectLst/>
                        </a:rPr>
                        <a:t>-</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r>
                        <a:rPr lang="en-US" sz="1600" dirty="0">
                          <a:effectLst/>
                        </a:rPr>
                        <a:t>-</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330726317"/>
                  </a:ext>
                </a:extLst>
              </a:tr>
            </a:tbl>
          </a:graphicData>
        </a:graphic>
      </p:graphicFrame>
      <p:sp>
        <p:nvSpPr>
          <p:cNvPr id="6" name="TextBox 5">
            <a:extLst>
              <a:ext uri="{FF2B5EF4-FFF2-40B4-BE49-F238E27FC236}">
                <a16:creationId xmlns:a16="http://schemas.microsoft.com/office/drawing/2014/main" id="{AB8335E1-DA84-3717-CB1F-C702C182CE05}"/>
              </a:ext>
            </a:extLst>
          </p:cNvPr>
          <p:cNvSpPr txBox="1"/>
          <p:nvPr/>
        </p:nvSpPr>
        <p:spPr>
          <a:xfrm>
            <a:off x="660402" y="3980716"/>
            <a:ext cx="8077200" cy="1754326"/>
          </a:xfrm>
          <a:prstGeom prst="rect">
            <a:avLst/>
          </a:prstGeom>
          <a:noFill/>
        </p:spPr>
        <p:txBody>
          <a:bodyPr wrap="square">
            <a:spAutoFit/>
          </a:bodyPr>
          <a:lstStyle/>
          <a:p>
            <a:r>
              <a:rPr lang="en-US" dirty="0"/>
              <a:t>In this simplified example, a 10% increase in customer demand at the retailer level leads to a 20% increase in the retailer's order, a 40% increase in the distributor's order, and so on. By the time it reaches the manufacturer, the order has more than doubled, even though the actual consumer demand has stabilized. This demonstrates how the bullwhip effect can quickly distort demand signals.</a:t>
            </a:r>
          </a:p>
        </p:txBody>
      </p:sp>
    </p:spTree>
    <p:extLst>
      <p:ext uri="{BB962C8B-B14F-4D97-AF65-F5344CB8AC3E}">
        <p14:creationId xmlns:p14="http://schemas.microsoft.com/office/powerpoint/2010/main" val="39512067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C07DC-84AA-0612-1D88-F364E3F0DFB9}"/>
              </a:ext>
            </a:extLst>
          </p:cNvPr>
          <p:cNvSpPr>
            <a:spLocks noGrp="1"/>
          </p:cNvSpPr>
          <p:nvPr>
            <p:ph type="title"/>
          </p:nvPr>
        </p:nvSpPr>
        <p:spPr/>
        <p:txBody>
          <a:bodyPr/>
          <a:lstStyle/>
          <a:p>
            <a:r>
              <a:rPr lang="en-US" dirty="0"/>
              <a:t>Consequences</a:t>
            </a:r>
          </a:p>
        </p:txBody>
      </p:sp>
      <p:sp>
        <p:nvSpPr>
          <p:cNvPr id="4" name="Content Placeholder 3">
            <a:extLst>
              <a:ext uri="{FF2B5EF4-FFF2-40B4-BE49-F238E27FC236}">
                <a16:creationId xmlns:a16="http://schemas.microsoft.com/office/drawing/2014/main" id="{93AB1A68-01BD-0DA9-2D50-BBD2F320249A}"/>
              </a:ext>
            </a:extLst>
          </p:cNvPr>
          <p:cNvSpPr>
            <a:spLocks noGrp="1"/>
          </p:cNvSpPr>
          <p:nvPr>
            <p:ph sz="half" idx="2"/>
          </p:nvPr>
        </p:nvSpPr>
        <p:spPr/>
        <p:txBody>
          <a:bodyPr/>
          <a:lstStyle/>
          <a:p>
            <a:r>
              <a:rPr lang="en-US" dirty="0"/>
              <a:t>Excess inventory</a:t>
            </a:r>
          </a:p>
          <a:p>
            <a:r>
              <a:rPr lang="en-US" dirty="0"/>
              <a:t>Increased costs</a:t>
            </a:r>
          </a:p>
          <a:p>
            <a:r>
              <a:rPr lang="en-US" dirty="0"/>
              <a:t>Stockouts (when demand is underestimated)</a:t>
            </a:r>
          </a:p>
          <a:p>
            <a:r>
              <a:rPr lang="en-US" dirty="0"/>
              <a:t>Reduced customer service level</a:t>
            </a:r>
          </a:p>
          <a:p>
            <a:r>
              <a:rPr lang="en-US" dirty="0"/>
              <a:t>Wasted resources</a:t>
            </a:r>
          </a:p>
        </p:txBody>
      </p:sp>
      <p:pic>
        <p:nvPicPr>
          <p:cNvPr id="8" name="Content Placeholder 7" descr="Cargo shipping containers in a pile and on a semi-truck at a harbor">
            <a:extLst>
              <a:ext uri="{FF2B5EF4-FFF2-40B4-BE49-F238E27FC236}">
                <a16:creationId xmlns:a16="http://schemas.microsoft.com/office/drawing/2014/main" id="{05FB968E-6ED7-6D02-968C-288860655607}"/>
              </a:ext>
            </a:extLst>
          </p:cNvPr>
          <p:cNvPicPr>
            <a:picLocks noGrp="1" noChangeAspect="1"/>
          </p:cNvPicPr>
          <p:nvPr>
            <p:ph sz="quarter" idx="4"/>
          </p:nvPr>
        </p:nvPicPr>
        <p:blipFill>
          <a:blip r:embed="rId2"/>
          <a:stretch>
            <a:fillRect/>
          </a:stretch>
        </p:blipFill>
        <p:spPr>
          <a:xfrm>
            <a:off x="4645025" y="2634853"/>
            <a:ext cx="4041775" cy="3031331"/>
          </a:xfrm>
        </p:spPr>
      </p:pic>
    </p:spTree>
    <p:extLst>
      <p:ext uri="{BB962C8B-B14F-4D97-AF65-F5344CB8AC3E}">
        <p14:creationId xmlns:p14="http://schemas.microsoft.com/office/powerpoint/2010/main" val="37691992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r>
              <a:rPr lang="en-US" dirty="0">
                <a:latin typeface="Arial" charset="0"/>
                <a:cs typeface="Arial" charset="0"/>
              </a:rPr>
              <a:t>Managing the Bullwhip Effect</a:t>
            </a:r>
          </a:p>
        </p:txBody>
      </p:sp>
      <p:graphicFrame>
        <p:nvGraphicFramePr>
          <p:cNvPr id="5" name="Table 4"/>
          <p:cNvGraphicFramePr>
            <a:graphicFrameLocks noGrp="1"/>
          </p:cNvGraphicFramePr>
          <p:nvPr/>
        </p:nvGraphicFramePr>
        <p:xfrm>
          <a:off x="457200" y="1879600"/>
          <a:ext cx="8229600" cy="3851276"/>
        </p:xfrm>
        <a:graphic>
          <a:graphicData uri="http://schemas.openxmlformats.org/drawingml/2006/table">
            <a:tbl>
              <a:tblPr firstRow="1" bandRow="1">
                <a:tableStyleId>{2D5ABB26-0587-4C30-8999-92F81FD0307C}</a:tableStyleId>
              </a:tblPr>
              <a:tblGrid>
                <a:gridCol w="1917700">
                  <a:extLst>
                    <a:ext uri="{9D8B030D-6E8A-4147-A177-3AD203B41FA5}">
                      <a16:colId xmlns:a16="http://schemas.microsoft.com/office/drawing/2014/main" val="20000"/>
                    </a:ext>
                  </a:extLst>
                </a:gridCol>
                <a:gridCol w="21971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70901">
                <a:tc>
                  <a:txBody>
                    <a:bodyPr/>
                    <a:lstStyle/>
                    <a:p>
                      <a:pPr algn="ctr"/>
                      <a:r>
                        <a:rPr lang="en-US" sz="1800" dirty="0">
                          <a:solidFill>
                            <a:schemeClr val="bg1"/>
                          </a:solidFill>
                          <a:latin typeface="Arial"/>
                          <a:cs typeface="Arial"/>
                        </a:rPr>
                        <a:t>TABLE S11.1</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gridSpan="2">
                  <a:txBody>
                    <a:bodyPr/>
                    <a:lstStyle/>
                    <a:p>
                      <a:r>
                        <a:rPr lang="en-US" sz="1800" dirty="0">
                          <a:latin typeface="Arial"/>
                          <a:cs typeface="Arial"/>
                        </a:rPr>
                        <a:t>The Bullwhip Effect</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70901">
                <a:tc gridSpan="2">
                  <a:txBody>
                    <a:bodyPr/>
                    <a:lstStyle/>
                    <a:p>
                      <a:r>
                        <a:rPr lang="en-US" sz="1800" b="1" dirty="0">
                          <a:solidFill>
                            <a:srgbClr val="FFFFFF"/>
                          </a:solidFill>
                          <a:latin typeface="Arial"/>
                          <a:cs typeface="Arial"/>
                        </a:rPr>
                        <a:t>CAUSE</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800" b="1" dirty="0">
                          <a:solidFill>
                            <a:srgbClr val="FFFFFF"/>
                          </a:solidFill>
                          <a:latin typeface="Arial"/>
                          <a:cs typeface="Arial"/>
                        </a:rPr>
                        <a:t>REMEDY</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640186">
                <a:tc gridSpan="2">
                  <a:txBody>
                    <a:bodyPr/>
                    <a:lstStyle/>
                    <a:p>
                      <a:r>
                        <a:rPr lang="en-US" sz="1800" dirty="0">
                          <a:latin typeface="Arial"/>
                          <a:cs typeface="Arial"/>
                        </a:rPr>
                        <a:t>Demand forecast errors (cumulative uncertainty in the supply chain) </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800" dirty="0">
                          <a:latin typeface="Arial"/>
                          <a:cs typeface="Arial"/>
                        </a:rPr>
                        <a:t>Share demand information throughout the supply chain</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914551">
                <a:tc gridSpan="2">
                  <a:txBody>
                    <a:bodyPr/>
                    <a:lstStyle/>
                    <a:p>
                      <a:r>
                        <a:rPr lang="en-US" sz="1800" dirty="0">
                          <a:latin typeface="Arial"/>
                          <a:cs typeface="Arial"/>
                        </a:rPr>
                        <a:t>Order batching (large, infrequent orders leading suppliers to order even larger amounts) </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800" dirty="0">
                          <a:latin typeface="Arial"/>
                          <a:cs typeface="Arial"/>
                        </a:rPr>
                        <a:t>Channel coordination: Determine lot sizes as though the full supply chain was one company</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914551">
                <a:tc gridSpan="2">
                  <a:txBody>
                    <a:bodyPr/>
                    <a:lstStyle/>
                    <a:p>
                      <a:r>
                        <a:rPr lang="en-US" sz="1800" dirty="0">
                          <a:latin typeface="Arial"/>
                          <a:cs typeface="Arial"/>
                        </a:rPr>
                        <a:t>Price fluctuations (buying in advance of demand to take advantage of low prices, discounts, or sales) </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a:ea typeface="+mn-ea"/>
                          <a:cs typeface="Arial"/>
                        </a:rPr>
                        <a:t>Price stabilization (everyday low prices)</a:t>
                      </a:r>
                      <a:endParaRPr lang="en-US" sz="1800" dirty="0">
                        <a:latin typeface="Arial"/>
                        <a:cs typeface="Arial"/>
                      </a:endParaRP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640186">
                <a:tc gridSpan="2">
                  <a:txBody>
                    <a:bodyPr/>
                    <a:lstStyle/>
                    <a:p>
                      <a:r>
                        <a:rPr lang="en-US" sz="1800" dirty="0">
                          <a:latin typeface="Arial"/>
                          <a:cs typeface="Arial"/>
                        </a:rPr>
                        <a:t>Shortage gaming (hoarding supplies for fear of a supply shortage) </a:t>
                      </a: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r>
                        <a:rPr lang="en-US" sz="1800" b="0" kern="1200" dirty="0">
                          <a:solidFill>
                            <a:schemeClr val="tx1"/>
                          </a:solidFill>
                          <a:effectLst/>
                          <a:latin typeface="Arial"/>
                          <a:ea typeface="+mn-ea"/>
                          <a:cs typeface="Arial"/>
                        </a:rPr>
                        <a:t>Allocate orders based on past demand</a:t>
                      </a:r>
                      <a:endParaRPr lang="en-US" sz="1800" dirty="0">
                        <a:latin typeface="Arial"/>
                        <a:cs typeface="Arial"/>
                      </a:endParaRPr>
                    </a:p>
                  </a:txBody>
                  <a:tcPr marT="45728" marB="45728">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45163763"/>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2/3*#ppt_w"/>
                                          </p:val>
                                        </p:tav>
                                        <p:tav tm="100000">
                                          <p:val>
                                            <p:strVal val="#ppt_w"/>
                                          </p:val>
                                        </p:tav>
                                      </p:tavLst>
                                    </p:anim>
                                    <p:anim calcmode="lin" valueType="num">
                                      <p:cBhvr>
                                        <p:cTn id="8" dur="1000" fill="hold"/>
                                        <p:tgtEl>
                                          <p:spTgt spid="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 name="Title 1"/>
          <p:cNvSpPr>
            <a:spLocks noGrp="1"/>
          </p:cNvSpPr>
          <p:nvPr>
            <p:ph type="title"/>
          </p:nvPr>
        </p:nvSpPr>
        <p:spPr/>
        <p:txBody>
          <a:bodyPr/>
          <a:lstStyle/>
          <a:p>
            <a:r>
              <a:rPr lang="en-US" dirty="0">
                <a:latin typeface="Arial" charset="0"/>
                <a:cs typeface="Arial" charset="0"/>
              </a:rPr>
              <a:t>The Bullwhip Effect Measure</a:t>
            </a:r>
          </a:p>
        </p:txBody>
      </p:sp>
      <p:graphicFrame>
        <p:nvGraphicFramePr>
          <p:cNvPr id="4" name="Object 23"/>
          <p:cNvGraphicFramePr>
            <a:graphicFrameLocks noChangeAspect="1"/>
          </p:cNvGraphicFramePr>
          <p:nvPr/>
        </p:nvGraphicFramePr>
        <p:xfrm>
          <a:off x="1377950" y="1847850"/>
          <a:ext cx="6388100" cy="1054100"/>
        </p:xfrm>
        <a:graphic>
          <a:graphicData uri="http://schemas.openxmlformats.org/presentationml/2006/ole">
            <mc:AlternateContent xmlns:mc="http://schemas.openxmlformats.org/markup-compatibility/2006">
              <mc:Choice xmlns:v="urn:schemas-microsoft-com:vml" Requires="v">
                <p:oleObj name="Equation" r:id="rId2" imgW="6372360" imgH="1042200" progId="Equation.3">
                  <p:embed/>
                </p:oleObj>
              </mc:Choice>
              <mc:Fallback>
                <p:oleObj name="Equation" r:id="rId2" imgW="6372360" imgH="1042200" progId="Equation.3">
                  <p:embed/>
                  <p:pic>
                    <p:nvPicPr>
                      <p:cNvPr id="4"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950" y="1847850"/>
                        <a:ext cx="6388100" cy="1054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5" name="TextBox 4"/>
          <p:cNvSpPr txBox="1">
            <a:spLocks noChangeArrowheads="1"/>
          </p:cNvSpPr>
          <p:nvPr/>
        </p:nvSpPr>
        <p:spPr bwMode="auto">
          <a:xfrm>
            <a:off x="1377950" y="3289300"/>
            <a:ext cx="6659696" cy="1938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2400" dirty="0"/>
              <a:t>If measure is:</a:t>
            </a:r>
          </a:p>
          <a:p>
            <a:endParaRPr lang="en-US" sz="2400" dirty="0"/>
          </a:p>
          <a:p>
            <a:r>
              <a:rPr lang="en-US" sz="2400" dirty="0"/>
              <a:t>	&gt; 1 ➔ Variance </a:t>
            </a:r>
            <a:r>
              <a:rPr lang="en-US" sz="2400" i="1" dirty="0"/>
              <a:t>amplification</a:t>
            </a:r>
            <a:r>
              <a:rPr lang="en-US" sz="2400" dirty="0"/>
              <a:t> is present</a:t>
            </a:r>
          </a:p>
          <a:p>
            <a:r>
              <a:rPr lang="en-US" sz="2400" dirty="0"/>
              <a:t>	= 1 ➔ No amplification is present</a:t>
            </a:r>
          </a:p>
          <a:p>
            <a:r>
              <a:rPr lang="en-US" sz="2400" dirty="0"/>
              <a:t>	&lt; 1 ➔ </a:t>
            </a:r>
            <a:r>
              <a:rPr lang="en-US" sz="2400" i="1" dirty="0"/>
              <a:t>Smoothing</a:t>
            </a:r>
            <a:r>
              <a:rPr lang="en-US" sz="2400" dirty="0"/>
              <a:t> or </a:t>
            </a:r>
            <a:r>
              <a:rPr lang="en-US" sz="2400" i="1" dirty="0"/>
              <a:t>dampening</a:t>
            </a:r>
            <a:r>
              <a:rPr lang="en-US" sz="2400" dirty="0"/>
              <a:t> is occurring</a:t>
            </a:r>
          </a:p>
        </p:txBody>
      </p:sp>
    </p:spTree>
    <p:extLst>
      <p:ext uri="{BB962C8B-B14F-4D97-AF65-F5344CB8AC3E}">
        <p14:creationId xmlns:p14="http://schemas.microsoft.com/office/powerpoint/2010/main" val="270405427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1000"/>
                                        <p:tgtEl>
                                          <p:spTgt spid="4"/>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fontAlgn="auto">
              <a:spcAft>
                <a:spcPts val="0"/>
              </a:spcAft>
              <a:defRPr/>
            </a:pPr>
            <a:r>
              <a:rPr lang="en-US" dirty="0">
                <a:ea typeface="+mj-ea"/>
              </a:rPr>
              <a:t>Calculating the Bullwhip Effect</a:t>
            </a:r>
          </a:p>
        </p:txBody>
      </p:sp>
      <p:sp>
        <p:nvSpPr>
          <p:cNvPr id="53250" name="Content Placeholder 2"/>
          <p:cNvSpPr>
            <a:spLocks noGrp="1"/>
          </p:cNvSpPr>
          <p:nvPr>
            <p:ph idx="1"/>
          </p:nvPr>
        </p:nvSpPr>
        <p:spPr>
          <a:xfrm>
            <a:off x="457200" y="1600200"/>
            <a:ext cx="8229600" cy="1676400"/>
          </a:xfrm>
        </p:spPr>
        <p:txBody>
          <a:bodyPr/>
          <a:lstStyle/>
          <a:p>
            <a:pPr>
              <a:buFont typeface="Arial Unicode MS" charset="0"/>
              <a:buChar char="▶"/>
            </a:pPr>
            <a:r>
              <a:rPr lang="en-US" sz="2800" dirty="0">
                <a:latin typeface="Arial" charset="0"/>
                <a:cs typeface="Arial" charset="0"/>
              </a:rPr>
              <a:t>Transform sheet steel to tabletops</a:t>
            </a:r>
          </a:p>
          <a:p>
            <a:pPr>
              <a:buFont typeface="Arial Unicode MS" charset="0"/>
              <a:buChar char="▶"/>
            </a:pPr>
            <a:r>
              <a:rPr lang="en-US" sz="2800" dirty="0">
                <a:latin typeface="Arial" charset="0"/>
                <a:cs typeface="Arial" charset="0"/>
              </a:rPr>
              <a:t>Each firm in the supply chain has one supplier and one customer</a:t>
            </a:r>
          </a:p>
          <a:p>
            <a:pPr>
              <a:buFont typeface="Arial Unicode MS" charset="0"/>
              <a:buChar char="▶"/>
            </a:pPr>
            <a:endParaRPr lang="en-US" sz="2800" dirty="0">
              <a:latin typeface="Arial" charset="0"/>
              <a:cs typeface="Arial" charset="0"/>
            </a:endParaRPr>
          </a:p>
        </p:txBody>
      </p:sp>
      <p:graphicFrame>
        <p:nvGraphicFramePr>
          <p:cNvPr id="4" name="Table 3"/>
          <p:cNvGraphicFramePr>
            <a:graphicFrameLocks noGrp="1"/>
          </p:cNvGraphicFramePr>
          <p:nvPr/>
        </p:nvGraphicFramePr>
        <p:xfrm>
          <a:off x="457200" y="3416300"/>
          <a:ext cx="8229601" cy="2433636"/>
        </p:xfrm>
        <a:graphic>
          <a:graphicData uri="http://schemas.openxmlformats.org/drawingml/2006/table">
            <a:tbl>
              <a:tblPr firstRow="1" bandRow="1">
                <a:tableStyleId>{2D5ABB26-0587-4C30-8999-92F81FD0307C}</a:tableStyleId>
              </a:tblPr>
              <a:tblGrid>
                <a:gridCol w="2984500">
                  <a:extLst>
                    <a:ext uri="{9D8B030D-6E8A-4147-A177-3AD203B41FA5}">
                      <a16:colId xmlns:a16="http://schemas.microsoft.com/office/drawing/2014/main" val="20000"/>
                    </a:ext>
                  </a:extLst>
                </a:gridCol>
                <a:gridCol w="1644650">
                  <a:extLst>
                    <a:ext uri="{9D8B030D-6E8A-4147-A177-3AD203B41FA5}">
                      <a16:colId xmlns:a16="http://schemas.microsoft.com/office/drawing/2014/main" val="20001"/>
                    </a:ext>
                  </a:extLst>
                </a:gridCol>
                <a:gridCol w="1644650">
                  <a:extLst>
                    <a:ext uri="{9D8B030D-6E8A-4147-A177-3AD203B41FA5}">
                      <a16:colId xmlns:a16="http://schemas.microsoft.com/office/drawing/2014/main" val="20002"/>
                    </a:ext>
                  </a:extLst>
                </a:gridCol>
                <a:gridCol w="1955801">
                  <a:extLst>
                    <a:ext uri="{9D8B030D-6E8A-4147-A177-3AD203B41FA5}">
                      <a16:colId xmlns:a16="http://schemas.microsoft.com/office/drawing/2014/main" val="20003"/>
                    </a:ext>
                  </a:extLst>
                </a:gridCol>
              </a:tblGrid>
              <a:tr h="579196">
                <a:tc>
                  <a:txBody>
                    <a:bodyPr/>
                    <a:lstStyle/>
                    <a:p>
                      <a:r>
                        <a:rPr lang="en-US" sz="1600" b="1" dirty="0">
                          <a:solidFill>
                            <a:srgbClr val="FFFFFF"/>
                          </a:solidFill>
                          <a:latin typeface="Arial"/>
                          <a:cs typeface="Arial"/>
                        </a:rPr>
                        <a:t>FIRM</a:t>
                      </a:r>
                    </a:p>
                  </a:txBody>
                  <a:tcPr marT="45726" marB="45726"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a:txBody>
                    <a:bodyPr/>
                    <a:lstStyle/>
                    <a:p>
                      <a:pPr algn="ctr"/>
                      <a:r>
                        <a:rPr lang="en-US" sz="1600" b="1" dirty="0">
                          <a:solidFill>
                            <a:srgbClr val="FFFFFF"/>
                          </a:solidFill>
                          <a:latin typeface="Arial"/>
                          <a:cs typeface="Arial"/>
                        </a:rPr>
                        <a:t>VARIANCE OF DEMAND</a:t>
                      </a:r>
                    </a:p>
                  </a:txBody>
                  <a:tcPr marT="45726" marB="45726"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a:txBody>
                    <a:bodyPr/>
                    <a:lstStyle/>
                    <a:p>
                      <a:pPr algn="ctr"/>
                      <a:r>
                        <a:rPr lang="en-US" sz="1600" b="1" dirty="0">
                          <a:solidFill>
                            <a:srgbClr val="FFFFFF"/>
                          </a:solidFill>
                          <a:latin typeface="Arial"/>
                          <a:cs typeface="Arial"/>
                        </a:rPr>
                        <a:t>VARIANCE OF ORDERS</a:t>
                      </a:r>
                    </a:p>
                  </a:txBody>
                  <a:tcPr marT="45726" marB="45726"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tc>
                  <a:txBody>
                    <a:bodyPr/>
                    <a:lstStyle/>
                    <a:p>
                      <a:pPr algn="ctr"/>
                      <a:r>
                        <a:rPr lang="en-US" sz="1600" b="1" dirty="0">
                          <a:solidFill>
                            <a:srgbClr val="FFFFFF"/>
                          </a:solidFill>
                          <a:latin typeface="Arial"/>
                          <a:cs typeface="Arial"/>
                        </a:rPr>
                        <a:t>BULLWHIP MEASURE</a:t>
                      </a:r>
                    </a:p>
                  </a:txBody>
                  <a:tcPr marT="45726" marB="45726"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rgbClr val="D33320"/>
                    </a:solidFill>
                  </a:tcPr>
                </a:tc>
                <a:extLst>
                  <a:ext uri="{0D108BD9-81ED-4DB2-BD59-A6C34878D82A}">
                    <a16:rowId xmlns:a16="http://schemas.microsoft.com/office/drawing/2014/main" val="10000"/>
                  </a:ext>
                </a:extLst>
              </a:tr>
              <a:tr h="370888">
                <a:tc>
                  <a:txBody>
                    <a:bodyPr/>
                    <a:lstStyle/>
                    <a:p>
                      <a:r>
                        <a:rPr lang="en-US" sz="1600" dirty="0">
                          <a:latin typeface="Arial"/>
                          <a:cs typeface="Arial"/>
                        </a:rPr>
                        <a:t>Furniture Mart, Inc.</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100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110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tabLst>
                          <a:tab pos="1612900" algn="r"/>
                        </a:tabLst>
                      </a:pPr>
                      <a:r>
                        <a:rPr lang="en-US" sz="1600" dirty="0">
                          <a:latin typeface="Arial"/>
                          <a:cs typeface="Arial"/>
                        </a:rPr>
                        <a:t>	110/100 = 1.10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1"/>
                  </a:ext>
                </a:extLst>
              </a:tr>
              <a:tr h="370888">
                <a:tc>
                  <a:txBody>
                    <a:bodyPr/>
                    <a:lstStyle/>
                    <a:p>
                      <a:r>
                        <a:rPr lang="en-US" sz="1600" dirty="0">
                          <a:latin typeface="Arial"/>
                          <a:cs typeface="Arial"/>
                        </a:rPr>
                        <a:t>Furniture Distributors, Inc.</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110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180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tabLst>
                          <a:tab pos="1612900" algn="r"/>
                        </a:tabLst>
                      </a:pPr>
                      <a:r>
                        <a:rPr lang="en-US" sz="1600" dirty="0">
                          <a:latin typeface="Arial"/>
                          <a:cs typeface="Arial"/>
                        </a:rPr>
                        <a:t>	180/110 = 1.64</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370888">
                <a:tc>
                  <a:txBody>
                    <a:bodyPr/>
                    <a:lstStyle/>
                    <a:p>
                      <a:r>
                        <a:rPr lang="en-US" sz="1600" dirty="0">
                          <a:latin typeface="Arial"/>
                          <a:cs typeface="Arial"/>
                        </a:rPr>
                        <a:t>Furniture Makers of America</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180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300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tabLst>
                          <a:tab pos="1612900" algn="r"/>
                        </a:tabLst>
                      </a:pPr>
                      <a:r>
                        <a:rPr lang="en-US" sz="1600" dirty="0">
                          <a:latin typeface="Arial"/>
                          <a:cs typeface="Arial"/>
                        </a:rPr>
                        <a:t>	300/180 = 1.67</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370888">
                <a:tc>
                  <a:txBody>
                    <a:bodyPr/>
                    <a:lstStyle/>
                    <a:p>
                      <a:r>
                        <a:rPr lang="en-US" sz="1600" dirty="0">
                          <a:latin typeface="Arial"/>
                          <a:cs typeface="Arial"/>
                        </a:rPr>
                        <a:t>Chieh Lee Metals, Inc.</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300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990600" algn="r"/>
                        </a:tabLst>
                      </a:pPr>
                      <a:r>
                        <a:rPr lang="en-US" sz="1600" dirty="0">
                          <a:latin typeface="Arial"/>
                          <a:cs typeface="Arial"/>
                        </a:rPr>
                        <a:t>	750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tabLst>
                          <a:tab pos="1612900" algn="r"/>
                        </a:tabLst>
                      </a:pPr>
                      <a:r>
                        <a:rPr lang="en-US" sz="1600" dirty="0">
                          <a:latin typeface="Arial"/>
                          <a:cs typeface="Arial"/>
                        </a:rPr>
                        <a:t>	750/300 = 2.50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r h="370888">
                <a:tc>
                  <a:txBody>
                    <a:bodyPr/>
                    <a:lstStyle/>
                    <a:p>
                      <a:r>
                        <a:rPr lang="en-US" sz="1600" dirty="0">
                          <a:latin typeface="Arial"/>
                          <a:cs typeface="Arial"/>
                        </a:rPr>
                        <a:t>Metal Suppliers Ltd.</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tabLst>
                          <a:tab pos="990600" algn="r"/>
                        </a:tabLst>
                      </a:pPr>
                      <a:r>
                        <a:rPr lang="en-US" sz="1600" dirty="0">
                          <a:latin typeface="Arial"/>
                          <a:cs typeface="Arial"/>
                        </a:rPr>
                        <a:t>	750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tabLst>
                          <a:tab pos="990600" algn="r"/>
                        </a:tabLst>
                      </a:pPr>
                      <a:r>
                        <a:rPr lang="en-US" sz="1600" dirty="0">
                          <a:latin typeface="Arial"/>
                          <a:cs typeface="Arial"/>
                        </a:rPr>
                        <a:t>	2000</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tabLst>
                          <a:tab pos="1612900" algn="r"/>
                        </a:tabLst>
                      </a:pPr>
                      <a:r>
                        <a:rPr lang="en-US" sz="1600" dirty="0">
                          <a:latin typeface="Arial"/>
                          <a:cs typeface="Arial"/>
                        </a:rPr>
                        <a:t>	2000/750 = 2.67</a:t>
                      </a:r>
                    </a:p>
                  </a:txBody>
                  <a:tcPr marT="45726" marB="45726">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6" name="Group 5"/>
          <p:cNvGrpSpPr/>
          <p:nvPr/>
        </p:nvGrpSpPr>
        <p:grpSpPr>
          <a:xfrm>
            <a:off x="4559300" y="4203700"/>
            <a:ext cx="1231900" cy="1473200"/>
            <a:chOff x="4559300" y="4203700"/>
            <a:chExt cx="1231900" cy="1473200"/>
          </a:xfrm>
        </p:grpSpPr>
        <p:cxnSp>
          <p:nvCxnSpPr>
            <p:cNvPr id="5" name="Straight Arrow Connector 4"/>
            <p:cNvCxnSpPr/>
            <p:nvPr/>
          </p:nvCxnSpPr>
          <p:spPr>
            <a:xfrm flipH="1">
              <a:off x="4559300" y="4203700"/>
              <a:ext cx="1231900" cy="355600"/>
            </a:xfrm>
            <a:prstGeom prst="straightConnector1">
              <a:avLst/>
            </a:prstGeom>
            <a:ln w="317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H="1">
              <a:off x="4559300" y="4576233"/>
              <a:ext cx="1231900" cy="355600"/>
            </a:xfrm>
            <a:prstGeom prst="straightConnector1">
              <a:avLst/>
            </a:prstGeom>
            <a:ln w="317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H="1">
              <a:off x="4559300" y="4948766"/>
              <a:ext cx="1231900" cy="355600"/>
            </a:xfrm>
            <a:prstGeom prst="straightConnector1">
              <a:avLst/>
            </a:prstGeom>
            <a:ln w="317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4559300" y="5321300"/>
              <a:ext cx="1231900" cy="355600"/>
            </a:xfrm>
            <a:prstGeom prst="straightConnector1">
              <a:avLst/>
            </a:prstGeom>
            <a:ln w="317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6972960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2/3*#ppt_w"/>
                                          </p:val>
                                        </p:tav>
                                        <p:tav tm="100000">
                                          <p:val>
                                            <p:strVal val="#ppt_w"/>
                                          </p:val>
                                        </p:tav>
                                      </p:tavLst>
                                    </p:anim>
                                    <p:anim calcmode="lin" valueType="num">
                                      <p:cBhvr>
                                        <p:cTn id="8" dur="1000" fill="hold"/>
                                        <p:tgtEl>
                                          <p:spTgt spid="4"/>
                                        </p:tgtEl>
                                        <p:attrNameLst>
                                          <p:attrName>ppt_h</p:attrName>
                                        </p:attrNameLst>
                                      </p:cBhvr>
                                      <p:tavLst>
                                        <p:tav tm="0">
                                          <p:val>
                                            <p:strVal val="2/3*#ppt_h"/>
                                          </p:val>
                                        </p:tav>
                                        <p:tav tm="100000">
                                          <p:val>
                                            <p:strVal val="#ppt_h"/>
                                          </p:val>
                                        </p:tav>
                                      </p:tavLst>
                                    </p:anim>
                                  </p:childTnLst>
                                </p:cTn>
                              </p:par>
                            </p:childTnLst>
                          </p:cTn>
                        </p:par>
                        <p:par>
                          <p:cTn id="9" fill="hold">
                            <p:stCondLst>
                              <p:cond delay="2000"/>
                            </p:stCondLst>
                            <p:childTnLst>
                              <p:par>
                                <p:cTn id="10" presetID="18" presetClass="entr" presetSubtype="12"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Left)">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almart rfid.tif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700" y="1839913"/>
            <a:ext cx="8640763" cy="3916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2162" name="Rectangle 2"/>
          <p:cNvSpPr>
            <a:spLocks noGrp="1" noChangeArrowheads="1"/>
          </p:cNvSpPr>
          <p:nvPr>
            <p:ph type="title"/>
          </p:nvPr>
        </p:nvSpPr>
        <p:spPr>
          <a:xfrm>
            <a:off x="723899" y="523875"/>
            <a:ext cx="7903523" cy="965200"/>
          </a:xfrm>
        </p:spPr>
        <p:txBody>
          <a:bodyPr rtlCol="0">
            <a:noAutofit/>
          </a:bodyPr>
          <a:lstStyle/>
          <a:p>
            <a:pPr fontAlgn="auto">
              <a:spcAft>
                <a:spcPts val="0"/>
              </a:spcAft>
              <a:defRPr/>
            </a:pPr>
            <a:r>
              <a:rPr lang="en-US" dirty="0">
                <a:ea typeface="+mj-ea"/>
              </a:rPr>
              <a:t>RFID Helps Control Bullwhip</a:t>
            </a:r>
          </a:p>
        </p:txBody>
      </p:sp>
    </p:spTree>
    <p:extLst>
      <p:ext uri="{BB962C8B-B14F-4D97-AF65-F5344CB8AC3E}">
        <p14:creationId xmlns:p14="http://schemas.microsoft.com/office/powerpoint/2010/main" val="18911948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2/3*#ppt_w"/>
                                          </p:val>
                                        </p:tav>
                                        <p:tav tm="100000">
                                          <p:val>
                                            <p:strVal val="#ppt_w"/>
                                          </p:val>
                                        </p:tav>
                                      </p:tavLst>
                                    </p:anim>
                                    <p:anim calcmode="lin" valueType="num">
                                      <p:cBhvr>
                                        <p:cTn id="8"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6721-B6D1-FCED-0BD0-87D4482AFC82}"/>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BF7A35E-BE27-6B32-844E-9EEAD8F99EF9}"/>
              </a:ext>
            </a:extLst>
          </p:cNvPr>
          <p:cNvSpPr>
            <a:spLocks noGrp="1"/>
          </p:cNvSpPr>
          <p:nvPr>
            <p:ph idx="1"/>
          </p:nvPr>
        </p:nvSpPr>
        <p:spPr/>
        <p:txBody>
          <a:bodyPr/>
          <a:lstStyle/>
          <a:p>
            <a:r>
              <a:rPr lang="en-US" dirty="0"/>
              <a:t>The bullwhip effect can have serious consequences for businesses, including financial losses, operational inefficiencies, and strained relationships with partners. However, by implementing strategies to improve communication, collaboration, and demand forecasting, companies can minimize the impact of the bullwhip effect and create more stable and profitable supply chains.</a:t>
            </a:r>
          </a:p>
        </p:txBody>
      </p:sp>
    </p:spTree>
    <p:extLst>
      <p:ext uri="{BB962C8B-B14F-4D97-AF65-F5344CB8AC3E}">
        <p14:creationId xmlns:p14="http://schemas.microsoft.com/office/powerpoint/2010/main" val="3481656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8F07A-F9E7-477B-A3BF-88BD9D05A757}"/>
              </a:ext>
            </a:extLst>
          </p:cNvPr>
          <p:cNvSpPr>
            <a:spLocks noGrp="1"/>
          </p:cNvSpPr>
          <p:nvPr>
            <p:ph type="title"/>
          </p:nvPr>
        </p:nvSpPr>
        <p:spPr/>
        <p:txBody>
          <a:bodyPr/>
          <a:lstStyle/>
          <a:p>
            <a:r>
              <a:rPr lang="en-US" dirty="0"/>
              <a:t>Supply Chain </a:t>
            </a:r>
            <a:r>
              <a:rPr lang="en-US" dirty="0" err="1"/>
              <a:t>COntracting</a:t>
            </a:r>
            <a:endParaRPr lang="en-US" dirty="0"/>
          </a:p>
        </p:txBody>
      </p:sp>
      <p:sp>
        <p:nvSpPr>
          <p:cNvPr id="3" name="Text Placeholder 2">
            <a:extLst>
              <a:ext uri="{FF2B5EF4-FFF2-40B4-BE49-F238E27FC236}">
                <a16:creationId xmlns:a16="http://schemas.microsoft.com/office/drawing/2014/main" id="{6F36063A-4C87-4613-9726-ABC40E4E57F1}"/>
              </a:ext>
            </a:extLst>
          </p:cNvPr>
          <p:cNvSpPr>
            <a:spLocks noGrp="1"/>
          </p:cNvSpPr>
          <p:nvPr>
            <p:ph type="body" idx="1"/>
          </p:nvPr>
        </p:nvSpPr>
        <p:spPr/>
        <p:txBody>
          <a:bodyPr/>
          <a:lstStyle/>
          <a:p>
            <a:r>
              <a:rPr lang="en-US" dirty="0"/>
              <a:t>Double Marginalization</a:t>
            </a:r>
          </a:p>
        </p:txBody>
      </p:sp>
    </p:spTree>
    <p:extLst>
      <p:ext uri="{BB962C8B-B14F-4D97-AF65-F5344CB8AC3E}">
        <p14:creationId xmlns:p14="http://schemas.microsoft.com/office/powerpoint/2010/main" val="3106390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78F1D-122D-4A65-BCD9-B083B0B63B41}"/>
              </a:ext>
            </a:extLst>
          </p:cNvPr>
          <p:cNvSpPr>
            <a:spLocks noGrp="1"/>
          </p:cNvSpPr>
          <p:nvPr>
            <p:ph type="title"/>
          </p:nvPr>
        </p:nvSpPr>
        <p:spPr/>
        <p:txBody>
          <a:bodyPr/>
          <a:lstStyle/>
          <a:p>
            <a:r>
              <a:rPr lang="en-US" dirty="0"/>
              <a:t>One-to-One Supply Chain Example</a:t>
            </a:r>
          </a:p>
        </p:txBody>
      </p:sp>
      <p:sp>
        <p:nvSpPr>
          <p:cNvPr id="3" name="Content Placeholder 2">
            <a:extLst>
              <a:ext uri="{FF2B5EF4-FFF2-40B4-BE49-F238E27FC236}">
                <a16:creationId xmlns:a16="http://schemas.microsoft.com/office/drawing/2014/main" id="{F243795E-98A1-4D98-97A8-E358EF3C9A65}"/>
              </a:ext>
            </a:extLst>
          </p:cNvPr>
          <p:cNvSpPr>
            <a:spLocks noGrp="1"/>
          </p:cNvSpPr>
          <p:nvPr>
            <p:ph idx="1"/>
          </p:nvPr>
        </p:nvSpPr>
        <p:spPr/>
        <p:txBody>
          <a:bodyPr/>
          <a:lstStyle/>
          <a:p>
            <a:r>
              <a:rPr lang="en-US" dirty="0"/>
              <a:t>Demand is 60 with probability of ½ and 120 with probability ½</a:t>
            </a:r>
          </a:p>
          <a:p>
            <a:r>
              <a:rPr lang="en-US" dirty="0"/>
              <a:t>Retail price = p</a:t>
            </a:r>
          </a:p>
          <a:p>
            <a:r>
              <a:rPr lang="en-US" dirty="0"/>
              <a:t>Wholesale price = w</a:t>
            </a:r>
          </a:p>
          <a:p>
            <a:r>
              <a:rPr lang="en-US" dirty="0"/>
              <a:t>Production cost </a:t>
            </a:r>
            <a:r>
              <a:rPr lang="en-US"/>
              <a:t>= c</a:t>
            </a:r>
            <a:endParaRPr lang="en-US" dirty="0"/>
          </a:p>
          <a:p>
            <a:r>
              <a:rPr lang="en-US" dirty="0"/>
              <a:t>Suppose p=32,c=15,w=18</a:t>
            </a:r>
          </a:p>
        </p:txBody>
      </p:sp>
    </p:spTree>
    <p:extLst>
      <p:ext uri="{BB962C8B-B14F-4D97-AF65-F5344CB8AC3E}">
        <p14:creationId xmlns:p14="http://schemas.microsoft.com/office/powerpoint/2010/main" val="2325022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4B1D7-39F3-405D-9AC4-013427C515C7}"/>
              </a:ext>
            </a:extLst>
          </p:cNvPr>
          <p:cNvSpPr>
            <a:spLocks noGrp="1"/>
          </p:cNvSpPr>
          <p:nvPr>
            <p:ph type="title"/>
          </p:nvPr>
        </p:nvSpPr>
        <p:spPr/>
        <p:txBody>
          <a:bodyPr/>
          <a:lstStyle/>
          <a:p>
            <a:r>
              <a:rPr lang="en-US" dirty="0"/>
              <a:t>Wholesale Contract</a:t>
            </a:r>
          </a:p>
        </p:txBody>
      </p:sp>
      <p:sp>
        <p:nvSpPr>
          <p:cNvPr id="3" name="Content Placeholder 2">
            <a:extLst>
              <a:ext uri="{FF2B5EF4-FFF2-40B4-BE49-F238E27FC236}">
                <a16:creationId xmlns:a16="http://schemas.microsoft.com/office/drawing/2014/main" id="{7FC6491C-C161-46AB-BA80-F1198B4DB12D}"/>
              </a:ext>
            </a:extLst>
          </p:cNvPr>
          <p:cNvSpPr>
            <a:spLocks noGrp="1"/>
          </p:cNvSpPr>
          <p:nvPr>
            <p:ph idx="1"/>
          </p:nvPr>
        </p:nvSpPr>
        <p:spPr/>
        <p:txBody>
          <a:bodyPr/>
          <a:lstStyle/>
          <a:p>
            <a:r>
              <a:rPr lang="en-US" dirty="0"/>
              <a:t>Supplier charges the retailer a unit price of w</a:t>
            </a:r>
          </a:p>
          <a:p>
            <a:r>
              <a:rPr lang="en-US" dirty="0"/>
              <a:t>Supplier pays a unit of c produce the product</a:t>
            </a:r>
          </a:p>
        </p:txBody>
      </p:sp>
    </p:spTree>
    <p:extLst>
      <p:ext uri="{BB962C8B-B14F-4D97-AF65-F5344CB8AC3E}">
        <p14:creationId xmlns:p14="http://schemas.microsoft.com/office/powerpoint/2010/main" val="37503887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9A15-334F-4B43-A982-011C6DCD0644}"/>
              </a:ext>
            </a:extLst>
          </p:cNvPr>
          <p:cNvSpPr>
            <a:spLocks noGrp="1"/>
          </p:cNvSpPr>
          <p:nvPr>
            <p:ph type="title"/>
          </p:nvPr>
        </p:nvSpPr>
        <p:spPr/>
        <p:txBody>
          <a:bodyPr/>
          <a:lstStyle/>
          <a:p>
            <a:r>
              <a:rPr lang="en-US" dirty="0"/>
              <a:t>Retailer’s Profit with Wholesale Contract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8E3462-5346-4E88-A5F2-6236C1C020EE}"/>
                  </a:ext>
                </a:extLst>
              </p:cNvPr>
              <p:cNvSpPr>
                <a:spLocks noGrp="1"/>
              </p:cNvSpPr>
              <p:nvPr>
                <p:ph idx="1"/>
              </p:nvPr>
            </p:nvSpPr>
            <p:spPr/>
            <p:txBody>
              <a:bodyPr/>
              <a:lstStyle/>
              <a:p>
                <a:r>
                  <a:rPr lang="en-US" dirty="0"/>
                  <a:t>Retailer’s Payoff</a:t>
                </a:r>
              </a:p>
              <a:p>
                <a14:m>
                  <m:oMath xmlns:m="http://schemas.openxmlformats.org/officeDocument/2006/math">
                    <m:r>
                      <m:rPr>
                        <m:nor/>
                      </m:rPr>
                      <a:rPr lang="en-US"/>
                      <m:t>Maximize</m:t>
                    </m:r>
                    <m:r>
                      <m:rPr>
                        <m:nor/>
                      </m:rPr>
                      <a:rPr lang="en-US"/>
                      <m:t>[1/2 </m:t>
                    </m:r>
                    <m:r>
                      <m:rPr>
                        <m:nor/>
                      </m:rPr>
                      <a:rPr lang="en-US"/>
                      <m:t>p</m:t>
                    </m:r>
                    <m:r>
                      <m:rPr>
                        <m:nor/>
                      </m:rPr>
                      <a:rPr lang="en-US"/>
                      <m:t> </m:t>
                    </m:r>
                    <m:r>
                      <m:rPr>
                        <m:nor/>
                      </m:rPr>
                      <a:rPr lang="en-US"/>
                      <m:t>Min</m:t>
                    </m:r>
                    <m:r>
                      <m:rPr>
                        <m:nor/>
                      </m:rPr>
                      <a:rPr lang="en-US"/>
                      <m:t>[120, </m:t>
                    </m:r>
                    <m:r>
                      <m:rPr>
                        <m:nor/>
                      </m:rPr>
                      <a:rPr lang="en-US"/>
                      <m:t>q</m:t>
                    </m:r>
                    <m:r>
                      <m:rPr>
                        <m:nor/>
                      </m:rPr>
                      <a:rPr lang="en-US"/>
                      <m:t>]+1/2 </m:t>
                    </m:r>
                    <m:r>
                      <m:rPr>
                        <m:nor/>
                      </m:rPr>
                      <a:rPr lang="en-US"/>
                      <m:t>p</m:t>
                    </m:r>
                    <m:r>
                      <m:rPr>
                        <m:nor/>
                      </m:rPr>
                      <a:rPr lang="en-US"/>
                      <m:t> </m:t>
                    </m:r>
                    <m:r>
                      <m:rPr>
                        <m:nor/>
                      </m:rPr>
                      <a:rPr lang="en-US"/>
                      <m:t>Min</m:t>
                    </m:r>
                    <m:r>
                      <m:rPr>
                        <m:nor/>
                      </m:rPr>
                      <a:rPr lang="en-US"/>
                      <m:t>[60, </m:t>
                    </m:r>
                    <m:r>
                      <m:rPr>
                        <m:nor/>
                      </m:rPr>
                      <a:rPr lang="en-US"/>
                      <m:t>q</m:t>
                    </m:r>
                    <m:r>
                      <m:rPr>
                        <m:nor/>
                      </m:rPr>
                      <a:rPr lang="en-US"/>
                      <m:t>]−</m:t>
                    </m:r>
                    <m:r>
                      <m:rPr>
                        <m:nor/>
                      </m:rPr>
                      <a:rPr lang="en-US"/>
                      <m:t>w</m:t>
                    </m:r>
                    <m:r>
                      <m:rPr>
                        <m:nor/>
                      </m:rPr>
                      <a:rPr lang="en-US"/>
                      <m:t> </m:t>
                    </m:r>
                    <m:r>
                      <m:rPr>
                        <m:nor/>
                      </m:rPr>
                      <a:rPr lang="en-US"/>
                      <m:t>q</m:t>
                    </m:r>
                    <m:r>
                      <m:rPr>
                        <m:nor/>
                      </m:rPr>
                      <a:rPr lang="en-US"/>
                      <m:t>,</m:t>
                    </m:r>
                    <m:r>
                      <m:rPr>
                        <m:nor/>
                      </m:rPr>
                      <a:rPr lang="en-US"/>
                      <m:t>q</m:t>
                    </m:r>
                    <m:r>
                      <m:rPr>
                        <m:nor/>
                      </m:rPr>
                      <a:rPr lang="en-US"/>
                      <m:t>]</m:t>
                    </m:r>
                  </m:oMath>
                </a14:m>
                <a:endParaRPr lang="en-US" dirty="0"/>
              </a:p>
              <a:p>
                <a:r>
                  <a:rPr lang="en-US" dirty="0"/>
                  <a:t>Optimal quantity = 60 units</a:t>
                </a:r>
              </a:p>
              <a:p>
                <a:r>
                  <a:rPr lang="en-US"/>
                  <a:t>Retailer </a:t>
                </a:r>
                <a:r>
                  <a:rPr lang="en-US" dirty="0"/>
                  <a:t>Profit = 840 dollars</a:t>
                </a:r>
              </a:p>
            </p:txBody>
          </p:sp>
        </mc:Choice>
        <mc:Fallback xmlns="">
          <p:sp>
            <p:nvSpPr>
              <p:cNvPr id="3" name="Content Placeholder 2">
                <a:extLst>
                  <a:ext uri="{FF2B5EF4-FFF2-40B4-BE49-F238E27FC236}">
                    <a16:creationId xmlns:a16="http://schemas.microsoft.com/office/drawing/2014/main" id="{DE8E3462-5346-4E88-A5F2-6236C1C020EE}"/>
                  </a:ext>
                </a:extLst>
              </p:cNvPr>
              <p:cNvSpPr>
                <a:spLocks noGrp="1" noRot="1" noChangeAspect="1" noMove="1" noResize="1" noEditPoints="1" noAdjustHandles="1" noChangeArrowheads="1" noChangeShapeType="1" noTextEdit="1"/>
              </p:cNvSpPr>
              <p:nvPr>
                <p:ph idx="1"/>
              </p:nvPr>
            </p:nvSpPr>
            <p:spPr>
              <a:blipFill>
                <a:blip r:embed="rId2"/>
                <a:stretch>
                  <a:fillRect l="-1852" t="-2830"/>
                </a:stretch>
              </a:blipFill>
            </p:spPr>
            <p:txBody>
              <a:bodyPr/>
              <a:lstStyle/>
              <a:p>
                <a:r>
                  <a:rPr lang="en-US">
                    <a:noFill/>
                  </a:rPr>
                  <a:t> </a:t>
                </a:r>
              </a:p>
            </p:txBody>
          </p:sp>
        </mc:Fallback>
      </mc:AlternateContent>
    </p:spTree>
    <p:extLst>
      <p:ext uri="{BB962C8B-B14F-4D97-AF65-F5344CB8AC3E}">
        <p14:creationId xmlns:p14="http://schemas.microsoft.com/office/powerpoint/2010/main" val="25194493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9A15-334F-4B43-A982-011C6DCD0644}"/>
              </a:ext>
            </a:extLst>
          </p:cNvPr>
          <p:cNvSpPr>
            <a:spLocks noGrp="1"/>
          </p:cNvSpPr>
          <p:nvPr>
            <p:ph type="title"/>
          </p:nvPr>
        </p:nvSpPr>
        <p:spPr/>
        <p:txBody>
          <a:bodyPr/>
          <a:lstStyle/>
          <a:p>
            <a:r>
              <a:rPr lang="en-US" dirty="0"/>
              <a:t>Supplier’s Profit with Wholesale Contract</a:t>
            </a:r>
          </a:p>
        </p:txBody>
      </p:sp>
      <p:sp>
        <p:nvSpPr>
          <p:cNvPr id="3" name="Content Placeholder 2">
            <a:extLst>
              <a:ext uri="{FF2B5EF4-FFF2-40B4-BE49-F238E27FC236}">
                <a16:creationId xmlns:a16="http://schemas.microsoft.com/office/drawing/2014/main" id="{DE8E3462-5346-4E88-A5F2-6236C1C020EE}"/>
              </a:ext>
            </a:extLst>
          </p:cNvPr>
          <p:cNvSpPr>
            <a:spLocks noGrp="1"/>
          </p:cNvSpPr>
          <p:nvPr>
            <p:ph idx="1"/>
          </p:nvPr>
        </p:nvSpPr>
        <p:spPr/>
        <p:txBody>
          <a:bodyPr/>
          <a:lstStyle/>
          <a:p>
            <a:r>
              <a:rPr lang="en-US" dirty="0"/>
              <a:t>Supplier’s Payoff</a:t>
            </a:r>
          </a:p>
          <a:p>
            <a:r>
              <a:rPr lang="en-US" dirty="0"/>
              <a:t>q(w-c)=60(18-15)=180</a:t>
            </a:r>
          </a:p>
          <a:p>
            <a:r>
              <a:rPr lang="en-US" dirty="0"/>
              <a:t>Optimal quantity = 60 units</a:t>
            </a:r>
          </a:p>
          <a:p>
            <a:r>
              <a:rPr lang="en-US" dirty="0"/>
              <a:t>Supplier Profit = 180 dollars</a:t>
            </a:r>
          </a:p>
          <a:p>
            <a:r>
              <a:rPr lang="en-US" dirty="0"/>
              <a:t>Total supply chain profit: 840+180=1020</a:t>
            </a:r>
          </a:p>
        </p:txBody>
      </p:sp>
    </p:spTree>
    <p:extLst>
      <p:ext uri="{BB962C8B-B14F-4D97-AF65-F5344CB8AC3E}">
        <p14:creationId xmlns:p14="http://schemas.microsoft.com/office/powerpoint/2010/main" val="18826452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33FF6-9B5F-4AE6-B73B-B79300202D09}"/>
              </a:ext>
            </a:extLst>
          </p:cNvPr>
          <p:cNvSpPr>
            <a:spLocks noGrp="1"/>
          </p:cNvSpPr>
          <p:nvPr>
            <p:ph type="title"/>
          </p:nvPr>
        </p:nvSpPr>
        <p:spPr/>
        <p:txBody>
          <a:bodyPr/>
          <a:lstStyle/>
          <a:p>
            <a:r>
              <a:rPr lang="en-US" dirty="0"/>
              <a:t>Vertical Integration</a:t>
            </a:r>
          </a:p>
        </p:txBody>
      </p:sp>
      <p:sp>
        <p:nvSpPr>
          <p:cNvPr id="3" name="Content Placeholder 2">
            <a:extLst>
              <a:ext uri="{FF2B5EF4-FFF2-40B4-BE49-F238E27FC236}">
                <a16:creationId xmlns:a16="http://schemas.microsoft.com/office/drawing/2014/main" id="{7920E5D1-3640-4F1C-9383-AF24B602D1EF}"/>
              </a:ext>
            </a:extLst>
          </p:cNvPr>
          <p:cNvSpPr>
            <a:spLocks noGrp="1"/>
          </p:cNvSpPr>
          <p:nvPr>
            <p:ph idx="1"/>
          </p:nvPr>
        </p:nvSpPr>
        <p:spPr/>
        <p:txBody>
          <a:bodyPr/>
          <a:lstStyle/>
          <a:p>
            <a:r>
              <a:rPr lang="en-US" dirty="0"/>
              <a:t> Maximize[1/2 p Min[120, q]+1/2 p Min[60, q]-c </a:t>
            </a:r>
            <a:r>
              <a:rPr lang="en-US" dirty="0" err="1"/>
              <a:t>q,q</a:t>
            </a:r>
            <a:r>
              <a:rPr lang="en-US" dirty="0"/>
              <a:t>]</a:t>
            </a:r>
          </a:p>
          <a:p>
            <a:r>
              <a:rPr lang="en-US" dirty="0"/>
              <a:t>Optimal quantity = 120 units</a:t>
            </a:r>
          </a:p>
          <a:p>
            <a:r>
              <a:rPr lang="en-US" dirty="0"/>
              <a:t>Total supply chain profit = 1080 dollars&gt;1020 dollars in the decentralized case</a:t>
            </a:r>
          </a:p>
        </p:txBody>
      </p:sp>
    </p:spTree>
    <p:extLst>
      <p:ext uri="{BB962C8B-B14F-4D97-AF65-F5344CB8AC3E}">
        <p14:creationId xmlns:p14="http://schemas.microsoft.com/office/powerpoint/2010/main" val="42111851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DAE53-A1E1-4055-8806-38AB0E12B5A9}"/>
              </a:ext>
            </a:extLst>
          </p:cNvPr>
          <p:cNvSpPr>
            <a:spLocks noGrp="1"/>
          </p:cNvSpPr>
          <p:nvPr>
            <p:ph type="title"/>
          </p:nvPr>
        </p:nvSpPr>
        <p:spPr/>
        <p:txBody>
          <a:bodyPr/>
          <a:lstStyle/>
          <a:p>
            <a:r>
              <a:rPr lang="en-US" dirty="0"/>
              <a:t>Two-Part Tariff Contract</a:t>
            </a:r>
          </a:p>
        </p:txBody>
      </p:sp>
      <p:sp>
        <p:nvSpPr>
          <p:cNvPr id="3" name="Content Placeholder 2">
            <a:extLst>
              <a:ext uri="{FF2B5EF4-FFF2-40B4-BE49-F238E27FC236}">
                <a16:creationId xmlns:a16="http://schemas.microsoft.com/office/drawing/2014/main" id="{6710863F-701A-4299-BCAD-7FB838753CF9}"/>
              </a:ext>
            </a:extLst>
          </p:cNvPr>
          <p:cNvSpPr>
            <a:spLocks noGrp="1"/>
          </p:cNvSpPr>
          <p:nvPr>
            <p:ph idx="1"/>
          </p:nvPr>
        </p:nvSpPr>
        <p:spPr/>
        <p:txBody>
          <a:bodyPr/>
          <a:lstStyle/>
          <a:p>
            <a:r>
              <a:rPr lang="en-US" dirty="0"/>
              <a:t>Suppose the supplier agrees to sell at cost, i.e., w=15 </a:t>
            </a:r>
            <a:r>
              <a:rPr lang="en-US" i="1" dirty="0"/>
              <a:t>plus</a:t>
            </a:r>
            <a:r>
              <a:rPr lang="en-US" dirty="0"/>
              <a:t> a fixed fee of 180 dollars</a:t>
            </a:r>
          </a:p>
          <a:p>
            <a:r>
              <a:rPr lang="en-US" dirty="0"/>
              <a:t>180=fixed tariff; 15=floating tariff</a:t>
            </a:r>
          </a:p>
          <a:p>
            <a:r>
              <a:rPr lang="en-US" dirty="0"/>
              <a:t>Optimal quantity = 120 units (why?)</a:t>
            </a:r>
          </a:p>
          <a:p>
            <a:r>
              <a:rPr lang="en-US" dirty="0"/>
              <a:t>Supplier’s payoff=180 (why?)</a:t>
            </a:r>
          </a:p>
          <a:p>
            <a:r>
              <a:rPr lang="en-US" dirty="0"/>
              <a:t>Retailer’s profit = 1080-180=900 dollars &gt; 840 dollars, which what the retailer made in the decentralized case</a:t>
            </a:r>
          </a:p>
        </p:txBody>
      </p:sp>
    </p:spTree>
    <p:extLst>
      <p:ext uri="{BB962C8B-B14F-4D97-AF65-F5344CB8AC3E}">
        <p14:creationId xmlns:p14="http://schemas.microsoft.com/office/powerpoint/2010/main" val="982548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FD99-04B3-4B57-82C2-BBD7241988EF}"/>
              </a:ext>
            </a:extLst>
          </p:cNvPr>
          <p:cNvSpPr>
            <a:spLocks noGrp="1"/>
          </p:cNvSpPr>
          <p:nvPr>
            <p:ph type="title"/>
          </p:nvPr>
        </p:nvSpPr>
        <p:spPr/>
        <p:txBody>
          <a:bodyPr/>
          <a:lstStyle/>
          <a:p>
            <a:r>
              <a:rPr lang="en-US" dirty="0"/>
              <a:t>Contracts Similar to Two-Part Tariff	</a:t>
            </a:r>
          </a:p>
        </p:txBody>
      </p:sp>
      <p:sp>
        <p:nvSpPr>
          <p:cNvPr id="3" name="Content Placeholder 2">
            <a:extLst>
              <a:ext uri="{FF2B5EF4-FFF2-40B4-BE49-F238E27FC236}">
                <a16:creationId xmlns:a16="http://schemas.microsoft.com/office/drawing/2014/main" id="{682ABC7F-025C-43B3-B060-27457A9590A5}"/>
              </a:ext>
            </a:extLst>
          </p:cNvPr>
          <p:cNvSpPr>
            <a:spLocks noGrp="1"/>
          </p:cNvSpPr>
          <p:nvPr>
            <p:ph idx="1"/>
          </p:nvPr>
        </p:nvSpPr>
        <p:spPr/>
        <p:txBody>
          <a:bodyPr/>
          <a:lstStyle/>
          <a:p>
            <a:r>
              <a:rPr lang="en-US" dirty="0"/>
              <a:t>Buy-back</a:t>
            </a:r>
          </a:p>
          <a:p>
            <a:r>
              <a:rPr lang="en-US" dirty="0"/>
              <a:t>Revenue sharing</a:t>
            </a:r>
          </a:p>
          <a:p>
            <a:r>
              <a:rPr lang="en-US" dirty="0"/>
              <a:t>Price-quantity menus</a:t>
            </a:r>
          </a:p>
        </p:txBody>
      </p:sp>
    </p:spTree>
    <p:extLst>
      <p:ext uri="{BB962C8B-B14F-4D97-AF65-F5344CB8AC3E}">
        <p14:creationId xmlns:p14="http://schemas.microsoft.com/office/powerpoint/2010/main" val="2703180306"/>
      </p:ext>
    </p:extLst>
  </p:cSld>
  <p:clrMapOvr>
    <a:masterClrMapping/>
  </p:clrMapOvr>
</p:sld>
</file>

<file path=ppt/theme/theme1.xml><?xml version="1.0" encoding="utf-8"?>
<a:theme xmlns:a="http://schemas.openxmlformats.org/drawingml/2006/main" name="Office Theme">
  <a:themeElements>
    <a:clrScheme name="HR11">
      <a:dk1>
        <a:srgbClr val="000000"/>
      </a:dk1>
      <a:lt1>
        <a:srgbClr val="FFFFFF"/>
      </a:lt1>
      <a:dk2>
        <a:srgbClr val="255898"/>
      </a:dk2>
      <a:lt2>
        <a:srgbClr val="FFFCF2"/>
      </a:lt2>
      <a:accent1>
        <a:srgbClr val="D33320"/>
      </a:accent1>
      <a:accent2>
        <a:srgbClr val="9FACC7"/>
      </a:accent2>
      <a:accent3>
        <a:srgbClr val="F7D7AC"/>
      </a:accent3>
      <a:accent4>
        <a:srgbClr val="BDD6AE"/>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2585</TotalTime>
  <Words>2387</Words>
  <Application>Microsoft Macintosh PowerPoint</Application>
  <PresentationFormat>On-screen Show (4:3)</PresentationFormat>
  <Paragraphs>457</Paragraphs>
  <Slides>55</Slides>
  <Notes>13</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9" baseType="lpstr">
      <vt:lpstr>Arial Unicode MS</vt:lpstr>
      <vt:lpstr>Arial</vt:lpstr>
      <vt:lpstr>Arial (Body)</vt:lpstr>
      <vt:lpstr>Calibri</vt:lpstr>
      <vt:lpstr>Cambria Math</vt:lpstr>
      <vt:lpstr>Century</vt:lpstr>
      <vt:lpstr>Helvetica Neue</vt:lpstr>
      <vt:lpstr>Noto Sans Symbols</vt:lpstr>
      <vt:lpstr>Times New Roman</vt:lpstr>
      <vt:lpstr>Trade Gothic LT Std</vt:lpstr>
      <vt:lpstr>Trade Gothic LT Std Cn</vt:lpstr>
      <vt:lpstr>Wingdings</vt:lpstr>
      <vt:lpstr>Office Theme</vt:lpstr>
      <vt:lpstr>Equation</vt:lpstr>
      <vt:lpstr>PowerPoint Presentation</vt:lpstr>
      <vt:lpstr>Supply Chain </vt:lpstr>
      <vt:lpstr>A Supply Chain for Beer</vt:lpstr>
      <vt:lpstr>Supply Chain Objective</vt:lpstr>
      <vt:lpstr>Supply Chain Costs</vt:lpstr>
      <vt:lpstr>Supply Chain at Emerson Electric</vt:lpstr>
      <vt:lpstr>SCM Strategies</vt:lpstr>
      <vt:lpstr>Popular Supply Chain Setups</vt:lpstr>
      <vt:lpstr>Many Suppliers</vt:lpstr>
      <vt:lpstr>Few Suppliers</vt:lpstr>
      <vt:lpstr>Vertical Integration</vt:lpstr>
      <vt:lpstr>Vertical Integration</vt:lpstr>
      <vt:lpstr>Keiretsu Networks</vt:lpstr>
      <vt:lpstr>Supplier Recruitment</vt:lpstr>
      <vt:lpstr>Supplier Relationship Process (1 of 5)</vt:lpstr>
      <vt:lpstr>Supplier Relationship Process (2 of 5)</vt:lpstr>
      <vt:lpstr>Example 1 (1 of 5)</vt:lpstr>
      <vt:lpstr>Example 1 (2 of 5)</vt:lpstr>
      <vt:lpstr>Example 1 (3 of 5)</vt:lpstr>
      <vt:lpstr>Example 1 (4 of 5)</vt:lpstr>
      <vt:lpstr>Example 1 (5 of 5)</vt:lpstr>
      <vt:lpstr>A Mini Case Study</vt:lpstr>
      <vt:lpstr>PowerPoint Presentation</vt:lpstr>
      <vt:lpstr>Procurement Protocol</vt:lpstr>
      <vt:lpstr>Contracts at BMW</vt:lpstr>
      <vt:lpstr>Price Distortion</vt:lpstr>
      <vt:lpstr>Supply chain risk</vt:lpstr>
      <vt:lpstr>Supply Chain Risk</vt:lpstr>
      <vt:lpstr>Supply Chain Disruptions</vt:lpstr>
      <vt:lpstr>Hedging Operational Disruption</vt:lpstr>
      <vt:lpstr>Supplier Diversification Model</vt:lpstr>
      <vt:lpstr>How Many Suppliers?</vt:lpstr>
      <vt:lpstr>How Many Suppliers?</vt:lpstr>
      <vt:lpstr>Supply Chain Risk Management (continued)</vt:lpstr>
      <vt:lpstr>Hedging financial Disruption</vt:lpstr>
      <vt:lpstr>AN Example</vt:lpstr>
      <vt:lpstr>why hedge? (continued)</vt:lpstr>
      <vt:lpstr>Supply Chain Dynamics</vt:lpstr>
      <vt:lpstr>Supply Chain Dynamics (2 of 2)</vt:lpstr>
      <vt:lpstr>Definition and Characteristics</vt:lpstr>
      <vt:lpstr>Example</vt:lpstr>
      <vt:lpstr>Consequences</vt:lpstr>
      <vt:lpstr>Managing the Bullwhip Effect</vt:lpstr>
      <vt:lpstr>The Bullwhip Effect Measure</vt:lpstr>
      <vt:lpstr>Calculating the Bullwhip Effect</vt:lpstr>
      <vt:lpstr>RFID Helps Control Bullwhip</vt:lpstr>
      <vt:lpstr>Summary</vt:lpstr>
      <vt:lpstr>Supply Chain COntracting</vt:lpstr>
      <vt:lpstr>One-to-One Supply Chain Example</vt:lpstr>
      <vt:lpstr>Wholesale Contract</vt:lpstr>
      <vt:lpstr>Retailer’s Profit with Wholesale Contract</vt:lpstr>
      <vt:lpstr>Supplier’s Profit with Wholesale Contract</vt:lpstr>
      <vt:lpstr>Vertical Integration</vt:lpstr>
      <vt:lpstr>Two-Part Tariff Contract</vt:lpstr>
      <vt:lpstr>Contracts Similar to Two-Part Tariff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Heizer/Render 13e</dc:title>
  <dc:subject>Chapter 11 - Supply Chain Management</dc:subject>
  <dc:creator>Jeff Heyl</dc:creator>
  <cp:keywords/>
  <dc:description/>
  <cp:lastModifiedBy>Danko Turcic</cp:lastModifiedBy>
  <cp:revision>303</cp:revision>
  <dcterms:created xsi:type="dcterms:W3CDTF">2012-09-28T10:33:31Z</dcterms:created>
  <dcterms:modified xsi:type="dcterms:W3CDTF">2026-05-29T16:35:18Z</dcterms:modified>
  <cp:category/>
</cp:coreProperties>
</file>